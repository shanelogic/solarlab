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3"/>
    <p:sldId id="260" r:id="rId4"/>
    <p:sldId id="262" r:id="rId5"/>
    <p:sldId id="264" r:id="rId6"/>
    <p:sldId id="265" r:id="rId7"/>
    <p:sldId id="266" r:id="rId8"/>
    <p:sldId id="275" r:id="rId9"/>
    <p:sldId id="270" r:id="rId10"/>
    <p:sldId id="272" r:id="rId11"/>
    <p:sldId id="27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13"/>
    <p:restoredTop sz="94666"/>
  </p:normalViewPr>
  <p:slideViewPr>
    <p:cSldViewPr snapToGrid="0">
      <p:cViewPr varScale="1">
        <p:scale>
          <a:sx n="93" d="100"/>
          <a:sy n="93" d="100"/>
        </p:scale>
        <p:origin x="22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>
              <a:defRPr lang="zh-CN"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SLME Efficiency of Top Candidates (%)</a:t>
            </a:r>
            <a:endParaRPr lang="en-US" sz="1600" b="1" dirty="0"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SLME (%)</c:f>
              <c:strCache>
                <c:ptCount val="1"/>
                <c:pt idx="0">
                  <c:v>SLME (%)</c:v>
                </c:pt>
              </c:strCache>
            </c:strRef>
          </c:tx>
          <c:invertIfNegative val="1"/>
          <c:dPt>
            <c:idx val="0"/>
            <c:invertIfNegative val="1"/>
            <c:bubble3D val="0"/>
          </c:dPt>
          <c:dPt>
            <c:idx val="1"/>
            <c:invertIfNegative val="1"/>
            <c:bubble3D val="0"/>
          </c:dPt>
          <c:dPt>
            <c:idx val="2"/>
            <c:invertIfNegative val="1"/>
            <c:bubble3D val="0"/>
          </c:dPt>
          <c:dPt>
            <c:idx val="3"/>
            <c:invertIfNegative val="1"/>
            <c:bubble3D val="0"/>
          </c:dPt>
          <c:dPt>
            <c:idx val="4"/>
            <c:invertIfNegative val="1"/>
            <c:bubble3D val="0"/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{"SrZrS3","CuBiS2","Ba2SbBiS6","Cs2AgBiCl6","CsSnBr3"}</c:f>
              <c:strCache>
                <c:ptCount val="5"/>
                <c:pt idx="0">
                  <c:v>SrZrS3</c:v>
                </c:pt>
                <c:pt idx="1">
                  <c:v>CuBiS2</c:v>
                </c:pt>
                <c:pt idx="2">
                  <c:v>Ba2SbBiS6</c:v>
                </c:pt>
                <c:pt idx="3">
                  <c:v>Cs2AgBiCl6</c:v>
                </c:pt>
                <c:pt idx="4">
                  <c:v>CsSnBr3</c:v>
                </c:pt>
              </c:strCache>
            </c:strRef>
          </c:cat>
          <c:val>
            <c:numRef>
              <c:f>{24.2,24.9,25.7,26.1,28.4}</c:f>
              <c:numCache>
                <c:formatCode>General</c:formatCode>
                <c:ptCount val="5"/>
                <c:pt idx="0">
                  <c:v>24.2</c:v>
                </c:pt>
                <c:pt idx="1">
                  <c:v>24.9</c:v>
                </c:pt>
                <c:pt idx="2">
                  <c:v>25.7</c:v>
                </c:pt>
                <c:pt idx="3">
                  <c:v>26.1</c:v>
                </c:pt>
                <c:pt idx="4">
                  <c:v>28.4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0"/>
          <c:min val="2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zero"/>
    <c:showDLblsOverMax val="1"/>
    <c:extLst>
      <c:ext uri="{0b15fc19-7d7d-44ad-8c2d-2c3a37ce22c3}">
        <chartProps xmlns="https://web.wps.cn/et/2018/main" chartId="{469193f1-c02b-4254-b60e-851b28296fb7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>
              <a:defRPr lang="zh-CN"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Predicted SLME: Novel vs. Established PV Materials</a:t>
            </a:r>
            <a:endParaRPr lang="en-US" sz="1600" b="1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Novel (This Work)</c:f>
              <c:strCache>
                <c:ptCount val="1"/>
                <c:pt idx="0">
                  <c:v>Novel (This Work)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{"CsSnBr3","Cs2AgBiCl6","Ba2SbBiS6","c-Si","CdTe","MAPbI3","CIGS"}</c:f>
              <c:strCache>
                <c:ptCount val="7"/>
                <c:pt idx="0">
                  <c:v>CsSnBr3</c:v>
                </c:pt>
                <c:pt idx="1">
                  <c:v>Cs2AgBiCl6</c:v>
                </c:pt>
                <c:pt idx="2">
                  <c:v>Ba2SbBiS6</c:v>
                </c:pt>
                <c:pt idx="3">
                  <c:v>c-Si</c:v>
                </c:pt>
                <c:pt idx="4">
                  <c:v>CdTe</c:v>
                </c:pt>
                <c:pt idx="5">
                  <c:v>MAPbI3</c:v>
                </c:pt>
                <c:pt idx="6">
                  <c:v>CIGS</c:v>
                </c:pt>
              </c:strCache>
            </c:strRef>
          </c:cat>
          <c:val>
            <c:numRef>
              <c:f>{28.4,26.1,25.7,0,0,0,0}</c:f>
              <c:numCache>
                <c:formatCode>General</c:formatCode>
                <c:ptCount val="7"/>
                <c:pt idx="0">
                  <c:v>28.4</c:v>
                </c:pt>
                <c:pt idx="1">
                  <c:v>26.1</c:v>
                </c:pt>
                <c:pt idx="2">
                  <c:v>25.7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Established</c:f>
              <c:strCache>
                <c:ptCount val="1"/>
                <c:pt idx="0">
                  <c:v>Established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{"CsSnBr3","Cs2AgBiCl6","Ba2SbBiS6","c-Si","CdTe","MAPbI3","CIGS"}</c:f>
              <c:strCache>
                <c:ptCount val="7"/>
                <c:pt idx="0">
                  <c:v>CsSnBr3</c:v>
                </c:pt>
                <c:pt idx="1">
                  <c:v>Cs2AgBiCl6</c:v>
                </c:pt>
                <c:pt idx="2">
                  <c:v>Ba2SbBiS6</c:v>
                </c:pt>
                <c:pt idx="3">
                  <c:v>c-Si</c:v>
                </c:pt>
                <c:pt idx="4">
                  <c:v>CdTe</c:v>
                </c:pt>
                <c:pt idx="5">
                  <c:v>MAPbI3</c:v>
                </c:pt>
                <c:pt idx="6">
                  <c:v>CIGS</c:v>
                </c:pt>
              </c:strCache>
            </c:strRef>
          </c:cat>
          <c:val>
            <c:numRef>
              <c:f>{0,0,0,26.7,25,27.5,24.3}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26.7</c:v>
                </c:pt>
                <c:pt idx="4">
                  <c:v>25</c:v>
                </c:pt>
                <c:pt idx="5">
                  <c:v>27.5</c:v>
                </c:pt>
                <c:pt idx="6">
                  <c:v>24.3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2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1"/>
    <c:extLst>
      <c:ext uri="{0b15fc19-7d7d-44ad-8c2d-2c3a37ce22c3}">
        <chartProps xmlns="https://web.wps.cn/et/2018/main" chartId="{93b98d6f-b3b7-4dad-a8e6-1e43c9d9da2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Wonder Sans Bold" panose="00000500000000000000" charset="0"/>
              </a:defRPr>
            </a:lvl1pPr>
          </a:lstStyle>
          <a:p>
            <a:fld id="{0C7BA740-8BFE-A749-ADAE-480182DA6E8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Wonder Sans Bold" panose="00000500000000000000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Wonder Sans Bold" panose="00000500000000000000" charset="0"/>
              </a:defRPr>
            </a:lvl1pPr>
          </a:lstStyle>
          <a:p>
            <a:fld id="{D75A99DE-AAE9-DF47-8788-FB7DE0DE0476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00" name="BottomAccent"/>
          <p:cNvSpPr/>
          <p:nvPr userDrawn="1"/>
        </p:nvSpPr>
        <p:spPr>
          <a:xfrm>
            <a:off x="0" y="6629400"/>
            <a:ext cx="1219200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en-US">
              <a:latin typeface="Wonder Sans Bold" panose="00000500000000000000" charset="0"/>
            </a:endParaRPr>
          </a:p>
        </p:txBody>
      </p:sp>
      <p:sp>
        <p:nvSpPr>
          <p:cNvPr id="901" name="LeftStripe"/>
          <p:cNvSpPr/>
          <p:nvPr userDrawn="1"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6CB0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>
              <a:latin typeface="Wonder Sans Bold" panose="000005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C2733"/>
          </a:solidFill>
          <a:latin typeface="Baghdad" panose="01000500000000020004" charset="0"/>
          <a:ea typeface="汉仪中等线繁" panose="0201060000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rgbClr val="2D3748"/>
          </a:solidFill>
          <a:latin typeface="Wonder Sans Bold" panose="0000050000000000000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rgbClr val="2D3748"/>
          </a:solidFill>
          <a:latin typeface="Wonder Sans Bold" panose="0000050000000000000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rgbClr val="2D3748"/>
          </a:solidFill>
          <a:latin typeface="Wonder Sans Bold" panose="0000050000000000000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rgbClr val="2D3748"/>
          </a:solidFill>
          <a:latin typeface="Wonder Sans Bold" panose="0000050000000000000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rgbClr val="2D3748"/>
          </a:solidFill>
          <a:latin typeface="Wonder Sans Bold" panose="0000050000000000000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9pPr>
    </p:bodyStyle>
    <p:otherStyle>
      <a:defPPr>
        <a:defRPr lang="zh-CN">
          <a:solidFill>
            <a:srgbClr val="2D3748"/>
          </a:solidFill>
        </a:defRPr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3200" b="1" dirty="0"/>
              <a:t>Computational Screening of</a:t>
            </a:r>
            <a:endParaRPr lang="en-US" sz="3200" b="1" dirty="0"/>
          </a:p>
          <a:p>
            <a:pPr algn="ctr">
              <a:buNone/>
            </a:pPr>
            <a:r>
              <a:rPr lang="en-US" sz="3200" b="1" dirty="0"/>
              <a:t>Novel Photovoltaic Materials</a:t>
            </a:r>
            <a:endParaRPr lang="en-US" sz="32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800" dirty="0"/>
              <a:t>High-Throughput DFT Screening for Next-Generation Solar Absorbers</a:t>
            </a:r>
            <a:endParaRPr lang="en-US" sz="1800" dirty="0"/>
          </a:p>
          <a:p>
            <a:pPr algn="ctr">
              <a:buNone/>
            </a:pPr>
            <a:r>
              <a:rPr lang="en-US" sz="1400" dirty="0"/>
              <a:t>Author Name  |  Institution  |  Date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Motivation &amp; Background</a:t>
            </a:r>
            <a:endParaRPr kumimoji="1" lang="zh-CN" altLang="en-US" sz="32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The Challenge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Global energy demand requires efficient, scalable solar technologies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Silicon PV approaching theoretical Shockley-Queisser limit (~33%)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Perovskites show promise but face stability and toxicity concerns</a:t>
            </a:r>
            <a:endParaRPr lang="en-US" sz="1500" dirty="0"/>
          </a:p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Our Approach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High-throughput computational screening to discover novel PV absorbers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DFT-based workflow targeting optimal band gap, absorption, and stability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Screening Workflow</a:t>
            </a:r>
            <a:endParaRPr kumimoji="1" lang="zh-CN" altLang="en-US" sz="3200" b="1"/>
          </a:p>
        </p:txBody>
      </p:sp>
      <p:sp>
        <p:nvSpPr>
          <p:cNvPr id="100" name="Step1"/>
          <p:cNvSpPr/>
          <p:nvPr/>
        </p:nvSpPr>
        <p:spPr>
          <a:xfrm>
            <a:off x="457200" y="2590800"/>
            <a:ext cx="1828800" cy="17780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>
            <a:noFill/>
          </a:ln>
        </p:spPr>
        <p:txBody>
          <a:bodyPr lIns="45720" tIns="36576" rIns="45720" bIns="36576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Materials
Database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~50,000</a:t>
            </a:r>
            <a:endParaRPr lang="en-US" sz="1200" dirty="0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101" name="Arrow1"/>
          <p:cNvSpPr/>
          <p:nvPr/>
        </p:nvSpPr>
        <p:spPr>
          <a:xfrm>
            <a:off x="2308860" y="3233420"/>
            <a:ext cx="182880" cy="36576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tep2"/>
          <p:cNvSpPr/>
          <p:nvPr/>
        </p:nvSpPr>
        <p:spPr>
          <a:xfrm>
            <a:off x="2514600" y="2590800"/>
            <a:ext cx="1828800" cy="1778000"/>
          </a:xfrm>
          <a:prstGeom prst="roundRect">
            <a:avLst>
              <a:gd name="adj" fmla="val 10000"/>
            </a:avLst>
          </a:prstGeom>
          <a:solidFill>
            <a:srgbClr val="3182CE"/>
          </a:solidFill>
          <a:ln>
            <a:noFill/>
          </a:ln>
        </p:spPr>
        <p:txBody>
          <a:bodyPr lIns="45720" tIns="36576" rIns="45720" bIns="36576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Stability
Filter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~8,200</a:t>
            </a:r>
            <a:endParaRPr lang="en-US" sz="1200" dirty="0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104" name="Arrow2"/>
          <p:cNvSpPr/>
          <p:nvPr/>
        </p:nvSpPr>
        <p:spPr>
          <a:xfrm>
            <a:off x="4366260" y="3233420"/>
            <a:ext cx="182880" cy="36576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tep3"/>
          <p:cNvSpPr/>
          <p:nvPr/>
        </p:nvSpPr>
        <p:spPr>
          <a:xfrm>
            <a:off x="4572000" y="2590800"/>
            <a:ext cx="1828800" cy="1778000"/>
          </a:xfrm>
          <a:prstGeom prst="roundRect">
            <a:avLst>
              <a:gd name="adj" fmla="val 10000"/>
            </a:avLst>
          </a:prstGeom>
          <a:solidFill>
            <a:srgbClr val="2F855A"/>
          </a:solidFill>
          <a:ln>
            <a:noFill/>
          </a:ln>
        </p:spPr>
        <p:txBody>
          <a:bodyPr lIns="45720" tIns="36576" rIns="45720" bIns="36576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Band Gap
Filter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~2,100</a:t>
            </a:r>
            <a:endParaRPr lang="en-US" sz="1200" dirty="0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107" name="Arrow3"/>
          <p:cNvSpPr/>
          <p:nvPr/>
        </p:nvSpPr>
        <p:spPr>
          <a:xfrm>
            <a:off x="6423660" y="3233420"/>
            <a:ext cx="182880" cy="36576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tep4"/>
          <p:cNvSpPr/>
          <p:nvPr/>
        </p:nvSpPr>
        <p:spPr>
          <a:xfrm>
            <a:off x="6629400" y="2590800"/>
            <a:ext cx="1828800" cy="1778000"/>
          </a:xfrm>
          <a:prstGeom prst="roundRect">
            <a:avLst>
              <a:gd name="adj" fmla="val 10000"/>
            </a:avLst>
          </a:prstGeom>
          <a:solidFill>
            <a:srgbClr val="C05621"/>
          </a:solidFill>
          <a:ln>
            <a:noFill/>
          </a:ln>
        </p:spPr>
        <p:txBody>
          <a:bodyPr lIns="45720" tIns="36576" rIns="45720" bIns="36576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DFT
Optimization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~320</a:t>
            </a:r>
            <a:endParaRPr lang="en-US" sz="1200" dirty="0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110" name="Arrow4"/>
          <p:cNvSpPr/>
          <p:nvPr/>
        </p:nvSpPr>
        <p:spPr>
          <a:xfrm>
            <a:off x="8481060" y="3233420"/>
            <a:ext cx="182880" cy="36576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ep5"/>
          <p:cNvSpPr/>
          <p:nvPr/>
        </p:nvSpPr>
        <p:spPr>
          <a:xfrm>
            <a:off x="8686800" y="2590800"/>
            <a:ext cx="1828800" cy="1778000"/>
          </a:xfrm>
          <a:prstGeom prst="roundRect">
            <a:avLst>
              <a:gd name="adj" fmla="val 10000"/>
            </a:avLst>
          </a:prstGeom>
          <a:solidFill>
            <a:srgbClr val="9B2C2C"/>
          </a:solidFill>
          <a:ln>
            <a:noFill/>
          </a:ln>
        </p:spPr>
        <p:txBody>
          <a:bodyPr lIns="45720" tIns="36576" rIns="45720" bIns="36576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Top
Candidates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15</a:t>
            </a:r>
            <a:endParaRPr lang="en-US" sz="1200" dirty="0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150" name="SubtitleNote"/>
          <p:cNvSpPr/>
          <p:nvPr/>
        </p:nvSpPr>
        <p:spPr>
          <a:xfrm>
            <a:off x="457200" y="5334000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Systematic high-throughput funnel: from ~50,000 candidates to 15 promising absorbers</a:t>
            </a:r>
            <a:endParaRPr lang="en-US" sz="1400" dirty="0">
              <a:solidFill>
                <a:srgbClr val="71809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Computational Methods</a:t>
            </a:r>
            <a:endParaRPr kumimoji="1" lang="zh-CN" altLang="en-US" sz="3200" b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DFT Framework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VASP with PBE + HSE06 functionals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PAW pseudopotentials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Plane-wave cutoff: 520 eV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k-point mesh: Γ-centered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SOC included for heavy elements</a:t>
            </a:r>
            <a:endParaRPr lang="en-US" sz="14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Key Descriptors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Electronic band gap (HSE06)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Optical absorption coefficient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Thermodynamic stability (E_hull)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Effective carrier masses (m*)</a:t>
            </a:r>
            <a:endParaRPr lang="en-US" sz="14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/>
              <a:t>Spectroscopic Limited Maximum Efficiency (SLME)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Screening Criteria &amp; Filters</a:t>
            </a:r>
            <a:endParaRPr kumimoji="1" lang="zh-CN" altLang="en-US" sz="3200" b="1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8200" y="1968500"/>
          <a:ext cx="10515600" cy="3937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56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Remaining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1. Stability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E_hull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&lt; 50 meV/atom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~8,200</a:t>
                      </a:r>
                      <a:endParaRPr lang="zh-CN" altLang="en-US" sz="1400"/>
                    </a:p>
                  </a:txBody>
                  <a:tcPr anchor="ctr"/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2. Band Gap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HSE06 gap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0.8 - 2.0 eV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~2,100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3. Absorption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Absorption coeff.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&gt; 10⁴ cm⁻¹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~850</a:t>
                      </a:r>
                      <a:endParaRPr lang="zh-CN" altLang="en-US" sz="1400"/>
                    </a:p>
                  </a:txBody>
                  <a:tcPr anchor="ctr"/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4. Carrier Mass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m* (e/h)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&lt; 1.5 m₀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~320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5. SLME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Efficiency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&gt; 20%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15</a:t>
                      </a:r>
                      <a:endParaRPr lang="zh-CN" altLang="en-US" sz="140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Key Results — Top Candidates</a:t>
            </a:r>
            <a:endParaRPr kumimoji="1" lang="zh-CN" altLang="en-US" sz="3200" b="1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8200" y="1968500"/>
          <a:ext cx="10515600" cy="3937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56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Band Gap (eV)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SLME (%)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E_hull (meV)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m* (m₀)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6CB0"/>
                    </a:solidFill>
                  </a:tcPr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CsSnBr₃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1.35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F855A"/>
                          </a:solidFill>
                        </a:rPr>
                        <a:t>28.4</a:t>
                      </a:r>
                      <a:endParaRPr lang="zh-CN" altLang="en-US" sz="1400" b="1">
                        <a:solidFill>
                          <a:srgbClr val="2F855A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0.42</a:t>
                      </a:r>
                      <a:endParaRPr lang="zh-CN" altLang="en-US" sz="1400"/>
                    </a:p>
                  </a:txBody>
                  <a:tcPr anchor="ctr"/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Cs₂AgBiCl₆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1.52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26.1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8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0.58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Ba₂SbBiS₆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1.28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25.7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22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0.61</a:t>
                      </a:r>
                      <a:endParaRPr lang="zh-CN" altLang="en-US" sz="1400"/>
                    </a:p>
                  </a:txBody>
                  <a:tcPr anchor="ctr"/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CuBiS₂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1.41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24.9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15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0.39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/>
                        <a:t>SrZrS₃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1.48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24.2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18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0.55</a:t>
                      </a:r>
                      <a:endParaRPr lang="zh-CN" altLang="en-US" sz="140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3200" b="1" dirty="0"/>
              <a:t>SLME Efficiency — Top Candidates</a:t>
            </a:r>
            <a:endParaRPr lang="en-US" sz="3200" b="1" dirty="0"/>
          </a:p>
        </p:txBody>
      </p:sp>
      <p:graphicFrame>
        <p:nvGraphicFramePr>
          <p:cNvPr id="101" name="Chart 1"/>
          <p:cNvGraphicFramePr/>
          <p:nvPr/>
        </p:nvGraphicFramePr>
        <p:xfrm>
          <a:off x="457200" y="1778000"/>
          <a:ext cx="11277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Benchmarking vs. Known Materials</a:t>
            </a:r>
            <a:endParaRPr kumimoji="1" lang="zh-CN" altLang="en-US" sz="3200" b="1"/>
          </a:p>
        </p:txBody>
      </p:sp>
      <p:graphicFrame>
        <p:nvGraphicFramePr>
          <p:cNvPr id="101" name="Chart 1"/>
          <p:cNvGraphicFramePr/>
          <p:nvPr/>
        </p:nvGraphicFramePr>
        <p:xfrm>
          <a:off x="457200" y="1778000"/>
          <a:ext cx="11277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Future Outlook &amp; Next Steps</a:t>
            </a:r>
            <a:endParaRPr kumimoji="1" lang="zh-CN" altLang="en-US" sz="32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Experimental Validation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Synthesize top 5 candidates via solution-processed thin films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Characterize optical and electronic properties (UV-Vis, Hall effect)</a:t>
            </a:r>
            <a:endParaRPr lang="en-US" sz="1500" dirty="0"/>
          </a:p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Computational Extensions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Incorporate defect tolerance screening (point defect formation energies)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Extend to tandem cell configurations with Si bottom cell</a:t>
            </a:r>
            <a:endParaRPr lang="en-US" sz="1500" dirty="0"/>
          </a:p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Open Challenges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Bridging the gap between predicted and experimental efficiencies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Long-term environmental stability under operational conditions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/>
              <a:t>Summary &amp; Acknowledgments</a:t>
            </a:r>
            <a:endParaRPr kumimoji="1" lang="zh-CN" altLang="en-US" sz="32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Key Takeaways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Screened ~50,000 compounds through a 5-stage computational funnel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Identified </a:t>
            </a:r>
            <a:r>
              <a:rPr lang="en-US" sz="1500" b="1" dirty="0"/>
              <a:t>15 promising PV absorbers</a:t>
            </a:r>
            <a:r>
              <a:rPr lang="en-US" sz="1500" dirty="0"/>
              <a:t> with SLME &gt; 20%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Top candidate </a:t>
            </a:r>
            <a:r>
              <a:rPr lang="en-US" sz="1500" b="1" dirty="0"/>
              <a:t>CsSnBr₃</a:t>
            </a:r>
            <a:r>
              <a:rPr lang="en-US" sz="1500" dirty="0"/>
              <a:t> achieves 28.4% predicted SLME</a:t>
            </a:r>
            <a:endParaRPr lang="en-US" sz="1500" dirty="0"/>
          </a:p>
          <a:p>
            <a:pPr marL="342900" indent="-342900">
              <a:buFont typeface="Arial" panose="020B0604020202090204"/>
              <a:buChar char="•"/>
            </a:pPr>
            <a:r>
              <a:rPr lang="en-US" sz="1500" dirty="0"/>
              <a:t>Novel candidates are competitive with established PV materials</a:t>
            </a:r>
            <a:endParaRPr lang="en-US" sz="1500" dirty="0"/>
          </a:p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Acknowledgments</a:t>
            </a:r>
            <a:endParaRPr lang="en-US" sz="1600" b="1" dirty="0">
              <a:solidFill>
                <a:srgbClr val="2B6CB0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>
                <a:solidFill>
                  <a:srgbClr val="718096"/>
                </a:solidFill>
              </a:rPr>
              <a:t>Funding: [Grant Agency / Grant Number]</a:t>
            </a:r>
            <a:endParaRPr lang="en-US" sz="1400" dirty="0">
              <a:solidFill>
                <a:srgbClr val="718096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>
                <a:solidFill>
                  <a:srgbClr val="718096"/>
                </a:solidFill>
              </a:rPr>
              <a:t>Computing resources: [HPC Center]</a:t>
            </a:r>
            <a:endParaRPr lang="en-US" sz="1400" dirty="0">
              <a:solidFill>
                <a:srgbClr val="718096"/>
              </a:solidFill>
            </a:endParaRPr>
          </a:p>
          <a:p>
            <a:pPr marL="342900" indent="-342900">
              <a:buFont typeface="Arial" panose="020B0604020202090204"/>
              <a:buChar char="•"/>
            </a:pPr>
            <a:r>
              <a:rPr lang="en-US" sz="1400" dirty="0">
                <a:solidFill>
                  <a:srgbClr val="718096"/>
                </a:solidFill>
              </a:rPr>
              <a:t>Collaborators: [Names / Institutions]</a:t>
            </a:r>
            <a:endParaRPr lang="en-US" sz="1400" dirty="0">
              <a:solidFill>
                <a:srgbClr val="71809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 [1775886044224]">
  <a:themeElements>
    <a:clrScheme name="PV Academic">
      <a:dk1>
        <a:srgbClr val="1C2733"/>
      </a:dk1>
      <a:lt1>
        <a:srgbClr val="FFFFFF"/>
      </a:lt1>
      <a:dk2>
        <a:srgbClr val="2B4A6F"/>
      </a:dk2>
      <a:lt2>
        <a:srgbClr val="F2F4F7"/>
      </a:lt2>
      <a:accent1>
        <a:srgbClr val="2B6CB0"/>
      </a:accent1>
      <a:accent2>
        <a:srgbClr val="C05621"/>
      </a:accent2>
      <a:accent3>
        <a:srgbClr val="2F855A"/>
      </a:accent3>
      <a:accent4>
        <a:srgbClr val="3182CE"/>
      </a:accent4>
      <a:accent5>
        <a:srgbClr val="9B2C2C"/>
      </a:accent5>
      <a:accent6>
        <a:srgbClr val="6B46C1"/>
      </a:accent6>
      <a:hlink>
        <a:srgbClr val="467886"/>
      </a:hlink>
      <a:folHlink>
        <a:srgbClr val="96607D"/>
      </a:folHlink>
    </a:clrScheme>
    <a:fontScheme name="PV Academic">
      <a:majorFont>
        <a:latin typeface="Baghdad"/>
        <a:ea typeface=""/>
        <a:cs typeface=""/>
        <a:font script="Jpan" typeface="游ゴシック Light"/>
        <a:font script="Hang" typeface="맑은 고딕"/>
        <a:font script="Hans" typeface="汉仪中等线繁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Wonder Sans Bol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2444</Words>
  <Application>WPS 演示</Application>
  <PresentationFormat>宽屏</PresentationFormat>
  <Paragraphs>191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宋体</vt:lpstr>
      <vt:lpstr>Wingdings</vt:lpstr>
      <vt:lpstr>Arial</vt:lpstr>
      <vt:lpstr>Source Sans Pro</vt:lpstr>
      <vt:lpstr>苹方-简</vt:lpstr>
      <vt:lpstr>Raleway</vt:lpstr>
      <vt:lpstr>微软雅黑</vt:lpstr>
      <vt:lpstr>汉仪旗黑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Baghdad</vt:lpstr>
      <vt:lpstr>Wonder Sans Bold</vt:lpstr>
      <vt:lpstr>宋体-简</vt:lpstr>
      <vt:lpstr>汉仪中等线繁</vt:lpstr>
      <vt:lpstr>Office 主题​​ [1775886044224]</vt:lpstr>
      <vt:lpstr>Novel Photovoltaic Materials</vt:lpstr>
      <vt:lpstr>Motivation &amp; Background</vt:lpstr>
      <vt:lpstr>Screening Workflow</vt:lpstr>
      <vt:lpstr>Computational Methods</vt:lpstr>
      <vt:lpstr>Screening Criteria &amp; Filters</vt:lpstr>
      <vt:lpstr>Key Results — Top Candidates</vt:lpstr>
      <vt:lpstr>SLME Efficiency — Top Candidates</vt:lpstr>
      <vt:lpstr>Benchmarking vs. Known Materials</vt:lpstr>
      <vt:lpstr>Future Outlook &amp; Next Steps</vt:lpstr>
      <vt:lpstr>Summary &amp; Acknowledgments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Xuanyan CHEN</dc:creator>
  <cp:lastModifiedBy>陈宣言</cp:lastModifiedBy>
  <cp:revision>3</cp:revision>
  <dcterms:created xsi:type="dcterms:W3CDTF">2026-04-11T05:50:50Z</dcterms:created>
  <dcterms:modified xsi:type="dcterms:W3CDTF">2026-04-11T05:50:50Z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4940537E3FC63B153AE1D9693816BA0E_42</vt:lpwstr>
  </property>
  <property fmtid="{D5CDD505-2E9C-101B-9397-08002B2CF9AE}" pid="3" name="KSOProductBuildVer">
    <vt:lpwstr>2052-12.1.25205.25205</vt:lpwstr>
  </property>
</Properties>
</file>