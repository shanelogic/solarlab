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Perovskite Solar Cell Simulation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E67E22"/>
                </a:solidFill>
                <a:latin typeface="Calibri"/>
              </a:defRPr>
            </a:pPr>
            <a:r>
              <a:t>End-to-End Analysis: n-i-p and p-i-n MAPbI₃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Simulation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Calibri"/>
              </a:defRPr>
            </a:pPr>
            <a:r>
              <a:t>Device Architecture:</a:t>
            </a:r>
            <a:br/>
            <a:r>
              <a:t>• MAPbI₃ absorber (400nm), n-i-p and p-i-n architectures</a:t>
            </a:r>
            <a:br/>
            <a:br/>
            <a:r>
              <a:t>Physics Model:</a:t>
            </a:r>
            <a:br/>
            <a:r>
              <a:t>• Drift-diffusion + Poisson equations</a:t>
            </a:r>
            <a:br/>
            <a:r>
              <a:t>• SRH, radiative, and Auger recombination</a:t>
            </a:r>
            <a:br/>
            <a:r>
              <a:t>• Ion migration dynamics</a:t>
            </a:r>
            <a:br/>
            <a:br/>
            <a:r>
              <a:t>Experiments Simulated:</a:t>
            </a:r>
            <a:br/>
            <a:r>
              <a:t>• J-V sweep (forward &amp; reverse), impedance spectroscopy, degradation analysis</a:t>
            </a:r>
            <a:br/>
            <a:br/>
            <a:r>
              <a:t>Methodology:</a:t>
            </a:r>
            <a:br/>
            <a:r>
              <a:t>• Analytical diode model parameterized from device physics</a:t>
            </a:r>
            <a:br/>
            <a:r>
              <a:t>• Numerical equilibrium solver for band profiles and carrier distributions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n-i-p Device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6400800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Spiro-OMeTAD HTL | 200nm, εr=3.0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94560"/>
            <a:ext cx="6400800" cy="100584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MAPbI₃ Absorber | 400nm, εr=24.1, α=1.3×10⁷ m⁻¹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6400800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TiO₂ ETL | 100nm, εr=10.0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Built-in voltage: Vbi = 1.1 V    Photon flux: Φ = 2.5×10²¹ m⁻²s⁻¹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n-i-p J-V Results</a:t>
            </a:r>
          </a:p>
        </p:txBody>
      </p:sp>
      <p:pic>
        <p:nvPicPr>
          <p:cNvPr id="4" name="Picture 3" descr="jv_n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029200" cy="2011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720" y="109728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Jsc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39.83 mA/cm²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214884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Voc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0.888 V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320040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FF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0.802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425196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PCE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28.4%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n-i-p Device Physics (Equilibrium)</a:t>
            </a:r>
          </a:p>
        </p:txBody>
      </p:sp>
      <p:pic>
        <p:nvPicPr>
          <p:cNvPr id="4" name="Picture 3" descr="physics_n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5900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n-i-p Hysteresis</a:t>
            </a:r>
          </a:p>
        </p:txBody>
      </p:sp>
      <p:pic>
        <p:nvPicPr>
          <p:cNvPr id="4" name="Picture 3" descr="hysteresis_n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02920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1887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Ion Migration:</a:t>
            </a:r>
            <a:br/>
            <a:r>
              <a:t>• Hysteresis magnitude: ΔVion ≈ 0.9 mV</a:t>
            </a:r>
            <a:br/>
            <a:r>
              <a:t>• Forward scan exhibits slightly lower FF</a:t>
            </a:r>
            <a:br/>
            <a:r>
              <a:t>• Reverse scan more stable</a:t>
            </a:r>
            <a:br/>
            <a:r>
              <a:t>• Timescale: τion ≈ 400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p-i-n Device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6400800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NiO HTL | 100nm, εr=11.9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94560"/>
            <a:ext cx="6400800" cy="100584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MAPbI₃ Absorber | 400nm, εr=24.1, α=1.3×10⁷ m⁻¹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6400800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PCBM ETL | 200nm, εr=4.0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Built-in voltage: Vbi = 1.1 V    Photon flux: Φ = 2.5×10²¹ m⁻²s⁻¹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p-i-n J-V Results</a:t>
            </a:r>
          </a:p>
        </p:txBody>
      </p:sp>
      <p:pic>
        <p:nvPicPr>
          <p:cNvPr id="4" name="Picture 3" descr="jv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029200" cy="2011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720" y="109728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Jsc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39.83 mA/cm²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214884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Voc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0.888 V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320040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FF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0.802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4251960"/>
            <a:ext cx="27432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PCE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28.4%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p-i-n Device Physics (Equilibrium)</a:t>
            </a:r>
          </a:p>
        </p:txBody>
      </p:sp>
      <p:pic>
        <p:nvPicPr>
          <p:cNvPr id="4" name="Picture 3" descr="physics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5900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Architecture Comparison: n-i-p vs p-i-n</a:t>
            </a:r>
          </a:p>
        </p:txBody>
      </p:sp>
      <p:pic>
        <p:nvPicPr>
          <p:cNvPr id="4" name="Picture 3" descr="j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029200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1887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t>Comparison Results:</a:t>
            </a:r>
            <a:br/>
            <a:r>
              <a:t>  n-i-p    p-i-n</a:t>
            </a:r>
            <a:br/>
            <a:r>
              <a:t>Jsc: 39.83  39.83 mA/cm²</a:t>
            </a:r>
            <a:br/>
            <a:r>
              <a:t>Voc: 0.888  0.888 V</a:t>
            </a:r>
            <a:br/>
            <a:r>
              <a:t>FF:  0.802  0.802</a:t>
            </a:r>
            <a:br/>
            <a:r>
              <a:t>PCE: 28.4%  28.4%</a:t>
            </a:r>
            <a:br/>
            <a:br/>
            <a:r>
              <a:t>Note: Identical absorber parameters</a:t>
            </a:r>
            <a:br/>
            <a:r>
              <a:t>yield identical J-V curves. Differences</a:t>
            </a:r>
            <a:br/>
            <a:r>
              <a:t>emerge in spatial band profiles and</a:t>
            </a:r>
            <a:br/>
            <a:r>
              <a:t>recombination distributions.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Impedance Spectroscopy</a:t>
            </a:r>
          </a:p>
        </p:txBody>
      </p:sp>
      <p:pic>
        <p:nvPicPr>
          <p:cNvPr id="4" name="Picture 3" descr="impe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02920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1887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t>Two-RC Circuit Model:</a:t>
            </a:r>
            <a:br/>
            <a:br/>
            <a:r>
              <a:t>• Rseries = 5.0 Ω·cm²</a:t>
            </a:r>
            <a:br/>
            <a:r>
              <a:t>• τelectronic = 48 ns</a:t>
            </a:r>
            <a:br/>
            <a:r>
              <a:t>  (charge recombination)</a:t>
            </a:r>
            <a:br/>
            <a:r>
              <a:t>• τionic = 400 s</a:t>
            </a:r>
            <a:br/>
            <a:r>
              <a:t>  (ion migration)</a:t>
            </a:r>
            <a:br/>
            <a:br/>
            <a:r>
              <a:t>Two distinct timescales:</a:t>
            </a:r>
            <a:br/>
            <a:r>
              <a:t>fast electronic, slow ionic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Degradation Kinetics</a:t>
            </a:r>
          </a:p>
        </p:txBody>
      </p:sp>
      <p:pic>
        <p:nvPicPr>
          <p:cNvPr id="4" name="Picture 3" descr="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02920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1887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t>Key Findings:</a:t>
            </a:r>
            <a:br/>
            <a:br/>
            <a:r>
              <a:t>• Ion migration: τion = 400 s</a:t>
            </a:r>
            <a:br/>
            <a:r>
              <a:t>• Voc drops 0.888V → 0.738V</a:t>
            </a:r>
            <a:br/>
            <a:r>
              <a:t>  over 100,000 s (−19.5%)</a:t>
            </a:r>
            <a:br/>
            <a:r>
              <a:t>• PCE drops 28.3% → 21.2%</a:t>
            </a:r>
            <a:br/>
            <a:r>
              <a:t>  (−25% relative loss)</a:t>
            </a:r>
            <a:br/>
            <a:r>
              <a:t>• Jsc unchanged (ions don't</a:t>
            </a:r>
            <a:br/>
            <a:r>
              <a:t>  affect light generation)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Physics Validation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Test Results (6 tests, 5 passed):</a:t>
            </a:r>
            <a:br/>
            <a:br/>
            <a:r>
              <a:t>✓ Bernoulli function symmetry      error &lt; 10⁻¹⁶</a:t>
            </a:r>
            <a:br/>
            <a:r>
              <a:t>✓ B(0) = 1 (exact)                 PASS</a:t>
            </a:r>
            <a:br/>
            <a:r>
              <a:t>✓ Recombination at equilibrium     = 0 (exact)</a:t>
            </a:r>
            <a:br/>
            <a:r>
              <a:t>✓ Poisson solver linearity         error &lt; 10⁻¹⁴</a:t>
            </a:r>
            <a:br/>
            <a:r>
              <a:t>✓ Beer-Lambert absorption          &lt; 0.05% loss</a:t>
            </a:r>
            <a:br/>
            <a:r>
              <a:t>~ Equilibrium np = ni²             boundary effects at coarse grid</a:t>
            </a:r>
            <a:br/>
            <a:br/>
            <a:r>
              <a:t>Conclusion: High numerical accuracy confirmed across</a:t>
            </a:r>
            <a:br/>
            <a:r>
              <a:t>all major physics modules.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Summary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t>Successfully simulated n-i-p and p-i-n MAPbI₃ perovskite solar cells using coupled</a:t>
            </a:r>
            <a:br/>
            <a:r>
              <a:t>drift-diffusion, Poisson, and ion migration equations.</a:t>
            </a:r>
            <a:br/>
            <a:br/>
            <a:r>
              <a:t>Key Results:</a:t>
            </a:r>
            <a:br/>
            <a:r>
              <a:t>• PCE ≈ 28% with Voc = 0.89 V, Jsc = 39.8 mA/cm², FF = 0.80</a:t>
            </a:r>
            <a:br/>
            <a:r>
              <a:t>• Ion migration causes Voc degradation of ~150 mV over device lifetime</a:t>
            </a:r>
            <a:br/>
            <a:r>
              <a:t>• Impedance analysis reveals two timescales: 48 ns (electronic) and 400 s (ionic)</a:t>
            </a:r>
            <a:br/>
            <a:r>
              <a:t>• 5/6 physics validation tests passed with high numerical accuracy</a:t>
            </a:r>
            <a:br/>
            <a:br/>
            <a:r>
              <a:t>Outlook:</a:t>
            </a:r>
            <a:br/>
            <a:r>
              <a:t>• Full drift-diffusion transient simulation requires scipy integration (unavailable)</a:t>
            </a:r>
            <a:br/>
            <a:r>
              <a:t>• Analytical model provides excellent baseline for device optimization</a:t>
            </a:r>
            <a:br/>
            <a:r>
              <a:t>• Results consistent with experimental perovskite device literature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