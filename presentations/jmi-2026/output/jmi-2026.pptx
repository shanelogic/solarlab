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C2533"/>
                </a:solidFill>
                <a:latin typeface="Arial"/>
              </a:rPr>
              <a:t>High-throughput DFT and small-sample ML for chalcogenide PV absorber discovery, with device-scale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2892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Arial"/>
              </a:rPr>
              <a:t>Xuanyan Chen et 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8897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BD5E1"/>
                </a:solidFill>
                <a:latin typeface="Arial"/>
              </a:rPr>
              <a:t>HKUST(GZ) — 3rd JMI conference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2674620"/>
            <a:ext cx="1463040" cy="2057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Efficiency–stability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Two regimes, one underserved corner</a:t>
            </a:r>
          </a:p>
        </p:txBody>
      </p:sp>
      <p:pic>
        <p:nvPicPr>
          <p:cNvPr id="6" name="Picture 5" descr="s2_eff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79" y="1828800"/>
            <a:ext cx="48768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Si: indirect-gap, ~22 % single-junction PCE ceiling,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h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CIGS: direct-gap chalcogenide, 23.4 % record, but Cu / In / Ga supply constraints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Perovskite: PCE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26 %, but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often &lt; 500 h under 1-sun + 85 °C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Shockley–Queisser optimum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≈ 1.34 eV, single-junction ceiling 33.7 %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Target box: PCE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25 % AND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h — empty today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a third path: stable inorganic absorber with direct-or-near-direct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Why neither alone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PCE timeline + accelerated-aging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Si record 27.6 % (UNSW 2024) — half a century of incremental gain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Perovskite record 26.7 % (UNIST 2024) — caught Si in &lt;10 years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Stability gap remains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100× under stress: ion migration, A-site loss, photo-degradation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Encapsulation buys time but doesn't solve absorber-side instability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Commercial-scale module deployment needs both efficiency and outdoor lifetime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Motivates discovery of new absorber chemistries that satisfy both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4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Talk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Six stages from materials database to predicted device performance</a:t>
            </a:r>
          </a:p>
        </p:txBody>
      </p:sp>
      <p:pic>
        <p:nvPicPr>
          <p:cNvPr id="6" name="Picture 5" descr="s4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3094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01 PROBLEM — efficiency–stability deadlock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02 STRATEGY — chalcogenide structural prior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03 ML + FEATURES — small-sample HSE06 surrogate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04 CANDIDATES — 14-material action list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05 BRIDGE — 1D + 2D drift-diffusion device sim (SolarLab)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06 PAYOFF — predicted device J–V +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STRATEGY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5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Chalcogenide templates as the structural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skeletons; heavy-p-block cations on chalcogen anions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Anion: S, Se, Te. Selenides occupy 11 / 14 of the action list (incl. top-6)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Cation: Sb, Sn, Bi 6s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/ 5s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lone-pair → deep, dispersive valence-band tops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Spectator: Cs, Ca, Sr, K — donate charge without flattening the band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Stoichiometry: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≫</a:t>
            </a:r>
            <a:r>
              <a:rPr sz="1400" b="0">
                <a:solidFill>
                  <a:srgbClr val="475569"/>
                </a:solidFill>
                <a:latin typeface="Arial"/>
              </a:rPr>
              <a:t>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≈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≫</a:t>
            </a:r>
            <a:r>
              <a:rPr sz="1400" b="0">
                <a:solidFill>
                  <a:srgbClr val="475569"/>
                </a:solidFill>
                <a:latin typeface="Arial"/>
              </a:rPr>
              <a:t> everything else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Symmetry: Pnma (SG 62) dominant; expand into 12, 14, 72, 15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Constrains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DB scan to physically plausible, synthesisable subspace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6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MP / OQMD → ML surrogate → DFT validation → device sim → expt</a:t>
            </a:r>
          </a:p>
        </p:txBody>
      </p:sp>
      <p:pic>
        <p:nvPicPr>
          <p:cNvPr id="6" name="Picture 5" descr="s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49931"/>
            <a:ext cx="4937760" cy="12838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ML + FEATURES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7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Why a surrogate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HSE06 + DFPT four-stage VASP workflow per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1 PBE relax → Stage 2 SCF → Stage 3 DFPT dielectric → Stage 4 HSE06 band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DFPT + HSE06 dominate cost: hours-to-days per structure on ~64-core HPC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Pool MP + OQMD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candidates — full-DFT enumeration is infeasible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Strategy: train a surrogate on a curated 473-material subset, extrapolate by ML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Acquire next DFT batch from the model's high-mean / high-σ tail (active learning)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Closes the loop: surrogate → ranked candidates → fresh DFT labels → re-fit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8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Hand-crafted feature set (167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Composition · structure · symmetry — Magpie + matminer</a:t>
            </a:r>
          </a:p>
        </p:txBody>
      </p:sp>
      <p:pic>
        <p:nvPicPr>
          <p:cNvPr id="6" name="Picture 5" descr="s8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591" y="1828800"/>
            <a:ext cx="3824976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Composition (~27 D): Magpie statistics over Z, χ, atomic radius, row, group, mass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Structure (140 D): CrystalNN site-fingerprint (122) · radial distribution function · density · packing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All featurisers tolerate NaN — routed to the appropriate side of every HistGBR split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Cached numpy matrices on disk → re-fits run in seconds, not minutes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Ablation extras (per-element fraction, prototype + space-group + chalcogen one-hot): worse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Frozen MEGNet embeddings give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= 0.366 — below hand-features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9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Small-sample ML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HistGBR with log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600" b="0">
                <a:solidFill>
                  <a:srgbClr val="475569"/>
                </a:solidFill>
                <a:latin typeface="Arial"/>
              </a:rPr>
              <a:t>p target · GPR + RF stack for σ(x)</a:t>
            </a:r>
          </a:p>
        </p:txBody>
      </p:sp>
      <p:pic>
        <p:nvPicPr>
          <p:cNvPr id="6" name="Picture 5" descr="s9_m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" y="1828800"/>
            <a:ext cx="390144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Deployable: HistGradientBoostingRegressor, log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400" b="0">
                <a:solidFill>
                  <a:srgbClr val="475569"/>
                </a:solidFill>
                <a:latin typeface="Arial"/>
              </a:rPr>
              <a:t>p(y / 0.08) target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Histogram binning ~3× faster than plain GBR on 473 rows; native NaN routing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PV figure of merit y =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400" b="0">
                <a:solidFill>
                  <a:srgbClr val="475569"/>
                </a:solidFill>
                <a:latin typeface="Arial"/>
              </a:rPr>
              <a:t>(E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) · 1 / (1 +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) · tanh(ε / 10) · 1 / (1 +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/ 0.1)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Each factor is a piece of device physics: SQ window · light carriers · screening · Wannier–Mott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Calibrated σ(x) from a separate GPR + RF stack: anisotropic Matérn-5/2 + WhiteKernel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UCB acquisition α = μ + 2σ ranks the next active-learning DFT batch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10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Validation vs HSE06 ground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5-fold × 5-seed random CV on 473 labelled materials</a:t>
            </a:r>
          </a:p>
        </p:txBody>
      </p:sp>
      <p:pic>
        <p:nvPicPr>
          <p:cNvPr id="6" name="Picture 5" descr="s10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91889"/>
            <a:ext cx="4937760" cy="15999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HistGBR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= 0.466 ± 0.035 · MAE = 0.012 · top-20 recall = 0.50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+50 %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over the GPR / GB / ExT baseline (was 0.31)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Ablation: GBR 0.399 · ExtraTrees 0.234 · MEGNet fine-tune 0.307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Repeated OOF averaging tightens to global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= 0.492, top-20 recall 0.50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Prototype-grouped CV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≈ 0 — model does not extrapolate to unseen prototype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Chalcogen-grouped CV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≈ 0.15 — Se hold-out is the hardest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CANDIDATES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11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Top-14 candidates (PV score y &gt; 0.10)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All chalcogenides · 11 / 14 selenides · 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dominates</a:t>
            </a:r>
          </a:p>
        </p:txBody>
      </p:sp>
      <p:pic>
        <p:nvPicPr>
          <p:cNvPr id="6" name="Picture 5" descr="s11_top_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870" y="1828800"/>
            <a:ext cx="4666418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Anion-rich Se preferred · 11 / 14 are selenides, top-6 all Se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supplies 7 / 14 ·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/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fill the rest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Pnma (SG 62) holds 7 / 14 — extend into 12, 14, 72, 15 next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PV-score range 0.10 – 0.49 across the 14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⟨E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⟩ = 1.32 eV · ⟨ε⟩ = 12.5 · ⟨m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⟩ = 0.58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24 % direct-gap; remaining 76 % retained for combined low-m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400" b="0">
                <a:solidFill>
                  <a:srgbClr val="475569"/>
                </a:solidFill>
                <a:latin typeface="Arial"/>
              </a:rPr>
              <a:t> / high-ε / low-E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12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Screening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&gt;10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600" b="0">
                <a:solidFill>
                  <a:srgbClr val="475569"/>
                </a:solidFill>
                <a:latin typeface="Arial"/>
              </a:rPr>
              <a:t> MP/OQMD → 647 DFT → 473 ML → 41 PV → 14 action list</a:t>
            </a:r>
          </a:p>
        </p:txBody>
      </p:sp>
      <p:pic>
        <p:nvPicPr>
          <p:cNvPr id="6" name="Picture 5" descr="s12_funnel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07841"/>
            <a:ext cx="4937760" cy="967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1: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MP + OQMD entries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2: 647 with full HSE band + DFPT dielectric completed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3: 473 ML-ready (drop metallic / missing CONTCAR — 174 dropped)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4: 41 PV-promising (composite y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0.05)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5: 14-material action list (y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0.10) feeds next DFT round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Funnel narrows by 4 orders of magnitude — actionable size for synthesis triage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13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Hit #1 — Se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16</a:t>
            </a:r>
            <a:r>
              <a:rPr sz="2800" b="1">
                <a:solidFill>
                  <a:srgbClr val="1C2533"/>
                </a:solidFill>
                <a:latin typeface="Arial"/>
              </a:rPr>
              <a:t>Sn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8</a:t>
            </a:r>
            <a:r>
              <a:rPr sz="2800" b="1">
                <a:solidFill>
                  <a:srgbClr val="1C2533"/>
                </a:solidFill>
                <a:latin typeface="Arial"/>
              </a:rPr>
              <a:t>Zr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· Pnma (SG 62) · the Shockley–Queisser bullseye</a:t>
            </a:r>
          </a:p>
        </p:txBody>
      </p:sp>
      <p:pic>
        <p:nvPicPr>
          <p:cNvPr id="6" name="Picture 5" descr="s13_hit1_Se16Sn8Z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170" y="1828800"/>
            <a:ext cx="2747819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= 1.12 eV — within 0.22 eV of SQ optimum (1.34 eV)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0.43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 — light carriers, mobility comparable to GaAs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19.5 — strong dielectric screening, suppresses Frenkel-exciton formation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= 7 meV — well below k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T at 300 K (Wannier–Mott regime)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Composite PV score y = 0.487 — top of the screened set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Synthesis precedent: Sn–Zr–Se ternary phases reported, no PV device yet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14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Hit #2 — Cs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800" b="1">
                <a:solidFill>
                  <a:srgbClr val="1C2533"/>
                </a:solidFill>
                <a:latin typeface="Arial"/>
              </a:rPr>
              <a:t>Sb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6</a:t>
            </a:r>
            <a:r>
              <a:rPr sz="2800" b="1">
                <a:solidFill>
                  <a:srgbClr val="1C2533"/>
                </a:solidFill>
                <a:latin typeface="Arial"/>
              </a:rPr>
              <a:t>Se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· C2/m (SG 12) · Sb 5s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 lone pair</a:t>
            </a:r>
          </a:p>
        </p:txBody>
      </p:sp>
      <p:pic>
        <p:nvPicPr>
          <p:cNvPr id="6" name="Picture 5" descr="s14_hit2_Cs2Sb6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519" y="1828800"/>
            <a:ext cx="2431121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= 1.28 eV — also near the SQ optimum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0.81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 — heavier than Hit #1 but still PV-grade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12.6 — moderate screening;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= 56 meV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PV score y = 0.298 — different prototype family complements Hit #1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Sb 5s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lone-pair character produces deep, dispersive VBM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SbSe-type ternaries known synthesisable from solution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BRIDGE — DEVICE SIM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15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Why device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DFT params alone don't predict PCE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DFT delivers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, m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400" b="0">
                <a:solidFill>
                  <a:srgbClr val="475569"/>
                </a:solidFill>
                <a:latin typeface="Arial"/>
              </a:rPr>
              <a:t>, ε,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— all bulk material-level descriptors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Device PCE depends on stack geometry, contacts, optical absorption, recombination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drift-diffusion + Poisson at full layer scale (HTL · absorber · ETL)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TMM optics for thin-film interference / coherent absorption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2D effects: grains, lateral non-uniformity, single-grain-boundary recomb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mobile-ion transport for hysteresis (perovskite-class absorbers)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16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SolarLab software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1D + 2D drift-diffusion · TMM optics · mobile ions · selective Robin contacts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Backend: Python solver + FastAPI SSE streaming for live progress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Frontend: Vite / TypeScript workstation with publication-mode plotting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Solver: Radau implicit + BDF fallback + bisection-in-time on stiff steps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TMM optics: coherent multi-layer with regenerated ASTM G-173 AM1.5G spectrum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Selective contacts: Robin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,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formulation, validated 2D ↔ 1D parity at 6 µV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Open-source, scriptable, REST-driven — composable into screening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17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Capability vs SCAPS-1D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What the dominant 1D reference leaves on the table</a:t>
            </a:r>
          </a:p>
        </p:txBody>
      </p:sp>
      <p:pic>
        <p:nvPicPr>
          <p:cNvPr id="6" name="Picture 5" descr="s17_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84785"/>
            <a:ext cx="4937760" cy="26141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18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1D vs 2D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Same MAPbI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stack — 50 mV V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600" b="0">
                <a:solidFill>
                  <a:srgbClr val="475569"/>
                </a:solidFill>
                <a:latin typeface="Arial"/>
              </a:rPr>
              <a:t> drop in 2D from grain-boundary recombination</a:t>
            </a:r>
          </a:p>
        </p:txBody>
      </p:sp>
      <p:pic>
        <p:nvPicPr>
          <p:cNvPr id="6" name="Picture 5" descr="s18_1d_v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9267"/>
            <a:ext cx="4937760" cy="27651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Identical layer stack, both solvers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1D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= 0.910 V → 2D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= 0.860 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50 mV drop is the real grain-boundary recombination signal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1D would mis-predict device performance by hiding this loss channel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2D is the prerequisite for honest candidate-material PCE prediction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Solver throughput: 28-voltage 2D sweep finishes in ~22 min on 4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PAYOFF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19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Predicted device J–V on a top candidate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DFT params 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600" b="0">
                <a:solidFill>
                  <a:srgbClr val="475569"/>
                </a:solidFill>
                <a:latin typeface="Arial"/>
              </a:rPr>
              <a:t> device sim 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600" b="0">
                <a:solidFill>
                  <a:srgbClr val="475569"/>
                </a:solidFill>
                <a:latin typeface="Arial"/>
              </a:rPr>
              <a:t> PCE</a:t>
            </a:r>
          </a:p>
        </p:txBody>
      </p:sp>
      <p:pic>
        <p:nvPicPr>
          <p:cNvPr id="6" name="Picture 5" descr="s19_candidate_j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9267"/>
            <a:ext cx="4937760" cy="27651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Closes the loop from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DB scan to predicted device performance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Placeholder candidate today —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+30 mV nudge over MAPbI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baseline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Real Se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400" b="0">
                <a:solidFill>
                  <a:srgbClr val="475569"/>
                </a:solidFill>
                <a:latin typeface="Arial"/>
              </a:rPr>
              <a:t>Sn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400" b="0">
                <a:solidFill>
                  <a:srgbClr val="475569"/>
                </a:solidFill>
                <a:latin typeface="Arial"/>
              </a:rPr>
              <a:t>Zr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J–V slots in once TMM n,k + DFT params land in the 2D solver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Predicted device PCE is the metric synthesis groups care about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Sets up the experimental collaboration with explicit, falsifiable performance targets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20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Three concrete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Multi-task learning on the ~36 k MP PBE gaps — closes prototype-grouped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gap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SLME (Yu &amp; Zunger PRL 2012) replacing the SQ upper bound — needs absorption coefficient α(E)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Targeted Se-rich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/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DFT batch in SG 62, 12, 72, 15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Closed-loop automation: DFT batch submission and re-fit on label return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Experimental collaboration to synthesise top-3 hits and feed measured J–V back into 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21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Three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473-material small-sample ML beats GPR / GB / ExT baseline by +50 %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14-material chalcogenide action list — Se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400" b="0">
                <a:solidFill>
                  <a:srgbClr val="475569"/>
                </a:solidFill>
                <a:latin typeface="Arial"/>
              </a:rPr>
              <a:t>Sn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400" b="0">
                <a:solidFill>
                  <a:srgbClr val="475569"/>
                </a:solidFill>
                <a:latin typeface="Arial"/>
              </a:rPr>
              <a:t>Zr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sits at the SQ bullseye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SolarLab 2D drift-diffusion is the bridge from DFT params to predicted device J–V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DFT cost crystallised into a tiny, actionable subspace fed by an honest grouped-CV diagnostic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Synthesis collaboration is the closing leg of the discovery → simulation → experiment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22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Acknowledgments +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Funding · collaborators · group members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Yu &amp; Zunger PRL 108, 068701 (2012) — SLME framework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Blank et al. PRA 8, 024032 (2017) — detailed-balance PV screening metric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MP / OQMD — Jain et al. APL Mat 2013 · Saal et al. JOM 2013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matminer + Magpie — Ward et al. CMS 2018 / npj CM 2016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MEGNet — Chen et al. Chem. Mater. 2019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