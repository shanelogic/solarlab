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Efficiency–stability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Two regimes, one underserved corner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79" y="1828800"/>
            <a:ext cx="48768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Si: indirect-gap, ~22 % single-junction PCE ceiling,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h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CIGS: direct-gap chalcogenide, 23.4 % record, but Cu / In / Ga supply constraints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Perovskite: PCE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26 %,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often &lt; 500 h under 1-sun + 85 °C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Shockley–Queisser optimum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≈ 1.34 eV; single-junction ceiling 33.7 % [Shockley &amp; Queisser 1961]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 box: PCE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25 % AND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h — empty today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a third path: stable inorganic absorber with direct-or-near-direct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neither alone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PCE timeline + accelerated-aging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Si record 27.6 % (UNSW 2024) — half a century of incremental gain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 record 26.7 % (UNIST 2024) — caught Si in &lt;10 years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100× under stress: ion migration, A-site loss, photo-degradation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Encapsulation buys time but doesn't solve absorber-side instability [Boyd et al. 2019]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Commercial-scale module deployment needs both efficiency and outdoor lifetime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Motivates discovery of new absorber chemistries that satisfy both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Talk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Six stages from materials database to predicted device performance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3094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01 PROBLEM — efficiency–stability deadlock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02 STRATEGY — chalcogenide structural prior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03 ML + FEATURES — small-sample HSE06 surrogate (8 slides)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04 CANDIDATES — 14-material action list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05 BRIDGE — 1D + 2D drift-diffusion device sim (8 slides)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06 PAYOFF — predicted device J–V +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skeletons;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Anion: S, Se, Te. Selenides occupy 11 / 14 of the action list (incl. top-6)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Cation: Sb, Sn, Bi 6s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/ 5s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lone-pair → deep, dispersive valence-band tops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Spectator: Cs, Ca, Sr, K — donate charge without flattening the band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Stoichiometry: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400" b="0">
                <a:solidFill>
                  <a:srgbClr val="475569"/>
                </a:solidFill>
                <a:latin typeface="Arial"/>
              </a:rPr>
              <a:t>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≈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400" b="0">
                <a:solidFill>
                  <a:srgbClr val="475569"/>
                </a:solidFill>
                <a:latin typeface="Arial"/>
              </a:rPr>
              <a:t> everything else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Symmetry: Pnma (SG 62) dominant; expand into 12, 14, 72,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Constrains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DB scan to physically plausible, synthesisable subspace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49931"/>
            <a:ext cx="4937760" cy="12838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a surrogate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HSE06 + DFPT four-stage VASP workflow per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1 PBE relax → Stage 2 SCF → Stage 3 DFPT dielectric → Stage 4 HSE06 band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DFPT + HSE06 dominate cost: hours-to-days per structure on ~64-core HPC nodes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PBE relax: O(N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) plane-wave eigensolve · HSE06 adds ~10× cost from exact-exchange [Heyd et al. 2003]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DFPT dielectric tensor: linear-response Sternheimer equation, ~2× SCF cost [Baroni et al. 2001]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MP + OQMD pool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candidates — full-DFT enumeration is infeasible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Strategy: train a surrogate on 473 DFT-labelled materials, extrapolate by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Composition · structure · symmetry — Magpie + matminer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91" y="1828800"/>
            <a:ext cx="3824976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Composition (~27 D): Magpie statistics over Z, χ, atomic radius, row, group, mass [Ward et al. 2016]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Magpie reduces a formula A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400" b="0">
                <a:solidFill>
                  <a:srgbClr val="475569"/>
                </a:solidFill>
                <a:latin typeface="Arial"/>
              </a:rPr>
              <a:t>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c</a:t>
            </a:r>
            <a:r>
              <a:rPr sz="1400" b="0">
                <a:solidFill>
                  <a:srgbClr val="475569"/>
                </a:solidFill>
                <a:latin typeface="Arial"/>
              </a:rPr>
              <a:t> to mean / std / min / max / mode of element properties weighted by stoichiometry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Structure (140 D): CrystalNN site-fingerprint (122) + RDF + density + packing [matminer · Ward et al. 2018]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All featurisers tolerate NaN — routed to the appropriate side of every HistGBR split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Cached numpy matrices on disk → re-fits run in seconds, not minutes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Frozen MEGNet 16-D embeddings give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0.366 — below hand-features baseline [Chen et al. 2019]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Composite PV figure of merit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Four physically motivated factors fuse into one scalar target y ∈ [0,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y =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400" b="0">
                <a:solidFill>
                  <a:srgbClr val="475569"/>
                </a:solidFill>
                <a:latin typeface="Arial"/>
              </a:rPr>
              <a:t>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) · 1 / (1 +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) · tanh(ε / 10) · 1 / (1 +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/ 0.1)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400" b="0">
                <a:solidFill>
                  <a:srgbClr val="475569"/>
                </a:solidFill>
                <a:latin typeface="Arial"/>
              </a:rPr>
              <a:t>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): triangular SQ window — 1 at 1.34 eV, linearly to 0 at 0.5 / 2.5 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 / (1 +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): sigmoid-like decay rewarding light carriers (high mobility)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tanh(ε / 10): saturates above ε ≈ 10 — diminishing returns on dielectric screening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 / (1 +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/ 0.1): rewards Wannier–Mott 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&lt; 0.1 eV); penalises Frenkel-exciton systems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Bounded, differentiable, physically interpretable — single regression head replaces four heads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HistGBR — gradient boosting on histograms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Stagewise additive function approximation [Friedman 2001 · Ke et al. 2017]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400" b="0">
                <a:solidFill>
                  <a:srgbClr val="475569"/>
                </a:solidFill>
                <a:latin typeface="Arial"/>
              </a:rPr>
              <a:t>(x) =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m-1</a:t>
            </a:r>
            <a:r>
              <a:rPr sz="1400" b="0">
                <a:solidFill>
                  <a:srgbClr val="475569"/>
                </a:solidFill>
                <a:latin typeface="Arial"/>
              </a:rPr>
              <a:t>(x) + ν · h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400" b="0">
                <a:solidFill>
                  <a:srgbClr val="475569"/>
                </a:solidFill>
                <a:latin typeface="Arial"/>
              </a:rPr>
              <a:t>(x), with h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400" b="0">
                <a:solidFill>
                  <a:srgbClr val="475569"/>
                </a:solidFill>
                <a:latin typeface="Arial"/>
              </a:rPr>
              <a:t> fitting the negative gradient of the loss at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m-1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Histogram binning (256 buckets): O(N · F · K) feature-bin scans → ~3× faster than plain GBR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Native NaN routing: missing values learn their own split direction at each node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Hyperparameters: 600 boosting iters · max depth 4 · learning rate 0.05 · min-samples-leaf 10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TransformedTargetRegressor wraps a log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400" b="0">
                <a:solidFill>
                  <a:srgbClr val="475569"/>
                </a:solidFill>
                <a:latin typeface="Arial"/>
              </a:rPr>
              <a:t>p(y / 0.08) target → expm1 inverse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log target compresses heavy-tailed y; equalises booster resolution at peak (y ≈ 0.5) and bulk (y ≈ 0.01)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GPR + RF — calibrated uncertainty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Matérn-5/2 kernel + WhiteKernel noise [Rasmussen &amp; Williams 2006]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k(x, x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400" b="0">
                <a:solidFill>
                  <a:srgbClr val="475569"/>
                </a:solidFill>
                <a:latin typeface="Arial"/>
              </a:rPr>
              <a:t>) =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f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(1 + √5 r + (5/3)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) exp(−√5 r) +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δ(x − x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 = ‖x − x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400" b="0">
                <a:solidFill>
                  <a:srgbClr val="475569"/>
                </a:solidFill>
                <a:latin typeface="Arial"/>
              </a:rPr>
              <a:t>‖ / ℓ — anisotropic length-scale ℓ optimised by L-BFGS-B on marginal log-likelihood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WhiteKernel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absorbs DFT scatter (typically 0.02 – 0.05 on the log target)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Random Forest layer (300 trees) corrects GPR underconfidence in sparse regions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Stack: μ(x) =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400" b="0">
                <a:solidFill>
                  <a:srgbClr val="475569"/>
                </a:solidFill>
                <a:latin typeface="Arial"/>
              </a:rPr>
              <a:t>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400" b="0">
                <a:solidFill>
                  <a:srgbClr val="475569"/>
                </a:solidFill>
                <a:latin typeface="Arial"/>
              </a:rPr>
              <a:t> +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>
                <a:solidFill>
                  <a:srgbClr val="475569"/>
                </a:solidFill>
                <a:latin typeface="Arial"/>
              </a:rPr>
              <a:t>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>
                <a:solidFill>
                  <a:srgbClr val="475569"/>
                </a:solidFill>
                <a:latin typeface="Arial"/>
              </a:rPr>
              <a:t> · σ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(x) =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+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Weights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400" b="0">
                <a:solidFill>
                  <a:srgbClr val="475569"/>
                </a:solidFill>
                <a:latin typeface="Arial"/>
              </a:rPr>
              <a:t>,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>
                <a:solidFill>
                  <a:srgbClr val="475569"/>
                </a:solidFill>
                <a:latin typeface="Arial"/>
              </a:rPr>
              <a:t> from non-negative ridge on out-of-fold predictions — calibrated, not residual-fit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UCB acquisition for active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Sequentially pick the next DFT batch [Snoek et al. 2012]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α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UCB</a:t>
            </a:r>
            <a:r>
              <a:rPr sz="1400" b="0">
                <a:solidFill>
                  <a:srgbClr val="475569"/>
                </a:solidFill>
                <a:latin typeface="Arial"/>
              </a:rPr>
              <a:t>(x) = μ(x) + κ · σ(x), κ = 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μ(x) from HistGBR (better mean predictor on labelled set)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σ(x) from GPR + RF stack (calibrated uncertainty source)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κ = 2 spans exploitation (high μ) and exploration (high σ) — typical Bayesian-opt regime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Decoupling μ and σ between two models avoids GP underconfidence at the high-score tail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Top-N(x | α) → next active-learning DFT batch; labels feed back into both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Validation — random vs grouped 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5-fold × 5-seed random CV on n = 473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9188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HistGBR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0.466 ± 0.035 · MAE = 0.012 · top-20 recall = 0.50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+50 %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over the GPR / GB / ExT baseline (was 0.31)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Ablation: GBR 0.399 · ExtraTrees 0.234 · MEGNet fine-tune 0.307 · MEGNet frozen 0.366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Repeated OOF averaging → global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0.492, top-20 recall 0.50 (poster headline)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Prototype-grouped CV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≈ 0 — model does not extrapolate to unseen prototype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Chalcogen-grouped CV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≈ 0.15 — Se hold-out is the hardest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Per-group residual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Diagnostic for the next active-learning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Score = RMSE · √n + 0.02 · missed-top-20 (penalises ranking errors)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 (n = 182): RMSE 0.042, 17 true top-20, 9 missed → highest priority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high-score bin (y &gt; 0.1, n = 14): RMSE 0.145 — under-modelled tail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SG 62 Pnma (n = 182): RMSE 0.034, 4 missed of 10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(n = 91): RMSE 0.045, 1 missed of 7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(n = 56): RMSE 0.045, 50 % miss-rate of top-20 — sharpest data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Top-14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All chalcogenides · 11 / 14 selenides · 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dominates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70" y="1828800"/>
            <a:ext cx="4666418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Anion-rich Se preferred · 11 / 14 are selenides, top-6 all Se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supplies 7 / 14 ·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/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fill the rest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Pnma (SG 62) holds 7 / 14 — extend into 12, 14, 72, 15 next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PV-score range 0.10 – 0.49 across the 14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⟨E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⟩ = 1.32 eV · ⟨ε⟩ = 12.5 · ⟨m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⟩ = 0.58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24 % direct-gap; remaining 76 % retained for combined low-m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 / high-ε / low-E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&gt;10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600" b="0">
                <a:solidFill>
                  <a:srgbClr val="475569"/>
                </a:solidFill>
                <a:latin typeface="Arial"/>
              </a:rPr>
              <a:t> MP/OQMD → 647 DFT → 473 ML → 41 PV → 14 action 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0784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1: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MP + OQMD entries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2: 647 with full HSE band + DFPT dielectric completed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3: 473 ML-ready (drop metallic / missing CONTCAR — 174 dropped)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4: 41 PV-promising (composite y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0.05)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5: 14-material action list (y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0.10) feeds next DFT round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Funnel narrows by 4 orders of magnitude — actionable size for synthesis 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Hit #1 — 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800" b="1">
                <a:solidFill>
                  <a:srgbClr val="1C2533"/>
                </a:solidFill>
                <a:latin typeface="Arial"/>
              </a:rPr>
              <a:t>Sn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800" b="1">
                <a:solidFill>
                  <a:srgbClr val="1C2533"/>
                </a:solidFill>
                <a:latin typeface="Arial"/>
              </a:rPr>
              <a:t>Zr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· Pnma (SG 62) · the Shockley–Queisser bullseye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170" y="1828800"/>
            <a:ext cx="2747819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1.12 eV — within 0.22 eV of SQ optimum (1.34 eV)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 — light carriers, mobility comparable to GaAs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19.5 — strong dielectric screening, suppresses Frenkel formation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7 meV — well below k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T at 300 K (Wannier–Mott)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Composite PV score y = 0.487 — top of the screened set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Synthesis precedent: Sn–Zr–Se ternary phases reported, no PV device yet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Hit #2 — Cs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800" b="1">
                <a:solidFill>
                  <a:srgbClr val="1C2533"/>
                </a:solidFill>
                <a:latin typeface="Arial"/>
              </a:rPr>
              <a:t>Sb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800" b="1">
                <a:solidFill>
                  <a:srgbClr val="1C2533"/>
                </a:solidFill>
                <a:latin typeface="Arial"/>
              </a:rPr>
              <a:t>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· C2/m (SG 12) · Sb 5s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 lone pair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519" y="1828800"/>
            <a:ext cx="2431121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1.28 eV — also near the SQ optimum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 — heavier than Hit #1 but still PV-grade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12.6 — moderate screening;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56 meV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PV score y = 0.298 — different prototype family, complements Hit #1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Sb 5s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lone-pair character produces deep, dispersive VBM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SbSe-type ternaries known synthesisable from solution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device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params alone don't predict PCE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DFT delivers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, 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, ε,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— bulk material-level descriptors only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Device PCE depends on stack geometry, contacts, optical absorption, recombination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drift-diffusion + Poisson at full layer scale (HTL · absorber · ETL)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TMM coherent optics for thin-film interference [Pettersson et al. 1999]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2D effects: grains, lateral non-uniformity, single-grain-boundary recombination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mobile-ion transport for hysteresis (perovskite-class absorbers)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SolarLab software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Backend: Python solver + FastAPI SSE streaming for live progress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Frontend: Vite / TypeScript workstation with publication-mode plotting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Solver: Radau implicit + BDF fallback + bisection-in-time on stiff steps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TMM optics: coherent multi-layer with ASTM G-173 AM1.5G spectrum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Selective contacts: Robin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,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formulation, validated 2D ↔ 1D parity at 6 µV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Open-source, scriptable, REST-driven — composable into screening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Drift-diffusion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coupled PDEs per absorber layer [Selberherr 1984]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Continuity (electrons): ∂n/∂t = (1/q) ∇·J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Continuity (holes):     ∂p/∂t = −(1/q) ∇·J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Poisson: ∇·(ε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</a:t>
            </a:r>
            <a:r>
              <a:rPr sz="1400" b="0">
                <a:solidFill>
                  <a:srgbClr val="475569"/>
                </a:solidFill>
                <a:latin typeface="Arial"/>
              </a:rPr>
              <a:t>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 ∇φ) = −q (p − n +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D</a:t>
            </a:r>
            <a:r>
              <a:rPr sz="1400" b="0">
                <a:solidFill>
                  <a:srgbClr val="475569"/>
                </a:solidFill>
                <a:latin typeface="Arial"/>
              </a:rPr>
              <a:t> −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400" b="0">
                <a:solidFill>
                  <a:srgbClr val="475569"/>
                </a:solidFill>
                <a:latin typeface="Arial"/>
              </a:rPr>
              <a:t> + ρ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Currents: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= q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n E + q 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∇n   ·  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= q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p E − q 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∇p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Recombination R: SRH + Auger + radiative; Einstein D = (k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T/q) μ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Generation G: from TMM optics (next slide), driven by AM1.5G spectrum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TMM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Coherent multi-layer interference [Pettersson et al. 1999 · Born &amp; Wolf]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Each layer j has 2×2 characteristic matrix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in the (E, H) basis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= [[cos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, i sin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/ η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], [i η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sin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, cos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]]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Phase thickness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= (2π / λ) ñ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cos θ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· ñ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= n + i k complex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System matrix M =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400" b="0">
                <a:solidFill>
                  <a:srgbClr val="475569"/>
                </a:solidFill>
                <a:latin typeface="Arial"/>
              </a:rPr>
              <a:t> ·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· … ·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yields R, T, A per λ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Generation profile G(x, λ) ∝ |E(x, λ)|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· α(λ) integrated over AM1.5G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Replaces Beer–Lambert (no interference) — captures back-reflector + interface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23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Mobile-ion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Drives J–V hysteresis in perovskites [Calado et al. 2016 · van Reenen et al. 2015]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Continuity for ion vacancy density P: ∂P/∂t = ∇·(D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 ∇P +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 P (1 − P /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400" b="0">
                <a:solidFill>
                  <a:srgbClr val="475569"/>
                </a:solidFill>
                <a:latin typeface="Arial"/>
              </a:rPr>
              <a:t>) ∇φ)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Steric (1 − P /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400" b="0">
                <a:solidFill>
                  <a:srgbClr val="475569"/>
                </a:solidFill>
                <a:latin typeface="Arial"/>
              </a:rPr>
              <a:t>) factor caps ion density at the lattice site limit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400" b="0">
                <a:solidFill>
                  <a:srgbClr val="475569"/>
                </a:solidFill>
                <a:latin typeface="Arial"/>
              </a:rPr>
              <a:t> ≈ 1 – 5 % of cation site density in MAPbI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absorber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Ion drift redistributes charge under bias → screens electric field → modifies recomb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Coupled into Poisson via ρ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 = q (P −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 source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Time scale 0.01 – 100 s — explains slow J–V scan-rate dependence in hysteretic PSCs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24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Selective Robin contacts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Surface-recombination boundary conditions, not Dirichlet pinning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Left contact: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4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 ·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= +q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4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Right contact: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= +q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n,R</a:t>
            </a:r>
            <a:r>
              <a:rPr sz="14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 ·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p,R</a:t>
            </a:r>
            <a:r>
              <a:rPr sz="14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Selectivity: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≪</a:t>
            </a:r>
            <a:r>
              <a:rPr sz="1400" b="0">
                <a:solidFill>
                  <a:srgbClr val="475569"/>
                </a:solidFill>
                <a:latin typeface="Arial"/>
              </a:rPr>
              <a:t>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400" b="0">
                <a:solidFill>
                  <a:srgbClr val="475569"/>
                </a:solidFill>
                <a:latin typeface="Arial"/>
              </a:rPr>
              <a:t> makes left contact hole-extracting (HTL-like)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Limit S → ∞ recovers Dirichlet (carrier pinned to equilibrium)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Limit S → 0 makes contact perfectly blocking (zero-flux Neumann)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Captures real ETL / HTL physics SCAPS-1D approximates with pinned boundaries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25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Capability vs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What the dominant 1D reference [Burgelman et al. 2000] leaves on the table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84785"/>
            <a:ext cx="4937760" cy="26141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26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1D vs 2D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Same MAPbI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stack — 50 mV V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600" b="0">
                <a:solidFill>
                  <a:srgbClr val="475569"/>
                </a:solidFill>
                <a:latin typeface="Arial"/>
              </a:rPr>
              <a:t> drop in 2D from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9267"/>
            <a:ext cx="4937760" cy="2765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Identical layer stack, both solvers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0.910 V → 2D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0.860 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50 mV drop is the real grain-boundary recombination signal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1D would mis-predict device performance by hiding this loss channel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2D is the prerequisite for honest candidate-material PCE prediction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Solver throughput: 28-voltage 2D sweep finishes in ~22 min on 4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27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Predicted device J–V on a top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params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device sim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9267"/>
            <a:ext cx="4937760" cy="2765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Closes the loop from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DB scan to predicted device performance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Placeholder candidate today —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+30 mV nudge over MAPbI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baseline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Real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J–V slots in once TMM n,k + DFT params land in the 2D solver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Predicted device PCE is the metric synthesis groups care about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Sets up the experimental collaboration with explicit, falsifiable performance targets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28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concrete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Multi-task learning on the ~36 k MP PBE gaps — closes prototype-grouped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gap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SLME (Yu &amp; Zunger 2012) replacing the SQ upper bound — needs absorption coefficient α(E)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Targeted Se-rich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/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DFT batch in SG 62, 12, 72,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Closed-loop automation: DFT batch submission and re-fit on label return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Experimental collaboration to synthesise top-3 hits and feed measured J–V back into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29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473-material small-sample ML beats GPR / GB / ExT baseline by +50 %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14-material chalcogenide action list —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sits at the SQ bullseye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SolarLab 2D drift-diffusion is the bridge from DFT params to predicted device J–V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DFT cost crystallised into a tiny, actionable subspace fed by an honest grouped-CV diagnostic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Synthesis collaboration is the closing leg of the discovery → simulation → experiment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30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ML + device-sim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Friedman J.H., Ann. Stat. 29, 1189 (2001) — gradient boosting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Ke G. et al., NeurIPS (2017) — LightGBM histogram binning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Rasmussen C.E. &amp; Williams C.K.I., MIT Press (2006) — GP for ML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Snoek J. et al., NeurIPS (2012) — UCB acquisition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Ward L. et al., npj Comput. Mater. 2, 16028 (2016) — Magpie · CMS 152, 60 (2018) — matminer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Heyd J. et al., J. Chem. Phys. 118, 8207 (2003) — HSE06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Yu L. &amp; Zunger A., PRL 108, 068701 (2012) — SLME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Selberherr S., Springer (1984) — semiconductor device simulation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Pettersson L.A.A. et al., J. Appl. Phys. 86, 487 (1999) — TMM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Burgelman M. et al., Thin Solid Films 361-362, 527 (2000) — SCAPS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Calado P. et al., Nat. Commun. 7, 13831 (2016) — perovskite ion migration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van Reenen S. et al., J. Phys. Chem. Lett. 6, 3808 (2015) — hysteresis modelling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Chen C. et al., Chem. Mater. 31, 3564 (2019) — MEGNet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