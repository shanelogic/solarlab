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" y="1828800"/>
            <a:ext cx="48768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184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8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6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184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400" b="0">
                <a:solidFill>
                  <a:srgbClr val="475569"/>
                </a:solidFill>
                <a:latin typeface="Arial"/>
              </a:rPr>
              <a:t> / MA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400" b="0">
                <a:solidFill>
                  <a:srgbClr val="475569"/>
                </a:solidFill>
                <a:latin typeface="Arial"/>
              </a:rPr>
              <a:t> (CH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NH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400" b="0">
                <a:solidFill>
                  <a:srgbClr val="475569"/>
                </a:solidFill>
                <a:latin typeface="Arial"/>
              </a:rPr>
              <a:t>) / FA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4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400" b="0">
                <a:solidFill>
                  <a:srgbClr val="475569"/>
                </a:solidFill>
                <a:latin typeface="Arial"/>
              </a:rPr>
              <a:t> / Sn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4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BX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4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 + 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4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+ 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4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4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3094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/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9931"/>
            <a:ext cx="4937760" cy="1283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–10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91" y="1828800"/>
            <a:ext cx="3824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4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Four physically motivated factors combined into a single scalar target y ∈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): triangular Shockley–Queisser window peaked at 1.34 eV, vanishing at 0.5 and 2.5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): monotonic decay rewarding low effective mass and therefore high mobility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tanh(ε / 10): saturates above ε ≈ 10 to reflect diminishing returns from dielectric screening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&lt; 0.1 eV) and penalises Frenkel-exciton systems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Bounded, differentiable, physically interpretable; replaces four independent regression heads with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Stage-wise additive function approximation [Friedman 2001 · Ke et al. 2017]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4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 fits the negative gradient of the loss at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Histogram binning into 256 discrete buckets reduces a split scan from O(N) to O(B), yielding ~3× speedup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Native NaN handling: missing values learn an independent split direction at each tree node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Hyperparameters: 600 boosting iterations · maximum depth 4 · learning rate 0.05 · minimum samples per leaf 10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p(y / 0.08) by TransformedTargetRegressor; inverse via 0.08 · expm1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Logarithmic transform compresses the heavy-tailed PV-score distribution and equalises booster resolution near peak (y ≈ 0.5) and bulk (y ≈ 0.01)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Matérn-5/2 kernel with additive white noise [Rasmussen &amp; Williams 2006]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 =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‖ / ℓ; the anisotropic length-scale ℓ is optimised by L-BFGS-B on the marginal log-likelihood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 random-forest predictor (300 trees) compensates for GP underconfidence in sparsely sampled regions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Stack mean: μ(x)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Mixing weights are obtained via non-negative ridge regression on out-of-fold predictions, ensuring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Sequential selection of the next DFT batch [Snoek et al. 2012]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400" b="0">
                <a:solidFill>
                  <a:srgbClr val="475569"/>
                </a:solidFill>
                <a:latin typeface="Arial"/>
              </a:rPr>
              <a:t>(x) = μ(x) + κ · σ(x), with κ = 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Posterior mean μ(x) is taken from HistGBR, the more accurate mean predictor on labelled data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Posterior standard deviation σ(x) is taken from the GPR + RF stack as a calibrated uncertainty source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κ = 2 balances exploitation (high μ) and exploration (high σ) and is standard in Bayesian optimisation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Decoupling μ and σ between two models prevents GP underconfidence from suppressing the high-score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188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Diagnostic informing the next active-learning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Score = RMSE · √n + 0.02 · (missed top-20), penalising ranking errors at the high-score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 (n = 182): RMSE 0.042, 17 true top-20 candidates, 9 missed by HistGBR — highest priority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High-score bin (y &gt; 0.1, n = 14): RMSE 0.145, identifying the under-modelled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62, n = 182): RMSE 0.034, 4 of 10 true top-20 missed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(n = 91): RMSE 0.045, 1 of 7 true top-20 missed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(n = 56): RMSE 0.045, 50 % top-20 miss rate — the most pronounced data-coverage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0" y="1828800"/>
            <a:ext cx="466641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&gt;10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6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84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800" b="1">
                <a:solidFill>
                  <a:srgbClr val="1C2533"/>
                </a:solidFill>
                <a:latin typeface="Arial"/>
              </a:rPr>
              <a:t>Sn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800" b="1">
                <a:solidFill>
                  <a:srgbClr val="1C2533"/>
                </a:solidFill>
                <a:latin typeface="Arial"/>
              </a:rPr>
              <a:t>Zr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70" y="1828800"/>
            <a:ext cx="274781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Sb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800" b="1">
                <a:solidFill>
                  <a:srgbClr val="1C2533"/>
                </a:solidFill>
                <a:latin typeface="Arial"/>
              </a:rPr>
              <a:t>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519" y="1828800"/>
            <a:ext cx="2431121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,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and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coupled partial differential equations per absorber layer [Selberherr 1984]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Hole continuity:     ∂p/∂t = −(1/q)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400" b="0">
                <a:solidFill>
                  <a:srgbClr val="475569"/>
                </a:solidFill>
                <a:latin typeface="Arial"/>
              </a:rPr>
              <a:t>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400" b="0">
                <a:solidFill>
                  <a:srgbClr val="475569"/>
                </a:solidFill>
                <a:latin typeface="Arial"/>
              </a:rPr>
              <a:t>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 +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Current densities: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Recombination R: Shockley–Read–Hall, Auger and radiative channels; Einstein relation D = (k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the AM1.5G 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Coherent multi-layer thin-film interference [Pettersson et al. 1999 · Born &amp; Wolf]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Each layer j is represented by a 2×2 characteristic matrix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acting on the tangential (E, H) field components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/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cos θ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with complex refractive index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n + i 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…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yields wavelength-resolved R, T and 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α(λ), integrated over the AM1.5G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Supersedes the Beer–Lambert approximation by capturing interference, back-reflector and interface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Origin of J–V hysteresis in perovskite solar cells [Calado et al. 2016 · van Reenen et al. 2015]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steric factor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caps ion density at the available lattice-site limit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Estimated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 is approximately 1 – 5 % of the cation-site density in 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Ion drift under bias redistributes mobile charge, screens the electric field and modulates the recombination rate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Couples into the Poisson equation via the source term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Characteristic time scale of 0.01 – 100 s reproduces the observed scan-rate dependence of perovskite J–V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Surface-recombination boundary conditions in place of Dirichlet pinning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Contact selectivity: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400" b="0">
                <a:solidFill>
                  <a:srgbClr val="475569"/>
                </a:solidFill>
                <a:latin typeface="Arial"/>
              </a:rPr>
              <a:t>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yields a hole-extracting (HTL-type) left contact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∞ recovers the Dirichlet condition (carrier density pinned to equilibrium)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0 yields a perfectly blocking (zero-flux Neumann) contact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Captures the surface-recombination physics that SCAPS-1D approximates via Dirichlet pinning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4785"/>
            <a:ext cx="4937760" cy="26141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Identical MAPbI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stack: a 50 mV V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600" b="0">
                <a:solidFill>
                  <a:srgbClr val="475569"/>
                </a:solidFill>
                <a:latin typeface="Arial"/>
              </a:rPr>
              <a:t> reduction in 2D attributable to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Identical layer stack and material parameters in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0.860 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50 mV reduction reflects the grain-boundary recombination channel resolved only in 2D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2D simulation is therefore a prerequisite for quantitatively predicting candidate-material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workflow from a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 database scan to a predicted device-level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Current curve uses a placeholder candidate (MAPbI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shifted by +30 mV)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J–V will replace the placeholder once n, k data and DFT-derived parameters are integrated into the 2D solver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Predicted device-level PCE is the figure of merit relevant for synthesis decisions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ZnSnS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