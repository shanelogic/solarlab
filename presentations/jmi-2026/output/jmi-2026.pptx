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057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C2533"/>
                </a:solidFill>
                <a:latin typeface="Arial"/>
              </a:rPr>
              <a:t>High-throughput DFT and small-sample ML for chalcogenide PV absorber discovery, with device-scale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28925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Arial"/>
              </a:rPr>
              <a:t>Xuanyan Chen et 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18897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BD5E1"/>
                </a:solidFill>
                <a:latin typeface="Arial"/>
              </a:rPr>
              <a:t>HKUST(GZ) — 3rd JMI conference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0" y="2674620"/>
            <a:ext cx="1463040" cy="2057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Efficiency–stability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Two regimes, one underserved corner</a:t>
            </a:r>
          </a:p>
        </p:txBody>
      </p:sp>
      <p:pic>
        <p:nvPicPr>
          <p:cNvPr id="6" name="Picture 5" descr="s2_eff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Si / CIGS: T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400" b="0">
                <a:solidFill>
                  <a:srgbClr val="475569"/>
                </a:solidFill>
                <a:latin typeface="Arial"/>
              </a:rPr>
              <a:t> &gt;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h, PCE ceiling ~22 % (indirect gap, purity ceiling)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Perovskite: PCE &gt; 25 %, T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400" b="0">
                <a:solidFill>
                  <a:srgbClr val="475569"/>
                </a:solidFill>
                <a:latin typeface="Arial"/>
              </a:rPr>
              <a:t> often &lt; 500 h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Need a third path: a stable inorganic absorber with direct-or-near-direct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Why neither alone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PCE timeline + accelerated-aging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Perovskite caught up to Si in &lt;10 years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Stability gap remains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100×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Commercial deployment needs both — motivates new absorber chemistries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4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Talk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Six-step funnel: problem → screen → candidates → device → outlook</a:t>
            </a:r>
          </a:p>
        </p:txBody>
      </p:sp>
      <p:pic>
        <p:nvPicPr>
          <p:cNvPr id="6" name="Picture 5" descr="s4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STRATEGY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02 ·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5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Chalcogenide templates as the structural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AB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600" b="0">
                <a:solidFill>
                  <a:srgbClr val="475569"/>
                </a:solidFill>
                <a:latin typeface="Arial"/>
              </a:rPr>
              <a:t>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6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600" b="0">
                <a:solidFill>
                  <a:srgbClr val="475569"/>
                </a:solidFill>
                <a:latin typeface="Arial"/>
              </a:rPr>
              <a:t> skeletons; heavy-p-block cations on chalcogen anions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Anion: S, Se, Te. Selenides dominate the productive subspace.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Cation: Sb, Sn, Bi (6s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/ 5s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lone pair) + Cs / Ca / Sr / K spectator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Constrains DB scan to physically plausible, synthesisable candidates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02 ·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6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End-to-end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MP / OQMD → ML surrogate → DFT validation → device sim → expt</a:t>
            </a:r>
          </a:p>
        </p:txBody>
      </p:sp>
      <p:pic>
        <p:nvPicPr>
          <p:cNvPr id="6" name="Picture 5" descr="s6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ML + FEATURES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7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Why a surrogate at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HSE06 + DFPT four-stage workflow per material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1 PBE relax · Stage 2 SCF · Stage 3 DFPT dielectric · Stage 4 HSE06 band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DFPT + HSE06 cost dominates: hours-to-days per structure on tight HPC budgets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MP / OQMD pool &gt;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400" b="0">
                <a:solidFill>
                  <a:srgbClr val="475569"/>
                </a:solidFill>
                <a:latin typeface="Arial"/>
              </a:rPr>
              <a:t> candidates — full-DFT enumeration is infeasible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8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Hand-crafted feature set (167 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Composition · structure · symmetry</a:t>
            </a:r>
          </a:p>
        </p:txBody>
      </p:sp>
      <p:pic>
        <p:nvPicPr>
          <p:cNvPr id="6" name="Picture 5" descr="s8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Composition (~27 D): Magpie statistics over Z, χ, r, row, group, mass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Structure (140 D): CrystalNN fingerprint, RDF, density, packing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Cached numpy matrices · NaN-tolerant downstream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9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Small-sample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HistGBR with log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1</a:t>
            </a:r>
            <a:r>
              <a:rPr sz="1600" b="0">
                <a:solidFill>
                  <a:srgbClr val="475569"/>
                </a:solidFill>
                <a:latin typeface="Arial"/>
              </a:rPr>
              <a:t>p target · GPR + RF stack for σ(x)</a:t>
            </a:r>
          </a:p>
        </p:txBody>
      </p:sp>
      <p:pic>
        <p:nvPicPr>
          <p:cNvPr id="6" name="Picture 5" descr="s9_m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Deployable predictor: HistGradientBoostingRegressor, log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1</a:t>
            </a:r>
            <a:r>
              <a:rPr sz="1400" b="0">
                <a:solidFill>
                  <a:srgbClr val="475569"/>
                </a:solidFill>
                <a:latin typeface="Arial"/>
              </a:rPr>
              <a:t>p(y / 0.08) target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Histogram binning ~3× faster than plain GBR on 473 rows; native NaN routing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Calibrated σ(x) from a separate GPR + RF stack drives UCB acquisition (κ =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10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Validation vs HSE06 ground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5-fold × 5-seed random CV on 473 labelled materials</a:t>
            </a:r>
          </a:p>
        </p:txBody>
      </p:sp>
      <p:pic>
        <p:nvPicPr>
          <p:cNvPr id="6" name="Picture 5" descr="s10_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HistGBR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= 0.466 ± 0.035 · MAE = 0.012 · top-20 recall = 0.50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+50 %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over the GPR / GB / ExT baseline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Prototype-grouped CV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≈ 0 → transfer gap drives next active-learning batch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CANDIDATES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11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Top-14 candidates (PV score y &gt; 0.10)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All 14 are chalcogenides · 11 / 14 are selenides · AB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600" b="0">
                <a:solidFill>
                  <a:srgbClr val="475569"/>
                </a:solidFill>
                <a:latin typeface="Arial"/>
              </a:rPr>
              <a:t>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600" b="0">
                <a:solidFill>
                  <a:srgbClr val="475569"/>
                </a:solidFill>
                <a:latin typeface="Arial"/>
              </a:rPr>
              <a:t> dominates</a:t>
            </a:r>
          </a:p>
        </p:txBody>
      </p:sp>
      <p:pic>
        <p:nvPicPr>
          <p:cNvPr id="6" name="Picture 5" descr="s11_top_candi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Anion-rich Se preferred; AB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supplies 7 / 14,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 /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fill the rest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Symmetry: Pnma (SG 62) holds 7 / 14 — extend into 12, 14, 72, 15 next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PV-score range 0.10 – 0.49 · ⟨E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⟩ = 1.32 eV, ⟨ε⟩ = 12.5, ⟨m⟩ = 0.58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12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Screening funnel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&gt;10</a:t>
            </a:r>
            <a:r>
              <a:rPr sz="16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600" b="0">
                <a:solidFill>
                  <a:srgbClr val="475569"/>
                </a:solidFill>
                <a:latin typeface="Arial"/>
              </a:rPr>
              <a:t> MP/OQMD → 647 DFT → 473 ML → 41 PV → 14 action list</a:t>
            </a:r>
          </a:p>
        </p:txBody>
      </p:sp>
      <p:pic>
        <p:nvPicPr>
          <p:cNvPr id="6" name="Picture 5" descr="s12_funnel_pop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3 cleanliness filter: drop metallic / missing CONTCAR rows (174 dropped)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4: PV score y &gt; 0.05 → 41 promising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5: y &gt; 0.10 → 14-material action list, feeds next active-learning DFT round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13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Hit #1 — Se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16</a:t>
            </a:r>
            <a:r>
              <a:rPr sz="2800" b="1">
                <a:solidFill>
                  <a:srgbClr val="1C2533"/>
                </a:solidFill>
                <a:latin typeface="Arial"/>
              </a:rPr>
              <a:t>Sn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8</a:t>
            </a:r>
            <a:r>
              <a:rPr sz="2800" b="1">
                <a:solidFill>
                  <a:srgbClr val="1C2533"/>
                </a:solidFill>
                <a:latin typeface="Arial"/>
              </a:rPr>
              <a:t>Zr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AB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600" b="0">
                <a:solidFill>
                  <a:srgbClr val="475569"/>
                </a:solidFill>
                <a:latin typeface="Arial"/>
              </a:rPr>
              <a:t>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600" b="0">
                <a:solidFill>
                  <a:srgbClr val="475569"/>
                </a:solidFill>
                <a:latin typeface="Arial"/>
              </a:rPr>
              <a:t> · Pnma · the Shockley–Queisser bullseye</a:t>
            </a:r>
          </a:p>
        </p:txBody>
      </p:sp>
      <p:pic>
        <p:nvPicPr>
          <p:cNvPr id="6" name="Picture 5" descr="s13_hit1_Se16Sn8Zr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 = 1.12 eV (within 0.22 eV of SQ optimum 1.34 eV)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 = 0.43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400" b="0">
                <a:solidFill>
                  <a:srgbClr val="475569"/>
                </a:solidFill>
                <a:latin typeface="Arial"/>
              </a:rPr>
              <a:t> · ε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 = 19.5 (strong dielectric screening)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= 7 meV — well below k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T at 300 K (Wannier–Mott)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Composite PV score y = 0.487 — top of the screened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14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Hit #2 — Cs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2</a:t>
            </a:r>
            <a:r>
              <a:rPr sz="2800" b="1">
                <a:solidFill>
                  <a:srgbClr val="1C2533"/>
                </a:solidFill>
                <a:latin typeface="Arial"/>
              </a:rPr>
              <a:t>Sb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6</a:t>
            </a:r>
            <a:r>
              <a:rPr sz="2800" b="1">
                <a:solidFill>
                  <a:srgbClr val="1C2533"/>
                </a:solidFill>
                <a:latin typeface="Arial"/>
              </a:rPr>
              <a:t>Se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ABC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600" b="0">
                <a:solidFill>
                  <a:srgbClr val="475569"/>
                </a:solidFill>
                <a:latin typeface="Arial"/>
              </a:rPr>
              <a:t> · C2/m (SG 12) · Sb 5s</a:t>
            </a:r>
            <a:r>
              <a:rPr sz="16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600" b="0">
                <a:solidFill>
                  <a:srgbClr val="475569"/>
                </a:solidFill>
                <a:latin typeface="Arial"/>
              </a:rPr>
              <a:t> lone pair</a:t>
            </a:r>
          </a:p>
        </p:txBody>
      </p:sp>
      <p:pic>
        <p:nvPicPr>
          <p:cNvPr id="6" name="Picture 5" descr="s14_hit2_Cs2Sb6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 = 1.28 eV ·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 = 0.81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0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ε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 = 12.6 ·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= 56 meV (Wannier–Mott regime)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PV score y = 0.298 — different prototype family, complements Hit #1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BRIDGE — DEVICE SIM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15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Why device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DFT params alone don't predict PCE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Need carrier transport at full stack scale (drift-diffusion + Poisson)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Need TMM optics, contacts, hysteresis, mobile ions (perovskite)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Need 2D effects: grains, lateral non-uniformity, single-grain-boundary recomb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16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SolarLab software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1D + 2D drift-diffusion · TMM optics · mobile ions · selective Robin contacts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Backend: Python solver + FastAPI SSE streaming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Frontend: Vite/TS workstation with publication-mode plotting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Solver: Radau implicit + BDF fallback + bisection-in-time on stiff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17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Capability vs SCAPS-1D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What the dominant 1D reference leaves on the table</a:t>
            </a:r>
          </a:p>
        </p:txBody>
      </p:sp>
      <p:pic>
        <p:nvPicPr>
          <p:cNvPr id="6" name="Picture 5" descr="s17_cap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18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1D vs 2D fidelity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Same MAPbI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600" b="0">
                <a:solidFill>
                  <a:srgbClr val="475569"/>
                </a:solidFill>
                <a:latin typeface="Arial"/>
              </a:rPr>
              <a:t> stack — 50 mV V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600" b="0">
                <a:solidFill>
                  <a:srgbClr val="475569"/>
                </a:solidFill>
                <a:latin typeface="Arial"/>
              </a:rPr>
              <a:t> drop in 2D from grain-boundary recombination</a:t>
            </a:r>
          </a:p>
        </p:txBody>
      </p:sp>
      <p:pic>
        <p:nvPicPr>
          <p:cNvPr id="6" name="Picture 5" descr="s18_1d_vs_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Identical layer stack, both solvers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1D V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400" b="0">
                <a:solidFill>
                  <a:srgbClr val="475569"/>
                </a:solidFill>
                <a:latin typeface="Arial"/>
              </a:rPr>
              <a:t> = 0.91 V → 2D V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400" b="0">
                <a:solidFill>
                  <a:srgbClr val="475569"/>
                </a:solidFill>
                <a:latin typeface="Arial"/>
              </a:rPr>
              <a:t> = 0.86 V (real GB-recomb signal)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Captured fidelity is the prerequisite for predicting candidate-material performance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PAYOFF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19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Predicted device J–V on a top candidate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DFT params </a:t>
            </a:r>
            <a:r>
              <a:rPr sz="1600" b="0" baseline="30000">
                <a:solidFill>
                  <a:srgbClr val="475569"/>
                </a:solidFill>
                <a:latin typeface="Arial"/>
              </a:rPr>
              <a:t>→</a:t>
            </a:r>
            <a:r>
              <a:rPr sz="1600" b="0">
                <a:solidFill>
                  <a:srgbClr val="475569"/>
                </a:solidFill>
                <a:latin typeface="Arial"/>
              </a:rPr>
              <a:t> device sim </a:t>
            </a:r>
            <a:r>
              <a:rPr sz="1600" b="0" baseline="30000">
                <a:solidFill>
                  <a:srgbClr val="475569"/>
                </a:solidFill>
                <a:latin typeface="Arial"/>
              </a:rPr>
              <a:t>→</a:t>
            </a:r>
            <a:r>
              <a:rPr sz="1600" b="0">
                <a:solidFill>
                  <a:srgbClr val="475569"/>
                </a:solidFill>
                <a:latin typeface="Arial"/>
              </a:rPr>
              <a:t> PCE</a:t>
            </a:r>
          </a:p>
        </p:txBody>
      </p:sp>
      <p:pic>
        <p:nvPicPr>
          <p:cNvPr id="6" name="Picture 5" descr="s19_candidate_j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Closes the loop from DB scan to predicted device performance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Placeholder candidate today — real Se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16</a:t>
            </a:r>
            <a:r>
              <a:rPr sz="1400" b="0">
                <a:solidFill>
                  <a:srgbClr val="475569"/>
                </a:solidFill>
                <a:latin typeface="Arial"/>
              </a:rPr>
              <a:t>Sn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</a:t>
            </a:r>
            <a:r>
              <a:rPr sz="1400" b="0">
                <a:solidFill>
                  <a:srgbClr val="475569"/>
                </a:solidFill>
                <a:latin typeface="Arial"/>
              </a:rPr>
              <a:t>Zr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J–V slots in once TMM optics + DFT params land in the 2D solver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20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Three concrete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Multi-task learning on the ~36 k MP PBE gaps (closes prototype-grouped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gap)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SLME (Yu &amp; Zunger) replacing the SQ upper bound — needs absorption coefficient α(E)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Targeted Se-rich AB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/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 DFT batch in SG 62, 12, 72,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21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Three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473-material small-sample ML beats the GPR / GB / ExT baseline by +50 %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14-material chalcogenide action list — Se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16</a:t>
            </a:r>
            <a:r>
              <a:rPr sz="1400" b="0">
                <a:solidFill>
                  <a:srgbClr val="475569"/>
                </a:solidFill>
                <a:latin typeface="Arial"/>
              </a:rPr>
              <a:t>Sn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</a:t>
            </a:r>
            <a:r>
              <a:rPr sz="1400" b="0">
                <a:solidFill>
                  <a:srgbClr val="475569"/>
                </a:solidFill>
                <a:latin typeface="Arial"/>
              </a:rPr>
              <a:t>Zr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sits at the SQ bullseye (1.12 eV, 7 meV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SolarLab 2D drift-diffusion is the bridge from predicted DFT params to predicted device J–V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22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Acknowledgments +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Funding · collaborators · group members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Yu &amp; Zunger PRL 108, 068701 (2012) · Blank et al. PRA 8, 024032 (2017) · MP / OQMD · matminer / Magpie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