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3" Type="http://schemas.openxmlformats.org/officeDocument/2006/relationships/tableStyles" Target="tableStyles.xml"/><Relationship Id="rId42" Type="http://schemas.openxmlformats.org/officeDocument/2006/relationships/viewProps" Target="viewProps.xml"/><Relationship Id="rId41" Type="http://schemas.openxmlformats.org/officeDocument/2006/relationships/presProps" Target="presProps.xml"/><Relationship Id="rId40" Type="http://schemas.openxmlformats.org/officeDocument/2006/relationships/slide" Target="slides/slide38.xml"/><Relationship Id="rId4" Type="http://schemas.openxmlformats.org/officeDocument/2006/relationships/slide" Target="slides/slide2.xml"/><Relationship Id="rId39" Type="http://schemas.openxmlformats.org/officeDocument/2006/relationships/slide" Target="slides/slide37.xml"/><Relationship Id="rId38" Type="http://schemas.openxmlformats.org/officeDocument/2006/relationships/slide" Target="slides/slide36.xml"/><Relationship Id="rId37" Type="http://schemas.openxmlformats.org/officeDocument/2006/relationships/slide" Target="slides/slide35.xml"/><Relationship Id="rId36" Type="http://schemas.openxmlformats.org/officeDocument/2006/relationships/slide" Target="slides/slide34.xml"/><Relationship Id="rId35" Type="http://schemas.openxmlformats.org/officeDocument/2006/relationships/slide" Target="slides/slide33.xml"/><Relationship Id="rId34" Type="http://schemas.openxmlformats.org/officeDocument/2006/relationships/slide" Target="slides/slide32.xml"/><Relationship Id="rId33" Type="http://schemas.openxmlformats.org/officeDocument/2006/relationships/slide" Target="slides/slide31.xml"/><Relationship Id="rId32" Type="http://schemas.openxmlformats.org/officeDocument/2006/relationships/slide" Target="slides/slide30.xml"/><Relationship Id="rId31" Type="http://schemas.openxmlformats.org/officeDocument/2006/relationships/slide" Target="slides/slide29.xml"/><Relationship Id="rId30" Type="http://schemas.openxmlformats.org/officeDocument/2006/relationships/slide" Target="slides/slide28.xml"/><Relationship Id="rId3" Type="http://schemas.openxmlformats.org/officeDocument/2006/relationships/slide" Target="slides/slide1.xml"/><Relationship Id="rId29" Type="http://schemas.openxmlformats.org/officeDocument/2006/relationships/slide" Target="slides/slide27.xml"/><Relationship Id="rId28" Type="http://schemas.openxmlformats.org/officeDocument/2006/relationships/slide" Target="slides/slide26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9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9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9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9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7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8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9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0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1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2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3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4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0574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C2533"/>
                </a:solidFill>
                <a:latin typeface="Arial" panose="020B0604020202090204"/>
              </a:rPr>
              <a:t>High-throughput DFT and small-sample ML for chalcogenide PV absorber discovery, with device-scale validation</a:t>
            </a:r>
            <a:endParaRPr sz="2800" b="1">
              <a:solidFill>
                <a:srgbClr val="1C2533"/>
              </a:solidFill>
              <a:latin typeface="Arial" panose="020B060402020209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0" y="2828925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475569"/>
                </a:solidFill>
                <a:latin typeface="Arial" panose="020B0604020202090204"/>
              </a:rPr>
              <a:t>Xuanyan Chen et al.</a:t>
            </a:r>
            <a:endParaRPr sz="15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0" y="318897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BD5E1"/>
                </a:solidFill>
                <a:latin typeface="Arial" panose="020B0604020202090204"/>
              </a:rPr>
              <a:t>HKUST(GZ) — 3rd JMI conference 2026</a:t>
            </a:r>
            <a:endParaRPr sz="1100" b="0">
              <a:solidFill>
                <a:srgbClr val="CBD5E1"/>
              </a:solidFill>
              <a:latin typeface="Arial" panose="020B0604020202090204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3840480" y="2674620"/>
            <a:ext cx="1463040" cy="2057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 panose="020B0604020202090204"/>
              </a:rPr>
              <a:t>01</a:t>
            </a:r>
            <a:endParaRPr sz="25000" b="1">
              <a:solidFill>
                <a:srgbClr val="C0392B"/>
              </a:solidFill>
              <a:latin typeface="Arial" panose="020B060402020209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 panose="020B0604020202090204"/>
              </a:rPr>
              <a:t>PROBLEM</a:t>
            </a:r>
            <a:endParaRPr sz="3600" b="1">
              <a:solidFill>
                <a:srgbClr val="475569"/>
              </a:solidFill>
              <a:latin typeface="Arial" panose="020B060402020209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 panose="020B0604020202090204"/>
              </a:rPr>
              <a:t>01 · PROBLEM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 panose="020B0604020202090204"/>
              </a:rPr>
              <a:t>2 / 32</a:t>
            </a:r>
            <a:endParaRPr sz="1100" b="0">
              <a:solidFill>
                <a:srgbClr val="CBD5E1"/>
              </a:solidFill>
              <a:latin typeface="Arial" panose="020B060402020209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 panose="020B0604020202090204"/>
              </a:rPr>
              <a:t>Efficiency–stability design space for thin-film photovoltaics</a:t>
            </a:r>
            <a:endParaRPr sz="2200" b="1">
              <a:solidFill>
                <a:srgbClr val="1C2533"/>
              </a:solidFill>
              <a:latin typeface="Arial" panose="020B060402020209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 panose="020B0604020202090204"/>
              </a:rPr>
              <a:t>Two established regimes, one unoccupied region</a:t>
            </a:r>
            <a:endParaRPr sz="1500" b="0">
              <a:solidFill>
                <a:srgbClr val="475569"/>
              </a:solidFill>
              <a:latin typeface="Arial" panose="020B0604020202090204"/>
            </a:endParaRPr>
          </a:p>
        </p:txBody>
      </p:sp>
      <p:pic>
        <p:nvPicPr>
          <p:cNvPr id="6" name="Picture 5" descr="s2_eff_stability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828800"/>
            <a:ext cx="457200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2510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Si: indirect band gap, ~22 % single-junction PCE ceiling, T</a:t>
            </a:r>
            <a:r>
              <a:rPr sz="1100" b="0" baseline="-25000">
                <a:solidFill>
                  <a:srgbClr val="475569"/>
                </a:solidFill>
                <a:latin typeface="Arial" panose="020B0604020202090204"/>
              </a:rPr>
              <a:t>80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 </a:t>
            </a:r>
            <a:r>
              <a:rPr sz="1100" b="0" baseline="30000">
                <a:solidFill>
                  <a:srgbClr val="475569"/>
                </a:solidFill>
                <a:latin typeface="Arial" panose="020B0604020202090204"/>
              </a:rPr>
              <a:t>&gt;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 10</a:t>
            </a:r>
            <a:r>
              <a:rPr sz="1100" b="0" baseline="30000">
                <a:solidFill>
                  <a:srgbClr val="475569"/>
                </a:solidFill>
                <a:latin typeface="Arial" panose="020B0604020202090204"/>
              </a:rPr>
              <a:t>4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 h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CIGS: direct-gap chalcogenide, 23.4 % record, constrained by In and Ga reserves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Perovskite: PCE </a:t>
            </a:r>
            <a:r>
              <a:rPr sz="1100" b="0" baseline="30000">
                <a:solidFill>
                  <a:srgbClr val="475569"/>
                </a:solidFill>
                <a:latin typeface="Arial" panose="020B0604020202090204"/>
              </a:rPr>
              <a:t>&gt;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 26 %, T</a:t>
            </a:r>
            <a:r>
              <a:rPr sz="1100" b="0" baseline="-25000">
                <a:solidFill>
                  <a:srgbClr val="475569"/>
                </a:solidFill>
                <a:latin typeface="Arial" panose="020B0604020202090204"/>
              </a:rPr>
              <a:t>80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 frequently &lt; 500 h under 1-sun, 85 °C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Detailed-balance limit at E</a:t>
            </a:r>
            <a:r>
              <a:rPr sz="1100" b="0" baseline="-25000">
                <a:solidFill>
                  <a:srgbClr val="475569"/>
                </a:solidFill>
                <a:latin typeface="Arial" panose="020B0604020202090204"/>
              </a:rPr>
              <a:t>g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 ≈ 1.34 eV reaches 33.7 % [Shockley &amp; Queisser 1961]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Target region: PCE </a:t>
            </a:r>
            <a:r>
              <a:rPr sz="1100" b="0" baseline="30000">
                <a:solidFill>
                  <a:srgbClr val="475569"/>
                </a:solidFill>
                <a:latin typeface="Arial" panose="020B0604020202090204"/>
              </a:rPr>
              <a:t>&gt;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 25 % combined with T</a:t>
            </a:r>
            <a:r>
              <a:rPr sz="1100" b="0" baseline="-25000">
                <a:solidFill>
                  <a:srgbClr val="475569"/>
                </a:solidFill>
                <a:latin typeface="Arial" panose="020B0604020202090204"/>
              </a:rPr>
              <a:t>80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 </a:t>
            </a:r>
            <a:r>
              <a:rPr sz="1100" b="0" baseline="30000">
                <a:solidFill>
                  <a:srgbClr val="475569"/>
                </a:solidFill>
                <a:latin typeface="Arial" panose="020B0604020202090204"/>
              </a:rPr>
              <a:t>&gt;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 10</a:t>
            </a:r>
            <a:r>
              <a:rPr sz="1100" b="0" baseline="30000">
                <a:solidFill>
                  <a:srgbClr val="475569"/>
                </a:solidFill>
                <a:latin typeface="Arial" panose="020B0604020202090204"/>
              </a:rPr>
              <a:t>5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 h is currently unoccupied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These constraints motivate a third absorber class with a direct or near-direct gap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 panose="020B0604020202090204"/>
              </a:rPr>
              <a:t>SOLARLAB</a:t>
            </a:r>
            <a:endParaRPr sz="1000" b="0">
              <a:solidFill>
                <a:srgbClr val="C0392B"/>
              </a:solidFill>
              <a:latin typeface="Arial" panose="020B060402020209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 panose="020B0604020202090204"/>
              </a:rPr>
              <a:t>01 · PROBLEM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 panose="020B0604020202090204"/>
              </a:rPr>
              <a:t>3 / 32</a:t>
            </a:r>
            <a:endParaRPr sz="1100" b="0">
              <a:solidFill>
                <a:srgbClr val="CBD5E1"/>
              </a:solidFill>
              <a:latin typeface="Arial" panose="020B060402020209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 panose="020B0604020202090204"/>
              </a:rPr>
              <a:t>CIGS — Cu(In,Ga)Se</a:t>
            </a:r>
            <a:r>
              <a:rPr sz="2200" b="1" baseline="-25000">
                <a:solidFill>
                  <a:srgbClr val="1C2533"/>
                </a:solidFill>
                <a:latin typeface="Arial" panose="020B0604020202090204"/>
              </a:rPr>
              <a:t>2</a:t>
            </a:r>
            <a:r>
              <a:rPr sz="2200" b="1">
                <a:solidFill>
                  <a:srgbClr val="1C2533"/>
                </a:solidFill>
                <a:latin typeface="Arial" panose="020B0604020202090204"/>
              </a:rPr>
              <a:t> chalcopyrite absorber</a:t>
            </a:r>
            <a:endParaRPr sz="2200" b="1">
              <a:solidFill>
                <a:srgbClr val="1C2533"/>
              </a:solidFill>
              <a:latin typeface="Arial" panose="020B060402020209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107696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 panose="020B0604020202090204"/>
              </a:rPr>
              <a:t>Tetragonal I-4̄2d · cation-ordered diamond-like sublattice · tunable direct gap</a:t>
            </a:r>
            <a:endParaRPr sz="1500" b="0">
              <a:solidFill>
                <a:srgbClr val="475569"/>
              </a:solidFill>
              <a:latin typeface="Arial" panose="020B0604020202090204"/>
            </a:endParaRPr>
          </a:p>
        </p:txBody>
      </p:sp>
      <p:pic>
        <p:nvPicPr>
          <p:cNvPr id="6" name="Picture 5" descr="s3_cigs_structur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62388"/>
            <a:ext cx="4937760" cy="20199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371600"/>
            <a:ext cx="3017520" cy="34359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Stoichiometry Cu(In,Ga)Se</a:t>
            </a:r>
            <a:r>
              <a:rPr sz="1100" b="0" baseline="-25000">
                <a:solidFill>
                  <a:srgbClr val="475569"/>
                </a:solidFill>
                <a:latin typeface="Arial" panose="020B0604020202090204"/>
              </a:rPr>
              <a:t>2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; In and Ga share a single cation site at composition x = Ga / (In + Ga)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Lattice parameters a ≈ 5.78 Å · c ≈ 11.62 Å with c / a ≈ 2 (chalcopyrite = doubled zincblende)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Direct band gap tunable approximately linearly from 1.04 eV (CuInSe</a:t>
            </a:r>
            <a:r>
              <a:rPr sz="1100" b="0" baseline="-25000">
                <a:solidFill>
                  <a:srgbClr val="475569"/>
                </a:solidFill>
                <a:latin typeface="Arial" panose="020B0604020202090204"/>
              </a:rPr>
              <a:t>2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) to 1.68 eV (CuGaSe</a:t>
            </a:r>
            <a:r>
              <a:rPr sz="1100" b="0" baseline="-25000">
                <a:solidFill>
                  <a:srgbClr val="475569"/>
                </a:solidFill>
                <a:latin typeface="Arial" panose="020B0604020202090204"/>
              </a:rPr>
              <a:t>2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)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Polycrystalline thin-film absorber 1–3 µm on a Mo back contact; CdS / ZnO buffer + window stack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Champion lab cell PCE 23.4 % (Solar Frontier 2019); module reliability T</a:t>
            </a:r>
            <a:r>
              <a:rPr sz="1100" b="0" baseline="-25000">
                <a:solidFill>
                  <a:srgbClr val="475569"/>
                </a:solidFill>
                <a:latin typeface="Arial" panose="020B0604020202090204"/>
              </a:rPr>
              <a:t>80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 </a:t>
            </a:r>
            <a:r>
              <a:rPr sz="1100" b="0" baseline="30000">
                <a:solidFill>
                  <a:srgbClr val="475569"/>
                </a:solidFill>
                <a:latin typeface="Arial" panose="020B0604020202090204"/>
              </a:rPr>
              <a:t>&gt;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 25 yr in field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In-free sister chalcogenide kesterite Cu</a:t>
            </a:r>
            <a:r>
              <a:rPr sz="1100" b="0" baseline="-25000">
                <a:solidFill>
                  <a:srgbClr val="475569"/>
                </a:solidFill>
                <a:latin typeface="Arial" panose="020B0604020202090204"/>
              </a:rPr>
              <a:t>2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ZnSn(S,Se)</a:t>
            </a:r>
            <a:r>
              <a:rPr sz="1100" b="0" baseline="-25000">
                <a:solidFill>
                  <a:srgbClr val="475569"/>
                </a:solidFill>
                <a:latin typeface="Arial" panose="020B0604020202090204"/>
              </a:rPr>
              <a:t>4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 explored at HKUST(GZ) [Yan et al. Nat. Energy 2018 · ACS Energy Lett. 2017]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 panose="020B0604020202090204"/>
              </a:rPr>
              <a:t>SOLARLAB</a:t>
            </a:r>
            <a:endParaRPr sz="1000" b="0">
              <a:solidFill>
                <a:srgbClr val="C0392B"/>
              </a:solidFill>
              <a:latin typeface="Arial" panose="020B060402020209020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 panose="020B0604020202090204"/>
              </a:rPr>
              <a:t>01 · PROBLEM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 panose="020B0604020202090204"/>
              </a:rPr>
              <a:t>4 / 32</a:t>
            </a:r>
            <a:endParaRPr sz="1100" b="0">
              <a:solidFill>
                <a:srgbClr val="CBD5E1"/>
              </a:solidFill>
              <a:latin typeface="Arial" panose="020B060402020209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 panose="020B0604020202090204"/>
              </a:rPr>
              <a:t>Perovskite — ABX</a:t>
            </a:r>
            <a:r>
              <a:rPr sz="2200" b="1" baseline="-25000">
                <a:solidFill>
                  <a:srgbClr val="1C2533"/>
                </a:solidFill>
                <a:latin typeface="Arial" panose="020B0604020202090204"/>
              </a:rPr>
              <a:t>3</a:t>
            </a:r>
            <a:r>
              <a:rPr sz="2200" b="1">
                <a:solidFill>
                  <a:srgbClr val="1C2533"/>
                </a:solidFill>
                <a:latin typeface="Arial" panose="020B0604020202090204"/>
              </a:rPr>
              <a:t> structural family</a:t>
            </a:r>
            <a:endParaRPr sz="2200" b="1">
              <a:solidFill>
                <a:srgbClr val="1C2533"/>
              </a:solidFill>
              <a:latin typeface="Arial" panose="020B060402020209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11099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 panose="020B0604020202090204"/>
              </a:rPr>
              <a:t>Pm-3̄m cubic parent · corner-sharing BX</a:t>
            </a:r>
            <a:r>
              <a:rPr sz="1500" b="0" baseline="-25000">
                <a:solidFill>
                  <a:srgbClr val="475569"/>
                </a:solidFill>
                <a:latin typeface="Arial" panose="020B0604020202090204"/>
              </a:rPr>
              <a:t>6</a:t>
            </a:r>
            <a:r>
              <a:rPr sz="1500" b="0">
                <a:solidFill>
                  <a:srgbClr val="475569"/>
                </a:solidFill>
                <a:latin typeface="Arial" panose="020B0604020202090204"/>
              </a:rPr>
              <a:t> octahedral framework</a:t>
            </a:r>
            <a:endParaRPr sz="1500" b="0">
              <a:solidFill>
                <a:srgbClr val="475569"/>
              </a:solidFill>
              <a:latin typeface="Arial" panose="020B0604020202090204"/>
            </a:endParaRPr>
          </a:p>
        </p:txBody>
      </p:sp>
      <p:pic>
        <p:nvPicPr>
          <p:cNvPr id="6" name="Picture 5" descr="s4_perovskite_structur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71608"/>
            <a:ext cx="4937760" cy="20199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521460"/>
            <a:ext cx="3017520" cy="3266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General formula ABX</a:t>
            </a:r>
            <a:r>
              <a:rPr sz="1100" b="0" baseline="-25000">
                <a:solidFill>
                  <a:srgbClr val="475569"/>
                </a:solidFill>
                <a:latin typeface="Arial" panose="020B0604020202090204"/>
              </a:rPr>
              <a:t>3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: A = Cs</a:t>
            </a:r>
            <a:r>
              <a:rPr sz="1100" b="0" baseline="30000">
                <a:solidFill>
                  <a:srgbClr val="475569"/>
                </a:solidFill>
                <a:latin typeface="Arial" panose="020B0604020202090204"/>
              </a:rPr>
              <a:t>+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 / MA</a:t>
            </a:r>
            <a:r>
              <a:rPr sz="1100" b="0" baseline="30000">
                <a:solidFill>
                  <a:srgbClr val="475569"/>
                </a:solidFill>
                <a:latin typeface="Arial" panose="020B0604020202090204"/>
              </a:rPr>
              <a:t>+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 (CH</a:t>
            </a:r>
            <a:r>
              <a:rPr sz="1100" b="0" baseline="-25000">
                <a:solidFill>
                  <a:srgbClr val="475569"/>
                </a:solidFill>
                <a:latin typeface="Arial" panose="020B0604020202090204"/>
              </a:rPr>
              <a:t>3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NH</a:t>
            </a:r>
            <a:r>
              <a:rPr sz="1100" b="0" baseline="-25000">
                <a:solidFill>
                  <a:srgbClr val="475569"/>
                </a:solidFill>
                <a:latin typeface="Arial" panose="020B0604020202090204"/>
              </a:rPr>
              <a:t>3</a:t>
            </a:r>
            <a:r>
              <a:rPr sz="1100" b="0" baseline="30000">
                <a:solidFill>
                  <a:srgbClr val="475569"/>
                </a:solidFill>
                <a:latin typeface="Arial" panose="020B0604020202090204"/>
              </a:rPr>
              <a:t>+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) / FA</a:t>
            </a:r>
            <a:r>
              <a:rPr sz="1100" b="0" baseline="30000">
                <a:solidFill>
                  <a:srgbClr val="475569"/>
                </a:solidFill>
                <a:latin typeface="Arial" panose="020B0604020202090204"/>
              </a:rPr>
              <a:t>+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 · B = Pb</a:t>
            </a:r>
            <a:r>
              <a:rPr sz="1100" b="0" baseline="30000">
                <a:solidFill>
                  <a:srgbClr val="475569"/>
                </a:solidFill>
                <a:latin typeface="Arial" panose="020B0604020202090204"/>
              </a:rPr>
              <a:t>2+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 / Sn</a:t>
            </a:r>
            <a:r>
              <a:rPr sz="1100" b="0" baseline="30000">
                <a:solidFill>
                  <a:srgbClr val="475569"/>
                </a:solidFill>
                <a:latin typeface="Arial" panose="020B0604020202090204"/>
              </a:rPr>
              <a:t>2+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 · X = I / Br / Cl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BX</a:t>
            </a:r>
            <a:r>
              <a:rPr sz="1100" b="0" baseline="-25000">
                <a:solidFill>
                  <a:srgbClr val="475569"/>
                </a:solidFill>
                <a:latin typeface="Arial" panose="020B0604020202090204"/>
              </a:rPr>
              <a:t>6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 octahedra share corners; A cation occupies the 12-coordinated cuboctahedral void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Stability set by Goldschmidt tolerance factor t = (r</a:t>
            </a:r>
            <a:r>
              <a:rPr sz="1100" b="0" baseline="-25000">
                <a:solidFill>
                  <a:srgbClr val="475569"/>
                </a:solidFill>
                <a:latin typeface="Arial" panose="020B0604020202090204"/>
              </a:rPr>
              <a:t>A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 + r</a:t>
            </a:r>
            <a:r>
              <a:rPr sz="1100" b="0" baseline="-25000">
                <a:solidFill>
                  <a:srgbClr val="475569"/>
                </a:solidFill>
                <a:latin typeface="Arial" panose="020B0604020202090204"/>
              </a:rPr>
              <a:t>X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) / (√2 (r</a:t>
            </a:r>
            <a:r>
              <a:rPr sz="1100" b="0" baseline="-25000">
                <a:solidFill>
                  <a:srgbClr val="475569"/>
                </a:solidFill>
                <a:latin typeface="Arial" panose="020B0604020202090204"/>
              </a:rPr>
              <a:t>B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 + r</a:t>
            </a:r>
            <a:r>
              <a:rPr sz="1100" b="0" baseline="-25000">
                <a:solidFill>
                  <a:srgbClr val="475569"/>
                </a:solidFill>
                <a:latin typeface="Arial" panose="020B0604020202090204"/>
              </a:rPr>
              <a:t>X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)); cubic perovskite for 0.9 ≤ t ≤ 1.0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Direct band gap, strong absorption (α ≈ 10</a:t>
            </a:r>
            <a:r>
              <a:rPr sz="1100" b="0" baseline="30000">
                <a:solidFill>
                  <a:srgbClr val="475569"/>
                </a:solidFill>
                <a:latin typeface="Arial" panose="020B0604020202090204"/>
              </a:rPr>
              <a:t>5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 cm</a:t>
            </a:r>
            <a:r>
              <a:rPr sz="1100" b="0" baseline="30000">
                <a:solidFill>
                  <a:srgbClr val="475569"/>
                </a:solidFill>
                <a:latin typeface="Arial" panose="020B0604020202090204"/>
              </a:rPr>
              <a:t>−1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 near band edge), long carrier diffusion lengths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Champion single-junction PCE 26.7 % (UNIST 2024); inverted PSC 22.3 % via ligand anchoring [Hou et al. Nat. Energy 2020]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Tandem records: monolithic perovskite / Si tandem and 24.2 % all-perovskite tandem [Hou et al. Science 2020 · Nat. Energy 2020]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 panose="020B0604020202090204"/>
              </a:rPr>
              <a:t>SOLARLAB</a:t>
            </a:r>
            <a:endParaRPr sz="1000" b="0">
              <a:solidFill>
                <a:srgbClr val="C0392B"/>
              </a:solidFill>
              <a:latin typeface="Arial" panose="020B060402020209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 panose="020B0604020202090204"/>
              </a:rPr>
              <a:t>01 · PROBLEM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 panose="020B0604020202090204"/>
              </a:rPr>
              <a:t>5 / 32</a:t>
            </a:r>
            <a:endParaRPr sz="1100" b="0">
              <a:solidFill>
                <a:srgbClr val="CBD5E1"/>
              </a:solidFill>
              <a:latin typeface="Arial" panose="020B060402020209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 panose="020B0604020202090204"/>
              </a:rPr>
              <a:t>Limitations of the established absorbers</a:t>
            </a:r>
            <a:endParaRPr sz="2200" b="1">
              <a:solidFill>
                <a:srgbClr val="1C2533"/>
              </a:solidFill>
              <a:latin typeface="Arial" panose="020B060402020209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 panose="020B0604020202090204"/>
              </a:rPr>
              <a:t>Record-cell PCE timeline and accelerated-aging stability gap</a:t>
            </a:r>
            <a:endParaRPr sz="15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Si record 27.6 % (UNSW 2024) — five decades of incremental improvement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Perovskite record 26.7 % (UNIST 2024) — single-junction parity with Si in under a decade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Stability gap remains </a:t>
            </a:r>
            <a:r>
              <a:rPr sz="1300" b="0" baseline="30000">
                <a:solidFill>
                  <a:srgbClr val="475569"/>
                </a:solidFill>
                <a:latin typeface="Arial" panose="020B0604020202090204"/>
              </a:rPr>
              <a:t>&gt;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100× under operating stress (ion migration, A-site loss, photo-induced degradation)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Encapsulation mitigates ingress but does not address intrinsic absorber-side instability [Boyd et al. 2019]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Module-scale commercial deployment requires both record-class efficiency and outdoor lifetime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Motivates the discovery of new absorber chemistries that satisfy both criteria simultaneously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 panose="020B0604020202090204"/>
              </a:rPr>
              <a:t>SOLARLAB</a:t>
            </a:r>
            <a:endParaRPr sz="1000" b="0">
              <a:solidFill>
                <a:srgbClr val="C0392B"/>
              </a:solidFill>
              <a:latin typeface="Arial" panose="020B060402020209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 panose="020B0604020202090204"/>
              </a:rPr>
              <a:t>01 · PROBLEM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 panose="020B0604020202090204"/>
              </a:rPr>
              <a:t>6 / 32</a:t>
            </a:r>
            <a:endParaRPr sz="1100" b="0">
              <a:solidFill>
                <a:srgbClr val="CBD5E1"/>
              </a:solidFill>
              <a:latin typeface="Arial" panose="020B060402020209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 panose="020B0604020202090204"/>
              </a:rPr>
              <a:t>Talk outline</a:t>
            </a:r>
            <a:endParaRPr sz="2200" b="1">
              <a:solidFill>
                <a:srgbClr val="1C2533"/>
              </a:solidFill>
              <a:latin typeface="Arial" panose="020B060402020209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 panose="020B0604020202090204"/>
              </a:rPr>
              <a:t>Six stages connecting the materials database to predicted device performance</a:t>
            </a:r>
            <a:endParaRPr sz="1500" b="0">
              <a:solidFill>
                <a:srgbClr val="475569"/>
              </a:solidFill>
              <a:latin typeface="Arial" panose="020B0604020202090204"/>
            </a:endParaRPr>
          </a:p>
        </p:txBody>
      </p:sp>
      <p:pic>
        <p:nvPicPr>
          <p:cNvPr id="6" name="Picture 5" descr="s4_funne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7680" y="1828800"/>
            <a:ext cx="487680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01 PROBLEM — efficiency–stability tradeoff, CIGS and perovskite definitions (5 slides)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02 STRATEGY — chalcogenide structural template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03 ML AND FEATURES — small-sample HSE06 surrogate (8 slides)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04 CANDIDATES — fourteen-material shortlist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05 BRIDGE — 1D and 2D drift-diffusion device simulation (8 slides)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06 PAYOFF — predicted device J–V and outlook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 panose="020B0604020202090204"/>
              </a:rPr>
              <a:t>SOLARLAB</a:t>
            </a:r>
            <a:endParaRPr sz="1000" b="0">
              <a:solidFill>
                <a:srgbClr val="C0392B"/>
              </a:solidFill>
              <a:latin typeface="Arial" panose="020B060402020209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 panose="020B0604020202090204"/>
              </a:rPr>
              <a:t>02</a:t>
            </a:r>
            <a:endParaRPr sz="25000" b="1">
              <a:solidFill>
                <a:srgbClr val="C0392B"/>
              </a:solidFill>
              <a:latin typeface="Arial" panose="020B060402020209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 panose="020B0604020202090204"/>
              </a:rPr>
              <a:t>STRATEGY</a:t>
            </a:r>
            <a:endParaRPr sz="3600" b="1">
              <a:solidFill>
                <a:srgbClr val="475569"/>
              </a:solidFill>
              <a:latin typeface="Arial" panose="020B0604020202090204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 panose="020B0604020202090204"/>
              </a:rPr>
              <a:t>02 · STRATEGY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 panose="020B0604020202090204"/>
              </a:rPr>
              <a:t>7 / 32</a:t>
            </a:r>
            <a:endParaRPr sz="1100" b="0">
              <a:solidFill>
                <a:srgbClr val="CBD5E1"/>
              </a:solidFill>
              <a:latin typeface="Arial" panose="020B060402020209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 panose="020B0604020202090204"/>
              </a:rPr>
              <a:t>Chalcogenide templates as the structural prior</a:t>
            </a:r>
            <a:endParaRPr sz="2200" b="1">
              <a:solidFill>
                <a:srgbClr val="1C2533"/>
              </a:solidFill>
              <a:latin typeface="Arial" panose="020B060402020209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 panose="020B0604020202090204"/>
              </a:rPr>
              <a:t>AB</a:t>
            </a:r>
            <a:r>
              <a:rPr sz="1500" b="0" baseline="-25000">
                <a:solidFill>
                  <a:srgbClr val="475569"/>
                </a:solidFill>
                <a:latin typeface="Arial" panose="020B0604020202090204"/>
              </a:rPr>
              <a:t>2</a:t>
            </a:r>
            <a:r>
              <a:rPr sz="1500" b="0">
                <a:solidFill>
                  <a:srgbClr val="475569"/>
                </a:solidFill>
                <a:latin typeface="Arial" panose="020B0604020202090204"/>
              </a:rPr>
              <a:t>C</a:t>
            </a:r>
            <a:r>
              <a:rPr sz="1500" b="0" baseline="-25000">
                <a:solidFill>
                  <a:srgbClr val="475569"/>
                </a:solidFill>
                <a:latin typeface="Arial" panose="020B0604020202090204"/>
              </a:rPr>
              <a:t>4</a:t>
            </a:r>
            <a:r>
              <a:rPr sz="1500" b="0">
                <a:solidFill>
                  <a:srgbClr val="475569"/>
                </a:solidFill>
                <a:latin typeface="Arial" panose="020B0604020202090204"/>
              </a:rPr>
              <a:t> and ABC</a:t>
            </a:r>
            <a:r>
              <a:rPr sz="1500" b="0" baseline="-25000">
                <a:solidFill>
                  <a:srgbClr val="475569"/>
                </a:solidFill>
                <a:latin typeface="Arial" panose="020B0604020202090204"/>
              </a:rPr>
              <a:t>3</a:t>
            </a:r>
            <a:r>
              <a:rPr sz="1500" b="0">
                <a:solidFill>
                  <a:srgbClr val="475569"/>
                </a:solidFill>
                <a:latin typeface="Arial" panose="020B0604020202090204"/>
              </a:rPr>
              <a:t> frameworks with heavy-p-block cations on chalcogen anions</a:t>
            </a:r>
            <a:endParaRPr sz="15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Anion sublattice: S, Se, Te. Selenides comprise 11 of 14 shortlisted candidates, including the top six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Active cation: Sb, Sn, Bi (6s</a:t>
            </a:r>
            <a:r>
              <a:rPr sz="1300" b="0" baseline="30000">
                <a:solidFill>
                  <a:srgbClr val="475569"/>
                </a:solidFill>
                <a:latin typeface="Arial" panose="020B0604020202090204"/>
              </a:rPr>
              <a:t>2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/ 5s</a:t>
            </a:r>
            <a:r>
              <a:rPr sz="1300" b="0" baseline="30000">
                <a:solidFill>
                  <a:srgbClr val="475569"/>
                </a:solidFill>
                <a:latin typeface="Arial" panose="020B0604020202090204"/>
              </a:rPr>
              <a:t>2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lone pair) producing dispersive valence-band maxima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Spectator cation: Cs, Ca, Sr, K donate charge without contracting the valence-band dispersion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Stoichiometry preference: AB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2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C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4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</a:t>
            </a:r>
            <a:r>
              <a:rPr sz="1300" b="0" baseline="30000">
                <a:solidFill>
                  <a:srgbClr val="475569"/>
                </a:solidFill>
                <a:latin typeface="Arial" panose="020B0604020202090204"/>
              </a:rPr>
              <a:t>≫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ABC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3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≈ ABC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2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in the screened subset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Symmetry distribution: Pnma (SG 62) is dominant; followed by SG 12, 14, 72 and 15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Constrains the &gt; 10</a:t>
            </a:r>
            <a:r>
              <a:rPr sz="1300" b="0" baseline="30000">
                <a:solidFill>
                  <a:srgbClr val="475569"/>
                </a:solidFill>
                <a:latin typeface="Arial" panose="020B0604020202090204"/>
              </a:rPr>
              <a:t>5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candidate pool to a physically plausible, synthetically accessible subspace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 panose="020B0604020202090204"/>
              </a:rPr>
              <a:t>SOLARLAB</a:t>
            </a:r>
            <a:endParaRPr sz="1000" b="0">
              <a:solidFill>
                <a:srgbClr val="C0392B"/>
              </a:solidFill>
              <a:latin typeface="Arial" panose="020B0604020202090204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 panose="020B0604020202090204"/>
              </a:rPr>
              <a:t>02 · STRATEGY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 panose="020B0604020202090204"/>
              </a:rPr>
              <a:t>8 / 32</a:t>
            </a:r>
            <a:endParaRPr sz="1100" b="0">
              <a:solidFill>
                <a:srgbClr val="CBD5E1"/>
              </a:solidFill>
              <a:latin typeface="Arial" panose="020B060402020209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 panose="020B0604020202090204"/>
              </a:rPr>
              <a:t>End-to-end pipeline</a:t>
            </a:r>
            <a:endParaRPr sz="2200" b="1">
              <a:solidFill>
                <a:srgbClr val="1C2533"/>
              </a:solidFill>
              <a:latin typeface="Arial" panose="020B060402020209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 panose="020B0604020202090204"/>
              </a:rPr>
              <a:t>MP / OQMD → ML surrogate → DFT validation → device sim → expt</a:t>
            </a:r>
            <a:endParaRPr sz="1500" b="0">
              <a:solidFill>
                <a:srgbClr val="475569"/>
              </a:solidFill>
              <a:latin typeface="Arial" panose="020B0604020202090204"/>
            </a:endParaRPr>
          </a:p>
        </p:txBody>
      </p:sp>
      <p:pic>
        <p:nvPicPr>
          <p:cNvPr id="6" name="Picture 5" descr="s6_pipelin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130552"/>
            <a:ext cx="8229600" cy="21396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 panose="020B0604020202090204"/>
              </a:rPr>
              <a:t>SOLARLAB</a:t>
            </a:r>
            <a:endParaRPr sz="1000" b="0">
              <a:solidFill>
                <a:srgbClr val="C0392B"/>
              </a:solidFill>
              <a:latin typeface="Arial" panose="020B0604020202090204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 panose="020B0604020202090204"/>
              </a:rPr>
              <a:t>03</a:t>
            </a:r>
            <a:endParaRPr sz="25000" b="1">
              <a:solidFill>
                <a:srgbClr val="C0392B"/>
              </a:solidFill>
              <a:latin typeface="Arial" panose="020B060402020209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 panose="020B0604020202090204"/>
              </a:rPr>
              <a:t>ML + FEATURES</a:t>
            </a:r>
            <a:endParaRPr sz="3600" b="1">
              <a:solidFill>
                <a:srgbClr val="475569"/>
              </a:solidFill>
              <a:latin typeface="Arial" panose="020B0604020202090204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 panose="020B0604020202090204"/>
              </a:rPr>
              <a:t>03 · ML + FEATURES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 panose="020B0604020202090204"/>
              </a:rPr>
              <a:t>9 / 32</a:t>
            </a:r>
            <a:endParaRPr sz="1100" b="0">
              <a:solidFill>
                <a:srgbClr val="CBD5E1"/>
              </a:solidFill>
              <a:latin typeface="Arial" panose="020B060402020209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 panose="020B0604020202090204"/>
              </a:rPr>
              <a:t>Motivation for a learned surrogate</a:t>
            </a:r>
            <a:endParaRPr sz="2200" b="1">
              <a:solidFill>
                <a:srgbClr val="1C2533"/>
              </a:solidFill>
              <a:latin typeface="Arial" panose="020B060402020209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 panose="020B0604020202090204"/>
              </a:rPr>
              <a:t>Four-stage HSE06 and DFPT workflow executed in VASP for each candidate</a:t>
            </a:r>
            <a:endParaRPr sz="15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Stage 1 PBE relaxation → Stage 2 SCF → Stage 3 DFPT dielectric tensor → Stage 4 HSE06 band structure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DFPT and HSE06 dominate runtime, requiring 10</a:t>
            </a:r>
            <a:r>
              <a:rPr sz="1300" b="0" baseline="30000">
                <a:solidFill>
                  <a:srgbClr val="475569"/>
                </a:solidFill>
                <a:latin typeface="Arial" panose="020B0604020202090204"/>
              </a:rPr>
              <a:t>0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–10</a:t>
            </a:r>
            <a:r>
              <a:rPr sz="1300" b="0" baseline="30000">
                <a:solidFill>
                  <a:srgbClr val="475569"/>
                </a:solidFill>
                <a:latin typeface="Arial" panose="020B0604020202090204"/>
              </a:rPr>
              <a:t>2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CPU-hours per structure on a 64-core node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PBE relaxation scales as O(N</a:t>
            </a:r>
            <a:r>
              <a:rPr sz="1300" b="0" baseline="30000">
                <a:solidFill>
                  <a:srgbClr val="475569"/>
                </a:solidFill>
                <a:latin typeface="Arial" panose="020B0604020202090204"/>
              </a:rPr>
              <a:t>3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) in plane-wave eigensolve; HSE06 adds ~10× overhead via exact exchange [Heyd et al. 2003]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DFPT dielectric tensor obtained from the linear-response Sternheimer equation at ~2× SCF cost [Baroni et al. 2001]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Combined MP and OQMD pool exceeds 10</a:t>
            </a:r>
            <a:r>
              <a:rPr sz="1300" b="0" baseline="30000">
                <a:solidFill>
                  <a:srgbClr val="475569"/>
                </a:solidFill>
                <a:latin typeface="Arial" panose="020B0604020202090204"/>
              </a:rPr>
              <a:t>5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candidates, rendering full-DFT enumeration computationally infeasible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Approach: train a learned surrogate on 473 DFT-labelled materials and use it to rank the unlabelled pool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 panose="020B0604020202090204"/>
              </a:rPr>
              <a:t>SOLARLAB</a:t>
            </a:r>
            <a:endParaRPr sz="1000" b="0">
              <a:solidFill>
                <a:srgbClr val="C0392B"/>
              </a:solidFill>
              <a:latin typeface="Arial" panose="020B0604020202090204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 panose="020B0604020202090204"/>
              </a:rPr>
              <a:t>03 · ML + FEATURES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 panose="020B0604020202090204"/>
              </a:rPr>
              <a:t>10 / 32</a:t>
            </a:r>
            <a:endParaRPr sz="1100" b="0">
              <a:solidFill>
                <a:srgbClr val="CBD5E1"/>
              </a:solidFill>
              <a:latin typeface="Arial" panose="020B060402020209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 panose="020B0604020202090204"/>
              </a:rPr>
              <a:t>Hand-crafted feature set (167 D)</a:t>
            </a:r>
            <a:endParaRPr sz="2200" b="1">
              <a:solidFill>
                <a:srgbClr val="1C2533"/>
              </a:solidFill>
              <a:latin typeface="Arial" panose="020B060402020209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 panose="020B0604020202090204"/>
              </a:rPr>
              <a:t>Composition · structure · symmetry — Magpie + matminer</a:t>
            </a:r>
            <a:endParaRPr sz="1500" b="0">
              <a:solidFill>
                <a:srgbClr val="475569"/>
              </a:solidFill>
              <a:latin typeface="Arial" panose="020B0604020202090204"/>
            </a:endParaRPr>
          </a:p>
        </p:txBody>
      </p:sp>
      <p:pic>
        <p:nvPicPr>
          <p:cNvPr id="6" name="Picture 5" descr="s8_feature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3122" y="1828800"/>
            <a:ext cx="3585915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9279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Composition (~27 D): Magpie statistics over Z, χ, atomic radius, row, group, mass [Ward et al. 2016]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Magpie reduces a formula A</a:t>
            </a:r>
            <a:r>
              <a:rPr sz="1100" b="0" baseline="-25000">
                <a:solidFill>
                  <a:srgbClr val="475569"/>
                </a:solidFill>
                <a:latin typeface="Arial" panose="020B0604020202090204"/>
              </a:rPr>
              <a:t>a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B</a:t>
            </a:r>
            <a:r>
              <a:rPr sz="1100" b="0" baseline="-25000">
                <a:solidFill>
                  <a:srgbClr val="475569"/>
                </a:solidFill>
                <a:latin typeface="Arial" panose="020B0604020202090204"/>
              </a:rPr>
              <a:t>b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C</a:t>
            </a:r>
            <a:r>
              <a:rPr sz="1100" b="0" baseline="-25000">
                <a:solidFill>
                  <a:srgbClr val="475569"/>
                </a:solidFill>
                <a:latin typeface="Arial" panose="020B0604020202090204"/>
              </a:rPr>
              <a:t>c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 to mean / std / min / max / mode of element properties weighted by stoichiometry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Structure (140 D): CrystalNN site-fingerprint (122) + RDF + density + packing [matminer · Ward et al. 2018]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All featurisers tolerate NaN — routed to the appropriate side of every HistGBR split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Cached numpy matrices on disk → re-fits run in seconds, not minutes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Frozen MEGNet 16-D embeddings give R</a:t>
            </a:r>
            <a:r>
              <a:rPr sz="1100" b="0" baseline="30000">
                <a:solidFill>
                  <a:srgbClr val="475569"/>
                </a:solidFill>
                <a:latin typeface="Arial" panose="020B0604020202090204"/>
              </a:rPr>
              <a:t>2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 = 0.366 — below hand-features baseline [Chen et al. 2019]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 panose="020B0604020202090204"/>
              </a:rPr>
              <a:t>SOLARLAB</a:t>
            </a:r>
            <a:endParaRPr sz="1000" b="0">
              <a:solidFill>
                <a:srgbClr val="C0392B"/>
              </a:solidFill>
              <a:latin typeface="Arial" panose="020B0604020202090204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 panose="020B0604020202090204"/>
              </a:rPr>
              <a:t>03 · ML + FEATURES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 panose="020B0604020202090204"/>
              </a:rPr>
              <a:t>11 / 32</a:t>
            </a:r>
            <a:endParaRPr sz="1100" b="0">
              <a:solidFill>
                <a:srgbClr val="CBD5E1"/>
              </a:solidFill>
              <a:latin typeface="Arial" panose="020B060402020209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 panose="020B0604020202090204"/>
              </a:rPr>
              <a:t>Composite photovoltaic figure of merit</a:t>
            </a:r>
            <a:endParaRPr sz="2200" b="1">
              <a:solidFill>
                <a:srgbClr val="1C2533"/>
              </a:solidFill>
              <a:latin typeface="Arial" panose="020B060402020209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 panose="020B0604020202090204"/>
              </a:rPr>
              <a:t>Four physically motivated factors combined into a single scalar target y ∈ [0, 1]</a:t>
            </a:r>
            <a:endParaRPr sz="15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y = f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gap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(E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g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) · 1 / (1 + m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avg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) · tanh(ε / 10) · 1 / (1 + E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b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/ 0.1)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f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gap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(E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g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): triangular Shockley–Queisser window peaked at 1.34 eV, vanishing at 0.5 and 2.5 eV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1 / (1 + m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avg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): monotonic decay rewarding low effective mass and therefore high mobility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tanh(ε / 10): saturates above ε ≈ 10 to reflect diminishing returns from dielectric screening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1 / (1 + E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b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/ 0.1): favours Wannier–Mott regimes (E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b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&lt; 0.1 eV) and penalises Frenkel-exciton systems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Bounded, differentiable, physically interpretable; replaces four independent regression heads with one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 panose="020B0604020202090204"/>
              </a:rPr>
              <a:t>SOLARLAB</a:t>
            </a:r>
            <a:endParaRPr sz="1000" b="0">
              <a:solidFill>
                <a:srgbClr val="C0392B"/>
              </a:solidFill>
              <a:latin typeface="Arial" panose="020B0604020202090204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 panose="020B0604020202090204"/>
              </a:rPr>
              <a:t>03 · ML + FEATURES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 panose="020B0604020202090204"/>
              </a:rPr>
              <a:t>12 / 32</a:t>
            </a:r>
            <a:endParaRPr sz="1100" b="0">
              <a:solidFill>
                <a:srgbClr val="CBD5E1"/>
              </a:solidFill>
              <a:latin typeface="Arial" panose="020B060402020209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 panose="020B0604020202090204"/>
              </a:rPr>
              <a:t>Histogram-based gradient boosting regression</a:t>
            </a:r>
            <a:endParaRPr sz="2200" b="1">
              <a:solidFill>
                <a:srgbClr val="1C2533"/>
              </a:solidFill>
              <a:latin typeface="Arial" panose="020B060402020209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 panose="020B0604020202090204"/>
              </a:rPr>
              <a:t>Stage-wise additive function approximation [Friedman 2001 · Ke et al. 2017]</a:t>
            </a:r>
            <a:endParaRPr sz="15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F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m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(x) = F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m-1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(x) + ν · h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m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(x), where h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m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fits the negative gradient of the loss at F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m-1</a:t>
            </a:r>
            <a:endParaRPr sz="1300" b="0" baseline="-2500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Histogram binning into 256 discrete buckets reduces a split scan from O(N) to O(B), yielding ~3× speedup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Native NaN handling: missing values learn an independent split direction at each tree node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Hyperparameters: 600 boosting iterations · maximum depth 4 · learning rate 0.05 · minimum samples per leaf 10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Target wrapped in log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1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p(y / 0.08) by TransformedTargetRegressor; inverse via 0.08 · expm1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Logarithmic transform compresses the heavy-tailed PV-score distribution and equalises booster resolution near peak (y ≈ 0.5) and bulk (y ≈ 0.01)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 panose="020B0604020202090204"/>
              </a:rPr>
              <a:t>SOLARLAB</a:t>
            </a:r>
            <a:endParaRPr sz="1000" b="0">
              <a:solidFill>
                <a:srgbClr val="C0392B"/>
              </a:solidFill>
              <a:latin typeface="Arial" panose="020B0604020202090204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 panose="020B0604020202090204"/>
              </a:rPr>
              <a:t>03 · ML + FEATURES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 panose="020B0604020202090204"/>
              </a:rPr>
              <a:t>13 / 32</a:t>
            </a:r>
            <a:endParaRPr sz="1100" b="0">
              <a:solidFill>
                <a:srgbClr val="CBD5E1"/>
              </a:solidFill>
              <a:latin typeface="Arial" panose="020B060402020209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 panose="020B0604020202090204"/>
              </a:rPr>
              <a:t>Gaussian-process and random-forest uncertainty stack</a:t>
            </a:r>
            <a:endParaRPr sz="2200" b="1">
              <a:solidFill>
                <a:srgbClr val="1C2533"/>
              </a:solidFill>
              <a:latin typeface="Arial" panose="020B060402020209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 panose="020B0604020202090204"/>
              </a:rPr>
              <a:t>Matérn-5/2 kernel with additive white noise [Rasmussen &amp; Williams 2006]</a:t>
            </a:r>
            <a:endParaRPr sz="15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k(x, x</a:t>
            </a:r>
            <a:r>
              <a:rPr sz="1300" b="0" baseline="30000">
                <a:solidFill>
                  <a:srgbClr val="475569"/>
                </a:solidFill>
                <a:latin typeface="Arial" panose="020B0604020202090204"/>
              </a:rPr>
              <a:t>'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) = σ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f</a:t>
            </a:r>
            <a:r>
              <a:rPr sz="1300" b="0" baseline="30000">
                <a:solidFill>
                  <a:srgbClr val="475569"/>
                </a:solidFill>
                <a:latin typeface="Arial" panose="020B0604020202090204"/>
              </a:rPr>
              <a:t>2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(1 + √5 r + (5/3) r</a:t>
            </a:r>
            <a:r>
              <a:rPr sz="1300" b="0" baseline="30000">
                <a:solidFill>
                  <a:srgbClr val="475569"/>
                </a:solidFill>
                <a:latin typeface="Arial" panose="020B0604020202090204"/>
              </a:rPr>
              <a:t>2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) exp(−√5 r) + σ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n</a:t>
            </a:r>
            <a:r>
              <a:rPr sz="1300" b="0" baseline="30000">
                <a:solidFill>
                  <a:srgbClr val="475569"/>
                </a:solidFill>
                <a:latin typeface="Arial" panose="020B0604020202090204"/>
              </a:rPr>
              <a:t>2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δ(x − x</a:t>
            </a:r>
            <a:r>
              <a:rPr sz="1300" b="0" baseline="30000">
                <a:solidFill>
                  <a:srgbClr val="475569"/>
                </a:solidFill>
                <a:latin typeface="Arial" panose="020B0604020202090204"/>
              </a:rPr>
              <a:t>'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)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r = ‖x − x</a:t>
            </a:r>
            <a:r>
              <a:rPr sz="1300" b="0" baseline="30000">
                <a:solidFill>
                  <a:srgbClr val="475569"/>
                </a:solidFill>
                <a:latin typeface="Arial" panose="020B0604020202090204"/>
              </a:rPr>
              <a:t>'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‖ / ℓ; the anisotropic length-scale ℓ is optimised by L-BFGS-B on the marginal log-likelihood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White-noise variance σ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n</a:t>
            </a:r>
            <a:r>
              <a:rPr sz="1300" b="0" baseline="30000">
                <a:solidFill>
                  <a:srgbClr val="475569"/>
                </a:solidFill>
                <a:latin typeface="Arial" panose="020B0604020202090204"/>
              </a:rPr>
              <a:t>2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absorbs DFT scatter, typically 0.02 – 0.05 on the log target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A random-forest predictor (300 trees) compensates for GP underconfidence in sparsely sampled regions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Stack mean: μ(x) = w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GP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μ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GPR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+ w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RF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μ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RF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· variance: σ</a:t>
            </a:r>
            <a:r>
              <a:rPr sz="1300" b="0" baseline="30000">
                <a:solidFill>
                  <a:srgbClr val="475569"/>
                </a:solidFill>
                <a:latin typeface="Arial" panose="020B0604020202090204"/>
              </a:rPr>
              <a:t>2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(x) = w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GP</a:t>
            </a:r>
            <a:r>
              <a:rPr sz="1300" b="0" baseline="30000">
                <a:solidFill>
                  <a:srgbClr val="475569"/>
                </a:solidFill>
                <a:latin typeface="Arial" panose="020B0604020202090204"/>
              </a:rPr>
              <a:t>2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σ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GPR</a:t>
            </a:r>
            <a:r>
              <a:rPr sz="1300" b="0" baseline="30000">
                <a:solidFill>
                  <a:srgbClr val="475569"/>
                </a:solidFill>
                <a:latin typeface="Arial" panose="020B0604020202090204"/>
              </a:rPr>
              <a:t>2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+ w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RF</a:t>
            </a:r>
            <a:r>
              <a:rPr sz="1300" b="0" baseline="30000">
                <a:solidFill>
                  <a:srgbClr val="475569"/>
                </a:solidFill>
                <a:latin typeface="Arial" panose="020B0604020202090204"/>
              </a:rPr>
              <a:t>2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σ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RF</a:t>
            </a:r>
            <a:r>
              <a:rPr sz="1300" b="0" baseline="30000">
                <a:solidFill>
                  <a:srgbClr val="475569"/>
                </a:solidFill>
                <a:latin typeface="Arial" panose="020B0604020202090204"/>
              </a:rPr>
              <a:t>2</a:t>
            </a:r>
            <a:endParaRPr sz="1300" b="0" baseline="3000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Mixing weights are obtained via non-negative ridge regression on out-of-fold predictions, ensuring calibration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 panose="020B0604020202090204"/>
              </a:rPr>
              <a:t>SOLARLAB</a:t>
            </a:r>
            <a:endParaRPr sz="1000" b="0">
              <a:solidFill>
                <a:srgbClr val="C0392B"/>
              </a:solidFill>
              <a:latin typeface="Arial" panose="020B0604020202090204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 panose="020B0604020202090204"/>
              </a:rPr>
              <a:t>03 · ML + FEATURES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 panose="020B0604020202090204"/>
              </a:rPr>
              <a:t>14 / 32</a:t>
            </a:r>
            <a:endParaRPr sz="1100" b="0">
              <a:solidFill>
                <a:srgbClr val="CBD5E1"/>
              </a:solidFill>
              <a:latin typeface="Arial" panose="020B060402020209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 panose="020B0604020202090204"/>
              </a:rPr>
              <a:t>Upper-confidence-bound acquisition for active learning</a:t>
            </a:r>
            <a:endParaRPr sz="2200" b="1">
              <a:solidFill>
                <a:srgbClr val="1C2533"/>
              </a:solidFill>
              <a:latin typeface="Arial" panose="020B060402020209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 panose="020B0604020202090204"/>
              </a:rPr>
              <a:t>Sequential selection of the next DFT batch [Snoek et al. 2012]</a:t>
            </a:r>
            <a:endParaRPr sz="15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α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UCB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(x) = μ(x) + κ · σ(x), with κ = 2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Posterior mean μ(x) is taken from HistGBR, the more accurate mean predictor on labelled data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Posterior standard deviation σ(x) is taken from the GPR + RF stack as a calibrated uncertainty source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κ = 2 balances exploitation (high μ) and exploration (high σ) and is standard in Bayesian optimisation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Decoupling μ and σ between two models prevents GP underconfidence from suppressing the high-score tail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Top-N entries by α become the next active-learning DFT batch; returned labels are fed back into both models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 panose="020B0604020202090204"/>
              </a:rPr>
              <a:t>SOLARLAB</a:t>
            </a:r>
            <a:endParaRPr sz="1000" b="0">
              <a:solidFill>
                <a:srgbClr val="C0392B"/>
              </a:solidFill>
              <a:latin typeface="Arial" panose="020B0604020202090204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 panose="020B0604020202090204"/>
              </a:rPr>
              <a:t>03 · ML + FEATURES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 panose="020B0604020202090204"/>
              </a:rPr>
              <a:t>15 / 32</a:t>
            </a:r>
            <a:endParaRPr sz="1100" b="0">
              <a:solidFill>
                <a:srgbClr val="CBD5E1"/>
              </a:solidFill>
              <a:latin typeface="Arial" panose="020B060402020209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 panose="020B0604020202090204"/>
              </a:rPr>
              <a:t>Validation under random and grouped cross-validation</a:t>
            </a:r>
            <a:endParaRPr sz="2200" b="1">
              <a:solidFill>
                <a:srgbClr val="1C2533"/>
              </a:solidFill>
              <a:latin typeface="Arial" panose="020B060402020209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 panose="020B0604020202090204"/>
              </a:rPr>
              <a:t>5-fold × 5-seed random CV on n = 473 labelled materials</a:t>
            </a:r>
            <a:endParaRPr sz="1500" b="0">
              <a:solidFill>
                <a:srgbClr val="475569"/>
              </a:solidFill>
              <a:latin typeface="Arial" panose="020B0604020202090204"/>
            </a:endParaRPr>
          </a:p>
        </p:txBody>
      </p:sp>
      <p:pic>
        <p:nvPicPr>
          <p:cNvPr id="6" name="Picture 5" descr="s10_parity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400449"/>
            <a:ext cx="4937760" cy="15999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9279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HistGBR achieves R</a:t>
            </a:r>
            <a:r>
              <a:rPr sz="1100" b="0" baseline="30000">
                <a:solidFill>
                  <a:srgbClr val="475569"/>
                </a:solidFill>
                <a:latin typeface="Arial" panose="020B0604020202090204"/>
              </a:rPr>
              <a:t>2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 = 0.466 ± 0.035 · MAE = 0.012 · top-20 recall 0.50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Improves over the prior GPR / GB / ExtraTrees baseline by +50 % in R</a:t>
            </a:r>
            <a:r>
              <a:rPr sz="1100" b="0" baseline="30000">
                <a:solidFill>
                  <a:srgbClr val="475569"/>
                </a:solidFill>
                <a:latin typeface="Arial" panose="020B0604020202090204"/>
              </a:rPr>
              <a:t>2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 (0.31 → 0.466)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Ablation: GBR 0.399 · ExtraTrees 0.234 · MEGNet fine-tuned 0.307 · MEGNet frozen 0.366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Repeated out-of-fold averaging across seeds yields global R</a:t>
            </a:r>
            <a:r>
              <a:rPr sz="1100" b="0" baseline="30000">
                <a:solidFill>
                  <a:srgbClr val="475569"/>
                </a:solidFill>
                <a:latin typeface="Arial" panose="020B0604020202090204"/>
              </a:rPr>
              <a:t>2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 = 0.492 and top-20 recall 0.50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Prototype-grouped CV gives R</a:t>
            </a:r>
            <a:r>
              <a:rPr sz="1100" b="0" baseline="30000">
                <a:solidFill>
                  <a:srgbClr val="475569"/>
                </a:solidFill>
                <a:latin typeface="Arial" panose="020B0604020202090204"/>
              </a:rPr>
              <a:t>2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 ≈ 0, indicating poor extrapolation to unseen structural prototypes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Chalcogen-family-grouped CV gives R</a:t>
            </a:r>
            <a:r>
              <a:rPr sz="1100" b="0" baseline="30000">
                <a:solidFill>
                  <a:srgbClr val="475569"/>
                </a:solidFill>
                <a:latin typeface="Arial" panose="020B0604020202090204"/>
              </a:rPr>
              <a:t>2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 ≈ 0.15, with Se the most challenging hold-out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 panose="020B0604020202090204"/>
              </a:rPr>
              <a:t>SOLARLAB</a:t>
            </a:r>
            <a:endParaRPr sz="1000" b="0">
              <a:solidFill>
                <a:srgbClr val="C0392B"/>
              </a:solidFill>
              <a:latin typeface="Arial" panose="020B0604020202090204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 panose="020B0604020202090204"/>
              </a:rPr>
              <a:t>03 · ML + FEATURES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 panose="020B0604020202090204"/>
              </a:rPr>
              <a:t>16 / 32</a:t>
            </a:r>
            <a:endParaRPr sz="1100" b="0">
              <a:solidFill>
                <a:srgbClr val="CBD5E1"/>
              </a:solidFill>
              <a:latin typeface="Arial" panose="020B060402020209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 panose="020B0604020202090204"/>
              </a:rPr>
              <a:t>Per-group residual audit</a:t>
            </a:r>
            <a:endParaRPr sz="2200" b="1">
              <a:solidFill>
                <a:srgbClr val="1C2533"/>
              </a:solidFill>
              <a:latin typeface="Arial" panose="020B060402020209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 panose="020B0604020202090204"/>
              </a:rPr>
              <a:t>Diagnostic informing the next active-learning batch</a:t>
            </a:r>
            <a:endParaRPr sz="15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Score = RMSE · √n + 0.02 · (missed top-20), penalising ranking errors at the high-score tail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Se (n = 182): RMSE 0.042, 17 true top-20 candidates, 9 missed by HistGBR — highest priority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High-score bin (y &gt; 0.1, n = 14): RMSE 0.145, identifying the under-modelled tail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Pnma (SG 62, n = 182): RMSE 0.034, 4 of 10 true top-20 missed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AB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2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C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4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(n = 91): RMSE 0.045, 1 of 7 true top-20 missed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ABC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3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(n = 56): RMSE 0.045, 50 % top-20 miss rate — the most pronounced data-coverage gap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 panose="020B0604020202090204"/>
              </a:rPr>
              <a:t>SOLARLAB</a:t>
            </a:r>
            <a:endParaRPr sz="1000" b="0">
              <a:solidFill>
                <a:srgbClr val="C0392B"/>
              </a:solidFill>
              <a:latin typeface="Arial" panose="020B0604020202090204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 panose="020B0604020202090204"/>
              </a:rPr>
              <a:t>04</a:t>
            </a:r>
            <a:endParaRPr sz="25000" b="1">
              <a:solidFill>
                <a:srgbClr val="C0392B"/>
              </a:solidFill>
              <a:latin typeface="Arial" panose="020B060402020209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 panose="020B0604020202090204"/>
              </a:rPr>
              <a:t>CANDIDATES</a:t>
            </a:r>
            <a:endParaRPr sz="3600" b="1">
              <a:solidFill>
                <a:srgbClr val="475569"/>
              </a:solidFill>
              <a:latin typeface="Arial" panose="020B0604020202090204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 panose="020B0604020202090204"/>
              </a:rPr>
              <a:t>04 · CANDIDATES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 panose="020B0604020202090204"/>
              </a:rPr>
              <a:t>17 / 32</a:t>
            </a:r>
            <a:endParaRPr sz="1100" b="0">
              <a:solidFill>
                <a:srgbClr val="CBD5E1"/>
              </a:solidFill>
              <a:latin typeface="Arial" panose="020B060402020209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 panose="020B0604020202090204"/>
              </a:rPr>
              <a:t>Top-fourteen candidates (PV score y &gt; 0.10)</a:t>
            </a:r>
            <a:endParaRPr sz="2200" b="1">
              <a:solidFill>
                <a:srgbClr val="1C2533"/>
              </a:solidFill>
              <a:latin typeface="Arial" panose="020B060402020209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 panose="020B0604020202090204"/>
              </a:rPr>
              <a:t>All entries are chalcogenides; eleven of fourteen are selenides; AB</a:t>
            </a:r>
            <a:r>
              <a:rPr sz="1500" b="0" baseline="-25000">
                <a:solidFill>
                  <a:srgbClr val="475569"/>
                </a:solidFill>
                <a:latin typeface="Arial" panose="020B0604020202090204"/>
              </a:rPr>
              <a:t>2</a:t>
            </a:r>
            <a:r>
              <a:rPr sz="1500" b="0">
                <a:solidFill>
                  <a:srgbClr val="475569"/>
                </a:solidFill>
                <a:latin typeface="Arial" panose="020B0604020202090204"/>
              </a:rPr>
              <a:t>C</a:t>
            </a:r>
            <a:r>
              <a:rPr sz="1500" b="0" baseline="-25000">
                <a:solidFill>
                  <a:srgbClr val="475569"/>
                </a:solidFill>
                <a:latin typeface="Arial" panose="020B0604020202090204"/>
              </a:rPr>
              <a:t>4</a:t>
            </a:r>
            <a:r>
              <a:rPr sz="1500" b="0">
                <a:solidFill>
                  <a:srgbClr val="475569"/>
                </a:solidFill>
                <a:latin typeface="Arial" panose="020B0604020202090204"/>
              </a:rPr>
              <a:t> is the dominant prototype</a:t>
            </a:r>
            <a:endParaRPr sz="1500" b="0">
              <a:solidFill>
                <a:srgbClr val="475569"/>
              </a:solidFill>
              <a:latin typeface="Arial" panose="020B0604020202090204"/>
            </a:endParaRPr>
          </a:p>
        </p:txBody>
      </p:sp>
      <p:pic>
        <p:nvPicPr>
          <p:cNvPr id="6" name="Picture 5" descr="s11_top_candidate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8696" y="1828800"/>
            <a:ext cx="4374767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4199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Selenides preferred: 11 of 14 are Se-based and the top six are all Se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AB</a:t>
            </a:r>
            <a:r>
              <a:rPr sz="1100" b="0" baseline="-25000">
                <a:solidFill>
                  <a:srgbClr val="475569"/>
                </a:solidFill>
                <a:latin typeface="Arial" panose="020B0604020202090204"/>
              </a:rPr>
              <a:t>2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C</a:t>
            </a:r>
            <a:r>
              <a:rPr sz="1100" b="0" baseline="-25000">
                <a:solidFill>
                  <a:srgbClr val="475569"/>
                </a:solidFill>
                <a:latin typeface="Arial" panose="020B0604020202090204"/>
              </a:rPr>
              <a:t>4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 supplies 7 of 14 entries; the remainder is split between ABC</a:t>
            </a:r>
            <a:r>
              <a:rPr sz="1100" b="0" baseline="-25000">
                <a:solidFill>
                  <a:srgbClr val="475569"/>
                </a:solidFill>
                <a:latin typeface="Arial" panose="020B0604020202090204"/>
              </a:rPr>
              <a:t>3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 and ABC</a:t>
            </a:r>
            <a:r>
              <a:rPr sz="1100" b="0" baseline="-25000">
                <a:solidFill>
                  <a:srgbClr val="475569"/>
                </a:solidFill>
                <a:latin typeface="Arial" panose="020B0604020202090204"/>
              </a:rPr>
              <a:t>2</a:t>
            </a:r>
            <a:endParaRPr sz="1100" b="0" baseline="-2500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Pnma (SG 62) accounts for 7 of 14; remaining entries fall in SG 12, 14, 72 and 15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PV-score distribution spans 0.10 to 0.49 across the shortlist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Aggregate descriptors: ⟨E</a:t>
            </a:r>
            <a:r>
              <a:rPr sz="1100" b="0" baseline="-25000">
                <a:solidFill>
                  <a:srgbClr val="475569"/>
                </a:solidFill>
                <a:latin typeface="Arial" panose="020B0604020202090204"/>
              </a:rPr>
              <a:t>g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⟩ = 1.32 eV · ⟨ε⟩ = 12.5 · ⟨m</a:t>
            </a:r>
            <a:r>
              <a:rPr sz="1100" b="0" baseline="-25000">
                <a:solidFill>
                  <a:srgbClr val="475569"/>
                </a:solidFill>
                <a:latin typeface="Arial" panose="020B0604020202090204"/>
              </a:rPr>
              <a:t>avg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⟩ = 0.58 m</a:t>
            </a:r>
            <a:r>
              <a:rPr sz="1100" b="0" baseline="-25000">
                <a:solidFill>
                  <a:srgbClr val="475569"/>
                </a:solidFill>
                <a:latin typeface="Arial" panose="020B0604020202090204"/>
              </a:rPr>
              <a:t>0</a:t>
            </a:r>
            <a:endParaRPr sz="1100" b="0" baseline="-2500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24 % are direct-gap; the remaining 76 % are retained for combined low m</a:t>
            </a:r>
            <a:r>
              <a:rPr sz="1100" b="0" baseline="30000">
                <a:solidFill>
                  <a:srgbClr val="475569"/>
                </a:solidFill>
                <a:latin typeface="Arial" panose="020B0604020202090204"/>
              </a:rPr>
              <a:t>*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, high ε and low E</a:t>
            </a:r>
            <a:r>
              <a:rPr sz="1100" b="0" baseline="-25000">
                <a:solidFill>
                  <a:srgbClr val="475569"/>
                </a:solidFill>
                <a:latin typeface="Arial" panose="020B0604020202090204"/>
              </a:rPr>
              <a:t>b</a:t>
            </a:r>
            <a:endParaRPr sz="1100" b="0" baseline="-2500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 panose="020B0604020202090204"/>
              </a:rPr>
              <a:t>SOLARLAB</a:t>
            </a:r>
            <a:endParaRPr sz="1000" b="0">
              <a:solidFill>
                <a:srgbClr val="C0392B"/>
              </a:solidFill>
              <a:latin typeface="Arial" panose="020B0604020202090204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 panose="020B0604020202090204"/>
              </a:rPr>
              <a:t>04 · CANDIDATES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 panose="020B0604020202090204"/>
              </a:rPr>
              <a:t>18 / 32</a:t>
            </a:r>
            <a:endParaRPr sz="1100" b="0">
              <a:solidFill>
                <a:srgbClr val="CBD5E1"/>
              </a:solidFill>
              <a:latin typeface="Arial" panose="020B060402020209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 panose="020B0604020202090204"/>
              </a:rPr>
              <a:t>Screening funnel</a:t>
            </a:r>
            <a:endParaRPr sz="2200" b="1">
              <a:solidFill>
                <a:srgbClr val="1C2533"/>
              </a:solidFill>
              <a:latin typeface="Arial" panose="020B060402020209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 panose="020B0604020202090204"/>
              </a:rPr>
              <a:t>&gt;10</a:t>
            </a:r>
            <a:r>
              <a:rPr sz="1500" b="0" baseline="30000">
                <a:solidFill>
                  <a:srgbClr val="475569"/>
                </a:solidFill>
                <a:latin typeface="Arial" panose="020B0604020202090204"/>
              </a:rPr>
              <a:t>5</a:t>
            </a:r>
            <a:r>
              <a:rPr sz="1500" b="0">
                <a:solidFill>
                  <a:srgbClr val="475569"/>
                </a:solidFill>
                <a:latin typeface="Arial" panose="020B0604020202090204"/>
              </a:rPr>
              <a:t> MP / OQMD → 647 DFT-screened → 473 ML-ready → 41 PV-promising → 14 shortlist</a:t>
            </a:r>
            <a:endParaRPr sz="1500" b="0">
              <a:solidFill>
                <a:srgbClr val="475569"/>
              </a:solidFill>
              <a:latin typeface="Arial" panose="020B0604020202090204"/>
            </a:endParaRPr>
          </a:p>
        </p:txBody>
      </p:sp>
      <p:pic>
        <p:nvPicPr>
          <p:cNvPr id="6" name="Picture 5" descr="s12_funnel_population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716401"/>
            <a:ext cx="4937760" cy="967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58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Stage 1: &gt; 10</a:t>
            </a:r>
            <a:r>
              <a:rPr sz="1100" b="0" baseline="30000">
                <a:solidFill>
                  <a:srgbClr val="475569"/>
                </a:solidFill>
                <a:latin typeface="Arial" panose="020B0604020202090204"/>
              </a:rPr>
              <a:t>5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 structures sourced from Materials Project and OQMD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Stage 2: 647 candidates with HSE band structure and DFPT dielectric tensor completed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Stage 3: 473 ML-ready candidates after removing metallic-band and missing-CONTCAR entries (174 excluded)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Stage 4: 41 PV-promising candidates with composite score y </a:t>
            </a:r>
            <a:r>
              <a:rPr sz="1100" b="0" baseline="30000">
                <a:solidFill>
                  <a:srgbClr val="475569"/>
                </a:solidFill>
                <a:latin typeface="Arial" panose="020B0604020202090204"/>
              </a:rPr>
              <a:t>&gt;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 0.05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Stage 5: 14-candidate shortlist with y </a:t>
            </a:r>
            <a:r>
              <a:rPr sz="1100" b="0" baseline="30000">
                <a:solidFill>
                  <a:srgbClr val="475569"/>
                </a:solidFill>
                <a:latin typeface="Arial" panose="020B0604020202090204"/>
              </a:rPr>
              <a:t>&gt;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 0.10 feeding the next active-learning DFT round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Funnel narrows by approximately four orders of magnitude into a tractable shortlist for experimental verification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 panose="020B0604020202090204"/>
              </a:rPr>
              <a:t>SOLARLAB</a:t>
            </a:r>
            <a:endParaRPr sz="1000" b="0">
              <a:solidFill>
                <a:srgbClr val="C0392B"/>
              </a:solidFill>
              <a:latin typeface="Arial" panose="020B0604020202090204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 panose="020B0604020202090204"/>
              </a:rPr>
              <a:t>04 · CANDIDATES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 panose="020B0604020202090204"/>
              </a:rPr>
              <a:t>19 / 32</a:t>
            </a:r>
            <a:endParaRPr sz="1100" b="0">
              <a:solidFill>
                <a:srgbClr val="CBD5E1"/>
              </a:solidFill>
              <a:latin typeface="Arial" panose="020B060402020209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 panose="020B0604020202090204"/>
              </a:rPr>
              <a:t>Lead candidate — Se</a:t>
            </a:r>
            <a:r>
              <a:rPr sz="2200" b="1" baseline="-25000">
                <a:solidFill>
                  <a:srgbClr val="1C2533"/>
                </a:solidFill>
                <a:latin typeface="Arial" panose="020B0604020202090204"/>
              </a:rPr>
              <a:t>16</a:t>
            </a:r>
            <a:r>
              <a:rPr sz="2200" b="1">
                <a:solidFill>
                  <a:srgbClr val="1C2533"/>
                </a:solidFill>
                <a:latin typeface="Arial" panose="020B0604020202090204"/>
              </a:rPr>
              <a:t>Sn</a:t>
            </a:r>
            <a:r>
              <a:rPr sz="2200" b="1" baseline="-25000">
                <a:solidFill>
                  <a:srgbClr val="1C2533"/>
                </a:solidFill>
                <a:latin typeface="Arial" panose="020B0604020202090204"/>
              </a:rPr>
              <a:t>8</a:t>
            </a:r>
            <a:r>
              <a:rPr sz="2200" b="1">
                <a:solidFill>
                  <a:srgbClr val="1C2533"/>
                </a:solidFill>
                <a:latin typeface="Arial" panose="020B0604020202090204"/>
              </a:rPr>
              <a:t>Zr</a:t>
            </a:r>
            <a:r>
              <a:rPr sz="2200" b="1" baseline="-25000">
                <a:solidFill>
                  <a:srgbClr val="1C2533"/>
                </a:solidFill>
                <a:latin typeface="Arial" panose="020B0604020202090204"/>
              </a:rPr>
              <a:t>4</a:t>
            </a:r>
            <a:endParaRPr sz="2200" b="1" baseline="-25000">
              <a:solidFill>
                <a:srgbClr val="1C2533"/>
              </a:solidFill>
              <a:latin typeface="Arial" panose="020B060402020209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 panose="020B0604020202090204"/>
              </a:rPr>
              <a:t>AB</a:t>
            </a:r>
            <a:r>
              <a:rPr sz="1500" b="0" baseline="-25000">
                <a:solidFill>
                  <a:srgbClr val="475569"/>
                </a:solidFill>
                <a:latin typeface="Arial" panose="020B0604020202090204"/>
              </a:rPr>
              <a:t>2</a:t>
            </a:r>
            <a:r>
              <a:rPr sz="1500" b="0">
                <a:solidFill>
                  <a:srgbClr val="475569"/>
                </a:solidFill>
                <a:latin typeface="Arial" panose="020B0604020202090204"/>
              </a:rPr>
              <a:t>C</a:t>
            </a:r>
            <a:r>
              <a:rPr sz="1500" b="0" baseline="-25000">
                <a:solidFill>
                  <a:srgbClr val="475569"/>
                </a:solidFill>
                <a:latin typeface="Arial" panose="020B0604020202090204"/>
              </a:rPr>
              <a:t>4</a:t>
            </a:r>
            <a:r>
              <a:rPr sz="1500" b="0">
                <a:solidFill>
                  <a:srgbClr val="475569"/>
                </a:solidFill>
                <a:latin typeface="Arial" panose="020B0604020202090204"/>
              </a:rPr>
              <a:t> prototype · Pnma (SG 62) · near-optimal Shockley–Queisser gap</a:t>
            </a:r>
            <a:endParaRPr sz="1500" b="0">
              <a:solidFill>
                <a:srgbClr val="475569"/>
              </a:solidFill>
              <a:latin typeface="Arial" panose="020B0604020202090204"/>
            </a:endParaRPr>
          </a:p>
        </p:txBody>
      </p:sp>
      <p:pic>
        <p:nvPicPr>
          <p:cNvPr id="6" name="Picture 5" descr="s13_hit1_Se16Sn8Zr4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38039" y="1828800"/>
            <a:ext cx="2576080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58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E</a:t>
            </a:r>
            <a:r>
              <a:rPr sz="1100" b="0" baseline="-25000">
                <a:solidFill>
                  <a:srgbClr val="475569"/>
                </a:solidFill>
                <a:latin typeface="Arial" panose="020B0604020202090204"/>
              </a:rPr>
              <a:t>g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 = 1.12 eV, within 0.22 eV of the Shockley–Queisser optimum at 1.34 eV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m</a:t>
            </a:r>
            <a:r>
              <a:rPr sz="1100" b="0" baseline="-25000">
                <a:solidFill>
                  <a:srgbClr val="475569"/>
                </a:solidFill>
                <a:latin typeface="Arial" panose="020B0604020202090204"/>
              </a:rPr>
              <a:t>avg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 = 0.43 m</a:t>
            </a:r>
            <a:r>
              <a:rPr sz="1100" b="0" baseline="-25000">
                <a:solidFill>
                  <a:srgbClr val="475569"/>
                </a:solidFill>
                <a:latin typeface="Arial" panose="020B0604020202090204"/>
              </a:rPr>
              <a:t>0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, indicating low effective mass and high carrier mobility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ε</a:t>
            </a:r>
            <a:r>
              <a:rPr sz="1100" b="0" baseline="-25000">
                <a:solidFill>
                  <a:srgbClr val="475569"/>
                </a:solidFill>
                <a:latin typeface="Arial" panose="020B0604020202090204"/>
              </a:rPr>
              <a:t>avg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 = 19.5, providing strong dielectric screening and suppressing Frenkel-exciton formation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E</a:t>
            </a:r>
            <a:r>
              <a:rPr sz="1100" b="0" baseline="-25000">
                <a:solidFill>
                  <a:srgbClr val="475569"/>
                </a:solidFill>
                <a:latin typeface="Arial" panose="020B0604020202090204"/>
              </a:rPr>
              <a:t>b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 = 7 meV, well below k</a:t>
            </a:r>
            <a:r>
              <a:rPr sz="1100" b="0" baseline="-25000">
                <a:solidFill>
                  <a:srgbClr val="475569"/>
                </a:solidFill>
                <a:latin typeface="Arial" panose="020B0604020202090204"/>
              </a:rPr>
              <a:t>B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T at 300 K, placing the absorber in the Wannier–Mott regime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Composite PV score y = 0.487, the highest in the screened set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Sn–Zr–Se ternary phases have reported synthesis routes; no photovoltaic-device demonstration to date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 panose="020B0604020202090204"/>
              </a:rPr>
              <a:t>SOLARLAB</a:t>
            </a:r>
            <a:endParaRPr sz="1000" b="0">
              <a:solidFill>
                <a:srgbClr val="C0392B"/>
              </a:solidFill>
              <a:latin typeface="Arial" panose="020B0604020202090204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 panose="020B0604020202090204"/>
              </a:rPr>
              <a:t>04 · CANDIDATES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 panose="020B0604020202090204"/>
              </a:rPr>
              <a:t>20 / 32</a:t>
            </a:r>
            <a:endParaRPr sz="1100" b="0">
              <a:solidFill>
                <a:srgbClr val="CBD5E1"/>
              </a:solidFill>
              <a:latin typeface="Arial" panose="020B060402020209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 panose="020B0604020202090204"/>
              </a:rPr>
              <a:t>Secondary candidate — Cs</a:t>
            </a:r>
            <a:r>
              <a:rPr sz="2200" b="1" baseline="-25000">
                <a:solidFill>
                  <a:srgbClr val="1C2533"/>
                </a:solidFill>
                <a:latin typeface="Arial" panose="020B0604020202090204"/>
              </a:rPr>
              <a:t>2</a:t>
            </a:r>
            <a:r>
              <a:rPr sz="2200" b="1">
                <a:solidFill>
                  <a:srgbClr val="1C2533"/>
                </a:solidFill>
                <a:latin typeface="Arial" panose="020B0604020202090204"/>
              </a:rPr>
              <a:t>Sb</a:t>
            </a:r>
            <a:r>
              <a:rPr sz="2200" b="1" baseline="-25000">
                <a:solidFill>
                  <a:srgbClr val="1C2533"/>
                </a:solidFill>
                <a:latin typeface="Arial" panose="020B0604020202090204"/>
              </a:rPr>
              <a:t>6</a:t>
            </a:r>
            <a:r>
              <a:rPr sz="2200" b="1">
                <a:solidFill>
                  <a:srgbClr val="1C2533"/>
                </a:solidFill>
                <a:latin typeface="Arial" panose="020B0604020202090204"/>
              </a:rPr>
              <a:t>Se</a:t>
            </a:r>
            <a:r>
              <a:rPr sz="2200" b="1" baseline="-25000">
                <a:solidFill>
                  <a:srgbClr val="1C2533"/>
                </a:solidFill>
                <a:latin typeface="Arial" panose="020B0604020202090204"/>
              </a:rPr>
              <a:t>2</a:t>
            </a:r>
            <a:endParaRPr sz="2200" b="1" baseline="-25000">
              <a:solidFill>
                <a:srgbClr val="1C2533"/>
              </a:solidFill>
              <a:latin typeface="Arial" panose="020B060402020209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 panose="020B0604020202090204"/>
              </a:rPr>
              <a:t>ABC</a:t>
            </a:r>
            <a:r>
              <a:rPr sz="1500" b="0" baseline="-25000">
                <a:solidFill>
                  <a:srgbClr val="475569"/>
                </a:solidFill>
                <a:latin typeface="Arial" panose="020B0604020202090204"/>
              </a:rPr>
              <a:t>3</a:t>
            </a:r>
            <a:r>
              <a:rPr sz="1500" b="0">
                <a:solidFill>
                  <a:srgbClr val="475569"/>
                </a:solidFill>
                <a:latin typeface="Arial" panose="020B0604020202090204"/>
              </a:rPr>
              <a:t> prototype · C2/m (SG 12) · Sb 5s</a:t>
            </a:r>
            <a:r>
              <a:rPr sz="1500" b="0" baseline="30000">
                <a:solidFill>
                  <a:srgbClr val="475569"/>
                </a:solidFill>
                <a:latin typeface="Arial" panose="020B0604020202090204"/>
              </a:rPr>
              <a:t>2</a:t>
            </a:r>
            <a:r>
              <a:rPr sz="1500" b="0">
                <a:solidFill>
                  <a:srgbClr val="475569"/>
                </a:solidFill>
                <a:latin typeface="Arial" panose="020B0604020202090204"/>
              </a:rPr>
              <a:t> lone-pair active cation</a:t>
            </a:r>
            <a:endParaRPr sz="1500" b="0">
              <a:solidFill>
                <a:srgbClr val="475569"/>
              </a:solidFill>
              <a:latin typeface="Arial" panose="020B0604020202090204"/>
            </a:endParaRPr>
          </a:p>
        </p:txBody>
      </p:sp>
      <p:pic>
        <p:nvPicPr>
          <p:cNvPr id="6" name="Picture 5" descr="s14_hit2_Cs2Sb6Se2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6491" y="1828800"/>
            <a:ext cx="2279176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58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E</a:t>
            </a:r>
            <a:r>
              <a:rPr sz="1100" b="0" baseline="-25000">
                <a:solidFill>
                  <a:srgbClr val="475569"/>
                </a:solidFill>
                <a:latin typeface="Arial" panose="020B0604020202090204"/>
              </a:rPr>
              <a:t>g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 = 1.28 eV, near the Shockley–Queisser optimum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m</a:t>
            </a:r>
            <a:r>
              <a:rPr sz="1100" b="0" baseline="-25000">
                <a:solidFill>
                  <a:srgbClr val="475569"/>
                </a:solidFill>
                <a:latin typeface="Arial" panose="020B0604020202090204"/>
              </a:rPr>
              <a:t>avg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 = 0.81 m</a:t>
            </a:r>
            <a:r>
              <a:rPr sz="1100" b="0" baseline="-25000">
                <a:solidFill>
                  <a:srgbClr val="475569"/>
                </a:solidFill>
                <a:latin typeface="Arial" panose="020B0604020202090204"/>
              </a:rPr>
              <a:t>0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, heavier than the lead candidate but within the device-relevant range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ε</a:t>
            </a:r>
            <a:r>
              <a:rPr sz="1100" b="0" baseline="-25000">
                <a:solidFill>
                  <a:srgbClr val="475569"/>
                </a:solidFill>
                <a:latin typeface="Arial" panose="020B0604020202090204"/>
              </a:rPr>
              <a:t>avg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 = 12.6, indicating moderate dielectric screening; E</a:t>
            </a:r>
            <a:r>
              <a:rPr sz="1100" b="0" baseline="-25000">
                <a:solidFill>
                  <a:srgbClr val="475569"/>
                </a:solidFill>
                <a:latin typeface="Arial" panose="020B0604020202090204"/>
              </a:rPr>
              <a:t>b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 = 56 meV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Composite PV score y = 0.298, complementing the lead candidate from a distinct structural prototype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Sb 5s</a:t>
            </a:r>
            <a:r>
              <a:rPr sz="1100" b="0" baseline="30000">
                <a:solidFill>
                  <a:srgbClr val="475569"/>
                </a:solidFill>
                <a:latin typeface="Arial" panose="020B0604020202090204"/>
              </a:rPr>
              <a:t>2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 lone-pair character produces a deep, dispersive valence-band maximum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Cs–Sb–Se ternary phases have established solution-processing synthesis routes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 panose="020B0604020202090204"/>
              </a:rPr>
              <a:t>SOLARLAB</a:t>
            </a:r>
            <a:endParaRPr sz="1000" b="0">
              <a:solidFill>
                <a:srgbClr val="C0392B"/>
              </a:solidFill>
              <a:latin typeface="Arial" panose="020B0604020202090204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 panose="020B0604020202090204"/>
              </a:rPr>
              <a:t>05</a:t>
            </a:r>
            <a:endParaRPr sz="25000" b="1">
              <a:solidFill>
                <a:srgbClr val="C0392B"/>
              </a:solidFill>
              <a:latin typeface="Arial" panose="020B060402020209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 panose="020B0604020202090204"/>
              </a:rPr>
              <a:t>BRIDGE — DEVICE SIM</a:t>
            </a:r>
            <a:endParaRPr sz="3600" b="1">
              <a:solidFill>
                <a:srgbClr val="475569"/>
              </a:solidFill>
              <a:latin typeface="Arial" panose="020B0604020202090204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 panose="020B0604020202090204"/>
              </a:rPr>
              <a:t>05 · BRIDGE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 panose="020B0604020202090204"/>
              </a:rPr>
              <a:t>21 / 32</a:t>
            </a:r>
            <a:endParaRPr sz="1100" b="0">
              <a:solidFill>
                <a:srgbClr val="CBD5E1"/>
              </a:solidFill>
              <a:latin typeface="Arial" panose="020B060402020209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 panose="020B0604020202090204"/>
              </a:rPr>
              <a:t>Motivation for device-scale simulation</a:t>
            </a:r>
            <a:endParaRPr sz="2200" b="1">
              <a:solidFill>
                <a:srgbClr val="1C2533"/>
              </a:solidFill>
              <a:latin typeface="Arial" panose="020B060402020209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 panose="020B0604020202090204"/>
              </a:rPr>
              <a:t>Bulk material descriptors alone do not determine device-level performance</a:t>
            </a:r>
            <a:endParaRPr sz="15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DFT delivers E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g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, m</a:t>
            </a:r>
            <a:r>
              <a:rPr sz="1300" b="0" baseline="30000">
                <a:solidFill>
                  <a:srgbClr val="475569"/>
                </a:solidFill>
                <a:latin typeface="Arial" panose="020B0604020202090204"/>
              </a:rPr>
              <a:t>*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, ε and E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b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as bulk material-level descriptors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Device performance additionally depends on stack geometry, contact selectivity, optical absorption and recombination kinetics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Drift-diffusion coupled to the Poisson equation is required across the full HTL / absorber / ETL stack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Coherent transfer-matrix-method (TMM) optics are required for thin-film interference [Pettersson et al. 1999]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Two-dimensional effects (grain boundaries, lateral non-uniformity) cannot be captured in 1D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Mobile-ion transport must be included to reproduce hysteresis in perovskite-class absorbers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 panose="020B0604020202090204"/>
              </a:rPr>
              <a:t>SOLARLAB</a:t>
            </a:r>
            <a:endParaRPr sz="1000" b="0">
              <a:solidFill>
                <a:srgbClr val="C0392B"/>
              </a:solidFill>
              <a:latin typeface="Arial" panose="020B0604020202090204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 panose="020B0604020202090204"/>
              </a:rPr>
              <a:t>05 · BRIDGE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 panose="020B0604020202090204"/>
              </a:rPr>
              <a:t>22 / 32</a:t>
            </a:r>
            <a:endParaRPr sz="1100" b="0">
              <a:solidFill>
                <a:srgbClr val="CBD5E1"/>
              </a:solidFill>
              <a:latin typeface="Arial" panose="020B060402020209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 panose="020B0604020202090204"/>
              </a:rPr>
              <a:t>SolarLab device-simulation framework</a:t>
            </a:r>
            <a:endParaRPr sz="2200" b="1">
              <a:solidFill>
                <a:srgbClr val="1C2533"/>
              </a:solidFill>
              <a:latin typeface="Arial" panose="020B060402020209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 panose="020B0604020202090204"/>
              </a:rPr>
              <a:t>1D + 2D drift-diffusion · TMM optics · mobile ions · selective Robin contacts</a:t>
            </a:r>
            <a:endParaRPr sz="15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Backend: Python solver with FastAPI server-sent events streaming intermediate results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Frontend: TypeScript / Vite workstation with publication-quality figure rendering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Numerical scheme: Radau implicit Runge–Kutta with BDF fallback and bisection-in-time on stiff steps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Optics: coherent transfer-matrix-method using the ASTM G-173 AM1.5G reference spectrum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Selective contacts: Robin formulation in S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n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and S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p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, validated against the 1D solver to 6 µV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Open-source, scriptable and REST-driven; designed for integration into high-throughput screening pipelines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 panose="020B0604020202090204"/>
              </a:rPr>
              <a:t>SOLARLAB</a:t>
            </a:r>
            <a:endParaRPr sz="1000" b="0">
              <a:solidFill>
                <a:srgbClr val="C0392B"/>
              </a:solidFill>
              <a:latin typeface="Arial" panose="020B0604020202090204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 panose="020B0604020202090204"/>
              </a:rPr>
              <a:t>05 · BRIDGE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 panose="020B0604020202090204"/>
              </a:rPr>
              <a:t>23 / 32</a:t>
            </a:r>
            <a:endParaRPr sz="1100" b="0">
              <a:solidFill>
                <a:srgbClr val="CBD5E1"/>
              </a:solidFill>
              <a:latin typeface="Arial" panose="020B060402020209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 panose="020B0604020202090204"/>
              </a:rPr>
              <a:t>Drift-diffusion governing equations</a:t>
            </a:r>
            <a:endParaRPr sz="2200" b="1">
              <a:solidFill>
                <a:srgbClr val="1C2533"/>
              </a:solidFill>
              <a:latin typeface="Arial" panose="020B060402020209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 panose="020B0604020202090204"/>
              </a:rPr>
              <a:t>Three coupled partial differential equations per absorber layer [Selberherr 1984]</a:t>
            </a:r>
            <a:endParaRPr sz="15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Electron continuity: ∂n/∂t = (1/q) ∇·J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n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+ G − R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Hole continuity:     ∂p/∂t = −(1/q) ∇·J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p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+ G − R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Poisson equation: ∇·(ε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r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ε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0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∇φ) = −q (p − n + N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D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− N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A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+ ρ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ion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)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Current densities: J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n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= q μ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n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n E + q D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n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∇n · J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p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= q μ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p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p E − q D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p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∇p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Recombination R: Shockley–Read–Hall, Auger and radiative channels; Einstein relation D = (k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B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T/q) μ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Generation G: optical generation profile from the TMM model integrated over the AM1.5G spectrum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 panose="020B0604020202090204"/>
              </a:rPr>
              <a:t>SOLARLAB</a:t>
            </a:r>
            <a:endParaRPr sz="1000" b="0">
              <a:solidFill>
                <a:srgbClr val="C0392B"/>
              </a:solidFill>
              <a:latin typeface="Arial" panose="020B0604020202090204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 panose="020B0604020202090204"/>
              </a:rPr>
              <a:t>05 · BRIDGE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 panose="020B0604020202090204"/>
              </a:rPr>
              <a:t>24 / 32</a:t>
            </a:r>
            <a:endParaRPr sz="1100" b="0">
              <a:solidFill>
                <a:srgbClr val="CBD5E1"/>
              </a:solidFill>
              <a:latin typeface="Arial" panose="020B060402020209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 panose="020B0604020202090204"/>
              </a:rPr>
              <a:t>Transfer-matrix-method optics</a:t>
            </a:r>
            <a:endParaRPr sz="2200" b="1">
              <a:solidFill>
                <a:srgbClr val="1C2533"/>
              </a:solidFill>
              <a:latin typeface="Arial" panose="020B060402020209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 panose="020B0604020202090204"/>
              </a:rPr>
              <a:t>Coherent multi-layer thin-film interference [Pettersson et al. 1999 · Born &amp; Wolf]</a:t>
            </a:r>
            <a:endParaRPr sz="15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Each layer j is represented by a 2×2 characteristic matrix L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j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acting on the tangential (E, H) field components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L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j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= [[cos δ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j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, i sin δ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j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/ η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j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], [i η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j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sin δ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j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, cos δ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j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]]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Phase thickness δ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j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= (2π / λ) ñ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j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d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j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cos θ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j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with complex refractive index ñ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j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= n + i k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System matrix M = L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1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L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2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… L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N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yields wavelength-resolved R, T and A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Generation profile G(x, λ) ∝ |E(x, λ)|</a:t>
            </a:r>
            <a:r>
              <a:rPr sz="1300" b="0" baseline="30000">
                <a:solidFill>
                  <a:srgbClr val="475569"/>
                </a:solidFill>
                <a:latin typeface="Arial" panose="020B0604020202090204"/>
              </a:rPr>
              <a:t>2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α(λ), integrated over the AM1.5G spectrum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Supersedes the Beer–Lambert approximation by capturing interference, back-reflector and interface effects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 panose="020B0604020202090204"/>
              </a:rPr>
              <a:t>SOLARLAB</a:t>
            </a:r>
            <a:endParaRPr sz="1000" b="0">
              <a:solidFill>
                <a:srgbClr val="C0392B"/>
              </a:solidFill>
              <a:latin typeface="Arial" panose="020B0604020202090204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 panose="020B0604020202090204"/>
              </a:rPr>
              <a:t>05 · BRIDGE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 panose="020B0604020202090204"/>
              </a:rPr>
              <a:t>25 / 32</a:t>
            </a:r>
            <a:endParaRPr sz="1100" b="0">
              <a:solidFill>
                <a:srgbClr val="CBD5E1"/>
              </a:solidFill>
              <a:latin typeface="Arial" panose="020B060402020209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 panose="020B0604020202090204"/>
              </a:rPr>
              <a:t>Mobile-ion transport</a:t>
            </a:r>
            <a:endParaRPr sz="2200" b="1">
              <a:solidFill>
                <a:srgbClr val="1C2533"/>
              </a:solidFill>
              <a:latin typeface="Arial" panose="020B060402020209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 panose="020B0604020202090204"/>
              </a:rPr>
              <a:t>Origin of J–V hysteresis in perovskite solar cells [Calado et al. 2016 · van Reenen et al. 2015]</a:t>
            </a:r>
            <a:endParaRPr sz="15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Continuity for ion-vacancy density P: ∂P/∂t = ∇·(D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ion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∇P + μ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ion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P (1 − P / P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lim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) ∇φ)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The steric factor (1 − P / P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lim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) caps ion density at the available lattice-site limit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Estimated P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lim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is approximately 1 – 5 % of the cation-site density in MAPbI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3</a:t>
            </a:r>
            <a:endParaRPr sz="1300" b="0" baseline="-2500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Ion drift under bias redistributes mobile charge, screens the electric field and modulates the recombination rate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Couples into the Poisson equation via the source term ρ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ion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= q (P − P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eq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)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Characteristic time scale of 0.01 – 100 s reproduces the observed scan-rate dependence of perovskite J–V curves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 panose="020B0604020202090204"/>
              </a:rPr>
              <a:t>SOLARLAB</a:t>
            </a:r>
            <a:endParaRPr sz="1000" b="0">
              <a:solidFill>
                <a:srgbClr val="C0392B"/>
              </a:solidFill>
              <a:latin typeface="Arial" panose="020B0604020202090204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 panose="020B0604020202090204"/>
              </a:rPr>
              <a:t>05 · BRIDGE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 panose="020B0604020202090204"/>
              </a:rPr>
              <a:t>26 / 32</a:t>
            </a:r>
            <a:endParaRPr sz="1100" b="0">
              <a:solidFill>
                <a:srgbClr val="CBD5E1"/>
              </a:solidFill>
              <a:latin typeface="Arial" panose="020B060402020209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 panose="020B0604020202090204"/>
              </a:rPr>
              <a:t>Selective Robin contact boundary conditions</a:t>
            </a:r>
            <a:endParaRPr sz="2200" b="1">
              <a:solidFill>
                <a:srgbClr val="1C2533"/>
              </a:solidFill>
              <a:latin typeface="Arial" panose="020B060402020209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 panose="020B0604020202090204"/>
              </a:rPr>
              <a:t>Surface-recombination boundary conditions in place of Dirichlet pinning</a:t>
            </a:r>
            <a:endParaRPr sz="15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Left contact: J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n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= −q S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n,L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(n − n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eq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) · J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p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= +q S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p,L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(p − p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eq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)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Right contact: J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n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= +q S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n,R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(n − n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eq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) · J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p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= −q S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p,R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(p − p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eq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)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Contact selectivity: S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n,L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</a:t>
            </a:r>
            <a:r>
              <a:rPr sz="1300" b="0" baseline="30000">
                <a:solidFill>
                  <a:srgbClr val="475569"/>
                </a:solidFill>
                <a:latin typeface="Arial" panose="020B0604020202090204"/>
              </a:rPr>
              <a:t>≪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S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p,L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yields a hole-extracting (HTL-type) left contact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Limit S → ∞ recovers the Dirichlet condition (carrier density pinned to equilibrium)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Limit S → 0 yields a perfectly blocking (zero-flux Neumann) contact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Captures the surface-recombination physics that SCAPS-1D approximates via Dirichlet pinning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 panose="020B0604020202090204"/>
              </a:rPr>
              <a:t>SOLARLAB</a:t>
            </a:r>
            <a:endParaRPr sz="1000" b="0">
              <a:solidFill>
                <a:srgbClr val="C0392B"/>
              </a:solidFill>
              <a:latin typeface="Arial" panose="020B0604020202090204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 panose="020B0604020202090204"/>
              </a:rPr>
              <a:t>05 · BRIDGE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 panose="020B0604020202090204"/>
              </a:rPr>
              <a:t>27 / 32</a:t>
            </a:r>
            <a:endParaRPr sz="1100" b="0">
              <a:solidFill>
                <a:srgbClr val="CBD5E1"/>
              </a:solidFill>
              <a:latin typeface="Arial" panose="020B060402020209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 panose="020B0604020202090204"/>
              </a:rPr>
              <a:t>Capability comparison with SCAPS-1D</a:t>
            </a:r>
            <a:endParaRPr sz="2200" b="1">
              <a:solidFill>
                <a:srgbClr val="1C2533"/>
              </a:solidFill>
              <a:latin typeface="Arial" panose="020B060402020209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 panose="020B0604020202090204"/>
              </a:rPr>
              <a:t>Capabilities absent from the SCAPS-1D reference solver [Burgelman et al. 2000]</a:t>
            </a:r>
            <a:endParaRPr sz="1500" b="0">
              <a:solidFill>
                <a:srgbClr val="475569"/>
              </a:solidFill>
              <a:latin typeface="Arial" panose="020B0604020202090204"/>
            </a:endParaRPr>
          </a:p>
        </p:txBody>
      </p:sp>
      <p:pic>
        <p:nvPicPr>
          <p:cNvPr id="6" name="Picture 5" descr="s17_capability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81200" y="1828800"/>
            <a:ext cx="5181599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 panose="020B0604020202090204"/>
              </a:rPr>
              <a:t>SOLARLAB</a:t>
            </a:r>
            <a:endParaRPr sz="1000" b="0">
              <a:solidFill>
                <a:srgbClr val="C0392B"/>
              </a:solidFill>
              <a:latin typeface="Arial" panose="020B0604020202090204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 panose="020B0604020202090204"/>
              </a:rPr>
              <a:t>05 · BRIDGE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 panose="020B0604020202090204"/>
              </a:rPr>
              <a:t>28 / 32</a:t>
            </a:r>
            <a:endParaRPr sz="1100" b="0">
              <a:solidFill>
                <a:srgbClr val="CBD5E1"/>
              </a:solidFill>
              <a:latin typeface="Arial" panose="020B060402020209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 panose="020B0604020202090204"/>
              </a:rPr>
              <a:t>1D and 2D solver fidelity comparison</a:t>
            </a:r>
            <a:endParaRPr sz="2200" b="1">
              <a:solidFill>
                <a:srgbClr val="1C2533"/>
              </a:solidFill>
              <a:latin typeface="Arial" panose="020B060402020209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 panose="020B0604020202090204"/>
              </a:rPr>
              <a:t>Identical MAPbI</a:t>
            </a:r>
            <a:r>
              <a:rPr sz="1500" b="0" baseline="-25000">
                <a:solidFill>
                  <a:srgbClr val="475569"/>
                </a:solidFill>
                <a:latin typeface="Arial" panose="020B0604020202090204"/>
              </a:rPr>
              <a:t>3</a:t>
            </a:r>
            <a:r>
              <a:rPr sz="1500" b="0">
                <a:solidFill>
                  <a:srgbClr val="475569"/>
                </a:solidFill>
                <a:latin typeface="Arial" panose="020B0604020202090204"/>
              </a:rPr>
              <a:t> stack: a 50 mV V</a:t>
            </a:r>
            <a:r>
              <a:rPr sz="1500" b="0" baseline="-25000">
                <a:solidFill>
                  <a:srgbClr val="475569"/>
                </a:solidFill>
                <a:latin typeface="Arial" panose="020B0604020202090204"/>
              </a:rPr>
              <a:t>oc</a:t>
            </a:r>
            <a:r>
              <a:rPr sz="1500" b="0">
                <a:solidFill>
                  <a:srgbClr val="475569"/>
                </a:solidFill>
                <a:latin typeface="Arial" panose="020B0604020202090204"/>
              </a:rPr>
              <a:t> reduction in 2D attributable to grain-boundary recombination</a:t>
            </a:r>
            <a:endParaRPr sz="1500" b="0">
              <a:solidFill>
                <a:srgbClr val="475569"/>
              </a:solidFill>
              <a:latin typeface="Arial" panose="020B0604020202090204"/>
            </a:endParaRPr>
          </a:p>
        </p:txBody>
      </p:sp>
      <p:pic>
        <p:nvPicPr>
          <p:cNvPr id="6" name="Picture 5" descr="s18_1d_vs_2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6794" y="1828800"/>
            <a:ext cx="4898571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758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Identical layer stack and material parameters in both solvers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1D V</a:t>
            </a:r>
            <a:r>
              <a:rPr sz="1100" b="0" baseline="-25000">
                <a:solidFill>
                  <a:srgbClr val="475569"/>
                </a:solidFill>
                <a:latin typeface="Arial" panose="020B0604020202090204"/>
              </a:rPr>
              <a:t>oc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 = 0.910 V is reduced to 2D V</a:t>
            </a:r>
            <a:r>
              <a:rPr sz="1100" b="0" baseline="-25000">
                <a:solidFill>
                  <a:srgbClr val="475569"/>
                </a:solidFill>
                <a:latin typeface="Arial" panose="020B0604020202090204"/>
              </a:rPr>
              <a:t>oc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 = 0.860 V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The 50 mV reduction reflects the grain-boundary recombination channel resolved only in 2D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1D models would misestimate device performance by omitting this loss channel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2D simulation is therefore a prerequisite for quantitatively predicting candidate-material performance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Solver throughput: a 28-voltage 2D sweep completes in approximately 22 minutes on 4 CPU cores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 panose="020B0604020202090204"/>
              </a:rPr>
              <a:t>SOLARLAB</a:t>
            </a:r>
            <a:endParaRPr sz="1000" b="0">
              <a:solidFill>
                <a:srgbClr val="C0392B"/>
              </a:solidFill>
              <a:latin typeface="Arial" panose="020B0604020202090204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C25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14350"/>
            <a:ext cx="5486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0" b="1">
                <a:solidFill>
                  <a:srgbClr val="C0392B"/>
                </a:solidFill>
                <a:latin typeface="Arial" panose="020B0604020202090204"/>
              </a:rPr>
              <a:t>06</a:t>
            </a:r>
            <a:endParaRPr sz="25000" b="1">
              <a:solidFill>
                <a:srgbClr val="C0392B"/>
              </a:solidFill>
              <a:latin typeface="Arial" panose="020B060402020209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48640" y="401193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475569"/>
                </a:solidFill>
                <a:latin typeface="Arial" panose="020B0604020202090204"/>
              </a:rPr>
              <a:t>PAYOFF</a:t>
            </a:r>
            <a:endParaRPr sz="3600" b="1">
              <a:solidFill>
                <a:srgbClr val="475569"/>
              </a:solidFill>
              <a:latin typeface="Arial" panose="020B0604020202090204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 panose="020B0604020202090204"/>
              </a:rPr>
              <a:t>06 · PAYOFF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 panose="020B0604020202090204"/>
              </a:rPr>
              <a:t>29 / 32</a:t>
            </a:r>
            <a:endParaRPr sz="1100" b="0">
              <a:solidFill>
                <a:srgbClr val="CBD5E1"/>
              </a:solidFill>
              <a:latin typeface="Arial" panose="020B060402020209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 panose="020B0604020202090204"/>
              </a:rPr>
              <a:t>Predicted device J–V for a leading candidate</a:t>
            </a:r>
            <a:endParaRPr sz="2200" b="1">
              <a:solidFill>
                <a:srgbClr val="1C2533"/>
              </a:solidFill>
              <a:latin typeface="Arial" panose="020B060402020209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 panose="020B0604020202090204"/>
              </a:rPr>
              <a:t>DFT parameters </a:t>
            </a:r>
            <a:r>
              <a:rPr sz="1500" b="0" baseline="30000">
                <a:solidFill>
                  <a:srgbClr val="475569"/>
                </a:solidFill>
                <a:latin typeface="Arial" panose="020B0604020202090204"/>
              </a:rPr>
              <a:t>→</a:t>
            </a:r>
            <a:r>
              <a:rPr sz="1500" b="0">
                <a:solidFill>
                  <a:srgbClr val="475569"/>
                </a:solidFill>
                <a:latin typeface="Arial" panose="020B0604020202090204"/>
              </a:rPr>
              <a:t> device simulation </a:t>
            </a:r>
            <a:r>
              <a:rPr sz="1500" b="0" baseline="30000">
                <a:solidFill>
                  <a:srgbClr val="475569"/>
                </a:solidFill>
                <a:latin typeface="Arial" panose="020B0604020202090204"/>
              </a:rPr>
              <a:t>→</a:t>
            </a:r>
            <a:r>
              <a:rPr sz="1500" b="0">
                <a:solidFill>
                  <a:srgbClr val="475569"/>
                </a:solidFill>
                <a:latin typeface="Arial" panose="020B0604020202090204"/>
              </a:rPr>
              <a:t> predicted PCE</a:t>
            </a:r>
            <a:endParaRPr sz="1500" b="0">
              <a:solidFill>
                <a:srgbClr val="475569"/>
              </a:solidFill>
              <a:latin typeface="Arial" panose="020B0604020202090204"/>
            </a:endParaRPr>
          </a:p>
        </p:txBody>
      </p:sp>
      <p:pic>
        <p:nvPicPr>
          <p:cNvPr id="6" name="Picture 5" descr="s19_candidate_jv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6794" y="1828800"/>
            <a:ext cx="4898571" cy="2743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0" y="1828800"/>
            <a:ext cx="3017520" cy="2225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Closes the workflow from a &gt; 10</a:t>
            </a:r>
            <a:r>
              <a:rPr sz="1100" b="0" baseline="30000">
                <a:solidFill>
                  <a:srgbClr val="475569"/>
                </a:solidFill>
                <a:latin typeface="Arial" panose="020B0604020202090204"/>
              </a:rPr>
              <a:t>5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 candidate database scan to a predicted device-level J–V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Current curve uses a placeholder candidate (MAPbI</a:t>
            </a:r>
            <a:r>
              <a:rPr sz="1100" b="0" baseline="-25000">
                <a:solidFill>
                  <a:srgbClr val="475569"/>
                </a:solidFill>
                <a:latin typeface="Arial" panose="020B0604020202090204"/>
              </a:rPr>
              <a:t>3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 baseline with V</a:t>
            </a:r>
            <a:r>
              <a:rPr sz="1100" b="0" baseline="-25000">
                <a:solidFill>
                  <a:srgbClr val="475569"/>
                </a:solidFill>
                <a:latin typeface="Arial" panose="020B0604020202090204"/>
              </a:rPr>
              <a:t>oc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 shifted by +30 mV)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The Se</a:t>
            </a:r>
            <a:r>
              <a:rPr sz="1100" b="0" baseline="-25000">
                <a:solidFill>
                  <a:srgbClr val="475569"/>
                </a:solidFill>
                <a:latin typeface="Arial" panose="020B0604020202090204"/>
              </a:rPr>
              <a:t>16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Sn</a:t>
            </a:r>
            <a:r>
              <a:rPr sz="1100" b="0" baseline="-25000">
                <a:solidFill>
                  <a:srgbClr val="475569"/>
                </a:solidFill>
                <a:latin typeface="Arial" panose="020B0604020202090204"/>
              </a:rPr>
              <a:t>8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Zr</a:t>
            </a:r>
            <a:r>
              <a:rPr sz="1100" b="0" baseline="-25000">
                <a:solidFill>
                  <a:srgbClr val="475569"/>
                </a:solidFill>
                <a:latin typeface="Arial" panose="020B0604020202090204"/>
              </a:rPr>
              <a:t>4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 J–V will replace the placeholder once n, k data and DFT-derived parameters are integrated into the 2D solver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Predicted device-level PCE is the figure of merit relevant for synthesis decisions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Establishes explicit, falsifiable performance targets for the experimental collaboration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 panose="020B0604020202090204"/>
              </a:rPr>
              <a:t>SOLARLAB</a:t>
            </a:r>
            <a:endParaRPr sz="1000" b="0">
              <a:solidFill>
                <a:srgbClr val="C0392B"/>
              </a:solidFill>
              <a:latin typeface="Arial" panose="020B0604020202090204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 panose="020B0604020202090204"/>
              </a:rPr>
              <a:t>06 · PAYOFF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 panose="020B0604020202090204"/>
              </a:rPr>
              <a:t>30 / 32</a:t>
            </a:r>
            <a:endParaRPr sz="1100" b="0">
              <a:solidFill>
                <a:srgbClr val="CBD5E1"/>
              </a:solidFill>
              <a:latin typeface="Arial" panose="020B060402020209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 panose="020B0604020202090204"/>
              </a:rPr>
              <a:t>Outlook</a:t>
            </a:r>
            <a:endParaRPr sz="2200" b="1">
              <a:solidFill>
                <a:srgbClr val="1C2533"/>
              </a:solidFill>
              <a:latin typeface="Arial" panose="020B060402020209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 panose="020B0604020202090204"/>
              </a:rPr>
              <a:t>Planned extensions</a:t>
            </a:r>
            <a:endParaRPr sz="15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Multi-task learning on the ~36 000 PBE gaps in Materials Project to close the prototype-grouped CV gap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Spectroscopic Limited Maximum Efficiency (SLME) replacing the SQ upper bound, requiring the absorption coefficient α(E) [Yu &amp; Zunger 2012]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Targeted DFT batch on Se-rich AB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2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C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4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and ABC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3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candidates in SG 62, 12, 72 and 15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Closed-loop automation of DFT batch submission and surrogate re-fitting on label return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Experimental collaboration to synthesise the top three candidates and feed measured J–V data back into the ML pipeline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 panose="020B0604020202090204"/>
              </a:rPr>
              <a:t>SOLARLAB</a:t>
            </a:r>
            <a:endParaRPr sz="1000" b="0">
              <a:solidFill>
                <a:srgbClr val="C0392B"/>
              </a:solidFill>
              <a:latin typeface="Arial" panose="020B0604020202090204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 panose="020B0604020202090204"/>
              </a:rPr>
              <a:t>06 · PAYOFF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 panose="020B0604020202090204"/>
              </a:rPr>
              <a:t>31 / 32</a:t>
            </a:r>
            <a:endParaRPr sz="1100" b="0">
              <a:solidFill>
                <a:srgbClr val="CBD5E1"/>
              </a:solidFill>
              <a:latin typeface="Arial" panose="020B060402020209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 panose="020B0604020202090204"/>
              </a:rPr>
              <a:t>Summary</a:t>
            </a:r>
            <a:endParaRPr sz="2200" b="1">
              <a:solidFill>
                <a:srgbClr val="1C2533"/>
              </a:solidFill>
              <a:latin typeface="Arial" panose="020B060402020209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 panose="020B0604020202090204"/>
              </a:rPr>
              <a:t>Principal findings</a:t>
            </a:r>
            <a:endParaRPr sz="15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Small-sample ML on 473 DFT-labelled materials improves the GPR / GB / ExtraTrees baseline by +50 % in R</a:t>
            </a:r>
            <a:r>
              <a:rPr sz="1300" b="0" baseline="30000">
                <a:solidFill>
                  <a:srgbClr val="475569"/>
                </a:solidFill>
                <a:latin typeface="Arial" panose="020B0604020202090204"/>
              </a:rPr>
              <a:t>2</a:t>
            </a:r>
            <a:endParaRPr sz="1300" b="0" baseline="3000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Fourteen-candidate chalcogenide shortlist; Se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16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Sn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8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Zr</a:t>
            </a:r>
            <a:r>
              <a:rPr sz="1300" b="0" baseline="-25000">
                <a:solidFill>
                  <a:srgbClr val="475569"/>
                </a:solidFill>
                <a:latin typeface="Arial" panose="020B0604020202090204"/>
              </a:rPr>
              <a:t>4</a:t>
            </a: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 sits near the Shockley–Queisser optimum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SolarLab 2D drift-diffusion provides the bridge from DFT-derived parameters to predicted device-level J–V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Compact, physically motivated descriptor and small-sample model identify a tractable subspace under stringent grouped-CV diagnostics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Arial" panose="020B0604020202090204"/>
              </a:rPr>
              <a:t>•  Experimental collaboration completes the discovery → simulation → experiment loop</a:t>
            </a:r>
            <a:endParaRPr sz="13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 panose="020B0604020202090204"/>
              </a:rPr>
              <a:t>SOLARLAB</a:t>
            </a:r>
            <a:endParaRPr sz="1000" b="0">
              <a:solidFill>
                <a:srgbClr val="C0392B"/>
              </a:solidFill>
              <a:latin typeface="Arial" panose="020B0604020202090204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75569"/>
                </a:solidFill>
                <a:latin typeface="Arial" panose="020B0604020202090204"/>
              </a:rPr>
              <a:t>06 · PAYOFF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858000" y="274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  <a:latin typeface="Arial" panose="020B0604020202090204"/>
              </a:rPr>
              <a:t>32 / 32</a:t>
            </a:r>
            <a:endParaRPr sz="1100" b="0">
              <a:solidFill>
                <a:srgbClr val="CBD5E1"/>
              </a:solidFill>
              <a:latin typeface="Arial" panose="020B0604020202090204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64008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C2533"/>
                </a:solidFill>
                <a:latin typeface="Arial" panose="020B0604020202090204"/>
              </a:rPr>
              <a:t>References</a:t>
            </a:r>
            <a:endParaRPr sz="2200" b="1">
              <a:solidFill>
                <a:srgbClr val="1C2533"/>
              </a:solidFill>
              <a:latin typeface="Arial" panose="020B060402020209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475569"/>
                </a:solidFill>
                <a:latin typeface="Arial" panose="020B0604020202090204"/>
              </a:rPr>
              <a:t>ML, device-sim and absorber-chemistry foundations</a:t>
            </a:r>
            <a:endParaRPr sz="15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27946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Yan C. et al., Nat. Energy 3, 764 (2018) · ACS Energy Lett. 2, 930 (2017) — kesterite Cu</a:t>
            </a:r>
            <a:r>
              <a:rPr sz="1100" b="0" baseline="-25000">
                <a:solidFill>
                  <a:srgbClr val="475569"/>
                </a:solidFill>
                <a:latin typeface="Arial" panose="020B0604020202090204"/>
              </a:rPr>
              <a:t>2</a:t>
            </a: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ZnSnS</a:t>
            </a:r>
            <a:r>
              <a:rPr sz="1100" b="0" baseline="-25000">
                <a:solidFill>
                  <a:srgbClr val="475569"/>
                </a:solidFill>
                <a:latin typeface="Arial" panose="020B0604020202090204"/>
              </a:rPr>
              <a:t>4</a:t>
            </a:r>
            <a:endParaRPr sz="1100" b="0" baseline="-2500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Hou Y. et al., Nat. Energy 5, 131 (2020) · Science 367, 1135 (2020) · Nat. Energy 7, 229 (2022) — perovskite + tandem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Friedman J.H., Ann. Stat. 29, 1189 (2001) — gradient boosting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Ke G. et al., NeurIPS (2017) — LightGBM histogram binning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Rasmussen C.E. &amp; Williams C.K.I., MIT Press (2006) — GP for ML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Snoek J. et al., NeurIPS (2012) — UCB acquisition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Ward L. et al., npj Comput. Mater. 2, 16028 (2016) · CMS 152, 60 (2018) — Magpie · matminer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Heyd J. et al., J. Chem. Phys. 118, 8207 (2003) — HSE06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Yu L. &amp; Zunger A., PRL 108, 068701 (2012) — SLME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Selberherr S., Springer (1984) — semiconductor device simulation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Pettersson L.A.A. et al., J. Appl. Phys. 86, 487 (1999) — TMM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Burgelman M. et al., Thin Solid Films 361-362, 527 (2000) — SCAPS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Calado P. et al., Nat. Commun. 7, 13831 (2016) · van Reenen S. et al., JPCL 6, 3808 (2015) — perovskite ion migration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475569"/>
                </a:solidFill>
                <a:latin typeface="Arial" panose="020B0604020202090204"/>
              </a:rPr>
              <a:t>•  Chen C. et al., Chem. Mater. 31, 3564 (2019) — MEGNet</a:t>
            </a:r>
            <a:endParaRPr sz="1100" b="0">
              <a:solidFill>
                <a:srgbClr val="475569"/>
              </a:solidFill>
              <a:latin typeface="Arial" panose="020B060402020209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858000" y="466344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C0392B"/>
                </a:solidFill>
                <a:latin typeface="Arial" panose="020B0604020202090204"/>
              </a:rPr>
              <a:t>SOLARLAB</a:t>
            </a:r>
            <a:endParaRPr sz="1000" b="0">
              <a:solidFill>
                <a:srgbClr val="C0392B"/>
              </a:solidFill>
              <a:latin typeface="Arial" panose="020B0604020202090204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20183</Words>
  <Application>WPS 文字</Application>
  <PresentationFormat>On-screen Show (4:3)</PresentationFormat>
  <Paragraphs>548</Paragraphs>
  <Slides>38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38</vt:i4>
      </vt:variant>
    </vt:vector>
  </HeadingPairs>
  <TitlesOfParts>
    <vt:vector size="53" baseType="lpstr">
      <vt:lpstr>Arial</vt:lpstr>
      <vt:lpstr>宋体</vt:lpstr>
      <vt:lpstr>Wingdings</vt:lpstr>
      <vt:lpstr>Arial</vt:lpstr>
      <vt:lpstr>Calibri</vt:lpstr>
      <vt:lpstr>Helvetica Neue</vt:lpstr>
      <vt:lpstr>微软雅黑</vt:lpstr>
      <vt:lpstr>汉仪旗黑</vt:lpstr>
      <vt:lpstr>宋体</vt:lpstr>
      <vt:lpstr>Arial Unicode MS</vt:lpstr>
      <vt:lpstr>汉仪书宋二KW</vt:lpstr>
      <vt:lpstr>MS PGothic</vt:lpstr>
      <vt:lpstr>苹方-简</vt:lpstr>
      <vt:lpstr>Apple Symbols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陈宣言</cp:lastModifiedBy>
  <cp:revision>9</cp:revision>
  <dcterms:created xsi:type="dcterms:W3CDTF">2026-05-10T00:39:24Z</dcterms:created>
  <dcterms:modified xsi:type="dcterms:W3CDTF">2026-05-10T00:39:24Z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2052-12.1.25869.25869</vt:lpwstr>
  </property>
  <property fmtid="{D5CDD505-2E9C-101B-9397-08002B2CF9AE}" pid="3" name="ICV">
    <vt:lpwstr>FC9F0D7CB9F0975EA7D2FF6912276A29_42</vt:lpwstr>
  </property>
</Properties>
</file>