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High-throughput DFT and small-sample ML for chalcogenide PV absorber discovery, with device-scale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Arial"/>
              </a:rPr>
              <a:t>Xuanyan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3rd JMI conference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Efficiency–stability design space for thin-film photovoltaics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Two established regimes, one unoccupied region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45720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Si: indirect band gap, ~22 % single-junction PCE ceiling,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CIGS: direct-gap chalcogenide, 23.4 % record, constrained by In and Ga reserves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Perovskite: PCE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26 %,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frequently &lt; 500 h under 1-sun, 85 °C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Detailed-balance limit at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≈ 1.34 eV reaches 33.7 % [Shockley &amp; Queisser 1961]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 region: PCE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25 % combined with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h is currently unoccupied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These constraints motivate a third absorber class with a direct or near-direct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CIGS — Cu(In,Ga)Se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200" b="1">
                <a:solidFill>
                  <a:srgbClr val="1C2533"/>
                </a:solidFill>
                <a:latin typeface="Arial"/>
              </a:rPr>
              <a:t> chalcopyrite absorber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Tetragonal I-4̄2d · cation-ordered diamond-like sublattice · tunable direct gap</a:t>
            </a:r>
          </a:p>
        </p:txBody>
      </p:sp>
      <p:pic>
        <p:nvPicPr>
          <p:cNvPr id="6" name="Picture 5" descr="s3_cigs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040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Stoichiometry Cu(In,Ga)Se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; In and Ga share a single cation site at composition x = Ga / (In + Ga)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Lattice parameters a ≈ 5.78 Å · c ≈ 11.62 Å with c / a ≈ 2 (chalcopyrite = doubled zincblende)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Direct band gap tunable approximately linearly from 1.04 eV (CuInSe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 to 1.68 eV (CuGaSe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Polycrystalline thin-film absorber 1–3 µm on a Mo back contact; CdS / ZnO buffer + window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Champion lab cell PCE 23.4 % (Solar Frontier 2019); module reliability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25 yr in field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In-free sister chalcogenide kesterite Cu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ZnSn(S,Se)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explored at HKUST(GZ) [Yan et al. Nat. Energy 2018 · ACS Energy Lett. 2017]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Perovskite — ABX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3</a:t>
            </a:r>
            <a:r>
              <a:rPr sz="2200" b="1">
                <a:solidFill>
                  <a:srgbClr val="1C2533"/>
                </a:solidFill>
                <a:latin typeface="Arial"/>
              </a:rPr>
              <a:t> structural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Pm-3̄m cubic parent · corner-sharing BX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500" b="0">
                <a:solidFill>
                  <a:srgbClr val="475569"/>
                </a:solidFill>
                <a:latin typeface="Arial"/>
              </a:rPr>
              <a:t> octahedral framework</a:t>
            </a:r>
          </a:p>
        </p:txBody>
      </p:sp>
      <p:pic>
        <p:nvPicPr>
          <p:cNvPr id="6" name="Picture 5" descr="s4_perovskit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040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General formula ABX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: A = Cs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/ MA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(CH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NH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) / FA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· B = Pb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300" b="0">
                <a:solidFill>
                  <a:srgbClr val="475569"/>
                </a:solidFill>
                <a:latin typeface="Arial"/>
              </a:rPr>
              <a:t> / Sn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300" b="0">
                <a:solidFill>
                  <a:srgbClr val="475569"/>
                </a:solidFill>
                <a:latin typeface="Arial"/>
              </a:rPr>
              <a:t> · X = I / Br / Cl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BX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300" b="0">
                <a:solidFill>
                  <a:srgbClr val="475569"/>
                </a:solidFill>
                <a:latin typeface="Arial"/>
              </a:rPr>
              <a:t> octahedra share corners; A cation occupies the 12-coordinated cuboctahedral void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Stability set by Goldschmidt tolerance factor t = (r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 + 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300" b="0">
                <a:solidFill>
                  <a:srgbClr val="475569"/>
                </a:solidFill>
                <a:latin typeface="Arial"/>
              </a:rPr>
              <a:t>) / (√2 (r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+ 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300" b="0">
                <a:solidFill>
                  <a:srgbClr val="475569"/>
                </a:solidFill>
                <a:latin typeface="Arial"/>
              </a:rPr>
              <a:t>)); cubic perovskite for 0.9 ≤ t ≤ 1.0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Direct band gap, strong absorption (α ≈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−1</a:t>
            </a:r>
            <a:r>
              <a:rPr sz="1300" b="0">
                <a:solidFill>
                  <a:srgbClr val="475569"/>
                </a:solidFill>
                <a:latin typeface="Arial"/>
              </a:rPr>
              <a:t> near band edge), long carrier diffusion lengths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Champion single-junction PCE 26.7 % (UNIST 2024); inverted PSC 22.3 % via ligand anchoring [Hou et al. Nat. Energy 2020]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Tandem records: monolithic perovskite / Si tandem and 24.2 % all-perovskite tandem [Hou et al. Science 2020 · Nat. Energy 2020]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Limitations of the established absorbers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Record-cell PCE timeline and accelerated-aging stability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Si record 27.6 % (UNSW 2024) — five decades of incremental improvement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Perovskite record 26.7 % (UNIST 2024) — single-junction parity with Si in under a decade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100× under operating stress (ion migration, A-site loss, photo-induced degradation)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Encapsulation mitigates ingress but does not address intrinsic absorber-side instability [Boyd et al. 2019]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Module-scale commercial deployment requires both record-class efficiency and outdoor lifetime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Motivates the discovery of new absorber chemistries that satisfy both criteria simultaneously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Talk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Six stages connecting the materials database to predicted device performance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" y="1828800"/>
            <a:ext cx="48768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01 PROBLEM — efficiency–stability tradeoff, CIGS and perovskite definitions (5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02 STRATEGY — chalcogenide structural template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03 ML AND FEATURES — small-sample HSE06 surrogate (8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04 CANDIDATES — fourteen-material shortlist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05 BRIDGE — 1D and 2D drift-diffusion device simulation (8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06 PAYOFF — predicted device J–V and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Chalcogenide templates as the structural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frameworks with heavy-p-block cations on chalcogen anions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Anion sublattice: S, Se, Te. Selenides comprise 11 of 14 shortlisted candidates, including the top six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Active cation: Sb, Sn, Bi (6s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/ 5s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lone pair) producing dispersive valence-band maxima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Spectator cation: Cs, Ca, Sr, K donate charge without contracting the valence-band dispersion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Stoichiometry preference: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300" b="0">
                <a:solidFill>
                  <a:srgbClr val="475569"/>
                </a:solidFill>
                <a:latin typeface="Arial"/>
              </a:rPr>
              <a:t>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≈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in the screened subset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Symmetry distribution: Pnma (SG 62) is dominant; followed by SG 12, 14,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Constrains the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 pool to a physically plausible, synthetically accessible subspace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MP / OQMD → ML surrogate → DFT validation → device sim → expt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30552"/>
            <a:ext cx="8229600" cy="2139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Motivation for a learned surrogate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Four-stage HSE06 and DFPT workflow executed in VASP for each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1 PBE relaxation → Stage 2 SCF → Stage 3 DFPT dielectric tensor → Stage 4 HSE06 band structure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DFPT and HSE06 dominate runtime, requiring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–10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CPU-hours per structure on a 64-core node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PBE relaxation scales as O(N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) in plane-wave eigensolve; HSE06 adds ~10× overhead via exact exchange [Heyd et al. 2003]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DFPT dielectric tensor obtained from the linear-response Sternheimer equation at ~2× SCF cost [Baroni et al. 2001]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Combined MP and OQMD pool exceeds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candidates, rendering full-DFT enumeration computationally infeasible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Approach: train a learned surrogate on 473 DFT-labelled materials and use it to rank the unlabelled 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Hand-crafted feature set (167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Composition · structure · symmetry — Magpie + matminer</a:t>
            </a: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122" y="1828800"/>
            <a:ext cx="358591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Composition (~27 D): Magpie statistics over Z, χ, atomic radius, row, group, mass [Ward et al. 2016]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Magpie reduces a formula A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c</a:t>
            </a:r>
            <a:r>
              <a:rPr sz="1300" b="0">
                <a:solidFill>
                  <a:srgbClr val="475569"/>
                </a:solidFill>
                <a:latin typeface="Arial"/>
              </a:rPr>
              <a:t> to mean / std / min / max / mode of element properties weighted by stoichiometry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Structure (140 D): CrystalNN site-fingerprint (122) + RDF + density + packing [matminer · Ward et al. 2018]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All featurisers tolerate NaN — routed to the appropriate side of every HistGBR split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Cached numpy matrices on disk → re-fits run in seconds, not minutes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Frozen MEGNet 16-D embeddings give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0.366 — below hand-features baseline [Chen et al. 2019]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Composite photovoltaic figure of merit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Four physically motivated factors combined into a single scalar target y ∈ [0,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 =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300" b="0">
                <a:solidFill>
                  <a:srgbClr val="475569"/>
                </a:solidFill>
                <a:latin typeface="Arial"/>
              </a:rPr>
              <a:t>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) · 1 / (1 +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) · tanh(ε / 10) · 1 / (1 +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/ 0.1)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300" b="0">
                <a:solidFill>
                  <a:srgbClr val="475569"/>
                </a:solidFill>
                <a:latin typeface="Arial"/>
              </a:rPr>
              <a:t>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): triangular Shockley–Queisser window peaked at 1.34 eV, vanishing at 0.5 and 2.5 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 / (1 +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): monotonic decay rewarding low effective mass and therefore high mobility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tanh(ε / 10): saturates above ε ≈ 10 to reflect diminishing returns from dielectric screening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 / (1 +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/ 0.1): favours Wannier–Mott regimes 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&lt; 0.1 eV) and penalises Frenkel-exciton systems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Bounded, differentiable, physically interpretable; replaces four independent regression heads with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Histogram-based gradient boosting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Stage-wise additive function approximation [Friedman 2001 · Ke et al. 2017]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(x) =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m-1</a:t>
            </a:r>
            <a:r>
              <a:rPr sz="1300" b="0">
                <a:solidFill>
                  <a:srgbClr val="475569"/>
                </a:solidFill>
                <a:latin typeface="Arial"/>
              </a:rPr>
              <a:t>(x) + ν · 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(x), where 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 fits the negative gradient of the loss at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m-1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Histogram binning into 256 discrete buckets reduces a split scan from O(N) to O(B), yielding ~3× speedup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Native NaN handling: missing values learn an independent split direction at each tree node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Hyperparameters: 600 boosting iterations · maximum depth 4 · learning rate 0.05 · minimum samples per leaf 10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 wrapped in log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300" b="0">
                <a:solidFill>
                  <a:srgbClr val="475569"/>
                </a:solidFill>
                <a:latin typeface="Arial"/>
              </a:rPr>
              <a:t>p(y / 0.08) by TransformedTargetRegressor; inverse via 0.08 · expm1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Logarithmic transform compresses the heavy-tailed PV-score distribution and equalises booster resolution near peak (y ≈ 0.5) and bulk (y ≈ 0.01)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Gaussian-process and random-forest uncertainty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Matérn-5/2 kernel with additive white noise [Rasmussen &amp; Williams 2006]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k(x, x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300" b="0">
                <a:solidFill>
                  <a:srgbClr val="475569"/>
                </a:solidFill>
                <a:latin typeface="Arial"/>
              </a:rPr>
              <a:t>) =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(1 + √5 r + (5/3)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 exp(−√5 r) +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δ(x − x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 = ‖x − x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300" b="0">
                <a:solidFill>
                  <a:srgbClr val="475569"/>
                </a:solidFill>
                <a:latin typeface="Arial"/>
              </a:rPr>
              <a:t>‖ / ℓ; the anisotropic length-scale ℓ is optimised by L-BFGS-B on the marginal log-likelihood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White-noise variance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absorbs DFT scatter, typically 0.02 – 0.05 on the log target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 random-forest predictor (300 trees) compensates for GP underconfidence in sparsely sampled regions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 mean: μ(x) =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300" b="0">
                <a:solidFill>
                  <a:srgbClr val="475569"/>
                </a:solidFill>
                <a:latin typeface="Arial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300" b="0">
                <a:solidFill>
                  <a:srgbClr val="475569"/>
                </a:solidFill>
                <a:latin typeface="Arial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>
                <a:solidFill>
                  <a:srgbClr val="475569"/>
                </a:solidFill>
                <a:latin typeface="Arial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>
                <a:solidFill>
                  <a:srgbClr val="475569"/>
                </a:solidFill>
                <a:latin typeface="Arial"/>
              </a:rPr>
              <a:t> · variance: σ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(x) =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Mixing weights are obtained via non-negative ridge regression on out-of-fold predictions, ensuring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Upper-confidence-bound acquisition for active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Sequential selection of the next DFT batch [Snoek et al. 2012]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UCB</a:t>
            </a:r>
            <a:r>
              <a:rPr sz="1300" b="0">
                <a:solidFill>
                  <a:srgbClr val="475569"/>
                </a:solidFill>
                <a:latin typeface="Arial"/>
              </a:rPr>
              <a:t>(x) = μ(x) + κ · σ(x), with κ = 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Posterior mean μ(x) is taken from HistGBR, the more accurate mean predictor on labelled data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Posterior standard deviation σ(x) is taken from the GPR + RF stack as a calibrated uncertainty source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κ = 2 balances exploitation (high μ) and exploration (high σ) and is standard in Bayesian optimisation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Decoupling μ and σ between two models prevents GP underconfidence from suppressing the high-score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Top-N entries by α become the next active-learning DFT batch; returned labels are fed back into both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Validation under random and grouped cross-validation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5-fold × 5-seed random CV on n = 473 labelled materials</a:t>
            </a: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00449"/>
            <a:ext cx="4937760" cy="1599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HistGBR achieves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0.466 ± 0.035 · MAE = 0.012 · top-20 recall 0.50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Improves over the prior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(0.31 → 0.466)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Ablation: GBR 0.399 · ExtraTrees 0.234 · MEGNet fine-tuned 0.307 · MEGNet frozen 0.366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Repeated out-of-fold averaging across seeds yields global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0.492 and top-20 recall 0.50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Prototype-grouped CV gives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≈ 0, indicating poor extrapolation to unseen structural prototypes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Chalcogen-family-grouped CV gives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≈ 0.15, with Se the most challenging hold-out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Per-group residual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Diagnostic informing the next active-learning batch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Score = RMSE · √n + 0.02 · (missed top-20), penalising ranking errors at the high-score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 (n = 182): RMSE 0.042, 17 true top-20 candidates, 9 missed by HistGBR — highest priority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High-score bin (y &gt; 0.1, n = 14): RMSE 0.145, identifying the under-modelled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Pnma (SG 62, n = 182): RMSE 0.034, 4 of 10 true top-20 missed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(n = 91): RMSE 0.045, 1 of 7 true top-20 missed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(n = 56): RMSE 0.045, 50 % top-20 miss rate — the most pronounced data-coverage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Top-fourteen candidates (PV score y &gt; 0.10)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All entries are chalcogenides; eleven of fourteen are selenides; 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is the dominant prototype</a:t>
            </a: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96" y="1828800"/>
            <a:ext cx="43747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Selenides preferred: 11 of 14 are Se-based and the top six are all Se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supplies 7 of 14 entries; the remainder is split between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Pnma (SG 62) accounts for 7 of 14; remaining entries fall in SG 12, 14,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PV-score distribution spans 0.10 to 0.49 across the shortlist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Aggregate descriptors: ⟨E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⟩ = 1.32 eV · ⟨ε⟩ = 12.5 · ⟨m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⟩ = 0.58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24 % are direct-gap; the remaining 76 % are retained for combined low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high ε and low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Screening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&gt;10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500" b="0">
                <a:solidFill>
                  <a:srgbClr val="475569"/>
                </a:solidFill>
                <a:latin typeface="Arial"/>
              </a:rPr>
              <a:t> MP / OQMD → 647 DFT-screened → 473 ML-ready → 41 PV-promising → 14 shortlist</a:t>
            </a: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16401"/>
            <a:ext cx="4937760" cy="967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1: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structures sourced from Materials Project and OQMD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2: 647 candidates with HSE band structure and DFPT dielectric tensor completed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3: 473 ML-ready candidates after removing metallic-band and missing-CONTCAR entries (174 excluded)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4: 41 PV-promising candidates with composite score y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0.05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5: 14-candidate shortlist with y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0.10 feeding the next active-learning DFT round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Funnel narrows by approximately four orders of magnitude into a tractable shortlist for experimental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Lead candidate — 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16</a:t>
            </a:r>
            <a:r>
              <a:rPr sz="2200" b="1">
                <a:solidFill>
                  <a:srgbClr val="1C2533"/>
                </a:solidFill>
                <a:latin typeface="Arial"/>
              </a:rPr>
              <a:t>Sn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8</a:t>
            </a:r>
            <a:r>
              <a:rPr sz="2200" b="1">
                <a:solidFill>
                  <a:srgbClr val="1C2533"/>
                </a:solidFill>
                <a:latin typeface="Arial"/>
              </a:rPr>
              <a:t>Zr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prototype · Pnma (SG 62) · near-optimal Shockley–Queisser gap</a:t>
            </a: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039" y="1828800"/>
            <a:ext cx="25760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= 1.12 eV, within 0.22 eV of the Shockley–Queisser optimum at 1.34 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0.43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, indicating low effective mass and high carrier mobility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19.5, providing strong dielectric screening and suppressing Frenkel-exciton formation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= 7 meV, well below k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T at 300 K, placing the absorber in the Wannier–Mott regime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Composite PV score y = 0.487, the highest in the screened set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Sn–Zr–Se ternary phases have reported synthesis routes; no photovoltaic-device demonstration to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Secondary candidate — Cs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200" b="1">
                <a:solidFill>
                  <a:srgbClr val="1C2533"/>
                </a:solidFill>
                <a:latin typeface="Arial"/>
              </a:rPr>
              <a:t>Sb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6</a:t>
            </a:r>
            <a:r>
              <a:rPr sz="2200" b="1">
                <a:solidFill>
                  <a:srgbClr val="1C2533"/>
                </a:solidFill>
                <a:latin typeface="Arial"/>
              </a:rPr>
              <a:t>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prototype · C2/m (SG 12) · Sb 5s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 lone-pair active cation</a:t>
            </a: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491" y="1828800"/>
            <a:ext cx="2279176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= 1.28 eV, near the Shockley–Queisser optimum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0.81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, heavier than the lead candidate but within the device-relevant range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12.6, indicating moderate dielectric screening;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= 56 meV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Composite PV score y = 0.298, complementing the lead candidate from a distinct structural prototype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Sb 5s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lone-pair character produces a deep, dispersive valence-band maximum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Cs–Sb–Se ternary phases have established solution-processing synthesis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Motivation for device-scale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Bulk material descriptors alone do not determine device-level performance</a:t>
            </a:r>
          </a:p>
        </p:txBody>
      </p:sp>
      <p:pic>
        <p:nvPicPr>
          <p:cNvPr id="6" name="Picture 5" descr="s21_bulk_vs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DFT delivers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,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ε and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as bulk material-level descriptors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Device performance additionally depends on stack geometry, contact selectivity, optical absorption and recombination kinetics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Drift-diffusion coupled to the Poisson equation is required across the full HTL / absorber / ETL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Coherent transfer-matrix-method (TMM) optics are required for thin-film interference [Pettersson et al. 1999]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Two-dimensional effects (grain boundaries, lateral non-uniformity) cannot be captured in 1D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Mobile-ion transport must be included to reproduce hysteresis in perovskite-class absorbers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SolarLab device-simulation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1D + 2D drift-diffusion · TMM optics · mobile ions · selective Robin contacts</a:t>
            </a:r>
          </a:p>
        </p:txBody>
      </p:sp>
      <p:pic>
        <p:nvPicPr>
          <p:cNvPr id="6" name="Picture 5" descr="s22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Backend: Python solver with FastAPI server-sent events streaming intermediate results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Frontend: TypeScript / Vite workstation with publication-quality figure rendering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Numerical scheme: Radau implicit Runge–Kutta with BDF fallback and bisection-in-time on stiff steps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Optics: coherent transfer-matrix-method using the ASTM G-173 AM1.5G reference spectrum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Selective contacts: Robin formulation in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and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, validated against the 1D solver to 6 µV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Open-source, scriptable and REST-driven; designed for integration into high-throughput screening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Drift-diffusion governing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Three coupled partial differential equations per absorber layer [Selberherr 1984]</a:t>
            </a:r>
          </a:p>
        </p:txBody>
      </p:sp>
      <p:pic>
        <p:nvPicPr>
          <p:cNvPr id="6" name="Picture 5" descr="s23_ban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Electron continuity: ∂n/∂t = (1/q) ∇·J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Hole continuity:     ∂p/∂t = −(1/q) ∇·J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Poisson equation: ∇·(ε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</a:t>
            </a:r>
            <a:r>
              <a:rPr sz="1300" b="0">
                <a:solidFill>
                  <a:srgbClr val="475569"/>
                </a:solidFill>
                <a:latin typeface="Arial"/>
              </a:rPr>
              <a:t>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 ∇φ) = −q (p − n +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D</a:t>
            </a:r>
            <a:r>
              <a:rPr sz="1300" b="0">
                <a:solidFill>
                  <a:srgbClr val="475569"/>
                </a:solidFill>
                <a:latin typeface="Arial"/>
              </a:rPr>
              <a:t>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 + ρ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Current densities: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n E + q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∇n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p E − q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∇p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Recombination R: Shockley–Read–Hall, Auger and radiative channels; Einstein relation D = (k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T/q) μ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Generation G: optical generation profile from the TMM model integrated over the AM1.5G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Transfer-matrix-method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Coherent multi-layer thin-film interference [Pettersson et al. 1999 · Born &amp; Wolf]</a:t>
            </a:r>
          </a:p>
        </p:txBody>
      </p:sp>
      <p:pic>
        <p:nvPicPr>
          <p:cNvPr id="6" name="Picture 5" descr="s24_tmm_inter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Each layer j is represented by a 2×2 characteristic matrix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acting on the tangential (E, H) field components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[[cos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i sin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/ η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], [i η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sin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cos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]]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Phase thickness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(2π / λ) 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cos θ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with complex refractive index 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n + i 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System matrix M =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300" b="0">
                <a:solidFill>
                  <a:srgbClr val="475569"/>
                </a:solidFill>
                <a:latin typeface="Arial"/>
              </a:rPr>
              <a:t>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…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yields wavelength-resolved R, T and 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Generation profile G(x, λ) ∝ |E(x, λ)|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α(λ), integrated over the AM1.5G spectrum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Supersedes the Beer–Lambert approximation by capturing interference, back-reflector and interface effects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Mobile-ion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Origin of J–V hysteresis in perovskite solar cells [Calado et al. 2016 · van Reenen et al. 2015]</a:t>
            </a:r>
          </a:p>
        </p:txBody>
      </p:sp>
      <p:pic>
        <p:nvPicPr>
          <p:cNvPr id="6" name="Picture 5" descr="s25_mobile_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24742"/>
            <a:ext cx="4937760" cy="23513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Continuity for ion-vacancy density P: ∂P/∂t = ∇·(D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∇P +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P (1 − P /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) ∇φ)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 steric factor (1 − P /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) caps ion density at the available lattice-site limit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Estimated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 is approximately 1 – 5 % of the cation-site density in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Ion drift under bias redistributes mobile charge, screens the electric field and modulates the recombination rate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Couples into the Poisson equation via the source term ρ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= q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Characteristic time scale of 0.01 – 100 s reproduces the observed scan-rate dependence of perovskite J–V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Selective Robin contact boundary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Surface-recombination boundary conditions in place of Dirichlet pinning</a:t>
            </a:r>
          </a:p>
        </p:txBody>
      </p:sp>
      <p:pic>
        <p:nvPicPr>
          <p:cNvPr id="6" name="Picture 5" descr="s26_robin_cont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Left contact: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3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3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Right contact: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n,R</a:t>
            </a:r>
            <a:r>
              <a:rPr sz="13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p,R</a:t>
            </a:r>
            <a:r>
              <a:rPr sz="13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Contact selectivity: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≪</a:t>
            </a:r>
            <a:r>
              <a:rPr sz="1300" b="0">
                <a:solidFill>
                  <a:srgbClr val="475569"/>
                </a:solidFill>
                <a:latin typeface="Arial"/>
              </a:rPr>
              <a:t>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300" b="0">
                <a:solidFill>
                  <a:srgbClr val="475569"/>
                </a:solidFill>
                <a:latin typeface="Arial"/>
              </a:rPr>
              <a:t> yields a hole-extracting (HTL-type) left contact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Limit S → ∞ recovers the Dirichlet condition (carrier density pinned to equilibrium)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Limit S → 0 yields a perfectly blocking (zero-flux Neumann) contact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Captures the surface-recombination physics that SCAPS-1D approximates via Dirichlet pinning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Capability comparison with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Capabilities absent from the SCAPS-1D reference solver [Burgelman et al. 2000]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828800"/>
            <a:ext cx="51815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1D and 2D solver fidelity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Reference MAPbI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stack — 50 mV V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500" b="0">
                <a:solidFill>
                  <a:srgbClr val="475569"/>
                </a:solidFill>
                <a:latin typeface="Arial"/>
              </a:rPr>
              <a:t> reduction in 2D from grain-boundary recombination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57736"/>
            <a:ext cx="4937760" cy="188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Stack: spiro HTL 200 nm /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400 nm / TiO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ETL 100 nm with selective Robin contacts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2D variant: a single vertical grain boundary at the lateral midplane of the absorber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1D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0.910 V is reduced to 2D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0.860 V (ΔV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−50 mV)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 reduction is the grain-boundary recombination channel resolved only by the 2D solver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1D models would misestimate device performance by omitting this loss channel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Solver throughput: a 28-voltage 2D sweep completes in approximately 22 minutes on 4 CPU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Predicted device J–V for a leading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DFT parameters 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500" b="0">
                <a:solidFill>
                  <a:srgbClr val="475569"/>
                </a:solidFill>
                <a:latin typeface="Arial"/>
              </a:rPr>
              <a:t> device simulation 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500" b="0">
                <a:solidFill>
                  <a:srgbClr val="475569"/>
                </a:solidFill>
                <a:latin typeface="Arial"/>
              </a:rPr>
              <a:t> predicted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57736"/>
            <a:ext cx="4937760" cy="188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Closes the workflow from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database scan to predicted device-level J–V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Stack: same spiro HTL /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/ TiO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ETL reference as the 1D-vs-2D run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Placeholder candidate: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baseline with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shifted by +30 mV (~candidate-gap surrogate)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Real 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300" b="0">
                <a:solidFill>
                  <a:srgbClr val="475569"/>
                </a:solidFill>
                <a:latin typeface="Arial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300" b="0">
                <a:solidFill>
                  <a:srgbClr val="475569"/>
                </a:solidFill>
                <a:latin typeface="Arial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J–V replaces the placeholder once n, k data and DFT parameters are wired into the 2D solver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Predicted device PCE is the figure of merit relevant for synthesis decisions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Establishes explicit, falsifiable performance targets for the experimental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Planned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Multi-task learning on the ~36 000 PBE gaps in Materials Project to close the prototype-grouped CV gap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Spectroscopic Limited Maximum Efficiency (SLME) replacing the SQ upper bound, requiring the absorption coefficient α(E) [Yu &amp; Zunger 2012]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Targeted DFT batch on Se-rich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candidates in SG 62, 12,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Closed-loop automation of DFT batch submission and surrogate re-fitting on label return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Experimental collaboration to synthesise the top three candidates and feed measured J–V data back into the ML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Principal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Small-sample ML on 473 DFT-labelled materials improves the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Fourteen-candidate chalcogenide shortlist; 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300" b="0">
                <a:solidFill>
                  <a:srgbClr val="475569"/>
                </a:solidFill>
                <a:latin typeface="Arial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300" b="0">
                <a:solidFill>
                  <a:srgbClr val="475569"/>
                </a:solidFill>
                <a:latin typeface="Arial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sits near the Shockley–Queisser optimum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SolarLab 2D drift-diffusion provides the bridge from DFT-derived parameters to predicted device-level J–V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Compact, physically motivated descriptor and small-sample model identify a tractable subspace under stringent grouped-CV diagnostics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Experimental collaboration completes the discovery → simulation → experiment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ML, device-sim and absorber-chemistry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Yan C. et al., Nat. Energy 3, 764 (2018) · ACS Energy Lett. 2, 930 (2017) — kesterite Cu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ZnSnS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Hou Y. et al., Nat. Energy 5, 131 (2020) · Science 367, 1135 (2020) · Nat. Energy 7, 229 (2022) — perovskite + tandem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Friedman J.H., Ann. Stat. 29, 1189 (2001) — gradient boosting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Ke G. et al., NeurIPS (2017) — LightGBM histogram binning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Rasmussen C.E. &amp; Williams C.K.I., MIT Press (2006) — GP for ML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Snoek J. et al., NeurIPS (2012) — UCB acquisition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Ward L. et al., npj Comput. Mater. 2, 16028 (2016) · CMS 152, 60 (2018) — Magpie · matminer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Heyd J. et al., J. Chem. Phys. 118, 8207 (2003) — HSE06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Yu L. &amp; Zunger A., PRL 108, 068701 (2012) — SLME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Selberherr S., Springer (1984) — semiconductor device simulation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Pettersson L.A.A. et al., J. Appl. Phys. 86, 487 (1999) — TMM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Burgelman M. et al., Thin Solid Films 361-362, 527 (2000) — SCAPS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Calado P. et al., Nat. Commun. 7, 13831 (2016) · van Reenen S. et al., JPCL 6, 3808 (2015) — perovskite ion migration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Chen C. et al., Chem. Mater. 31, 3564 (2019) — MEGNet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