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/>
              </a:rPr>
              <a:t>Photovoltaic material screening from database to device-scale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Arial"/>
              </a:rPr>
              <a:t>Xuan-Yan Chen et 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/>
              </a:rPr>
              <a:t>HKUST(GZ) — JMI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Efficiency–stability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Two regimes, one underserved corner</a:t>
            </a: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CIGS / Si: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&gt;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4</a:t>
            </a:r>
            <a:r>
              <a:rPr sz="1400" b="0">
                <a:solidFill>
                  <a:srgbClr val="475569"/>
                </a:solidFill>
                <a:latin typeface="Arial"/>
              </a:rPr>
              <a:t> h, PCE plateau ~22 %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Perovskite: PCE &gt; 25 %,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often &lt; 500 h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 box: PCE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25 % AND T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80</a:t>
            </a:r>
            <a:r>
              <a:rPr sz="1400" b="0">
                <a:solidFill>
                  <a:srgbClr val="475569"/>
                </a:solidFill>
                <a:latin typeface="Arial"/>
              </a:rPr>
              <a:t>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5</a:t>
            </a:r>
            <a:r>
              <a:rPr sz="1400" b="0">
                <a:solidFill>
                  <a:srgbClr val="475569"/>
                </a:solidFill>
                <a:latin typeface="Arial"/>
              </a:rPr>
              <a:t>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3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neither alone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Champion-cell PCE timeline + accelerated-aging curves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Perovskite caught up to CIGS in &lt;10 years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Stability gap remains 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&gt;</a:t>
            </a:r>
            <a:r>
              <a:rPr sz="1400" b="0">
                <a:solidFill>
                  <a:srgbClr val="475569"/>
                </a:solidFill>
                <a:latin typeface="Arial"/>
              </a:rPr>
              <a:t> 100x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Commercial deployment needs both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Talk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Six-step funnel</a:t>
            </a: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STRATEGY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5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Template-guided screening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Perovskite ABX</a:t>
            </a:r>
            <a:r>
              <a:rPr sz="1600" b="0" baseline="-25000">
                <a:solidFill>
                  <a:srgbClr val="475569"/>
                </a:solidFill>
                <a:latin typeface="Arial"/>
              </a:rPr>
              <a:t>3</a:t>
            </a:r>
            <a:r>
              <a:rPr sz="1600" b="0">
                <a:solidFill>
                  <a:srgbClr val="475569"/>
                </a:solidFill>
                <a:latin typeface="Arial"/>
              </a:rPr>
              <a:t> and chalcogenide skeletons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Two structural priors as filters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Constrains DB scan to physically plausible candidates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Enables small-sample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02 ·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6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End-to-end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DB to lab</a:t>
            </a: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ML + FEATURES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HSE06 is too costly at DB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Wall-time per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PBE: minutes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HSE06: hours-to-days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GW: weeks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[Need bar-chart numbers from your DFT logs — see R1]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Feature 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Composition · structural · electronic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Composition: stoichiometry, electronegativity moments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Structural: tolerance factor, octahedral factor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Electronic: orbital character, ionic radii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Small-sample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Random Forest + Gaussian Process · 5-fold 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[n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train</a:t>
            </a:r>
            <a:r>
              <a:rPr sz="1400" b="0">
                <a:solidFill>
                  <a:srgbClr val="475569"/>
                </a:solidFill>
                <a:latin typeface="Arial"/>
              </a:rPr>
              <a:t> = TBD from R2]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[CV scores per target — see R2]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03 · ML +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Validation vs HSE06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Hold-out parity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) = TBD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(μ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</a:t>
            </a:r>
            <a:r>
              <a:rPr sz="1400" b="0">
                <a:solidFill>
                  <a:srgbClr val="475569"/>
                </a:solidFill>
                <a:latin typeface="Arial"/>
              </a:rPr>
              <a:t>) = TBD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RMSE summary on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CANDIDATES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Top-N candidates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Ranked by predicted (PCE × stability)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[Replace this slide with table image once R3 closes]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DFT stability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Decomposition energy + phonon 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All top-N have negative ΔH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decomp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No imaginary phonon modes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[See R4 for figure]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13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[Candidate A — placeholder]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 = TBD eV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μ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e</a:t>
            </a:r>
            <a:r>
              <a:rPr sz="1400" b="0">
                <a:solidFill>
                  <a:srgbClr val="475569"/>
                </a:solidFill>
                <a:latin typeface="Arial"/>
              </a:rPr>
              <a:t> = TBD cm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2</a:t>
            </a:r>
            <a:r>
              <a:rPr sz="1400" b="0">
                <a:solidFill>
                  <a:srgbClr val="475569"/>
                </a:solidFill>
                <a:latin typeface="Arial"/>
              </a:rPr>
              <a:t> V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-1</a:t>
            </a:r>
            <a:r>
              <a:rPr sz="1400" b="0">
                <a:solidFill>
                  <a:srgbClr val="475569"/>
                </a:solidFill>
                <a:latin typeface="Arial"/>
              </a:rPr>
              <a:t> s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-1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 / m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0</a:t>
            </a:r>
            <a:r>
              <a:rPr sz="1400" b="0">
                <a:solidFill>
                  <a:srgbClr val="475569"/>
                </a:solidFill>
                <a:latin typeface="Arial"/>
              </a:rPr>
              <a:t> = TBD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 = TBD meV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04 ·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14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Hit #2 vs perovskite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[Candidate B — placeholder]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Radar chart: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g</a:t>
            </a:r>
            <a:r>
              <a:rPr sz="1400" b="0">
                <a:solidFill>
                  <a:srgbClr val="475569"/>
                </a:solidFill>
                <a:latin typeface="Arial"/>
              </a:rPr>
              <a:t>, μ, m</a:t>
            </a:r>
            <a:r>
              <a:rPr sz="1400" b="0" baseline="30000">
                <a:solidFill>
                  <a:srgbClr val="475569"/>
                </a:solidFill>
                <a:latin typeface="Arial"/>
              </a:rPr>
              <a:t>*</a:t>
            </a:r>
            <a:r>
              <a:rPr sz="1400" b="0">
                <a:solidFill>
                  <a:srgbClr val="475569"/>
                </a:solidFill>
                <a:latin typeface="Arial"/>
              </a:rPr>
              <a:t>, E</a:t>
            </a:r>
            <a:r>
              <a:rPr sz="1400" b="0" baseline="-25000">
                <a:solidFill>
                  <a:srgbClr val="475569"/>
                </a:solidFill>
                <a:latin typeface="Arial"/>
              </a:rPr>
              <a:t>b</a:t>
            </a:r>
            <a:r>
              <a:rPr sz="1400" b="0">
                <a:solidFill>
                  <a:srgbClr val="475569"/>
                </a:solidFill>
                <a:latin typeface="Arial"/>
              </a:rPr>
              <a:t>, stability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Larger area =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BRIDGE — DEVICE SIM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15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Why device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alone don't predict PCE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carrier transport at full stack scale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optics, contacts, hysteresis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Need 2D effects (grains, lateral non-uniformity)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16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SolarLab software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1D + 2D drift-diffusion · TMM optics · mobile 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Backend: Python solver + FastAPI SSE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Frontend: Vite/TS workstation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Solver: Radau implicit + BDF fallback + bisection-in-time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17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Capability vs SCAPS-1D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What SCAPS leaves on the table</a:t>
            </a: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05 ·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18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1D vs 2D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Grain-boundary recombination only captured in 2D</a:t>
            </a: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Same stack, both solvers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ΔPCE attributable to GB physics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/>
              </a:rPr>
              <a:t>PAYOFF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19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Predicted J-V on top candidate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DFT params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device sim </a:t>
            </a:r>
            <a:r>
              <a:rPr sz="1600" b="0" baseline="30000">
                <a:solidFill>
                  <a:srgbClr val="475569"/>
                </a:solidFill>
                <a:latin typeface="Arial"/>
              </a:rPr>
              <a:t>→</a:t>
            </a:r>
            <a:r>
              <a:rPr sz="1600" b="0">
                <a:solidFill>
                  <a:srgbClr val="475569"/>
                </a:solidFill>
                <a:latin typeface="Arial"/>
              </a:rPr>
              <a:t> PCE</a:t>
            </a: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93776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Closes the loop from DB scan to predicted device performance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Placeholder candidate today — real candidate slots in once R3/R4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20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Outlook — experimental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From in-silico hit to lab synthesis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Collaboration with [group X] for synthesis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Target: validated devices in 2027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21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Three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Template-guided ML beats brute-force HSE06 on cost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DFT-stability filter shrinks candidate list to actionable size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2D device sim is the bridge from DB to predicted PCE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06 ·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/>
              </a:rPr>
              <a:t>22 /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C2533"/>
                </a:solidFill>
                <a:latin typeface="Arial"/>
              </a:rPr>
              <a:t>Acknowledgments +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Arial"/>
              </a:rPr>
              <a:t>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Funding · collaborators · group members</a:t>
            </a:r>
          </a:p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•  Bibliography on a single panel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Arial"/>
              </a:rPr>
              <a:t>Chen et al. — JMI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617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/>
              </a:rPr>
              <a:t>SOLARLAB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