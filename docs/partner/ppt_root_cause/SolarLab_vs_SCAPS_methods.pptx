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48640" y="2697480"/>
            <a:ext cx="128016" cy="155448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468880"/>
            <a:ext cx="10698480" cy="1645920"/>
          </a:xfrm>
          <a:prstGeom prst="rect">
            <a:avLst/>
          </a:prstGeom>
          <a:noFill/>
        </p:spPr>
        <p:txBody>
          <a:bodyPr wrap="square">
            <a:spAutoFit/>
          </a:bodyPr>
          <a:lstStyle/>
          <a:p>
            <a:r>
              <a:rPr sz="4000" b="1" i="0">
                <a:solidFill>
                  <a:srgbClr val="1F2A44"/>
                </a:solidFill>
              </a:rPr>
              <a:t>SolarLab and SCAPS-1D</a:t>
            </a:r>
            <a:endParaRPr sz="4000" b="1" i="0">
              <a:solidFill>
                <a:srgbClr val="1F2A44"/>
              </a:solidFill>
            </a:endParaRPr>
          </a:p>
          <a:p>
            <a:r>
              <a:rPr sz="1900" b="0" i="0">
                <a:solidFill>
                  <a:srgbClr val="1A4E8A"/>
                </a:solidFill>
              </a:rPr>
              <a:t>Numerical formulation and physical models: a side-by-side comparison</a:t>
            </a:r>
            <a:endParaRPr sz="1900" b="0" i="0">
              <a:solidFill>
                <a:srgbClr val="1A4E8A"/>
              </a:solidFill>
            </a:endParaRPr>
          </a:p>
        </p:txBody>
      </p:sp>
      <p:sp>
        <p:nvSpPr>
          <p:cNvPr id="4" name="TextBox 3"/>
          <p:cNvSpPr txBox="1"/>
          <p:nvPr/>
        </p:nvSpPr>
        <p:spPr>
          <a:xfrm>
            <a:off x="868680" y="4343400"/>
            <a:ext cx="10698480" cy="548640"/>
          </a:xfrm>
          <a:prstGeom prst="rect">
            <a:avLst/>
          </a:prstGeom>
          <a:noFill/>
        </p:spPr>
        <p:txBody>
          <a:bodyPr wrap="square">
            <a:spAutoFit/>
          </a:bodyPr>
          <a:lstStyle/>
          <a:p>
            <a:r>
              <a:rPr sz="1450" b="0" i="0">
                <a:solidFill>
                  <a:srgbClr val="5A6577"/>
                </a:solidFill>
              </a:rPr>
              <a:t>Supplement to the validation report  ·  June 2026</a:t>
            </a:r>
            <a:endParaRPr sz="1450" b="0" i="0">
              <a:solidFill>
                <a:srgbClr val="5A657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Background — Device-Level Simulation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5532120" cy="4754880"/>
          </a:xfrm>
          <a:prstGeom prst="rect">
            <a:avLst/>
          </a:prstGeom>
          <a:noFill/>
        </p:spPr>
        <p:txBody>
          <a:bodyPr wrap="square">
            <a:spAutoFit/>
          </a:bodyPr>
          <a:lstStyle/>
          <a:p>
            <a:pPr>
              <a:spcAft>
                <a:spcPts val="1200"/>
              </a:spcAft>
            </a:pPr>
            <a:r>
              <a:rPr sz="1400" b="1" i="0">
                <a:solidFill>
                  <a:srgbClr val="1A4E8A"/>
                </a:solidFill>
              </a:rPr>
              <a:t>▪  </a:t>
            </a:r>
            <a:r>
              <a:rPr sz="1400" b="0" i="0">
                <a:solidFill>
                  <a:srgbClr val="2A2A2A"/>
                </a:solidFill>
              </a:rPr>
              <a:t>Under illumination, photogenerated electrons and holes are transported through the layer stack to the contacts.</a:t>
            </a:r>
            <a:endParaRPr sz="1400" b="0" i="0">
              <a:solidFill>
                <a:srgbClr val="2A2A2A"/>
              </a:solidFill>
            </a:endParaRPr>
          </a:p>
          <a:p>
            <a:pPr>
              <a:spcAft>
                <a:spcPts val="1200"/>
              </a:spcAft>
            </a:pPr>
            <a:r>
              <a:rPr sz="1400" b="1" i="0">
                <a:solidFill>
                  <a:srgbClr val="1A4E8A"/>
                </a:solidFill>
              </a:rPr>
              <a:t>▪  </a:t>
            </a:r>
            <a:r>
              <a:rPr sz="1400" b="0" i="0">
                <a:solidFill>
                  <a:srgbClr val="2A2A2A"/>
                </a:solidFill>
              </a:rPr>
              <a:t>A drift-diffusion model resolves carrier transport under drift (electric field) and diffusion (concentration gradient), coupled self-consistently to Poisson's equation.</a:t>
            </a:r>
            <a:endParaRPr sz="1400" b="0" i="0">
              <a:solidFill>
                <a:srgbClr val="2A2A2A"/>
              </a:solidFill>
            </a:endParaRPr>
          </a:p>
          <a:p>
            <a:pPr>
              <a:spcAft>
                <a:spcPts val="1200"/>
              </a:spcAft>
            </a:pPr>
            <a:r>
              <a:rPr sz="1400" b="1" i="0">
                <a:solidFill>
                  <a:srgbClr val="1A4E8A"/>
                </a:solidFill>
              </a:rPr>
              <a:t>▪  </a:t>
            </a:r>
            <a:r>
              <a:rPr sz="1400" b="0" i="0">
                <a:solidFill>
                  <a:srgbClr val="2A2A2A"/>
                </a:solidFill>
              </a:rPr>
              <a:t>Recombination accounts for carrier loss; the simulated output is the current–voltage characteristic and the derived figures of merit (V</a:t>
            </a:r>
            <a:r>
              <a:rPr sz="1400" b="0" i="0" baseline="-25000">
                <a:solidFill>
                  <a:srgbClr val="2A2A2A"/>
                </a:solidFill>
              </a:rPr>
              <a:t>oc</a:t>
            </a:r>
            <a:r>
              <a:rPr sz="1400" b="0" i="0">
                <a:solidFill>
                  <a:srgbClr val="2A2A2A"/>
                </a:solidFill>
              </a:rPr>
              <a:t>, J</a:t>
            </a:r>
            <a:r>
              <a:rPr sz="1400" b="0" i="0" baseline="-25000">
                <a:solidFill>
                  <a:srgbClr val="2A2A2A"/>
                </a:solidFill>
              </a:rPr>
              <a:t>sc</a:t>
            </a:r>
            <a:r>
              <a:rPr sz="1400" b="0" i="0">
                <a:solidFill>
                  <a:srgbClr val="2A2A2A"/>
                </a:solidFill>
              </a:rPr>
              <a:t>, FF, PCE).</a:t>
            </a:r>
            <a:endParaRPr sz="1400" b="0" i="0">
              <a:solidFill>
                <a:srgbClr val="2A2A2A"/>
              </a:solidFill>
            </a:endParaRPr>
          </a:p>
          <a:p>
            <a:pPr>
              <a:spcAft>
                <a:spcPts val="1200"/>
              </a:spcAft>
            </a:pPr>
            <a:r>
              <a:rPr sz="1400" b="1" i="0">
                <a:solidFill>
                  <a:srgbClr val="1A4E8A"/>
                </a:solidFill>
              </a:rPr>
              <a:t>▪  </a:t>
            </a:r>
            <a:r>
              <a:rPr sz="1400" b="0" i="0">
                <a:solidFill>
                  <a:srgbClr val="2A2A2A"/>
                </a:solidFill>
              </a:rPr>
              <a:t>SolarLab and SCAPS-1D are both one-dimensional drift-diffusion device simulators of the identical cell.</a:t>
            </a:r>
            <a:endParaRPr sz="1400" b="0" i="0">
              <a:solidFill>
                <a:srgbClr val="2A2A2A"/>
              </a:solidFill>
            </a:endParaRPr>
          </a:p>
          <a:p>
            <a:pPr>
              <a:spcAft>
                <a:spcPts val="1200"/>
              </a:spcAft>
            </a:pPr>
            <a:r>
              <a:rPr sz="1400" b="1" i="0">
                <a:solidFill>
                  <a:srgbClr val="1A4E8A"/>
                </a:solidFill>
              </a:rPr>
              <a:t>▪  </a:t>
            </a:r>
            <a:r>
              <a:rPr sz="1400" b="0" i="0">
                <a:solidFill>
                  <a:srgbClr val="2A2A2A"/>
                </a:solidFill>
              </a:rPr>
              <a:t>This supplement contrasts their numerical formulations and physical models, axis by axis.</a:t>
            </a:r>
            <a:endParaRPr sz="1400" b="0" i="0">
              <a:solidFill>
                <a:srgbClr val="2A2A2A"/>
              </a:solidFill>
            </a:endParaRPr>
          </a:p>
        </p:txBody>
      </p:sp>
      <p:pic>
        <p:nvPicPr>
          <p:cNvPr id="5" name="Picture 4" descr="band_diagram.png"/>
          <p:cNvPicPr>
            <a:picLocks noChangeAspect="1"/>
          </p:cNvPicPr>
          <p:nvPr/>
        </p:nvPicPr>
        <p:blipFill>
          <a:blip r:embed="rId1"/>
          <a:stretch>
            <a:fillRect/>
          </a:stretch>
        </p:blipFill>
        <p:spPr>
          <a:xfrm>
            <a:off x="6400800" y="2697480"/>
            <a:ext cx="5220652" cy="2651760"/>
          </a:xfrm>
          <a:prstGeom prst="rect">
            <a:avLst/>
          </a:prstGeom>
        </p:spPr>
      </p:pic>
      <p:sp>
        <p:nvSpPr>
          <p:cNvPr id="6" name="TextBox 5"/>
          <p:cNvSpPr txBox="1"/>
          <p:nvPr/>
        </p:nvSpPr>
        <p:spPr>
          <a:xfrm>
            <a:off x="6400800" y="4617720"/>
            <a:ext cx="5120640" cy="548640"/>
          </a:xfrm>
          <a:prstGeom prst="rect">
            <a:avLst/>
          </a:prstGeom>
          <a:noFill/>
        </p:spPr>
        <p:txBody>
          <a:bodyPr wrap="square">
            <a:spAutoFit/>
          </a:bodyPr>
          <a:lstStyle/>
          <a:p>
            <a:r>
              <a:rPr sz="1100" b="0" i="1">
                <a:solidFill>
                  <a:srgbClr val="5A6577"/>
                </a:solidFill>
              </a:rPr>
              <a:t>Equilibrium band diagram of the n–i–p stack with conduction- and valence-band offsets.</a:t>
            </a:r>
            <a:endParaRPr sz="1100" b="0" i="1">
              <a:solidFill>
                <a:srgbClr val="5A657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Governing Equations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70432"/>
            <a:ext cx="10972800" cy="365760"/>
          </a:xfrm>
          <a:prstGeom prst="rect">
            <a:avLst/>
          </a:prstGeom>
          <a:noFill/>
        </p:spPr>
        <p:txBody>
          <a:bodyPr wrap="square">
            <a:spAutoFit/>
          </a:bodyPr>
          <a:lstStyle/>
          <a:p>
            <a:r>
              <a:rPr sz="1400" b="1" i="0">
                <a:solidFill>
                  <a:srgbClr val="1F2A44"/>
                </a:solidFill>
              </a:rPr>
              <a:t>Both solvers solve the same coupled Poisson–drift-diffusion system:</a:t>
            </a:r>
            <a:endParaRPr sz="1400" b="1" i="0">
              <a:solidFill>
                <a:srgbClr val="1F2A44"/>
              </a:solidFill>
            </a:endParaRPr>
          </a:p>
        </p:txBody>
      </p:sp>
      <p:pic>
        <p:nvPicPr>
          <p:cNvPr id="5" name="Picture 4" descr="poisson.png"/>
          <p:cNvPicPr>
            <a:picLocks noChangeAspect="1"/>
          </p:cNvPicPr>
          <p:nvPr/>
        </p:nvPicPr>
        <p:blipFill>
          <a:blip r:embed="rId1"/>
          <a:stretch>
            <a:fillRect/>
          </a:stretch>
        </p:blipFill>
        <p:spPr>
          <a:xfrm>
            <a:off x="731520" y="1572768"/>
            <a:ext cx="3611574" cy="457200"/>
          </a:xfrm>
          <a:prstGeom prst="rect">
            <a:avLst/>
          </a:prstGeom>
        </p:spPr>
      </p:pic>
      <p:sp>
        <p:nvSpPr>
          <p:cNvPr id="6" name="TextBox 5"/>
          <p:cNvSpPr txBox="1"/>
          <p:nvPr/>
        </p:nvSpPr>
        <p:spPr>
          <a:xfrm>
            <a:off x="6720840" y="1554480"/>
            <a:ext cx="5120640" cy="914400"/>
          </a:xfrm>
          <a:prstGeom prst="rect">
            <a:avLst/>
          </a:prstGeom>
          <a:noFill/>
        </p:spPr>
        <p:txBody>
          <a:bodyPr wrap="square">
            <a:spAutoFit/>
          </a:bodyPr>
          <a:lstStyle/>
          <a:p>
            <a:r>
              <a:rPr sz="1200" b="1" i="0">
                <a:solidFill>
                  <a:srgbClr val="1A4E8A"/>
                </a:solidFill>
              </a:rPr>
              <a:t>Poisson's equation — </a:t>
            </a:r>
            <a:r>
              <a:rPr sz="1200" b="0" i="0">
                <a:solidFill>
                  <a:srgbClr val="2A2A2A"/>
                </a:solidFill>
              </a:rPr>
              <a:t>relates the space charge to the electrostatic potential.</a:t>
            </a:r>
            <a:endParaRPr sz="1200" b="0" i="0">
              <a:solidFill>
                <a:srgbClr val="2A2A2A"/>
              </a:solidFill>
            </a:endParaRPr>
          </a:p>
        </p:txBody>
      </p:sp>
      <p:pic>
        <p:nvPicPr>
          <p:cNvPr id="7" name="Picture 6" descr="cont_n.png"/>
          <p:cNvPicPr>
            <a:picLocks noChangeAspect="1"/>
          </p:cNvPicPr>
          <p:nvPr/>
        </p:nvPicPr>
        <p:blipFill>
          <a:blip r:embed="rId2"/>
          <a:stretch>
            <a:fillRect/>
          </a:stretch>
        </p:blipFill>
        <p:spPr>
          <a:xfrm>
            <a:off x="731520" y="2761488"/>
            <a:ext cx="1592730" cy="457200"/>
          </a:xfrm>
          <a:prstGeom prst="rect">
            <a:avLst/>
          </a:prstGeom>
        </p:spPr>
      </p:pic>
      <p:sp>
        <p:nvSpPr>
          <p:cNvPr id="8" name="TextBox 7"/>
          <p:cNvSpPr txBox="1"/>
          <p:nvPr/>
        </p:nvSpPr>
        <p:spPr>
          <a:xfrm>
            <a:off x="6720840" y="2743200"/>
            <a:ext cx="5120640" cy="914400"/>
          </a:xfrm>
          <a:prstGeom prst="rect">
            <a:avLst/>
          </a:prstGeom>
          <a:noFill/>
        </p:spPr>
        <p:txBody>
          <a:bodyPr wrap="square">
            <a:spAutoFit/>
          </a:bodyPr>
          <a:lstStyle/>
          <a:p>
            <a:r>
              <a:rPr sz="1200" b="1" i="0">
                <a:solidFill>
                  <a:srgbClr val="1A4E8A"/>
                </a:solidFill>
              </a:rPr>
              <a:t>Electron continuity — </a:t>
            </a:r>
            <a:r>
              <a:rPr sz="1200" b="0" i="0">
                <a:solidFill>
                  <a:srgbClr val="2A2A2A"/>
                </a:solidFill>
              </a:rPr>
              <a:t>conserves carriers: divergence of current balanced by generation and recombination.</a:t>
            </a:r>
            <a:endParaRPr sz="1200" b="0" i="0">
              <a:solidFill>
                <a:srgbClr val="2A2A2A"/>
              </a:solidFill>
            </a:endParaRPr>
          </a:p>
        </p:txBody>
      </p:sp>
      <p:pic>
        <p:nvPicPr>
          <p:cNvPr id="9" name="Picture 8" descr="sg_flux.png"/>
          <p:cNvPicPr>
            <a:picLocks noChangeAspect="1"/>
          </p:cNvPicPr>
          <p:nvPr/>
        </p:nvPicPr>
        <p:blipFill>
          <a:blip r:embed="rId3"/>
          <a:stretch>
            <a:fillRect/>
          </a:stretch>
        </p:blipFill>
        <p:spPr>
          <a:xfrm>
            <a:off x="731520" y="3950208"/>
            <a:ext cx="3608177" cy="457200"/>
          </a:xfrm>
          <a:prstGeom prst="rect">
            <a:avLst/>
          </a:prstGeom>
        </p:spPr>
      </p:pic>
      <p:sp>
        <p:nvSpPr>
          <p:cNvPr id="10" name="TextBox 9"/>
          <p:cNvSpPr txBox="1"/>
          <p:nvPr/>
        </p:nvSpPr>
        <p:spPr>
          <a:xfrm>
            <a:off x="6720840" y="3931920"/>
            <a:ext cx="5120640" cy="914400"/>
          </a:xfrm>
          <a:prstGeom prst="rect">
            <a:avLst/>
          </a:prstGeom>
          <a:noFill/>
        </p:spPr>
        <p:txBody>
          <a:bodyPr wrap="square">
            <a:spAutoFit/>
          </a:bodyPr>
          <a:lstStyle/>
          <a:p>
            <a:r>
              <a:rPr sz="1200" b="1" i="0">
                <a:solidFill>
                  <a:srgbClr val="1A4E8A"/>
                </a:solidFill>
              </a:rPr>
              <a:t>Scharfetter–Gummel current — </a:t>
            </a:r>
            <a:r>
              <a:rPr sz="1200" b="0" i="0">
                <a:solidFill>
                  <a:srgbClr val="2A2A2A"/>
                </a:solidFill>
              </a:rPr>
              <a:t>exponentially-fitted discretization of the drift-diffusion flux.</a:t>
            </a:r>
            <a:endParaRPr sz="1200" b="0" i="0">
              <a:solidFill>
                <a:srgbClr val="2A2A2A"/>
              </a:solidFill>
            </a:endParaRPr>
          </a:p>
        </p:txBody>
      </p:sp>
      <p:pic>
        <p:nvPicPr>
          <p:cNvPr id="11" name="Picture 10" descr="cont_ion.png"/>
          <p:cNvPicPr>
            <a:picLocks noChangeAspect="1"/>
          </p:cNvPicPr>
          <p:nvPr/>
        </p:nvPicPr>
        <p:blipFill>
          <a:blip r:embed="rId4"/>
          <a:stretch>
            <a:fillRect/>
          </a:stretch>
        </p:blipFill>
        <p:spPr>
          <a:xfrm>
            <a:off x="731520" y="5138928"/>
            <a:ext cx="1060825" cy="457200"/>
          </a:xfrm>
          <a:prstGeom prst="rect">
            <a:avLst/>
          </a:prstGeom>
        </p:spPr>
      </p:pic>
      <p:sp>
        <p:nvSpPr>
          <p:cNvPr id="12" name="TextBox 11"/>
          <p:cNvSpPr txBox="1"/>
          <p:nvPr/>
        </p:nvSpPr>
        <p:spPr>
          <a:xfrm>
            <a:off x="6720840" y="5120640"/>
            <a:ext cx="5120640" cy="914400"/>
          </a:xfrm>
          <a:prstGeom prst="rect">
            <a:avLst/>
          </a:prstGeom>
          <a:noFill/>
        </p:spPr>
        <p:txBody>
          <a:bodyPr wrap="square">
            <a:spAutoFit/>
          </a:bodyPr>
          <a:lstStyle/>
          <a:p>
            <a:r>
              <a:rPr sz="1200" b="1" i="0">
                <a:solidFill>
                  <a:srgbClr val="1A4E8A"/>
                </a:solidFill>
              </a:rPr>
              <a:t>Ion continuity (SolarLab only) — </a:t>
            </a:r>
            <a:r>
              <a:rPr sz="1200" b="0" i="0">
                <a:solidFill>
                  <a:srgbClr val="2A2A2A"/>
                </a:solidFill>
              </a:rPr>
              <a:t>mobile ionic transport; absent in SCAPS.</a:t>
            </a:r>
            <a:endParaRPr sz="1200" b="0" i="0">
              <a:solidFill>
                <a:srgbClr val="2A2A2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Overview — Common Formulation, Distinct Solver Architectures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Both tools solve the same drift-diffusion/Poisson system for the identical device; they differ in solution strategy and physical scope.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ransient.png"/>
          <p:cNvPicPr>
            <a:picLocks noChangeAspect="1"/>
          </p:cNvPicPr>
          <p:nvPr/>
        </p:nvPicPr>
        <p:blipFill>
          <a:blip r:embed="rId1"/>
          <a:stretch>
            <a:fillRect/>
          </a:stretch>
        </p:blipFill>
        <p:spPr>
          <a:xfrm>
            <a:off x="960119" y="2139696"/>
            <a:ext cx="4526280" cy="523968"/>
          </a:xfrm>
          <a:prstGeom prst="rect">
            <a:avLst/>
          </a:prstGeom>
        </p:spPr>
      </p:pic>
      <p:sp>
        <p:nvSpPr>
          <p:cNvPr id="11" name="TextBox 10"/>
          <p:cNvSpPr txBox="1"/>
          <p:nvPr/>
        </p:nvSpPr>
        <p:spPr>
          <a:xfrm>
            <a:off x="713232" y="2736816"/>
            <a:ext cx="5020055" cy="1606583"/>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Time-dependent integration (method of lines, implicit Radau)</a:t>
            </a:r>
            <a:endParaRPr sz="1150" b="0" i="0">
              <a:solidFill>
                <a:srgbClr val="2A2A2A"/>
              </a:solidFill>
            </a:endParaRPr>
          </a:p>
          <a:p>
            <a:pPr>
              <a:spcAft>
                <a:spcPts val="300"/>
              </a:spcAft>
            </a:pPr>
            <a:r>
              <a:rPr sz="1150" b="1" i="0">
                <a:solidFill>
                  <a:srgbClr val="1A4E8A"/>
                </a:solidFill>
              </a:rPr>
              <a:t>▪  </a:t>
            </a:r>
            <a:r>
              <a:rPr sz="1150" b="0" i="0">
                <a:solidFill>
                  <a:srgbClr val="2A2A2A"/>
                </a:solidFill>
              </a:rPr>
              <a:t>Resolves ion migration, hysteresis and impedance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teady.png"/>
          <p:cNvPicPr>
            <a:picLocks noChangeAspect="1"/>
          </p:cNvPicPr>
          <p:nvPr/>
        </p:nvPicPr>
        <p:blipFill>
          <a:blip r:embed="rId2"/>
          <a:stretch>
            <a:fillRect/>
          </a:stretch>
        </p:blipFill>
        <p:spPr>
          <a:xfrm>
            <a:off x="6702552" y="2139696"/>
            <a:ext cx="4526280" cy="829112"/>
          </a:xfrm>
          <a:prstGeom prst="rect">
            <a:avLst/>
          </a:prstGeom>
        </p:spPr>
      </p:pic>
      <p:sp>
        <p:nvSpPr>
          <p:cNvPr id="16" name="TextBox 15"/>
          <p:cNvSpPr txBox="1"/>
          <p:nvPr/>
        </p:nvSpPr>
        <p:spPr>
          <a:xfrm>
            <a:off x="6455664" y="3041960"/>
            <a:ext cx="5020055" cy="1301439"/>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Direct steady-state solution (Gummel + Newton–Raphson)</a:t>
            </a:r>
            <a:endParaRPr sz="1150" b="0" i="0">
              <a:solidFill>
                <a:srgbClr val="2A2A2A"/>
              </a:solidFill>
            </a:endParaRPr>
          </a:p>
          <a:p>
            <a:pPr>
              <a:spcAft>
                <a:spcPts val="300"/>
              </a:spcAft>
            </a:pPr>
            <a:r>
              <a:rPr sz="1150" b="1" i="0">
                <a:solidFill>
                  <a:srgbClr val="8C3333"/>
                </a:solidFill>
              </a:rPr>
              <a:t>▪  </a:t>
            </a:r>
            <a:r>
              <a:rPr sz="1150" b="0" i="0">
                <a:solidFill>
                  <a:srgbClr val="2A2A2A"/>
                </a:solidFill>
              </a:rPr>
              <a:t>Optional small-signal AC analysis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solver_paradigm.png"/>
          <p:cNvPicPr>
            <a:picLocks noChangeAspect="1"/>
          </p:cNvPicPr>
          <p:nvPr/>
        </p:nvPicPr>
        <p:blipFill>
          <a:blip r:embed="rId3"/>
          <a:stretch>
            <a:fillRect/>
          </a:stretch>
        </p:blipFill>
        <p:spPr>
          <a:xfrm>
            <a:off x="868680" y="5074920"/>
            <a:ext cx="2705557"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SolarLab integrates the coupled equations in time, so transient phenomena—ion migration, scan-dependent hysteresis and impedance—are obtained directly, at greater computational cost per characteristic. SCAPS computes the DC steady state, which is more economical for static J–V analysis but does not represent time-dependent behaviour. A steady-state mode in SolarLab reproduces the SCAPS regime for direct comparison.</a:t>
            </a:r>
            <a:endParaRPr sz="1200" b="0" i="0">
              <a:solidFill>
                <a:srgbClr val="332C1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Primary Unknowns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choice of primary variables; the two formulations are equivalent under Boltzmann statistics.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tatevar_sl.png"/>
          <p:cNvPicPr>
            <a:picLocks noChangeAspect="1"/>
          </p:cNvPicPr>
          <p:nvPr/>
        </p:nvPicPr>
        <p:blipFill>
          <a:blip r:embed="rId1"/>
          <a:stretch>
            <a:fillRect/>
          </a:stretch>
        </p:blipFill>
        <p:spPr>
          <a:xfrm>
            <a:off x="960119" y="2139696"/>
            <a:ext cx="4526280" cy="1036479"/>
          </a:xfrm>
          <a:prstGeom prst="rect">
            <a:avLst/>
          </a:prstGeom>
        </p:spPr>
      </p:pic>
      <p:sp>
        <p:nvSpPr>
          <p:cNvPr id="11" name="TextBox 10"/>
          <p:cNvSpPr txBox="1"/>
          <p:nvPr/>
        </p:nvSpPr>
        <p:spPr>
          <a:xfrm>
            <a:off x="713232" y="3249328"/>
            <a:ext cx="5020055" cy="1094071"/>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Carrier densities (n, p, P</a:t>
            </a:r>
            <a:r>
              <a:rPr sz="1150" b="0" i="0" baseline="-25000">
                <a:solidFill>
                  <a:srgbClr val="2A2A2A"/>
                </a:solidFill>
              </a:rPr>
              <a:t>ion</a:t>
            </a:r>
            <a:r>
              <a:rPr sz="1150" b="0" i="0">
                <a:solidFill>
                  <a:srgbClr val="2A2A2A"/>
                </a:solidFill>
              </a:rPr>
              <a:t>) as unknowns</a:t>
            </a:r>
            <a:endParaRPr sz="1150" b="0" i="0">
              <a:solidFill>
                <a:srgbClr val="2A2A2A"/>
              </a:solidFill>
            </a:endParaRPr>
          </a:p>
          <a:p>
            <a:pPr>
              <a:spcAft>
                <a:spcPts val="300"/>
              </a:spcAft>
            </a:pPr>
            <a:r>
              <a:rPr sz="1150" b="1" i="0">
                <a:solidFill>
                  <a:srgbClr val="1A4E8A"/>
                </a:solidFill>
              </a:rPr>
              <a:t>▪  </a:t>
            </a:r>
            <a:r>
              <a:rPr sz="1150" b="0" i="0">
                <a:solidFill>
                  <a:srgbClr val="2A2A2A"/>
                </a:solidFill>
              </a:rPr>
              <a:t>Electrostatic potential obtained by substitution</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tatevar_sc.png"/>
          <p:cNvPicPr>
            <a:picLocks noChangeAspect="1"/>
          </p:cNvPicPr>
          <p:nvPr/>
        </p:nvPicPr>
        <p:blipFill>
          <a:blip r:embed="rId2"/>
          <a:stretch>
            <a:fillRect/>
          </a:stretch>
        </p:blipFill>
        <p:spPr>
          <a:xfrm>
            <a:off x="6702552" y="2139696"/>
            <a:ext cx="4526280" cy="694456"/>
          </a:xfrm>
          <a:prstGeom prst="rect">
            <a:avLst/>
          </a:prstGeom>
        </p:spPr>
      </p:pic>
      <p:sp>
        <p:nvSpPr>
          <p:cNvPr id="16" name="TextBox 15"/>
          <p:cNvSpPr txBox="1"/>
          <p:nvPr/>
        </p:nvSpPr>
        <p:spPr>
          <a:xfrm>
            <a:off x="6455664" y="2907304"/>
            <a:ext cx="5020055" cy="1436095"/>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Electrostatic potential and quasi-Fermi levels</a:t>
            </a:r>
            <a:endParaRPr sz="1150" b="0" i="0">
              <a:solidFill>
                <a:srgbClr val="2A2A2A"/>
              </a:solidFill>
            </a:endParaRPr>
          </a:p>
          <a:p>
            <a:pPr>
              <a:spcAft>
                <a:spcPts val="300"/>
              </a:spcAft>
            </a:pPr>
            <a:r>
              <a:rPr sz="1150" b="1" i="0">
                <a:solidFill>
                  <a:srgbClr val="8C3333"/>
                </a:solidFill>
              </a:rPr>
              <a:t>▪  </a:t>
            </a:r>
            <a:r>
              <a:rPr sz="1150" b="0" i="0">
                <a:solidFill>
                  <a:srgbClr val="2A2A2A"/>
                </a:solidFill>
              </a:rPr>
              <a:t>No ionic unknown</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Solving directly for densities (SolarLab) enforces positivity but is poorly conditioned in deep depletion, where densities span more than twenty orders of magnitude; solving for quasi-Fermi potentials (SCAPS) is better conditioned in that regime. The formulations are mathematically equivalent under Boltzmann statistics, so the distinction is one of numerical conditioning rather than physical content.</a:t>
            </a:r>
            <a:endParaRPr sz="1200" b="0" i="0">
              <a:solidFill>
                <a:srgbClr val="332C1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Spatial Discretization and Flux</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Computation of the inter-node current from the carrier densities and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g_flux.png"/>
          <p:cNvPicPr>
            <a:picLocks noChangeAspect="1"/>
          </p:cNvPicPr>
          <p:nvPr/>
        </p:nvPicPr>
        <p:blipFill>
          <a:blip r:embed="rId1"/>
          <a:stretch>
            <a:fillRect/>
          </a:stretch>
        </p:blipFill>
        <p:spPr>
          <a:xfrm>
            <a:off x="960119" y="2139696"/>
            <a:ext cx="4526280" cy="573535"/>
          </a:xfrm>
          <a:prstGeom prst="rect">
            <a:avLst/>
          </a:prstGeom>
        </p:spPr>
      </p:pic>
      <p:sp>
        <p:nvSpPr>
          <p:cNvPr id="11" name="TextBox 10"/>
          <p:cNvSpPr txBox="1"/>
          <p:nvPr/>
        </p:nvSpPr>
        <p:spPr>
          <a:xfrm>
            <a:off x="713232" y="2786383"/>
            <a:ext cx="5020055" cy="1557016"/>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Bernoulli (Scharfetter–Gummel) flux on band-corrected potentials</a:t>
            </a:r>
            <a:endParaRPr sz="1150" b="0" i="0">
              <a:solidFill>
                <a:srgbClr val="2A2A2A"/>
              </a:solidFill>
            </a:endParaRPr>
          </a:p>
          <a:p>
            <a:pPr>
              <a:spcAft>
                <a:spcPts val="300"/>
              </a:spcAft>
            </a:pPr>
            <a:r>
              <a:rPr sz="1150" b="1" i="0">
                <a:solidFill>
                  <a:srgbClr val="1A4E8A"/>
                </a:solidFill>
              </a:rPr>
              <a:t>▪  </a:t>
            </a:r>
            <a:r>
              <a:rPr sz="1150" b="0" i="0">
                <a:solidFill>
                  <a:srgbClr val="2A2A2A"/>
                </a:solidFill>
              </a:rPr>
              <a:t>Non-uniform mesh refined at interfaces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g_flux.png"/>
          <p:cNvPicPr>
            <a:picLocks noChangeAspect="1"/>
          </p:cNvPicPr>
          <p:nvPr/>
        </p:nvPicPr>
        <p:blipFill>
          <a:blip r:embed="rId1"/>
          <a:stretch>
            <a:fillRect/>
          </a:stretch>
        </p:blipFill>
        <p:spPr>
          <a:xfrm>
            <a:off x="6702552" y="2139696"/>
            <a:ext cx="4526280" cy="573535"/>
          </a:xfrm>
          <a:prstGeom prst="rect">
            <a:avLst/>
          </a:prstGeom>
        </p:spPr>
      </p:pic>
      <p:sp>
        <p:nvSpPr>
          <p:cNvPr id="16" name="TextBox 15"/>
          <p:cNvSpPr txBox="1"/>
          <p:nvPr/>
        </p:nvSpPr>
        <p:spPr>
          <a:xfrm>
            <a:off x="6455664" y="2786383"/>
            <a:ext cx="5020055" cy="1557016"/>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Identical Scharfetter–Gummel exponential-fitting scheme</a:t>
            </a:r>
            <a:endParaRPr sz="1150" b="0" i="0">
              <a:solidFill>
                <a:srgbClr val="2A2A2A"/>
              </a:solidFill>
            </a:endParaRPr>
          </a:p>
          <a:p>
            <a:pPr>
              <a:spcAft>
                <a:spcPts val="300"/>
              </a:spcAft>
            </a:pPr>
            <a:r>
              <a:rPr sz="1150" b="1" i="0">
                <a:solidFill>
                  <a:srgbClr val="8C3333"/>
                </a:solidFill>
              </a:rPr>
              <a:t>▪  </a:t>
            </a:r>
            <a:r>
              <a:rPr sz="1150" b="0" i="0">
                <a:solidFill>
                  <a:srgbClr val="2A2A2A"/>
                </a:solidFill>
              </a:rPr>
              <a:t>User-defined mesh; duplicated interface nodes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bernoulli.png"/>
          <p:cNvPicPr>
            <a:picLocks noChangeAspect="1"/>
          </p:cNvPicPr>
          <p:nvPr/>
        </p:nvPicPr>
        <p:blipFill>
          <a:blip r:embed="rId2"/>
          <a:stretch>
            <a:fillRect/>
          </a:stretch>
        </p:blipFill>
        <p:spPr>
          <a:xfrm>
            <a:off x="868680" y="5074920"/>
            <a:ext cx="2278800"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Both employ the Scharfetter–Gummel exponentially-fitted discretization, the standard approach for resolving drift-dominated transport on a coarse mesh. Because the spatial scheme is common to both solvers, agreement at the discretization level is expected; the residual differences originate in the physical models rather than the flux scheme.</a:t>
            </a:r>
            <a:endParaRPr sz="1200" b="0" i="0">
              <a:solidFill>
                <a:srgbClr val="332C1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Nonlinear Solution Strategy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Strategy for solving the coupled nonlinear system.</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lognewton.png"/>
          <p:cNvPicPr>
            <a:picLocks noChangeAspect="1"/>
          </p:cNvPicPr>
          <p:nvPr/>
        </p:nvPicPr>
        <p:blipFill>
          <a:blip r:embed="rId1"/>
          <a:stretch>
            <a:fillRect/>
          </a:stretch>
        </p:blipFill>
        <p:spPr>
          <a:xfrm>
            <a:off x="960119" y="2139696"/>
            <a:ext cx="4526280" cy="348476"/>
          </a:xfrm>
          <a:prstGeom prst="rect">
            <a:avLst/>
          </a:prstGeom>
        </p:spPr>
      </p:pic>
      <p:sp>
        <p:nvSpPr>
          <p:cNvPr id="11" name="TextBox 10"/>
          <p:cNvSpPr txBox="1"/>
          <p:nvPr/>
        </p:nvSpPr>
        <p:spPr>
          <a:xfrm>
            <a:off x="713232" y="2561324"/>
            <a:ext cx="5020055" cy="178207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Radau implicit stage couples the system (transient)</a:t>
            </a:r>
            <a:endParaRPr sz="1150" b="0" i="0">
              <a:solidFill>
                <a:srgbClr val="2A2A2A"/>
              </a:solidFill>
            </a:endParaRPr>
          </a:p>
          <a:p>
            <a:pPr>
              <a:spcAft>
                <a:spcPts val="300"/>
              </a:spcAft>
            </a:pPr>
            <a:r>
              <a:rPr sz="1150" b="1" i="0">
                <a:solidFill>
                  <a:srgbClr val="1A4E8A"/>
                </a:solidFill>
              </a:rPr>
              <a:t>▪  </a:t>
            </a:r>
            <a:r>
              <a:rPr sz="1150" b="0" i="0">
                <a:solidFill>
                  <a:srgbClr val="2A2A2A"/>
                </a:solidFill>
              </a:rPr>
              <a:t>Steady mode: damped Newton in log-density</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gummel.png"/>
          <p:cNvPicPr>
            <a:picLocks noChangeAspect="1"/>
          </p:cNvPicPr>
          <p:nvPr/>
        </p:nvPicPr>
        <p:blipFill>
          <a:blip r:embed="rId2"/>
          <a:stretch>
            <a:fillRect/>
          </a:stretch>
        </p:blipFill>
        <p:spPr>
          <a:xfrm>
            <a:off x="6702552" y="2139696"/>
            <a:ext cx="4526280" cy="288153"/>
          </a:xfrm>
          <a:prstGeom prst="rect">
            <a:avLst/>
          </a:prstGeom>
        </p:spPr>
      </p:pic>
      <p:sp>
        <p:nvSpPr>
          <p:cNvPr id="16" name="TextBox 15"/>
          <p:cNvSpPr txBox="1"/>
          <p:nvPr/>
        </p:nvSpPr>
        <p:spPr>
          <a:xfrm>
            <a:off x="6455664" y="2501001"/>
            <a:ext cx="5020055" cy="1842398"/>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Gummel outer iteration with Newton inner solves</a:t>
            </a:r>
            <a:endParaRPr sz="1150" b="0" i="0">
              <a:solidFill>
                <a:srgbClr val="2A2A2A"/>
              </a:solidFill>
            </a:endParaRPr>
          </a:p>
          <a:p>
            <a:pPr>
              <a:spcAft>
                <a:spcPts val="300"/>
              </a:spcAft>
            </a:pPr>
            <a:r>
              <a:rPr sz="1150" b="1" i="0">
                <a:solidFill>
                  <a:srgbClr val="8C3333"/>
                </a:solidFill>
              </a:rPr>
              <a:t>▪  </a:t>
            </a:r>
            <a:r>
              <a:rPr sz="1150" b="0" i="0">
                <a:solidFill>
                  <a:srgbClr val="2A2A2A"/>
                </a:solidFill>
              </a:rPr>
              <a:t>Step clamping for difficult bias points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SCAPS uses a Gummel outer iteration with Newton–Raphson sub-solves. SolarLab's primary driver resolves the nonlinear coupling implicitly within each Radau time step; an optional steady-state Newton solver mirrors the SCAPS approach for direct comparison. Both strategies converge to the same fixed point.</a:t>
            </a:r>
            <a:endParaRPr sz="1200" b="0" i="0">
              <a:solidFill>
                <a:srgbClr val="332C1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Poisson Solution and Jacobian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Solution of Poisson's equation and construction of the Newton Jacobian.</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poisson_tri.png"/>
          <p:cNvPicPr>
            <a:picLocks noChangeAspect="1"/>
          </p:cNvPicPr>
          <p:nvPr/>
        </p:nvPicPr>
        <p:blipFill>
          <a:blip r:embed="rId1"/>
          <a:stretch>
            <a:fillRect/>
          </a:stretch>
        </p:blipFill>
        <p:spPr>
          <a:xfrm>
            <a:off x="960119" y="2139696"/>
            <a:ext cx="4526280" cy="340726"/>
          </a:xfrm>
          <a:prstGeom prst="rect">
            <a:avLst/>
          </a:prstGeom>
        </p:spPr>
      </p:pic>
      <p:sp>
        <p:nvSpPr>
          <p:cNvPr id="11" name="TextBox 10"/>
          <p:cNvSpPr txBox="1"/>
          <p:nvPr/>
        </p:nvSpPr>
        <p:spPr>
          <a:xfrm>
            <a:off x="713232" y="2553574"/>
            <a:ext cx="5020055" cy="178982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Decoupled Poisson solve; factorization cached and reused</a:t>
            </a:r>
            <a:endParaRPr sz="1150" b="0" i="0">
              <a:solidFill>
                <a:srgbClr val="2A2A2A"/>
              </a:solidFill>
            </a:endParaRPr>
          </a:p>
          <a:p>
            <a:pPr>
              <a:spcAft>
                <a:spcPts val="300"/>
              </a:spcAft>
            </a:pPr>
            <a:r>
              <a:rPr sz="1150" b="1" i="0">
                <a:solidFill>
                  <a:srgbClr val="1A4E8A"/>
                </a:solidFill>
              </a:rPr>
              <a:t>▪  </a:t>
            </a:r>
            <a:r>
              <a:rPr sz="1150" b="0" i="0">
                <a:solidFill>
                  <a:srgbClr val="2A2A2A"/>
                </a:solidFill>
              </a:rPr>
              <a:t>Jacobian by finite differences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Poisson coupled within the global Newton system</a:t>
            </a:r>
            <a:endParaRPr sz="1150" b="0" i="0">
              <a:solidFill>
                <a:srgbClr val="2A2A2A"/>
              </a:solidFill>
            </a:endParaRPr>
          </a:p>
          <a:p>
            <a:pPr>
              <a:spcAft>
                <a:spcPts val="300"/>
              </a:spcAft>
            </a:pPr>
            <a:r>
              <a:rPr sz="1150" b="1" i="0">
                <a:solidFill>
                  <a:srgbClr val="8C3333"/>
                </a:solidFill>
              </a:rPr>
              <a:t>▪  </a:t>
            </a:r>
            <a:r>
              <a:rPr sz="1150" b="0" i="0">
                <a:solidFill>
                  <a:srgbClr val="2A2A2A"/>
                </a:solidFill>
              </a:rPr>
              <a:t>Analytic Jacobian</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SolarLab solves Poisson's equation as a separate tridiagonal system and caches its factorization, which is efficient given the many right-hand-side evaluations required by the time integrator, but relies on finite-difference sensitivities. SCAPS incorporates Poisson into a single coupled Newton solve with analytic derivatives, reducing the iteration count per bias point. The approaches trade per-step cost against iterations per point.</a:t>
            </a:r>
            <a:endParaRPr sz="1200" b="0" i="0">
              <a:solidFill>
                <a:srgbClr val="332C1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Parasitic Resistances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SCAPS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Treatment of external series and shunt resistance.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sp>
        <p:nvSpPr>
          <p:cNvPr id="10" name="TextBox 9"/>
          <p:cNvSpPr txBox="1"/>
          <p:nvPr/>
        </p:nvSpPr>
        <p:spPr>
          <a:xfrm>
            <a:off x="713232" y="2121408"/>
            <a:ext cx="5020055" cy="222199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Not represented; intrinsic device only</a:t>
            </a:r>
            <a:endParaRPr sz="1150" b="0" i="0">
              <a:solidFill>
                <a:srgbClr val="2A2A2A"/>
              </a:solidFill>
            </a:endParaRPr>
          </a:p>
          <a:p>
            <a:pPr>
              <a:spcAft>
                <a:spcPts val="300"/>
              </a:spcAft>
            </a:pPr>
            <a:r>
              <a:rPr sz="1150" b="1" i="0">
                <a:solidFill>
                  <a:srgbClr val="1A4E8A"/>
                </a:solidFill>
              </a:rPr>
              <a:t>▪  </a:t>
            </a:r>
            <a:r>
              <a:rPr sz="1150" b="0" i="0">
                <a:solidFill>
                  <a:srgbClr val="2A2A2A"/>
                </a:solidFill>
              </a:rPr>
              <a:t>Parasitics may be applied externally</a:t>
            </a:r>
            <a:endParaRPr sz="1150" b="0" i="0">
              <a:solidFill>
                <a:srgbClr val="2A2A2A"/>
              </a:solidFill>
            </a:endParaRPr>
          </a:p>
        </p:txBody>
      </p:sp>
      <p:sp>
        <p:nvSpPr>
          <p:cNvPr id="11" name="Rectangle 10"/>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4" name="Picture 13" descr="rs.png"/>
          <p:cNvPicPr>
            <a:picLocks noChangeAspect="1"/>
          </p:cNvPicPr>
          <p:nvPr/>
        </p:nvPicPr>
        <p:blipFill>
          <a:blip r:embed="rId1"/>
          <a:stretch>
            <a:fillRect/>
          </a:stretch>
        </p:blipFill>
        <p:spPr>
          <a:xfrm>
            <a:off x="6702552" y="2139696"/>
            <a:ext cx="4526280" cy="392892"/>
          </a:xfrm>
          <a:prstGeom prst="rect">
            <a:avLst/>
          </a:prstGeom>
        </p:spPr>
      </p:pic>
      <p:sp>
        <p:nvSpPr>
          <p:cNvPr id="15" name="TextBox 14"/>
          <p:cNvSpPr txBox="1"/>
          <p:nvPr/>
        </p:nvSpPr>
        <p:spPr>
          <a:xfrm>
            <a:off x="6455664" y="2605740"/>
            <a:ext cx="5020055" cy="1737659"/>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Lumped R</a:t>
            </a:r>
            <a:r>
              <a:rPr sz="1150" b="0" i="0" baseline="-25000">
                <a:solidFill>
                  <a:srgbClr val="2A2A2A"/>
                </a:solidFill>
              </a:rPr>
              <a:t>s</a:t>
            </a:r>
            <a:r>
              <a:rPr sz="1150" b="0" i="0">
                <a:solidFill>
                  <a:srgbClr val="2A2A2A"/>
                </a:solidFill>
              </a:rPr>
              <a:t> / G</a:t>
            </a:r>
            <a:r>
              <a:rPr sz="1150" b="0" i="0" baseline="-25000">
                <a:solidFill>
                  <a:srgbClr val="2A2A2A"/>
                </a:solidFill>
              </a:rPr>
              <a:t>sh</a:t>
            </a:r>
            <a:r>
              <a:rPr sz="1150" b="0" i="0">
                <a:solidFill>
                  <a:srgbClr val="2A2A2A"/>
                </a:solidFill>
              </a:rPr>
              <a:t> as a post-processing correction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Maps internal to terminal voltage</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SCAPS provides built-in lumped series and shunt resistance, applied as a post-simulation correction that maps the internal voltage to the terminal voltage. SolarLab simulates the intrinsic semiconductor stack only; equivalent parasitics would be applied externally for comparison with measurement. As the present comparison uses the intrinsic device for both solvers, this difference does not affect the reported results.</a:t>
            </a:r>
            <a:endParaRPr sz="1200" b="0" i="0">
              <a:solidFill>
                <a:srgbClr val="332C1A"/>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Carrier Statistics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relation between quasi-Fermi level and carrier density.</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boltzmann.png"/>
          <p:cNvPicPr>
            <a:picLocks noChangeAspect="1"/>
          </p:cNvPicPr>
          <p:nvPr/>
        </p:nvPicPr>
        <p:blipFill>
          <a:blip r:embed="rId1"/>
          <a:stretch>
            <a:fillRect/>
          </a:stretch>
        </p:blipFill>
        <p:spPr>
          <a:xfrm>
            <a:off x="960119" y="2139696"/>
            <a:ext cx="4526280" cy="633764"/>
          </a:xfrm>
          <a:prstGeom prst="rect">
            <a:avLst/>
          </a:prstGeom>
        </p:spPr>
      </p:pic>
      <p:sp>
        <p:nvSpPr>
          <p:cNvPr id="11" name="TextBox 10"/>
          <p:cNvSpPr txBox="1"/>
          <p:nvPr/>
        </p:nvSpPr>
        <p:spPr>
          <a:xfrm>
            <a:off x="713232" y="2846612"/>
            <a:ext cx="5020055" cy="1496787"/>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Boltzmann statistics throughout</a:t>
            </a:r>
            <a:endParaRPr sz="1150" b="0" i="0">
              <a:solidFill>
                <a:srgbClr val="2A2A2A"/>
              </a:solidFill>
            </a:endParaRPr>
          </a:p>
          <a:p>
            <a:pPr>
              <a:spcAft>
                <a:spcPts val="300"/>
              </a:spcAft>
            </a:pPr>
            <a:r>
              <a:rPr sz="1150" b="1" i="0">
                <a:solidFill>
                  <a:srgbClr val="1A4E8A"/>
                </a:solidFill>
              </a:rPr>
              <a:t>▪  </a:t>
            </a:r>
            <a:r>
              <a:rPr sz="1150" b="0" i="0">
                <a:solidFill>
                  <a:srgbClr val="2A2A2A"/>
                </a:solidFill>
              </a:rPr>
              <a:t>Fermi–Dirac evaluated and not adopted</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fermidirac.png"/>
          <p:cNvPicPr>
            <a:picLocks noChangeAspect="1"/>
          </p:cNvPicPr>
          <p:nvPr/>
        </p:nvPicPr>
        <p:blipFill>
          <a:blip r:embed="rId2"/>
          <a:stretch>
            <a:fillRect/>
          </a:stretch>
        </p:blipFill>
        <p:spPr>
          <a:xfrm>
            <a:off x="6702552" y="2139696"/>
            <a:ext cx="4526280" cy="347874"/>
          </a:xfrm>
          <a:prstGeom prst="rect">
            <a:avLst/>
          </a:prstGeom>
        </p:spPr>
      </p:pic>
      <p:sp>
        <p:nvSpPr>
          <p:cNvPr id="16" name="TextBox 15"/>
          <p:cNvSpPr txBox="1"/>
          <p:nvPr/>
        </p:nvSpPr>
        <p:spPr>
          <a:xfrm>
            <a:off x="6455664" y="2560722"/>
            <a:ext cx="5020055" cy="1782677"/>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Boltzmann statistics by default</a:t>
            </a:r>
            <a:endParaRPr sz="1150" b="0" i="0">
              <a:solidFill>
                <a:srgbClr val="2A2A2A"/>
              </a:solidFill>
            </a:endParaRPr>
          </a:p>
          <a:p>
            <a:pPr>
              <a:spcAft>
                <a:spcPts val="300"/>
              </a:spcAft>
            </a:pPr>
            <a:r>
              <a:rPr sz="1150" b="1" i="0">
                <a:solidFill>
                  <a:srgbClr val="8C3333"/>
                </a:solidFill>
              </a:rPr>
              <a:t>▪  </a:t>
            </a:r>
            <a:r>
              <a:rPr sz="1150" b="0" i="0">
                <a:solidFill>
                  <a:srgbClr val="2A2A2A"/>
                </a:solidFill>
              </a:rPr>
              <a:t>Fermi–Dirac and band-gap narrowing not implemented</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adopt Boltzmann statistics. SCAPS offers an optional Fermi–Dirac treatment for degenerate layers; SolarLab retains Boltzmann statistics, Fermi–Dirac having been evaluated and found to shift the open-circuit voltage by less than 5 mV for this device while diverging from the SCAPS reference. Consistent statistics are a prerequisite for quantitative agreement.</a:t>
            </a:r>
            <a:endParaRPr sz="1200" b="0" i="0">
              <a:solidFill>
                <a:srgbClr val="332C1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Carrier Mobility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Carrier mobility and its dependence on the electric field.</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mu_field.png"/>
          <p:cNvPicPr>
            <a:picLocks noChangeAspect="1"/>
          </p:cNvPicPr>
          <p:nvPr/>
        </p:nvPicPr>
        <p:blipFill>
          <a:blip r:embed="rId1"/>
          <a:stretch>
            <a:fillRect/>
          </a:stretch>
        </p:blipFill>
        <p:spPr>
          <a:xfrm>
            <a:off x="960119" y="2139696"/>
            <a:ext cx="4526280" cy="728932"/>
          </a:xfrm>
          <a:prstGeom prst="rect">
            <a:avLst/>
          </a:prstGeom>
        </p:spPr>
      </p:pic>
      <p:sp>
        <p:nvSpPr>
          <p:cNvPr id="11" name="TextBox 10"/>
          <p:cNvSpPr txBox="1"/>
          <p:nvPr/>
        </p:nvSpPr>
        <p:spPr>
          <a:xfrm>
            <a:off x="713232" y="2941781"/>
            <a:ext cx="5020055" cy="1401618"/>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Constant mobility (Einstein relation), default</a:t>
            </a:r>
            <a:endParaRPr sz="1150" b="0" i="0">
              <a:solidFill>
                <a:srgbClr val="2A2A2A"/>
              </a:solidFill>
            </a:endParaRPr>
          </a:p>
          <a:p>
            <a:pPr>
              <a:spcAft>
                <a:spcPts val="300"/>
              </a:spcAft>
            </a:pPr>
            <a:r>
              <a:rPr sz="1150" b="1" i="0">
                <a:solidFill>
                  <a:srgbClr val="1A4E8A"/>
                </a:solidFill>
              </a:rPr>
              <a:t>▪  </a:t>
            </a:r>
            <a:r>
              <a:rPr sz="1150" b="0" i="0">
                <a:solidFill>
                  <a:srgbClr val="2A2A2A"/>
                </a:solidFill>
              </a:rPr>
              <a:t>Optional field-dependent mobility μ(E)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qfl_current.png"/>
          <p:cNvPicPr>
            <a:picLocks noChangeAspect="1"/>
          </p:cNvPicPr>
          <p:nvPr/>
        </p:nvPicPr>
        <p:blipFill>
          <a:blip r:embed="rId2"/>
          <a:stretch>
            <a:fillRect/>
          </a:stretch>
        </p:blipFill>
        <p:spPr>
          <a:xfrm>
            <a:off x="6702552" y="2139696"/>
            <a:ext cx="4526280" cy="919009"/>
          </a:xfrm>
          <a:prstGeom prst="rect">
            <a:avLst/>
          </a:prstGeom>
        </p:spPr>
      </p:pic>
      <p:sp>
        <p:nvSpPr>
          <p:cNvPr id="16" name="TextBox 15"/>
          <p:cNvSpPr txBox="1"/>
          <p:nvPr/>
        </p:nvSpPr>
        <p:spPr>
          <a:xfrm>
            <a:off x="6455664" y="3131857"/>
            <a:ext cx="5020055" cy="121154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Constant per-layer mobility</a:t>
            </a:r>
            <a:endParaRPr sz="1150" b="0" i="0">
              <a:solidFill>
                <a:srgbClr val="2A2A2A"/>
              </a:solidFill>
            </a:endParaRPr>
          </a:p>
          <a:p>
            <a:pPr>
              <a:spcAft>
                <a:spcPts val="300"/>
              </a:spcAft>
            </a:pPr>
            <a:r>
              <a:rPr sz="1150" b="1" i="0">
                <a:solidFill>
                  <a:srgbClr val="8C3333"/>
                </a:solidFill>
              </a:rPr>
              <a:t>▪  </a:t>
            </a:r>
            <a:r>
              <a:rPr sz="1150" b="0" i="0">
                <a:solidFill>
                  <a:srgbClr val="2A2A2A"/>
                </a:solidFill>
              </a:rPr>
              <a:t>No field-dependent model</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use constant per-layer mobilities in the baseline configuration. SolarLab additionally provides an optional field-dependent mobility (Poole–Frenkel enhancement with velocity saturation) appropriate to disordered transport layers at high field. This option is inactive in the parity configuration and therefore does not contribute to the comparison.</a:t>
            </a:r>
            <a:endParaRPr sz="1200" b="0" i="0">
              <a:solidFill>
                <a:srgbClr val="332C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Bulk Recombination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Bulk carrier-loss mechanisms.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rh.png"/>
          <p:cNvPicPr>
            <a:picLocks noChangeAspect="1"/>
          </p:cNvPicPr>
          <p:nvPr/>
        </p:nvPicPr>
        <p:blipFill>
          <a:blip r:embed="rId1"/>
          <a:stretch>
            <a:fillRect/>
          </a:stretch>
        </p:blipFill>
        <p:spPr>
          <a:xfrm>
            <a:off x="960119" y="2139696"/>
            <a:ext cx="4526280" cy="1342886"/>
          </a:xfrm>
          <a:prstGeom prst="rect">
            <a:avLst/>
          </a:prstGeom>
        </p:spPr>
      </p:pic>
      <p:sp>
        <p:nvSpPr>
          <p:cNvPr id="11" name="TextBox 10"/>
          <p:cNvSpPr txBox="1"/>
          <p:nvPr/>
        </p:nvSpPr>
        <p:spPr>
          <a:xfrm>
            <a:off x="713232" y="3555735"/>
            <a:ext cx="5020055" cy="787664"/>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1A4E8A"/>
                </a:solidFill>
              </a:rPr>
              <a:t>▪  </a:t>
            </a:r>
            <a:r>
              <a:rPr sz="1150" b="0" i="0">
                <a:solidFill>
                  <a:srgbClr val="2A2A2A"/>
                </a:solidFill>
              </a:rPr>
              <a:t>SRH parameterized by lifetime; optional photon recycling</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tau_def.png"/>
          <p:cNvPicPr>
            <a:picLocks noChangeAspect="1"/>
          </p:cNvPicPr>
          <p:nvPr/>
        </p:nvPicPr>
        <p:blipFill>
          <a:blip r:embed="rId2"/>
          <a:stretch>
            <a:fillRect/>
          </a:stretch>
        </p:blipFill>
        <p:spPr>
          <a:xfrm>
            <a:off x="6702552" y="2139696"/>
            <a:ext cx="4526280" cy="828116"/>
          </a:xfrm>
          <a:prstGeom prst="rect">
            <a:avLst/>
          </a:prstGeom>
        </p:spPr>
      </p:pic>
      <p:sp>
        <p:nvSpPr>
          <p:cNvPr id="16" name="TextBox 15"/>
          <p:cNvSpPr txBox="1"/>
          <p:nvPr/>
        </p:nvSpPr>
        <p:spPr>
          <a:xfrm>
            <a:off x="6455664" y="3040964"/>
            <a:ext cx="5020055" cy="1302435"/>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SRH parameterized by cross-section and defect density</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recomb.png"/>
          <p:cNvPicPr>
            <a:picLocks noChangeAspect="1"/>
          </p:cNvPicPr>
          <p:nvPr/>
        </p:nvPicPr>
        <p:blipFill>
          <a:blip r:embed="rId3"/>
          <a:stretch>
            <a:fillRect/>
          </a:stretch>
        </p:blipFill>
        <p:spPr>
          <a:xfrm>
            <a:off x="868680" y="5074920"/>
            <a:ext cx="2521009"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The two solvers implement the same three recombination channels and differ only in the parameterization of the SRH rate—lifetime (SolarLab) versus capture cross-section and defect density (SCAPS), which reduce to the same lifetime. SolarLab additionally supports photon recycling, whereas SCAPS treats radiative emission as a terminal loss.</a:t>
            </a:r>
            <a:endParaRPr sz="1200" b="0" i="0">
              <a:solidFill>
                <a:srgbClr val="332C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Interface Recombination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Recombination at heterointerfaces.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iface_srh.png"/>
          <p:cNvPicPr>
            <a:picLocks noChangeAspect="1"/>
          </p:cNvPicPr>
          <p:nvPr/>
        </p:nvPicPr>
        <p:blipFill>
          <a:blip r:embed="rId1"/>
          <a:stretch>
            <a:fillRect/>
          </a:stretch>
        </p:blipFill>
        <p:spPr>
          <a:xfrm>
            <a:off x="960119" y="2139696"/>
            <a:ext cx="4526280" cy="1311289"/>
          </a:xfrm>
          <a:prstGeom prst="rect">
            <a:avLst/>
          </a:prstGeom>
        </p:spPr>
      </p:pic>
      <p:sp>
        <p:nvSpPr>
          <p:cNvPr id="11" name="TextBox 10"/>
          <p:cNvSpPr txBox="1"/>
          <p:nvPr/>
        </p:nvSpPr>
        <p:spPr>
          <a:xfrm>
            <a:off x="713232" y="3524137"/>
            <a:ext cx="5020055" cy="81926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Surface recombination from near-interface densities</a:t>
            </a:r>
            <a:endParaRPr sz="1150" b="0" i="0">
              <a:solidFill>
                <a:srgbClr val="2A2A2A"/>
              </a:solidFill>
            </a:endParaRPr>
          </a:p>
          <a:p>
            <a:pPr>
              <a:spcAft>
                <a:spcPts val="300"/>
              </a:spcAft>
            </a:pPr>
            <a:r>
              <a:rPr sz="1150" b="1" i="0">
                <a:solidFill>
                  <a:srgbClr val="1A4E8A"/>
                </a:solidFill>
              </a:rPr>
              <a:t>▪  </a:t>
            </a:r>
            <a:r>
              <a:rPr sz="1150" b="0" i="0">
                <a:solidFill>
                  <a:srgbClr val="2A2A2A"/>
                </a:solidFill>
              </a:rPr>
              <a:t>Hierarchy up to interface-plane carrier states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iface_srh.png"/>
          <p:cNvPicPr>
            <a:picLocks noChangeAspect="1"/>
          </p:cNvPicPr>
          <p:nvPr/>
        </p:nvPicPr>
        <p:blipFill>
          <a:blip r:embed="rId1"/>
          <a:stretch>
            <a:fillRect/>
          </a:stretch>
        </p:blipFill>
        <p:spPr>
          <a:xfrm>
            <a:off x="6702552" y="2139696"/>
            <a:ext cx="4526280" cy="1311289"/>
          </a:xfrm>
          <a:prstGeom prst="rect">
            <a:avLst/>
          </a:prstGeom>
        </p:spPr>
      </p:pic>
      <p:sp>
        <p:nvSpPr>
          <p:cNvPr id="16" name="TextBox 15"/>
          <p:cNvSpPr txBox="1"/>
          <p:nvPr/>
        </p:nvSpPr>
        <p:spPr>
          <a:xfrm>
            <a:off x="6455664" y="3524137"/>
            <a:ext cx="5020055" cy="81926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Single-plane Pauwels–Vanhoutte model</a:t>
            </a:r>
            <a:endParaRPr sz="1150" b="0" i="0">
              <a:solidFill>
                <a:srgbClr val="2A2A2A"/>
              </a:solidFill>
            </a:endParaRPr>
          </a:p>
          <a:p>
            <a:pPr>
              <a:spcAft>
                <a:spcPts val="300"/>
              </a:spcAft>
            </a:pPr>
            <a:r>
              <a:rPr sz="1150" b="1" i="0">
                <a:solidFill>
                  <a:srgbClr val="8C3333"/>
                </a:solidFill>
              </a:rPr>
              <a:t>▪  </a:t>
            </a:r>
            <a:r>
              <a:rPr sz="1150" b="0" i="0">
                <a:solidFill>
                  <a:srgbClr val="2A2A2A"/>
                </a:solidFill>
              </a:rPr>
              <a:t>Evaluated on interface-plane densities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iface_recomb.png"/>
          <p:cNvPicPr>
            <a:picLocks noChangeAspect="1"/>
          </p:cNvPicPr>
          <p:nvPr/>
        </p:nvPicPr>
        <p:blipFill>
          <a:blip r:embed="rId2"/>
          <a:stretch>
            <a:fillRect/>
          </a:stretch>
        </p:blipFill>
        <p:spPr>
          <a:xfrm>
            <a:off x="868680" y="5074920"/>
            <a:ext cx="2521009"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Interface recombination is the principal source of residual discrepancy. SCAPS evaluates the rate on the carrier densities at the interface plane, which are suppressed by band bending and accumulate under bias. SolarLab's default samples the adjacent interior nodes; a hierarchy of formulations, including thermionic-emission-coupled interface-plane states, was developed to reproduce the SCAPS treatment. Quantitative closure of this axis remains an open item.</a:t>
            </a:r>
            <a:endParaRPr sz="1200" b="0" i="0">
              <a:solidFill>
                <a:srgbClr val="332C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Thermionic Emission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Carrier transport across a band-edge discontinuity.</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e.png"/>
          <p:cNvPicPr>
            <a:picLocks noChangeAspect="1"/>
          </p:cNvPicPr>
          <p:nvPr/>
        </p:nvPicPr>
        <p:blipFill>
          <a:blip r:embed="rId1"/>
          <a:stretch>
            <a:fillRect/>
          </a:stretch>
        </p:blipFill>
        <p:spPr>
          <a:xfrm>
            <a:off x="960119" y="2139696"/>
            <a:ext cx="4526280" cy="847550"/>
          </a:xfrm>
          <a:prstGeom prst="rect">
            <a:avLst/>
          </a:prstGeom>
        </p:spPr>
      </p:pic>
      <p:sp>
        <p:nvSpPr>
          <p:cNvPr id="11" name="TextBox 10"/>
          <p:cNvSpPr txBox="1"/>
          <p:nvPr/>
        </p:nvSpPr>
        <p:spPr>
          <a:xfrm>
            <a:off x="713232" y="3060398"/>
            <a:ext cx="5020055" cy="1283001"/>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Thermionic-emission cap on the SG current</a:t>
            </a:r>
            <a:endParaRPr sz="1150" b="0" i="0">
              <a:solidFill>
                <a:srgbClr val="2A2A2A"/>
              </a:solidFill>
            </a:endParaRPr>
          </a:p>
          <a:p>
            <a:pPr>
              <a:spcAft>
                <a:spcPts val="300"/>
              </a:spcAft>
            </a:pPr>
            <a:r>
              <a:rPr sz="1150" b="1" i="0">
                <a:solidFill>
                  <a:srgbClr val="1A4E8A"/>
                </a:solidFill>
              </a:rPr>
              <a:t>▪  </a:t>
            </a:r>
            <a:r>
              <a:rPr sz="1150" b="0" i="0">
                <a:solidFill>
                  <a:srgbClr val="2A2A2A"/>
                </a:solidFill>
              </a:rPr>
              <a:t>Active for offsets exceeding 0.05 eV</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te.png"/>
          <p:cNvPicPr>
            <a:picLocks noChangeAspect="1"/>
          </p:cNvPicPr>
          <p:nvPr/>
        </p:nvPicPr>
        <p:blipFill>
          <a:blip r:embed="rId1"/>
          <a:stretch>
            <a:fillRect/>
          </a:stretch>
        </p:blipFill>
        <p:spPr>
          <a:xfrm>
            <a:off x="6702552" y="2139696"/>
            <a:ext cx="4526280" cy="847550"/>
          </a:xfrm>
          <a:prstGeom prst="rect">
            <a:avLst/>
          </a:prstGeom>
        </p:spPr>
      </p:pic>
      <p:sp>
        <p:nvSpPr>
          <p:cNvPr id="16" name="TextBox 15"/>
          <p:cNvSpPr txBox="1"/>
          <p:nvPr/>
        </p:nvSpPr>
        <p:spPr>
          <a:xfrm>
            <a:off x="6455664" y="3060398"/>
            <a:ext cx="5020055" cy="1283001"/>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Thermionic emission as the interface boundary condition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Finite quasi-Fermi step at all offsets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te_step.png"/>
          <p:cNvPicPr>
            <a:picLocks noChangeAspect="1"/>
          </p:cNvPicPr>
          <p:nvPr/>
        </p:nvPicPr>
        <p:blipFill>
          <a:blip r:embed="rId2"/>
          <a:stretch>
            <a:fillRect/>
          </a:stretch>
        </p:blipFill>
        <p:spPr>
          <a:xfrm>
            <a:off x="868680" y="5074920"/>
            <a:ext cx="2524942"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At a band-edge discontinuity SolarLab limits the Scharfetter–Gummel current to the Richardson–Dushman thermionic value, activated above a 0.05 eV offset. SCAPS imposes thermionic emission as the interface boundary condition, retaining a small quasi-Fermi-level step even at zero offset. The formulations diverge at large conduction-band spikes, for example at the onset of the short-circuit-current reduction near a +0.5 eV ETL offset.</a:t>
            </a:r>
            <a:endParaRPr sz="1200" b="0" i="0">
              <a:solidFill>
                <a:srgbClr val="332C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Band Offsets and Effective Density of States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Heterojunction band alignment and the density-of-states contribution to the band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dos_fold.png"/>
          <p:cNvPicPr>
            <a:picLocks noChangeAspect="1"/>
          </p:cNvPicPr>
          <p:nvPr/>
        </p:nvPicPr>
        <p:blipFill>
          <a:blip r:embed="rId1"/>
          <a:stretch>
            <a:fillRect/>
          </a:stretch>
        </p:blipFill>
        <p:spPr>
          <a:xfrm>
            <a:off x="960119" y="2139696"/>
            <a:ext cx="4526280" cy="401401"/>
          </a:xfrm>
          <a:prstGeom prst="rect">
            <a:avLst/>
          </a:prstGeom>
        </p:spPr>
      </p:pic>
      <p:sp>
        <p:nvSpPr>
          <p:cNvPr id="11" name="TextBox 10"/>
          <p:cNvSpPr txBox="1"/>
          <p:nvPr/>
        </p:nvSpPr>
        <p:spPr>
          <a:xfrm>
            <a:off x="713232" y="2614249"/>
            <a:ext cx="5020055" cy="1729150"/>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Band edges from χ, E</a:t>
            </a:r>
            <a:r>
              <a:rPr sz="1150" b="0" i="0" baseline="-25000">
                <a:solidFill>
                  <a:srgbClr val="2A2A2A"/>
                </a:solidFill>
              </a:rPr>
              <a:t>g</a:t>
            </a:r>
            <a:r>
              <a:rPr sz="1150" b="0" i="0">
                <a:solidFill>
                  <a:srgbClr val="2A2A2A"/>
                </a:solidFill>
              </a:rPr>
              <a:t>; effective-DOS term included</a:t>
            </a:r>
            <a:endParaRPr sz="1150" b="0" i="0">
              <a:solidFill>
                <a:srgbClr val="2A2A2A"/>
              </a:solidFill>
            </a:endParaRPr>
          </a:p>
          <a:p>
            <a:pPr>
              <a:spcAft>
                <a:spcPts val="300"/>
              </a:spcAft>
            </a:pPr>
            <a:r>
              <a:rPr sz="1150" b="1" i="0">
                <a:solidFill>
                  <a:srgbClr val="1A4E8A"/>
                </a:solidFill>
              </a:rPr>
              <a:t>▪  </a:t>
            </a:r>
            <a:r>
              <a:rPr sz="1150" b="0" i="0">
                <a:solidFill>
                  <a:srgbClr val="2A2A2A"/>
                </a:solidFill>
              </a:rPr>
              <a:t>Term restored as the default</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offsets.png"/>
          <p:cNvPicPr>
            <a:picLocks noChangeAspect="1"/>
          </p:cNvPicPr>
          <p:nvPr/>
        </p:nvPicPr>
        <p:blipFill>
          <a:blip r:embed="rId2"/>
          <a:stretch>
            <a:fillRect/>
          </a:stretch>
        </p:blipFill>
        <p:spPr>
          <a:xfrm>
            <a:off x="6702552" y="2139696"/>
            <a:ext cx="4526280" cy="552714"/>
          </a:xfrm>
          <a:prstGeom prst="rect">
            <a:avLst/>
          </a:prstGeom>
        </p:spPr>
      </p:pic>
      <p:sp>
        <p:nvSpPr>
          <p:cNvPr id="16" name="TextBox 15"/>
          <p:cNvSpPr txBox="1"/>
          <p:nvPr/>
        </p:nvSpPr>
        <p:spPr>
          <a:xfrm>
            <a:off x="6455664" y="2765562"/>
            <a:ext cx="5020055" cy="1577837"/>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χ, E</a:t>
            </a:r>
            <a:r>
              <a:rPr sz="1150" b="0" i="0" baseline="-25000">
                <a:solidFill>
                  <a:srgbClr val="2A2A2A"/>
                </a:solidFill>
              </a:rPr>
              <a:t>g</a:t>
            </a:r>
            <a:r>
              <a:rPr sz="1150" b="0" i="0">
                <a:solidFill>
                  <a:srgbClr val="2A2A2A"/>
                </a:solidFill>
              </a:rPr>
              <a:t>, N</a:t>
            </a:r>
            <a:r>
              <a:rPr sz="1150" b="0" i="0" baseline="-25000">
                <a:solidFill>
                  <a:srgbClr val="2A2A2A"/>
                </a:solidFill>
              </a:rPr>
              <a:t>C</a:t>
            </a:r>
            <a:r>
              <a:rPr sz="1150" b="0" i="0">
                <a:solidFill>
                  <a:srgbClr val="2A2A2A"/>
                </a:solidFill>
              </a:rPr>
              <a:t>, N</a:t>
            </a:r>
            <a:r>
              <a:rPr sz="1150" b="0" i="0" baseline="-25000">
                <a:solidFill>
                  <a:srgbClr val="2A2A2A"/>
                </a:solidFill>
              </a:rPr>
              <a:t>V</a:t>
            </a:r>
            <a:r>
              <a:rPr sz="1150" b="0" i="0">
                <a:solidFill>
                  <a:srgbClr val="2A2A2A"/>
                </a:solidFill>
              </a:rPr>
              <a:t> applied directly</a:t>
            </a:r>
            <a:endParaRPr sz="1150" b="0" i="0">
              <a:solidFill>
                <a:srgbClr val="2A2A2A"/>
              </a:solidFill>
            </a:endParaRPr>
          </a:p>
          <a:p>
            <a:pPr>
              <a:spcAft>
                <a:spcPts val="300"/>
              </a:spcAft>
            </a:pPr>
            <a:r>
              <a:rPr sz="1150" b="1" i="0">
                <a:solidFill>
                  <a:srgbClr val="8C3333"/>
                </a:solidFill>
              </a:rPr>
              <a:t>▪  </a:t>
            </a:r>
            <a:r>
              <a:rPr sz="1150" b="0" i="0">
                <a:solidFill>
                  <a:srgbClr val="2A2A2A"/>
                </a:solidFill>
              </a:rPr>
              <a:t>Effective-DOS term inherent</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band_diagram.png"/>
          <p:cNvPicPr>
            <a:picLocks noChangeAspect="1"/>
          </p:cNvPicPr>
          <p:nvPr/>
        </p:nvPicPr>
        <p:blipFill>
          <a:blip r:embed="rId3"/>
          <a:stretch>
            <a:fillRect/>
          </a:stretch>
        </p:blipFill>
        <p:spPr>
          <a:xfrm>
            <a:off x="868680" y="5074920"/>
            <a:ext cx="2700338"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Both construct heterojunctions from the electron affinity and band gap. Under Boltzmann statistics the band potential carries an effective-density-of-states term (V</a:t>
            </a:r>
            <a:r>
              <a:rPr sz="1200" b="0" i="0" baseline="-25000">
                <a:solidFill>
                  <a:srgbClr val="332C1A"/>
                </a:solidFill>
              </a:rPr>
              <a:t>T</a:t>
            </a:r>
            <a:r>
              <a:rPr sz="1200" b="0" i="0">
                <a:solidFill>
                  <a:srgbClr val="332C1A"/>
                </a:solidFill>
              </a:rPr>
              <a:t> ln N</a:t>
            </a:r>
            <a:r>
              <a:rPr sz="1200" b="0" i="0" baseline="-25000">
                <a:solidFill>
                  <a:srgbClr val="332C1A"/>
                </a:solidFill>
              </a:rPr>
              <a:t>C</a:t>
            </a:r>
            <a:r>
              <a:rPr sz="1200" b="0" i="0">
                <a:solidFill>
                  <a:srgbClr val="332C1A"/>
                </a:solidFill>
              </a:rPr>
              <a:t>) at each junction. SCAPS incorporates this term implicitly; its omission in the original SolarLab formulation introduced a spurious 137 mV quasi-Fermi-level step that accounted for the open-circuit-voltage discrepancy. Restoring the term, now the default, removed the discrepancy.</a:t>
            </a:r>
            <a:endParaRPr sz="1200" b="0" i="0">
              <a:solidFill>
                <a:srgbClr val="332C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Optical Generation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Computation of the optical generation profile.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mm.png"/>
          <p:cNvPicPr>
            <a:picLocks noChangeAspect="1"/>
          </p:cNvPicPr>
          <p:nvPr/>
        </p:nvPicPr>
        <p:blipFill>
          <a:blip r:embed="rId1"/>
          <a:stretch>
            <a:fillRect/>
          </a:stretch>
        </p:blipFill>
        <p:spPr>
          <a:xfrm>
            <a:off x="960119" y="2139696"/>
            <a:ext cx="4526280" cy="447787"/>
          </a:xfrm>
          <a:prstGeom prst="rect">
            <a:avLst/>
          </a:prstGeom>
        </p:spPr>
      </p:pic>
      <p:sp>
        <p:nvSpPr>
          <p:cNvPr id="11" name="TextBox 10"/>
          <p:cNvSpPr txBox="1"/>
          <p:nvPr/>
        </p:nvSpPr>
        <p:spPr>
          <a:xfrm>
            <a:off x="713232" y="2660635"/>
            <a:ext cx="5020055" cy="1682764"/>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Coherent transfer-matrix optics (R+T+A=1)</a:t>
            </a:r>
            <a:endParaRPr sz="1150" b="0" i="0">
              <a:solidFill>
                <a:srgbClr val="2A2A2A"/>
              </a:solidFill>
            </a:endParaRPr>
          </a:p>
          <a:p>
            <a:pPr>
              <a:spcAft>
                <a:spcPts val="300"/>
              </a:spcAft>
            </a:pPr>
            <a:r>
              <a:rPr sz="1150" b="1" i="0">
                <a:solidFill>
                  <a:srgbClr val="1A4E8A"/>
                </a:solidFill>
              </a:rPr>
              <a:t>▪  </a:t>
            </a:r>
            <a:r>
              <a:rPr sz="1150" b="0" i="0">
                <a:solidFill>
                  <a:srgbClr val="2A2A2A"/>
                </a:solidFill>
              </a:rPr>
              <a:t>Includes front-surface reflection</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beer.png"/>
          <p:cNvPicPr>
            <a:picLocks noChangeAspect="1"/>
          </p:cNvPicPr>
          <p:nvPr/>
        </p:nvPicPr>
        <p:blipFill>
          <a:blip r:embed="rId2"/>
          <a:stretch>
            <a:fillRect/>
          </a:stretch>
        </p:blipFill>
        <p:spPr>
          <a:xfrm>
            <a:off x="6702552" y="2139696"/>
            <a:ext cx="4526280" cy="586558"/>
          </a:xfrm>
          <a:prstGeom prst="rect">
            <a:avLst/>
          </a:prstGeom>
        </p:spPr>
      </p:pic>
      <p:sp>
        <p:nvSpPr>
          <p:cNvPr id="16" name="TextBox 15"/>
          <p:cNvSpPr txBox="1"/>
          <p:nvPr/>
        </p:nvSpPr>
        <p:spPr>
          <a:xfrm>
            <a:off x="6455664" y="2799406"/>
            <a:ext cx="5020055" cy="154399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Beer–Lambert absorption; reflectionless front (R=0)</a:t>
            </a:r>
            <a:endParaRPr sz="1150" b="0" i="0">
              <a:solidFill>
                <a:srgbClr val="2A2A2A"/>
              </a:solidFill>
            </a:endParaRPr>
          </a:p>
          <a:p>
            <a:pPr>
              <a:spcAft>
                <a:spcPts val="300"/>
              </a:spcAft>
            </a:pPr>
            <a:r>
              <a:rPr sz="1150" b="1" i="0">
                <a:solidFill>
                  <a:srgbClr val="8C3333"/>
                </a:solidFill>
              </a:rPr>
              <a:t>▪  </a:t>
            </a:r>
            <a:r>
              <a:rPr sz="1150" b="0" i="0">
                <a:solidFill>
                  <a:srgbClr val="2A2A2A"/>
                </a:solidFill>
              </a:rPr>
              <a:t>External generation profile optional</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tmm_optics.png"/>
          <p:cNvPicPr>
            <a:picLocks noChangeAspect="1"/>
          </p:cNvPicPr>
          <p:nvPr/>
        </p:nvPicPr>
        <p:blipFill>
          <a:blip r:embed="rId3"/>
          <a:stretch>
            <a:fillRect/>
          </a:stretch>
        </p:blipFill>
        <p:spPr>
          <a:xfrm>
            <a:off x="868680" y="5074920"/>
            <a:ext cx="2524942"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SolarLab computes the generation profile with a coherent transfer-matrix method that accounts for front-surface reflection and thin-film interference under energy conservation. SCAPS adopts Beer–Lambert absorption with an idealized reflectionless front by default. The resulting 2–3% higher SCAPS short-circuit current corresponds to the observed J</a:t>
            </a:r>
            <a:r>
              <a:rPr sz="1200" b="0" i="0" baseline="-25000">
                <a:solidFill>
                  <a:srgbClr val="332C1A"/>
                </a:solidFill>
              </a:rPr>
              <a:t>sc</a:t>
            </a:r>
            <a:r>
              <a:rPr sz="1200" b="0" i="0">
                <a:solidFill>
                  <a:srgbClr val="332C1A"/>
                </a:solidFill>
              </a:rPr>
              <a:t> residual, the SolarLab optical model being the more physically complete.</a:t>
            </a:r>
            <a:endParaRPr sz="1200" b="0" i="0">
              <a:solidFill>
                <a:srgbClr val="332C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Contact Boundary Conditions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Boundary conditions imposed at the electrodes.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robin.png"/>
          <p:cNvPicPr>
            <a:picLocks noChangeAspect="1"/>
          </p:cNvPicPr>
          <p:nvPr/>
        </p:nvPicPr>
        <p:blipFill>
          <a:blip r:embed="rId1"/>
          <a:stretch>
            <a:fillRect/>
          </a:stretch>
        </p:blipFill>
        <p:spPr>
          <a:xfrm>
            <a:off x="960119" y="2139696"/>
            <a:ext cx="4526280" cy="445062"/>
          </a:xfrm>
          <a:prstGeom prst="rect">
            <a:avLst/>
          </a:prstGeom>
        </p:spPr>
      </p:pic>
      <p:sp>
        <p:nvSpPr>
          <p:cNvPr id="11" name="TextBox 10"/>
          <p:cNvSpPr txBox="1"/>
          <p:nvPr/>
        </p:nvSpPr>
        <p:spPr>
          <a:xfrm>
            <a:off x="713232" y="2657909"/>
            <a:ext cx="5020055" cy="1685490"/>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Ideal-ohmic contacts (IonMonger convention), default</a:t>
            </a:r>
            <a:endParaRPr sz="1150" b="0" i="0">
              <a:solidFill>
                <a:srgbClr val="2A2A2A"/>
              </a:solidFill>
            </a:endParaRPr>
          </a:p>
          <a:p>
            <a:pPr>
              <a:spcAft>
                <a:spcPts val="300"/>
              </a:spcAft>
            </a:pPr>
            <a:r>
              <a:rPr sz="1150" b="1" i="0">
                <a:solidFill>
                  <a:srgbClr val="1A4E8A"/>
                </a:solidFill>
              </a:rPr>
              <a:t>▪  </a:t>
            </a:r>
            <a:r>
              <a:rPr sz="1150" b="0" i="0">
                <a:solidFill>
                  <a:srgbClr val="2A2A2A"/>
                </a:solidFill>
              </a:rPr>
              <a:t>Selective and flat-band-metal options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Flat-band-metal electrodes (work function Φ</a:t>
            </a:r>
            <a:r>
              <a:rPr sz="1150" b="0" i="0" baseline="-25000">
                <a:solidFill>
                  <a:srgbClr val="2A2A2A"/>
                </a:solidFill>
              </a:rPr>
              <a:t>m</a:t>
            </a:r>
            <a:r>
              <a:rPr sz="1150" b="0" i="0">
                <a:solidFill>
                  <a:srgbClr val="2A2A2A"/>
                </a:solidFill>
              </a:rPr>
              <a:t>)</a:t>
            </a:r>
            <a:endParaRPr sz="1150" b="0" i="0">
              <a:solidFill>
                <a:srgbClr val="2A2A2A"/>
              </a:solidFill>
            </a:endParaRPr>
          </a:p>
          <a:p>
            <a:pPr>
              <a:spcAft>
                <a:spcPts val="300"/>
              </a:spcAft>
            </a:pPr>
            <a:r>
              <a:rPr sz="1150" b="1" i="0">
                <a:solidFill>
                  <a:srgbClr val="8C3333"/>
                </a:solidFill>
              </a:rPr>
              <a:t>▪  </a:t>
            </a:r>
            <a:r>
              <a:rPr sz="1150" b="0" i="0">
                <a:solidFill>
                  <a:srgbClr val="2A2A2A"/>
                </a:solidFill>
              </a:rPr>
              <a:t>Finite surface recombination velocities</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SolarLab applies ideal-ohmic Dirichlet contacts by default, following the IonMonger convention. SCAPS models flat-band-metal electrodes characterized by a work function and finite surface recombination velocities. SolarLab provides a flat-band-contacts mode that reproduces the SCAPS convention, so the difference is one of configuration.</a:t>
            </a:r>
            <a:endParaRPr sz="1200" b="0" i="0">
              <a:solidFill>
                <a:srgbClr val="332C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Built-in Potential</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equilibrium built-in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vbi.png"/>
          <p:cNvPicPr>
            <a:picLocks noChangeAspect="1"/>
          </p:cNvPicPr>
          <p:nvPr/>
        </p:nvPicPr>
        <p:blipFill>
          <a:blip r:embed="rId1"/>
          <a:stretch>
            <a:fillRect/>
          </a:stretch>
        </p:blipFill>
        <p:spPr>
          <a:xfrm>
            <a:off x="960119" y="2139696"/>
            <a:ext cx="4526280" cy="1176688"/>
          </a:xfrm>
          <a:prstGeom prst="rect">
            <a:avLst/>
          </a:prstGeom>
        </p:spPr>
      </p:pic>
      <p:sp>
        <p:nvSpPr>
          <p:cNvPr id="11" name="TextBox 10"/>
          <p:cNvSpPr txBox="1"/>
          <p:nvPr/>
        </p:nvSpPr>
        <p:spPr>
          <a:xfrm>
            <a:off x="713232" y="3389536"/>
            <a:ext cx="5020055" cy="953863"/>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From the Fermi-level difference across the stack</a:t>
            </a:r>
            <a:endParaRPr sz="1150" b="0" i="0">
              <a:solidFill>
                <a:srgbClr val="2A2A2A"/>
              </a:solidFill>
            </a:endParaRPr>
          </a:p>
          <a:p>
            <a:pPr>
              <a:spcAft>
                <a:spcPts val="300"/>
              </a:spcAft>
            </a:pPr>
            <a:r>
              <a:rPr sz="1150" b="1" i="0">
                <a:solidFill>
                  <a:srgbClr val="1A4E8A"/>
                </a:solidFill>
              </a:rPr>
              <a:t>▪  </a:t>
            </a:r>
            <a:r>
              <a:rPr sz="1150" b="0" i="0">
                <a:solidFill>
                  <a:srgbClr val="2A2A2A"/>
                </a:solidFill>
              </a:rPr>
              <a:t>Equals the work-function difference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vbi.png"/>
          <p:cNvPicPr>
            <a:picLocks noChangeAspect="1"/>
          </p:cNvPicPr>
          <p:nvPr/>
        </p:nvPicPr>
        <p:blipFill>
          <a:blip r:embed="rId1"/>
          <a:stretch>
            <a:fillRect/>
          </a:stretch>
        </p:blipFill>
        <p:spPr>
          <a:xfrm>
            <a:off x="6702552" y="2139696"/>
            <a:ext cx="4526280" cy="1176688"/>
          </a:xfrm>
          <a:prstGeom prst="rect">
            <a:avLst/>
          </a:prstGeom>
        </p:spPr>
      </p:pic>
      <p:sp>
        <p:nvSpPr>
          <p:cNvPr id="16" name="TextBox 15"/>
          <p:cNvSpPr txBox="1"/>
          <p:nvPr/>
        </p:nvSpPr>
        <p:spPr>
          <a:xfrm>
            <a:off x="6455664" y="3389536"/>
            <a:ext cx="5020055" cy="95386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From the contact work-function difference</a:t>
            </a:r>
            <a:endParaRPr sz="1150" b="0" i="0">
              <a:solidFill>
                <a:srgbClr val="2A2A2A"/>
              </a:solidFill>
            </a:endParaRPr>
          </a:p>
          <a:p>
            <a:pPr>
              <a:spcAft>
                <a:spcPts val="300"/>
              </a:spcAft>
            </a:pPr>
            <a:r>
              <a:rPr sz="1150" b="1" i="0">
                <a:solidFill>
                  <a:srgbClr val="8C3333"/>
                </a:solidFill>
              </a:rPr>
              <a:t>▪  </a:t>
            </a:r>
            <a:r>
              <a:rPr sz="1150" b="0" i="0">
                <a:solidFill>
                  <a:srgbClr val="2A2A2A"/>
                </a:solidFill>
              </a:rPr>
              <a:t>Self-consistent with bands and doping</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derive the built-in potential from the contact work-function difference and obtain the same value (1.294 V for this device). An earlier hypothesis attributing the voltage discrepancy to the built-in potential was not supported: the two solvers agree on this quantity, and the discrepancy was traced to the density-of-states term.</a:t>
            </a:r>
            <a:endParaRPr sz="1200" b="0" i="0">
              <a:solidFill>
                <a:srgbClr val="332C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Mobile 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SolarLab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Migration of ionic species in the perovskite absorber.</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ion_flux.png"/>
          <p:cNvPicPr>
            <a:picLocks noChangeAspect="1"/>
          </p:cNvPicPr>
          <p:nvPr/>
        </p:nvPicPr>
        <p:blipFill>
          <a:blip r:embed="rId1"/>
          <a:stretch>
            <a:fillRect/>
          </a:stretch>
        </p:blipFill>
        <p:spPr>
          <a:xfrm>
            <a:off x="960119" y="2139696"/>
            <a:ext cx="4526280" cy="808474"/>
          </a:xfrm>
          <a:prstGeom prst="rect">
            <a:avLst/>
          </a:prstGeom>
        </p:spPr>
      </p:pic>
      <p:sp>
        <p:nvSpPr>
          <p:cNvPr id="11" name="TextBox 10"/>
          <p:cNvSpPr txBox="1"/>
          <p:nvPr/>
        </p:nvSpPr>
        <p:spPr>
          <a:xfrm>
            <a:off x="713232" y="3021323"/>
            <a:ext cx="5020055" cy="1322076"/>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Mobile ions as drift-diffusion species</a:t>
            </a:r>
            <a:endParaRPr sz="1150" b="0" i="0">
              <a:solidFill>
                <a:srgbClr val="2A2A2A"/>
              </a:solidFill>
            </a:endParaRPr>
          </a:p>
          <a:p>
            <a:pPr>
              <a:spcAft>
                <a:spcPts val="300"/>
              </a:spcAft>
            </a:pPr>
            <a:r>
              <a:rPr sz="1150" b="1" i="0">
                <a:solidFill>
                  <a:srgbClr val="1A4E8A"/>
                </a:solidFill>
              </a:rPr>
              <a:t>▪  </a:t>
            </a:r>
            <a:r>
              <a:rPr sz="1150" b="0" i="0">
                <a:solidFill>
                  <a:srgbClr val="2A2A2A"/>
                </a:solidFill>
              </a:rPr>
              <a:t>Ionic charge coupled to Poisson; yields hysteresis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No mobile-ion model</a:t>
            </a:r>
            <a:endParaRPr sz="1150" b="0" i="0">
              <a:solidFill>
                <a:srgbClr val="2A2A2A"/>
              </a:solidFill>
            </a:endParaRPr>
          </a:p>
          <a:p>
            <a:pPr>
              <a:spcAft>
                <a:spcPts val="300"/>
              </a:spcAft>
            </a:pPr>
            <a:r>
              <a:rPr sz="1150" b="1" i="0">
                <a:solidFill>
                  <a:srgbClr val="8C3333"/>
                </a:solidFill>
              </a:rPr>
              <a:t>▪  </a:t>
            </a:r>
            <a:r>
              <a:rPr sz="1150" b="0" i="0">
                <a:solidFill>
                  <a:srgbClr val="2A2A2A"/>
                </a:solidFill>
              </a:rPr>
              <a:t>Fixed ionized dopants and defects only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19" name="Picture 18" descr="ion_hysteresis.png"/>
          <p:cNvPicPr>
            <a:picLocks noChangeAspect="1"/>
          </p:cNvPicPr>
          <p:nvPr/>
        </p:nvPicPr>
        <p:blipFill>
          <a:blip r:embed="rId2"/>
          <a:stretch>
            <a:fillRect/>
          </a:stretch>
        </p:blipFill>
        <p:spPr>
          <a:xfrm>
            <a:off x="868680" y="5074920"/>
            <a:ext cx="2255330" cy="1371600"/>
          </a:xfrm>
          <a:prstGeom prst="rect">
            <a:avLst/>
          </a:prstGeom>
        </p:spPr>
      </p:pic>
      <p:sp>
        <p:nvSpPr>
          <p:cNvPr id="20" name="TextBox 19"/>
          <p:cNvSpPr txBox="1"/>
          <p:nvPr/>
        </p:nvSpPr>
        <p:spPr>
          <a:xfrm>
            <a:off x="3977639" y="4919472"/>
            <a:ext cx="7498079" cy="1645920"/>
          </a:xfrm>
          <a:prstGeom prst="rect">
            <a:avLst/>
          </a:prstGeom>
          <a:noFill/>
        </p:spPr>
        <p:txBody>
          <a:bodyPr wrap="square">
            <a:spAutoFit/>
          </a:bodyPr>
          <a:lstStyle/>
          <a:p>
            <a:r>
              <a:rPr sz="1200" b="0" i="0">
                <a:solidFill>
                  <a:srgbClr val="332C1A"/>
                </a:solidFill>
              </a:rPr>
              <a:t>Mobile ionic defects in the perovskite absorber migrate under bias and govern the scan-rate and scan-direction dependence of the J–V characteristic. SolarLab represents these as drift-diffusion species whose charge enters Poisson's equation, so hysteresis follows from the transport model. SCAPS is a purely electronic steady-state solver and does not represent ion migration. The capability is immaterial to static comparison but essential to dynamic perovskite behaviour.</a:t>
            </a:r>
            <a:endParaRPr sz="1200" b="0" i="0">
              <a:solidFill>
                <a:srgbClr val="332C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Defect Representation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Representation of defect states.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au_def.png"/>
          <p:cNvPicPr>
            <a:picLocks noChangeAspect="1"/>
          </p:cNvPicPr>
          <p:nvPr/>
        </p:nvPicPr>
        <p:blipFill>
          <a:blip r:embed="rId1"/>
          <a:stretch>
            <a:fillRect/>
          </a:stretch>
        </p:blipFill>
        <p:spPr>
          <a:xfrm>
            <a:off x="960119" y="2139696"/>
            <a:ext cx="4526280" cy="828116"/>
          </a:xfrm>
          <a:prstGeom prst="rect">
            <a:avLst/>
          </a:prstGeom>
        </p:spPr>
      </p:pic>
      <p:sp>
        <p:nvSpPr>
          <p:cNvPr id="11" name="TextBox 10"/>
          <p:cNvSpPr txBox="1"/>
          <p:nvPr/>
        </p:nvSpPr>
        <p:spPr>
          <a:xfrm>
            <a:off x="713232" y="3040964"/>
            <a:ext cx="5020055" cy="130243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Bulk SRH via lifetime; optional depth profiles</a:t>
            </a:r>
            <a:endParaRPr sz="1150" b="0" i="0">
              <a:solidFill>
                <a:srgbClr val="2A2A2A"/>
              </a:solidFill>
            </a:endParaRPr>
          </a:p>
          <a:p>
            <a:pPr>
              <a:spcAft>
                <a:spcPts val="300"/>
              </a:spcAft>
            </a:pPr>
            <a:r>
              <a:rPr sz="1150" b="1" i="0">
                <a:solidFill>
                  <a:srgbClr val="1A4E8A"/>
                </a:solidFill>
              </a:rPr>
              <a:t>▪  </a:t>
            </a:r>
            <a:r>
              <a:rPr sz="1150" b="0" i="0">
                <a:solidFill>
                  <a:srgbClr val="2A2A2A"/>
                </a:solidFill>
              </a:rPr>
              <a:t>Interface defects from trap energy and SRV</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Explicit defect density and cross-section; up to seven per layer</a:t>
            </a:r>
            <a:endParaRPr sz="1150" b="0" i="0">
              <a:solidFill>
                <a:srgbClr val="2A2A2A"/>
              </a:solidFill>
            </a:endParaRPr>
          </a:p>
          <a:p>
            <a:pPr>
              <a:spcAft>
                <a:spcPts val="300"/>
              </a:spcAft>
            </a:pPr>
            <a:r>
              <a:rPr sz="1150" b="1" i="0">
                <a:solidFill>
                  <a:srgbClr val="8C3333"/>
                </a:solidFill>
              </a:rPr>
              <a:t>▪  </a:t>
            </a:r>
            <a:r>
              <a:rPr sz="1150" b="0" i="0">
                <a:solidFill>
                  <a:srgbClr val="2A2A2A"/>
                </a:solidFill>
              </a:rPr>
              <a:t>Donor/acceptor/neutral, multivalent, distributed in energy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describe the same loss physics. SCAPS supports up to seven defects per layer of donor, acceptor, neutral or multivalent character, with single, uniform, Gaussian or band-tail energy distributions. SolarLab employs a lumped lifetime with optional depth profiles. The descriptions are equivalent for the single-level defects of the validation case; the additional generality is relevant to complex defect spectra.</a:t>
            </a:r>
            <a:endParaRPr sz="1200" b="0" i="0">
              <a:solidFill>
                <a:srgbClr val="332C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Temperature Dependence</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Temperature dependence of the material parameters.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varshni.png"/>
          <p:cNvPicPr>
            <a:picLocks noChangeAspect="1"/>
          </p:cNvPicPr>
          <p:nvPr/>
        </p:nvPicPr>
        <p:blipFill>
          <a:blip r:embed="rId1"/>
          <a:stretch>
            <a:fillRect/>
          </a:stretch>
        </p:blipFill>
        <p:spPr>
          <a:xfrm>
            <a:off x="960119" y="2139696"/>
            <a:ext cx="4526280" cy="688262"/>
          </a:xfrm>
          <a:prstGeom prst="rect">
            <a:avLst/>
          </a:prstGeom>
        </p:spPr>
      </p:pic>
      <p:sp>
        <p:nvSpPr>
          <p:cNvPr id="11" name="TextBox 10"/>
          <p:cNvSpPr txBox="1"/>
          <p:nvPr/>
        </p:nvSpPr>
        <p:spPr>
          <a:xfrm>
            <a:off x="713232" y="2901110"/>
            <a:ext cx="5020055" cy="1442289"/>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Built-in scaling of V</a:t>
            </a:r>
            <a:r>
              <a:rPr sz="1150" b="0" i="0" baseline="-25000">
                <a:solidFill>
                  <a:srgbClr val="2A2A2A"/>
                </a:solidFill>
              </a:rPr>
              <a:t>T</a:t>
            </a:r>
            <a:r>
              <a:rPr sz="1150" b="0" i="0">
                <a:solidFill>
                  <a:srgbClr val="2A2A2A"/>
                </a:solidFill>
              </a:rPr>
              <a:t>, ni, μ, D</a:t>
            </a:r>
            <a:r>
              <a:rPr sz="1150" b="0" i="0" baseline="-25000">
                <a:solidFill>
                  <a:srgbClr val="2A2A2A"/>
                </a:solidFill>
              </a:rPr>
              <a:t>ion</a:t>
            </a:r>
            <a:r>
              <a:rPr sz="1150" b="0" i="0">
                <a:solidFill>
                  <a:srgbClr val="2A2A2A"/>
                </a:solidFill>
              </a:rPr>
              <a:t> and Varshni E</a:t>
            </a:r>
            <a:r>
              <a:rPr sz="1150" b="0" i="0" baseline="-25000">
                <a:solidFill>
                  <a:srgbClr val="2A2A2A"/>
                </a:solidFill>
              </a:rPr>
              <a:t>g</a:t>
            </a:r>
            <a:endParaRPr sz="1150" b="0" i="0" baseline="-25000">
              <a:solidFill>
                <a:srgbClr val="2A2A2A"/>
              </a:solidFill>
            </a:endParaRPr>
          </a:p>
          <a:p>
            <a:pPr>
              <a:spcAft>
                <a:spcPts val="300"/>
              </a:spcAft>
            </a:pPr>
            <a:r>
              <a:rPr sz="1150" b="1" i="0">
                <a:solidFill>
                  <a:srgbClr val="1A4E8A"/>
                </a:solidFill>
              </a:rPr>
              <a:t>▪  </a:t>
            </a:r>
            <a:r>
              <a:rPr sz="1150" b="0" i="0">
                <a:solidFill>
                  <a:srgbClr val="2A2A2A"/>
                </a:solidFill>
              </a:rPr>
              <a:t>Applied consistently to bands and ni</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N</a:t>
            </a:r>
            <a:r>
              <a:rPr sz="1150" b="0" i="0" baseline="-25000">
                <a:solidFill>
                  <a:srgbClr val="2A2A2A"/>
                </a:solidFill>
              </a:rPr>
              <a:t>C</a:t>
            </a:r>
            <a:r>
              <a:rPr sz="1150" b="0" i="0">
                <a:solidFill>
                  <a:srgbClr val="2A2A2A"/>
                </a:solidFill>
              </a:rPr>
              <a:t>, N</a:t>
            </a:r>
            <a:r>
              <a:rPr sz="1150" b="0" i="0" baseline="-25000">
                <a:solidFill>
                  <a:srgbClr val="2A2A2A"/>
                </a:solidFill>
              </a:rPr>
              <a:t>V</a:t>
            </a:r>
            <a:r>
              <a:rPr sz="1150" b="0" i="0">
                <a:solidFill>
                  <a:srgbClr val="2A2A2A"/>
                </a:solidFill>
              </a:rPr>
              <a:t> (∝T</a:t>
            </a:r>
            <a:r>
              <a:rPr sz="1150" b="0" i="0" baseline="30000">
                <a:solidFill>
                  <a:srgbClr val="2A2A2A"/>
                </a:solidFill>
              </a:rPr>
              <a:t>3/2</a:t>
            </a:r>
            <a:r>
              <a:rPr sz="1150" b="0" i="0">
                <a:solidFill>
                  <a:srgbClr val="2A2A2A"/>
                </a:solidFill>
              </a:rPr>
              <a:t>), thermal velocity and kT scale</a:t>
            </a:r>
            <a:endParaRPr sz="1150" b="0" i="0">
              <a:solidFill>
                <a:srgbClr val="2A2A2A"/>
              </a:solidFill>
            </a:endParaRPr>
          </a:p>
          <a:p>
            <a:pPr>
              <a:spcAft>
                <a:spcPts val="300"/>
              </a:spcAft>
            </a:pPr>
            <a:r>
              <a:rPr sz="1150" b="1" i="0">
                <a:solidFill>
                  <a:srgbClr val="8C3333"/>
                </a:solidFill>
              </a:rPr>
              <a:t>▪  </a:t>
            </a:r>
            <a:r>
              <a:rPr sz="1150" b="0" i="0">
                <a:solidFill>
                  <a:srgbClr val="2A2A2A"/>
                </a:solidFill>
              </a:rPr>
              <a:t>Remaining parameters user-specified per temperature</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solvers operate at a specified temperature. SolarLab applies built-in temperature laws for the thermal voltage, intrinsic density, mobility, ionic diffusivity and the Varshni band gap, propagated self-consistently. In SCAPS only the effective densities of states, thermal velocity and thermal voltage scale automatically; the remaining parameters are specified by the user at each temperature. The distinction concerns automation rather than the underlying physics.</a:t>
            </a:r>
            <a:endParaRPr sz="1200" b="0" i="0">
              <a:solidFill>
                <a:srgbClr val="332C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Tunnelling</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SCAPS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Quantum-mechanical transport through a potential barrier.</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sp>
        <p:nvSpPr>
          <p:cNvPr id="10" name="TextBox 9"/>
          <p:cNvSpPr txBox="1"/>
          <p:nvPr/>
        </p:nvSpPr>
        <p:spPr>
          <a:xfrm>
            <a:off x="713232" y="2121408"/>
            <a:ext cx="5020055" cy="222199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Not modeled; thermionic transport only</a:t>
            </a:r>
            <a:endParaRPr sz="1150" b="0" i="0">
              <a:solidFill>
                <a:srgbClr val="2A2A2A"/>
              </a:solidFill>
            </a:endParaRPr>
          </a:p>
          <a:p>
            <a:pPr>
              <a:spcAft>
                <a:spcPts val="300"/>
              </a:spcAft>
            </a:pPr>
            <a:r>
              <a:rPr sz="1150" b="1" i="0">
                <a:solidFill>
                  <a:srgbClr val="1A4E8A"/>
                </a:solidFill>
              </a:rPr>
              <a:t>▪  </a:t>
            </a:r>
            <a:r>
              <a:rPr sz="1150" b="0" i="0">
                <a:solidFill>
                  <a:srgbClr val="2A2A2A"/>
                </a:solidFill>
              </a:rPr>
              <a:t>Deferred to a future version</a:t>
            </a:r>
            <a:endParaRPr sz="1150" b="0" i="0">
              <a:solidFill>
                <a:srgbClr val="2A2A2A"/>
              </a:solidFill>
            </a:endParaRPr>
          </a:p>
        </p:txBody>
      </p:sp>
      <p:sp>
        <p:nvSpPr>
          <p:cNvPr id="11" name="Rectangle 10"/>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4" name="Picture 13" descr="wkb.png"/>
          <p:cNvPicPr>
            <a:picLocks noChangeAspect="1"/>
          </p:cNvPicPr>
          <p:nvPr/>
        </p:nvPicPr>
        <p:blipFill>
          <a:blip r:embed="rId1"/>
          <a:stretch>
            <a:fillRect/>
          </a:stretch>
        </p:blipFill>
        <p:spPr>
          <a:xfrm>
            <a:off x="6702552" y="2139696"/>
            <a:ext cx="4526280" cy="409958"/>
          </a:xfrm>
          <a:prstGeom prst="rect">
            <a:avLst/>
          </a:prstGeom>
        </p:spPr>
      </p:pic>
      <p:sp>
        <p:nvSpPr>
          <p:cNvPr id="15" name="TextBox 14"/>
          <p:cNvSpPr txBox="1"/>
          <p:nvPr/>
        </p:nvSpPr>
        <p:spPr>
          <a:xfrm>
            <a:off x="6455664" y="2622806"/>
            <a:ext cx="5020055" cy="172059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Optional WKB tunnelling (four mechanisms)</a:t>
            </a:r>
            <a:endParaRPr sz="1150" b="0" i="0">
              <a:solidFill>
                <a:srgbClr val="2A2A2A"/>
              </a:solidFill>
            </a:endParaRPr>
          </a:p>
          <a:p>
            <a:pPr>
              <a:spcAft>
                <a:spcPts val="300"/>
              </a:spcAft>
            </a:pPr>
            <a:r>
              <a:rPr sz="1150" b="1" i="0">
                <a:solidFill>
                  <a:srgbClr val="8C3333"/>
                </a:solidFill>
              </a:rPr>
              <a:t>▪  </a:t>
            </a:r>
            <a:r>
              <a:rPr sz="1150" b="0" i="0">
                <a:solidFill>
                  <a:srgbClr val="2A2A2A"/>
                </a:solidFill>
              </a:rPr>
              <a:t>Disabled for the present study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SCAPS provides optional WKB tunnelling—band-to-band, intra-band, trap-assisted and contact tunnelling—relevant to tunnel junctions and degenerate doping. SolarLab does not model tunnelling. As tunnelling is disabled in SCAPS for the present validation, this axis does not contribute to any difference in the reported results.</a:t>
            </a:r>
            <a:endParaRPr sz="1200" b="0" i="0">
              <a:solidFill>
                <a:srgbClr val="332C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Summary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78992"/>
            <a:ext cx="10972800" cy="457200"/>
          </a:xfrm>
          <a:prstGeom prst="rect">
            <a:avLst/>
          </a:prstGeom>
          <a:noFill/>
        </p:spPr>
        <p:txBody>
          <a:bodyPr wrap="square">
            <a:spAutoFit/>
          </a:bodyPr>
          <a:lstStyle/>
          <a:p>
            <a:r>
              <a:rPr sz="1300" b="1" i="0">
                <a:solidFill>
                  <a:srgbClr val="1F2A44"/>
                </a:solidFill>
              </a:rPr>
              <a:t>Both solvers share the same governing system and discretization; they differ in physical scope and a small number of interface and contact conventions.</a:t>
            </a:r>
            <a:endParaRPr sz="1300" b="1" i="0">
              <a:solidFill>
                <a:srgbClr val="1F2A44"/>
              </a:solidFill>
            </a:endParaRPr>
          </a:p>
        </p:txBody>
      </p:sp>
      <p:sp>
        <p:nvSpPr>
          <p:cNvPr id="5" name="Rectangle 4"/>
          <p:cNvSpPr/>
          <p:nvPr/>
        </p:nvSpPr>
        <p:spPr>
          <a:xfrm>
            <a:off x="548640" y="1691640"/>
            <a:ext cx="5349240" cy="4114800"/>
          </a:xfrm>
          <a:prstGeom prst="rect">
            <a:avLst/>
          </a:prstGeom>
          <a:solidFill>
            <a:srgbClr val="EC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5349240" cy="3657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09928"/>
            <a:ext cx="5349240" cy="329184"/>
          </a:xfrm>
          <a:prstGeom prst="rect">
            <a:avLst/>
          </a:prstGeom>
          <a:noFill/>
        </p:spPr>
        <p:txBody>
          <a:bodyPr wrap="square">
            <a:spAutoFit/>
          </a:bodyPr>
          <a:lstStyle/>
          <a:p>
            <a:pPr algn="ctr"/>
            <a:r>
              <a:rPr sz="1450" b="1" i="0">
                <a:solidFill>
                  <a:srgbClr val="FFFFFF"/>
                </a:solidFill>
              </a:rPr>
              <a:t>Shared formulation</a:t>
            </a:r>
            <a:endParaRPr sz="1450" b="1" i="0">
              <a:solidFill>
                <a:srgbClr val="FFFFFF"/>
              </a:solidFill>
            </a:endParaRPr>
          </a:p>
        </p:txBody>
      </p:sp>
      <p:sp>
        <p:nvSpPr>
          <p:cNvPr id="8" name="TextBox 7"/>
          <p:cNvSpPr txBox="1"/>
          <p:nvPr/>
        </p:nvSpPr>
        <p:spPr>
          <a:xfrm>
            <a:off x="713232" y="2112264"/>
            <a:ext cx="5020055" cy="3639311"/>
          </a:xfrm>
          <a:prstGeom prst="rect">
            <a:avLst/>
          </a:prstGeom>
          <a:noFill/>
        </p:spPr>
        <p:txBody>
          <a:bodyPr wrap="square">
            <a:spAutoFit/>
          </a:bodyPr>
          <a:lstStyle/>
          <a:p>
            <a:pPr>
              <a:spcAft>
                <a:spcPts val="300"/>
              </a:spcAft>
            </a:pPr>
            <a:r>
              <a:rPr sz="1150" b="1" i="0">
                <a:solidFill>
                  <a:srgbClr val="2E7D55"/>
                </a:solidFill>
              </a:rPr>
              <a:t>▪  </a:t>
            </a:r>
            <a:r>
              <a:rPr sz="1150" b="0" i="0">
                <a:solidFill>
                  <a:srgbClr val="2A2A2A"/>
                </a:solidFill>
              </a:rPr>
              <a:t>Poisson and two carrier-continuity equations</a:t>
            </a:r>
            <a:endParaRPr sz="1150" b="0" i="0">
              <a:solidFill>
                <a:srgbClr val="2A2A2A"/>
              </a:solidFill>
            </a:endParaRPr>
          </a:p>
          <a:p>
            <a:pPr>
              <a:spcAft>
                <a:spcPts val="300"/>
              </a:spcAft>
            </a:pPr>
            <a:r>
              <a:rPr sz="1150" b="1" i="0">
                <a:solidFill>
                  <a:srgbClr val="2E7D55"/>
                </a:solidFill>
              </a:rPr>
              <a:t>▪  </a:t>
            </a:r>
            <a:r>
              <a:rPr sz="1150" b="0" i="0">
                <a:solidFill>
                  <a:srgbClr val="2A2A2A"/>
                </a:solidFill>
              </a:rPr>
              <a:t>Scharfetter–Gummel exponential-fitting flux</a:t>
            </a:r>
            <a:endParaRPr sz="1150" b="0" i="0">
              <a:solidFill>
                <a:srgbClr val="2A2A2A"/>
              </a:solidFill>
            </a:endParaRPr>
          </a:p>
          <a:p>
            <a:pPr>
              <a:spcAft>
                <a:spcPts val="300"/>
              </a:spcAft>
            </a:pPr>
            <a:r>
              <a:rPr sz="1150" b="1" i="0">
                <a:solidFill>
                  <a:srgbClr val="2E7D55"/>
                </a:solidFill>
              </a:rPr>
              <a:t>▪  </a:t>
            </a:r>
            <a:r>
              <a:rPr sz="1150" b="0" i="0">
                <a:solidFill>
                  <a:srgbClr val="2A2A2A"/>
                </a:solidFill>
              </a:rPr>
              <a:t>Boltzmann carrier statistics</a:t>
            </a:r>
            <a:endParaRPr sz="1150" b="0" i="0">
              <a:solidFill>
                <a:srgbClr val="2A2A2A"/>
              </a:solidFill>
            </a:endParaRPr>
          </a:p>
          <a:p>
            <a:pPr>
              <a:spcAft>
                <a:spcPts val="300"/>
              </a:spcAft>
            </a:pPr>
            <a:r>
              <a:rPr sz="1150" b="1" i="0">
                <a:solidFill>
                  <a:srgbClr val="2E7D55"/>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2E7D55"/>
                </a:solidFill>
              </a:rPr>
              <a:t>▪  </a:t>
            </a:r>
            <a:r>
              <a:rPr sz="1150" b="0" i="0">
                <a:solidFill>
                  <a:srgbClr val="2A2A2A"/>
                </a:solidFill>
              </a:rPr>
              <a:t>Heterojunction band offsets; thermionic emission</a:t>
            </a:r>
            <a:endParaRPr sz="1150" b="0" i="0">
              <a:solidFill>
                <a:srgbClr val="2A2A2A"/>
              </a:solidFill>
            </a:endParaRPr>
          </a:p>
          <a:p>
            <a:pPr>
              <a:spcAft>
                <a:spcPts val="300"/>
              </a:spcAft>
            </a:pPr>
            <a:r>
              <a:rPr sz="1150" b="1" i="0">
                <a:solidFill>
                  <a:srgbClr val="2E7D55"/>
                </a:solidFill>
              </a:rPr>
              <a:t>▪  </a:t>
            </a:r>
            <a:r>
              <a:rPr sz="1150" b="0" i="0">
                <a:solidFill>
                  <a:srgbClr val="2A2A2A"/>
                </a:solidFill>
              </a:rPr>
              <a:t>Gummel/Newton steady-state solution</a:t>
            </a:r>
            <a:endParaRPr sz="1150" b="0" i="0">
              <a:solidFill>
                <a:srgbClr val="2A2A2A"/>
              </a:solidFill>
            </a:endParaRPr>
          </a:p>
        </p:txBody>
      </p:sp>
      <p:sp>
        <p:nvSpPr>
          <p:cNvPr id="9" name="Rectangle 8"/>
          <p:cNvSpPr/>
          <p:nvPr/>
        </p:nvSpPr>
        <p:spPr>
          <a:xfrm>
            <a:off x="6291072" y="1691640"/>
            <a:ext cx="5349240" cy="4114800"/>
          </a:xfrm>
          <a:prstGeom prst="rect">
            <a:avLst/>
          </a:prstGeom>
          <a:solidFill>
            <a:srgbClr val="F1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91072" y="1691640"/>
            <a:ext cx="5349240" cy="365760"/>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709928"/>
            <a:ext cx="5349240" cy="329184"/>
          </a:xfrm>
          <a:prstGeom prst="rect">
            <a:avLst/>
          </a:prstGeom>
          <a:noFill/>
        </p:spPr>
        <p:txBody>
          <a:bodyPr wrap="square">
            <a:spAutoFit/>
          </a:bodyPr>
          <a:lstStyle/>
          <a:p>
            <a:pPr algn="ctr"/>
            <a:r>
              <a:rPr sz="1450" b="1" i="0">
                <a:solidFill>
                  <a:srgbClr val="FFFFFF"/>
                </a:solidFill>
              </a:rPr>
              <a:t>Principal differences</a:t>
            </a:r>
            <a:endParaRPr sz="1450" b="1" i="0">
              <a:solidFill>
                <a:srgbClr val="FFFFFF"/>
              </a:solidFill>
            </a:endParaRPr>
          </a:p>
        </p:txBody>
      </p:sp>
      <p:sp>
        <p:nvSpPr>
          <p:cNvPr id="12" name="TextBox 11"/>
          <p:cNvSpPr txBox="1"/>
          <p:nvPr/>
        </p:nvSpPr>
        <p:spPr>
          <a:xfrm>
            <a:off x="6455664" y="2112264"/>
            <a:ext cx="5020055" cy="3639311"/>
          </a:xfrm>
          <a:prstGeom prst="rect">
            <a:avLst/>
          </a:prstGeom>
          <a:noFill/>
        </p:spPr>
        <p:txBody>
          <a:bodyPr wrap="square">
            <a:spAutoFit/>
          </a:bodyPr>
          <a:lstStyle/>
          <a:p>
            <a:pPr>
              <a:spcAft>
                <a:spcPts val="300"/>
              </a:spcAft>
            </a:pPr>
            <a:r>
              <a:rPr sz="1150" b="1" i="0">
                <a:solidFill>
                  <a:srgbClr val="6E7B91"/>
                </a:solidFill>
              </a:rPr>
              <a:t>▪  </a:t>
            </a:r>
            <a:r>
              <a:rPr sz="1150" b="0" i="0">
                <a:solidFill>
                  <a:srgbClr val="2A2A2A"/>
                </a:solidFill>
              </a:rPr>
              <a:t>Time-dependent versus steady-state formulation</a:t>
            </a:r>
            <a:endParaRPr sz="1150" b="0" i="0">
              <a:solidFill>
                <a:srgbClr val="2A2A2A"/>
              </a:solidFill>
            </a:endParaRPr>
          </a:p>
          <a:p>
            <a:pPr>
              <a:spcAft>
                <a:spcPts val="300"/>
              </a:spcAft>
            </a:pPr>
            <a:r>
              <a:rPr sz="1150" b="1" i="0">
                <a:solidFill>
                  <a:srgbClr val="6E7B91"/>
                </a:solidFill>
              </a:rPr>
              <a:t>▪  </a:t>
            </a:r>
            <a:r>
              <a:rPr sz="1150" b="0" i="0">
                <a:solidFill>
                  <a:srgbClr val="2A2A2A"/>
                </a:solidFill>
              </a:rPr>
              <a:t>Mobile-ion transport and hysteresis (SolarLab)</a:t>
            </a:r>
            <a:endParaRPr sz="1150" b="0" i="0">
              <a:solidFill>
                <a:srgbClr val="2A2A2A"/>
              </a:solidFill>
            </a:endParaRPr>
          </a:p>
          <a:p>
            <a:pPr>
              <a:spcAft>
                <a:spcPts val="300"/>
              </a:spcAft>
            </a:pPr>
            <a:r>
              <a:rPr sz="1150" b="1" i="0">
                <a:solidFill>
                  <a:srgbClr val="6E7B91"/>
                </a:solidFill>
              </a:rPr>
              <a:t>▪  </a:t>
            </a:r>
            <a:r>
              <a:rPr sz="1150" b="0" i="0">
                <a:solidFill>
                  <a:srgbClr val="2A2A2A"/>
                </a:solidFill>
              </a:rPr>
              <a:t>Transfer-matrix versus Beer–Lambert optics</a:t>
            </a:r>
            <a:endParaRPr sz="1150" b="0" i="0">
              <a:solidFill>
                <a:srgbClr val="2A2A2A"/>
              </a:solidFill>
            </a:endParaRPr>
          </a:p>
          <a:p>
            <a:pPr>
              <a:spcAft>
                <a:spcPts val="300"/>
              </a:spcAft>
            </a:pPr>
            <a:r>
              <a:rPr sz="1150" b="1" i="0">
                <a:solidFill>
                  <a:srgbClr val="6E7B91"/>
                </a:solidFill>
              </a:rPr>
              <a:t>▪  </a:t>
            </a:r>
            <a:r>
              <a:rPr sz="1150" b="0" i="0">
                <a:solidFill>
                  <a:srgbClr val="2A2A2A"/>
                </a:solidFill>
              </a:rPr>
              <a:t>Interface recombination: plane-state hierarchy versus Pauwels–Vanhoutte</a:t>
            </a:r>
            <a:endParaRPr sz="1150" b="0" i="0">
              <a:solidFill>
                <a:srgbClr val="2A2A2A"/>
              </a:solidFill>
            </a:endParaRPr>
          </a:p>
          <a:p>
            <a:pPr>
              <a:spcAft>
                <a:spcPts val="300"/>
              </a:spcAft>
            </a:pPr>
            <a:r>
              <a:rPr sz="1150" b="1" i="0">
                <a:solidFill>
                  <a:srgbClr val="6E7B91"/>
                </a:solidFill>
              </a:rPr>
              <a:t>▪  </a:t>
            </a:r>
            <a:r>
              <a:rPr sz="1150" b="0" i="0">
                <a:solidFill>
                  <a:srgbClr val="2A2A2A"/>
                </a:solidFill>
              </a:rPr>
              <a:t>Field-dependent mobility, photon recycling, temperature laws (SolarLab)</a:t>
            </a:r>
            <a:endParaRPr sz="1150" b="0" i="0">
              <a:solidFill>
                <a:srgbClr val="2A2A2A"/>
              </a:solidFill>
            </a:endParaRPr>
          </a:p>
          <a:p>
            <a:pPr>
              <a:spcAft>
                <a:spcPts val="300"/>
              </a:spcAft>
            </a:pPr>
            <a:r>
              <a:rPr sz="1150" b="1" i="0">
                <a:solidFill>
                  <a:srgbClr val="6E7B91"/>
                </a:solidFill>
              </a:rPr>
              <a:t>▪  </a:t>
            </a:r>
            <a:r>
              <a:rPr sz="1150" b="0" i="0">
                <a:solidFill>
                  <a:srgbClr val="2A2A2A"/>
                </a:solidFill>
              </a:rPr>
              <a:t>Multivalent defects, tunnelling, parasitic resistance (SCAPS)</a:t>
            </a:r>
            <a:endParaRPr sz="1150" b="0" i="0">
              <a:solidFill>
                <a:srgbClr val="2A2A2A"/>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15611</Words>
  <Application>WPS 表格</Application>
  <PresentationFormat>On-screen Show (4:3)</PresentationFormat>
  <Paragraphs>429</Paragraphs>
  <Slides>23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宋体</vt:lpstr>
      <vt:lpstr>Wingdings</vt:lpstr>
      <vt:lpstr>Arial</vt:lpstr>
      <vt:lpstr>Calibri</vt:lpstr>
      <vt:lpstr>Helvetica Neue</vt:lpstr>
      <vt:lpstr>微软雅黑</vt:lpstr>
      <vt:lpstr>汉仪旗黑</vt:lpstr>
      <vt:lpstr>宋体</vt:lpstr>
      <vt:lpstr>Arial Unicode MS</vt:lpstr>
      <vt:lpstr>汉仪书宋二KW</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shane</cp:lastModifiedBy>
  <cp:revision>2</cp:revision>
  <dcterms:created xsi:type="dcterms:W3CDTF">2026-06-17T18:47:18Z</dcterms:created>
  <dcterms:modified xsi:type="dcterms:W3CDTF">2026-06-17T18:47:18Z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8929D4311ED2C84AB6EB326AA93D53F9_42</vt:lpwstr>
  </property>
  <property fmtid="{D5CDD505-2E9C-101B-9397-08002B2CF9AE}" pid="3" name="KSOProductBuildVer">
    <vt:lpwstr>2052-12.1.26016.26016</vt:lpwstr>
  </property>
</Properties>
</file>