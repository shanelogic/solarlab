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9" r:id="rId5"/>
    <p:sldId id="257" r:id="rId6"/>
    <p:sldId id="275" r:id="rId7"/>
    <p:sldId id="277" r:id="rId8"/>
    <p:sldId id="278" r:id="rId9"/>
    <p:sldId id="276" r:id="rId10"/>
    <p:sldId id="279" r:id="rId11"/>
    <p:sldId id="280" r:id="rId12"/>
    <p:sldId id="266" r:id="rId13"/>
    <p:sldId id="270" r:id="rId14"/>
    <p:sldId id="271" r:id="rId15"/>
    <p:sldId id="272" r:id="rId16"/>
    <p:sldId id="274" r:id="rId17"/>
    <p:sldId id="273" r:id="rId18"/>
    <p:sldId id="262" r:id="rId19"/>
    <p:sldId id="263" r:id="rId20"/>
    <p:sldId id="267" r:id="rId21"/>
    <p:sldId id="265" r:id="rId22"/>
    <p:sldId id="269" r:id="rId2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deck reports a cross-validation of two 1D drift-diffusion solvers, not a comparison against experiment. Neither code is "truth"; we anchor realism against the literature. The headline question is why SolarLab's Voc sits 96 mV below SCAPS, and what is actually fixable.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quoted Jsc=25.73 is a contaminant spliced from a separate N_grid=30 run; the genuine self-consistent value is 23.96. Using the real Jsc, all four FOMs lock algebraically. SCAPS obeys PCE = Voc*Jsc*FF to within rounding; so does the genuine SolarLab tuple.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SCAPS-1D (Gent) is the de-facto reference; SolarLab is our Python perovskite_sim library. Both solve Poisson plus two continuity equations with SG flux. The divergences live in boundary conditions, interface recombination, and optics, not in the core formulation.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SCAPS-1D (Gent) is the de-facto reference; SolarLab is our Python perovskite_sim library. Both solve Poisson plus two continuity equations with SG flux. The divergences live in boundary conditions, interface recombination, and optics, not in the core formulation.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SCAPS-1D (Gent) is the de-facto reference; SolarLab is our Python perovskite_sim library. Both solve Poisson plus two continuity equations with SG flux. The divergences live in boundary conditions, interface recombination, and optics, not in the core formulation.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SCAPS-1D (Gent) is the de-facto reference; SolarLab is our Python perovskite_sim library. Both solve Poisson plus two continuity equations with SG flux. The divergences live in boundary conditions, interface recombination, and optics, not in the core formulation.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SCAPS-1D (Gent) is the de-facto reference; SolarLab is our Python perovskite_sim library. Both solve Poisson plus two continuity equations with SG flux. The divergences live in boundary conditions, interface recombination, and optics, not in the core formulation.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SCAPS-1D (Gent) is the de-facto reference; SolarLab is our Python perovskite_sim library. Both solve Poisson plus two continuity equations with SG flux. The divergences live in boundary conditions, interface recombination, and optics, not in the core formulation.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SCAPS-1D (Gent) is the de-facto reference; SolarLab is our Python perovskite_sim library. Both solve Poisson plus two continuity equations with SG flux. The divergences live in boundary conditions, interface recombination, and optics, not in the core formulation.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Five model-level differences feed the base-point discrepancy. The frozen Vbi drives the donor reversal; the interface-SRH difference is the leading suspect for the 96 mV deficit and the sweep shape mismatches; the optics difference explains the Jsc gap. Each is real, mostly by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Five model-level differences feed the base-point discrepancy. The frozen Vbi drives the donor reversal; the interface-SRH difference is the leading suspect for the 96 mV deficit and the sweep shape mismatches; the optics difference explains the Jsc gap. Each is real, mostly by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Five model-level differences feed the base-point discrepancy. The frozen Vbi drives the donor reversal; the interface-SRH difference is the leading suspect for the 96 mV deficit and the sweep shape mismatches; the optics difference explains the Jsc gap. Each is real, mostly by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Five model-level differences feed the base-point discrepancy. The frozen Vbi drives the donor reversal; the interface-SRH difference is the leading suspect for the 96 mV deficit and the sweep shape mismatches; the optics difference explains the Jsc gap. Each is real, mostly by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Five model-level differences feed the base-point discrepancy. The frozen Vbi drives the donor reversal; the interface-SRH difference is the leading suspect for the 96 mV deficit and the sweep shape mismatches; the optics difference explains the Jsc gap. Each is real, mostly by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Five model-level differences feed the base-point discrepancy. The frozen Vbi drives the donor reversal; the interface-SRH difference is the leading suspect for the 96 mV deficit and the sweep shape mismatches; the optics difference explains the Jsc gap. Each is real, mostly by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donor-doping lever is severed because the built-in potential is frozen at the boundary. The only residual N_D channel is the ohmic pin p_R = ni^2/N_D, which actually suppresses splitting, giving the wrong sign. Projection ON keeps the wrong sign, confirming it is not an interface-recombination effect.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the deficit were driven by QFL loss across the band offset, removing the offset would close it. Instead the gap grows to ~163 mV at flat-band. SolarLab saturates near 1.085 V while SCAPS keeps climbing. This falsifies the prior mechanism and redirects attention to the interface-SRH model difference.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Neither solver is experiment, so we ask which absolute better represents a fabricated cell. SolarLab's 1.072 V implies a ~230-260 mV non-radiative deficit, typical for a routine stack. SCAPS's value implies champion-grade passivation. Tuning SolarLab up to match SCAPS would move it away from the experimental median.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four FOMs must satisfy PCE = Voc*Jsc*FF in any single run. The partner table glued a coarse-grid Jsc onto a fine-grid Voc/FF/PCE triple. The fix is to re-extract all four from one J-V array; this alone erases the headline -4.6 pp PCE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Full numbered list of 18 entries; numbering matches the report's Section 7 exactly. The inline [n] brackets placed on slides 2, 9, 11 and 12 all resolve into this list: [1,5] solver formulation and SG flux, [2] tunnelling-off, [4] thermionic-emission interface BC, [6] SCAPS contacts/flatband, [7,8] Shockley-Read-Hall and Pauwels-Vanhoutte interface SRH, and [12-18] the experimental MAPbI3 Voc / SQ realism cluster. Literature values are used only for realism-positioning and are flagged as such in the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737360"/>
            <a:ext cx="11064240" cy="117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2A44"/>
                </a:solidFill>
              </a:rPr>
              <a:t>SolarLab vs. SCAPS-1D</a:t>
            </a:r>
            <a:endParaRPr sz="4000" b="1">
              <a:solidFill>
                <a:srgbClr val="1F2A44"/>
              </a:solidFill>
            </a:endParaRPr>
          </a:p>
          <a:p>
            <a:pPr>
              <a:spcBef>
                <a:spcPts val="400"/>
              </a:spcBef>
            </a:pPr>
            <a:endParaRPr sz="2700" b="1">
              <a:solidFill>
                <a:srgbClr val="1A4E8A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3840480" cy="50800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</a:rPr>
              <a:t>Base-Model Figures of Merit: V</a:t>
            </a:r>
            <a:r>
              <a:rPr sz="2160" b="1" baseline="-25000">
                <a:solidFill>
                  <a:srgbClr val="1F2A44"/>
                </a:solidFill>
              </a:rPr>
              <a:t>oc</a:t>
            </a:r>
            <a:r>
              <a:rPr sz="3000" b="1">
                <a:solidFill>
                  <a:srgbClr val="1F2A44"/>
                </a:solidFill>
              </a:rPr>
              <a:t>, J</a:t>
            </a:r>
            <a:r>
              <a:rPr sz="2160" b="1" baseline="-25000">
                <a:solidFill>
                  <a:srgbClr val="1F2A44"/>
                </a:solidFill>
              </a:rPr>
              <a:t>sc</a:t>
            </a:r>
            <a:r>
              <a:rPr sz="3000" b="1">
                <a:solidFill>
                  <a:srgbClr val="1F2A44"/>
                </a:solidFill>
              </a:rPr>
              <a:t>, FF, PCE</a:t>
            </a:r>
            <a:endParaRPr sz="3000" b="1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64240" cy="31750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029200" cy="4937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V</a:t>
            </a:r>
            <a:r>
              <a:rPr sz="1150" b="0" baseline="-25000">
                <a:solidFill>
                  <a:srgbClr val="333A4A"/>
                </a:solidFill>
              </a:rPr>
              <a:t>oc</a:t>
            </a:r>
            <a:r>
              <a:rPr sz="1600" b="0">
                <a:solidFill>
                  <a:srgbClr val="333A4A"/>
                </a:solidFill>
              </a:rPr>
              <a:t>: 1.072 vs. 1.1676 V (−96 mV, −8.2%) — primary gap</a:t>
            </a:r>
            <a:endParaRPr sz="1600" b="0">
              <a:solidFill>
                <a:srgbClr val="333A4A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J</a:t>
            </a:r>
            <a:r>
              <a:rPr sz="1150" b="0" baseline="-25000">
                <a:solidFill>
                  <a:srgbClr val="333A4A"/>
                </a:solidFill>
              </a:rPr>
              <a:t>sc</a:t>
            </a:r>
            <a:r>
              <a:rPr sz="1600" b="0">
                <a:solidFill>
                  <a:srgbClr val="333A4A"/>
                </a:solidFill>
              </a:rPr>
              <a:t> genuine: 23.96 vs. 26.282 mA/cm</a:t>
            </a:r>
            <a:r>
              <a:rPr sz="1150" b="0" baseline="30000">
                <a:solidFill>
                  <a:srgbClr val="333A4A"/>
                </a:solidFill>
              </a:rPr>
              <a:t>2</a:t>
            </a:r>
            <a:r>
              <a:rPr sz="1600" b="0">
                <a:solidFill>
                  <a:srgbClr val="333A4A"/>
                </a:solidFill>
              </a:rPr>
              <a:t> (table 25.73 is foreign)</a:t>
            </a:r>
            <a:endParaRPr sz="1600" b="0">
              <a:solidFill>
                <a:srgbClr val="333A4A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FF: ~86.2% vs. 86.99% (−1.4 pp)</a:t>
            </a:r>
            <a:endParaRPr sz="1600" b="0">
              <a:solidFill>
                <a:srgbClr val="333A4A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PCE genuine: 22.1% vs. 26.69% (the 25.73 splice inflates the table)</a:t>
            </a:r>
            <a:endParaRPr sz="1600" b="0">
              <a:solidFill>
                <a:srgbClr val="333A4A"/>
              </a:solidFill>
            </a:endParaRPr>
          </a:p>
        </p:txBody>
      </p:sp>
      <p:pic>
        <p:nvPicPr>
          <p:cNvPr id="5" name="Picture 4" descr="f5_fom_ba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372097"/>
            <a:ext cx="5852160" cy="30282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0698"/>
            <a:ext cx="11064240" cy="5530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</a:rPr>
              <a:t>Two DD Solvers on the</a:t>
            </a:r>
            <a:r>
              <a:rPr lang="en-US" sz="3000" b="1">
                <a:solidFill>
                  <a:srgbClr val="1F2A44"/>
                </a:solidFill>
              </a:rPr>
              <a:t> </a:t>
            </a:r>
            <a:r>
              <a:rPr sz="3000" b="1">
                <a:solidFill>
                  <a:srgbClr val="1F2A44"/>
                </a:solidFill>
              </a:rPr>
              <a:t>MAPbI</a:t>
            </a:r>
            <a:r>
              <a:rPr sz="2160" b="1" baseline="-25000">
                <a:solidFill>
                  <a:srgbClr val="1F2A44"/>
                </a:solidFill>
              </a:rPr>
              <a:t>3</a:t>
            </a:r>
            <a:r>
              <a:rPr sz="3000" b="1">
                <a:solidFill>
                  <a:srgbClr val="1F2A44"/>
                </a:solidFill>
              </a:rPr>
              <a:t> Base Model</a:t>
            </a:r>
            <a:endParaRPr sz="3000" b="1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64240" cy="31750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029200" cy="4937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Stack: HTL 20 nm / MAPbI</a:t>
            </a:r>
            <a:r>
              <a:rPr sz="1150" b="0" baseline="-25000">
                <a:solidFill>
                  <a:srgbClr val="333A4A"/>
                </a:solidFill>
              </a:rPr>
              <a:t>3</a:t>
            </a:r>
            <a:r>
              <a:rPr sz="1600" b="0">
                <a:solidFill>
                  <a:srgbClr val="333A4A"/>
                </a:solidFill>
              </a:rPr>
              <a:t> 800 nm (E</a:t>
            </a:r>
            <a:r>
              <a:rPr sz="1150" b="0" baseline="-25000">
                <a:solidFill>
                  <a:srgbClr val="333A4A"/>
                </a:solidFill>
              </a:rPr>
              <a:t>g</a:t>
            </a:r>
            <a:r>
              <a:rPr sz="1600" b="0">
                <a:solidFill>
                  <a:srgbClr val="333A4A"/>
                </a:solidFill>
              </a:rPr>
              <a:t>=1.53 eV) / ETL 25 nm</a:t>
            </a:r>
            <a:endParaRPr sz="1600" b="0">
              <a:solidFill>
                <a:srgbClr val="333A4A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SCAPS: Gummel+Newton, (</a:t>
            </a:r>
            <a:r>
              <a:rPr sz="1600" b="0">
                <a:solidFill>
                  <a:srgbClr val="333A4A"/>
                </a:solidFill>
                <a:latin typeface="PingFang SC" panose="020B0400000000000000" charset="-122"/>
                <a:ea typeface="PingFang SC" panose="020B0400000000000000" charset="-122"/>
              </a:rPr>
              <a:t>Φ</a:t>
            </a:r>
            <a:r>
              <a:rPr sz="1600" b="0">
                <a:solidFill>
                  <a:srgbClr val="333A4A"/>
                </a:solidFill>
              </a:rPr>
              <a:t>, E</a:t>
            </a:r>
            <a:r>
              <a:rPr sz="1150" b="0" baseline="-25000">
                <a:solidFill>
                  <a:srgbClr val="333A4A"/>
                </a:solidFill>
              </a:rPr>
              <a:t>Fn</a:t>
            </a:r>
            <a:r>
              <a:rPr sz="1600" b="0">
                <a:solidFill>
                  <a:srgbClr val="333A4A"/>
                </a:solidFill>
              </a:rPr>
              <a:t>, E</a:t>
            </a:r>
            <a:r>
              <a:rPr sz="1150" b="0" baseline="-25000">
                <a:solidFill>
                  <a:srgbClr val="333A4A"/>
                </a:solidFill>
              </a:rPr>
              <a:t>Fp</a:t>
            </a:r>
            <a:r>
              <a:rPr sz="1600" b="0">
                <a:solidFill>
                  <a:srgbClr val="333A4A"/>
                </a:solidFill>
              </a:rPr>
              <a:t>) [1]; SolarLab: method-of-lines Radau</a:t>
            </a:r>
            <a:endParaRPr sz="1600" b="0">
              <a:solidFill>
                <a:srgbClr val="333A4A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Both Boltzmann, Scharfetter–Gummel flux [5], tunnelling OFF [2]</a:t>
            </a:r>
            <a:endParaRPr sz="1600" b="0">
              <a:solidFill>
                <a:srgbClr val="333A4A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Same physics class; differ in boundary and interface treatments</a:t>
            </a:r>
            <a:endParaRPr sz="1600" b="0">
              <a:solidFill>
                <a:srgbClr val="333A4A"/>
              </a:solidFill>
            </a:endParaRPr>
          </a:p>
        </p:txBody>
      </p:sp>
      <p:pic>
        <p:nvPicPr>
          <p:cNvPr id="5" name="Picture 4" descr="f4_solver_ar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023208"/>
            <a:ext cx="5852160" cy="37259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0698"/>
            <a:ext cx="11064240" cy="5530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3000" b="1">
                <a:solidFill>
                  <a:srgbClr val="1F2A44"/>
                </a:solidFill>
              </a:rPr>
              <a:t>SCAPS </a:t>
            </a:r>
            <a:r>
              <a:rPr sz="3000" b="1">
                <a:solidFill>
                  <a:srgbClr val="1F2A44"/>
                </a:solidFill>
              </a:rPr>
              <a:t>DD Solvers on the</a:t>
            </a:r>
            <a:r>
              <a:rPr lang="en-US" sz="3000" b="1">
                <a:solidFill>
                  <a:srgbClr val="1F2A44"/>
                </a:solidFill>
              </a:rPr>
              <a:t> </a:t>
            </a:r>
            <a:r>
              <a:rPr sz="3000" b="1">
                <a:solidFill>
                  <a:srgbClr val="1F2A44"/>
                </a:solidFill>
              </a:rPr>
              <a:t>MAPbI</a:t>
            </a:r>
            <a:r>
              <a:rPr sz="2160" b="1" baseline="-25000">
                <a:solidFill>
                  <a:srgbClr val="1F2A44"/>
                </a:solidFill>
              </a:rPr>
              <a:t>3</a:t>
            </a:r>
            <a:r>
              <a:rPr sz="3000" b="1">
                <a:solidFill>
                  <a:srgbClr val="1F2A44"/>
                </a:solidFill>
              </a:rPr>
              <a:t> Base Model</a:t>
            </a:r>
            <a:endParaRPr sz="3000" b="1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64240" cy="31750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029200" cy="4937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SCAPS: Gummel+Newton, (</a:t>
            </a:r>
            <a:r>
              <a:rPr sz="1600" b="0">
                <a:solidFill>
                  <a:srgbClr val="333A4A"/>
                </a:solidFill>
                <a:latin typeface="PingFang SC" panose="020B0400000000000000" charset="-122"/>
                <a:ea typeface="PingFang SC" panose="020B0400000000000000" charset="-122"/>
              </a:rPr>
              <a:t>Φ</a:t>
            </a:r>
            <a:r>
              <a:rPr sz="1600" b="0">
                <a:solidFill>
                  <a:srgbClr val="333A4A"/>
                </a:solidFill>
              </a:rPr>
              <a:t>, E</a:t>
            </a:r>
            <a:r>
              <a:rPr sz="1150" b="0" baseline="-25000">
                <a:solidFill>
                  <a:srgbClr val="333A4A"/>
                </a:solidFill>
              </a:rPr>
              <a:t>Fn</a:t>
            </a:r>
            <a:r>
              <a:rPr sz="1600" b="0">
                <a:solidFill>
                  <a:srgbClr val="333A4A"/>
                </a:solidFill>
              </a:rPr>
              <a:t>, E</a:t>
            </a:r>
            <a:r>
              <a:rPr sz="1150" b="0" baseline="-25000">
                <a:solidFill>
                  <a:srgbClr val="333A4A"/>
                </a:solidFill>
              </a:rPr>
              <a:t>Fp</a:t>
            </a:r>
            <a:r>
              <a:rPr sz="1600" b="0">
                <a:solidFill>
                  <a:srgbClr val="333A4A"/>
                </a:solidFill>
              </a:rPr>
              <a:t>) [1]; SolarLab: method-of-lines Radau</a:t>
            </a:r>
            <a:endParaRPr sz="1600" b="0">
              <a:solidFill>
                <a:srgbClr val="333A4A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322705"/>
            <a:ext cx="5035550" cy="6540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780" y="1510030"/>
            <a:ext cx="800100" cy="2794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990" y="1976755"/>
            <a:ext cx="5600700" cy="6096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820" y="2767330"/>
            <a:ext cx="5600700" cy="37674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9990" y="2773680"/>
            <a:ext cx="5727700" cy="131953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3570" y="2287905"/>
            <a:ext cx="2489200" cy="2984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5105" y="4364355"/>
            <a:ext cx="1606550" cy="23495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9370" y="4702810"/>
            <a:ext cx="4916805" cy="19443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0698"/>
            <a:ext cx="11064240" cy="5530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3000" b="1">
                <a:solidFill>
                  <a:srgbClr val="1F2A44"/>
                </a:solidFill>
              </a:rPr>
              <a:t>SolarLab </a:t>
            </a:r>
            <a:r>
              <a:rPr sz="3000" b="1">
                <a:solidFill>
                  <a:srgbClr val="1F2A44"/>
                </a:solidFill>
              </a:rPr>
              <a:t>DD Solvers on the</a:t>
            </a:r>
            <a:r>
              <a:rPr lang="en-US" sz="3000" b="1">
                <a:solidFill>
                  <a:srgbClr val="1F2A44"/>
                </a:solidFill>
              </a:rPr>
              <a:t> </a:t>
            </a:r>
            <a:r>
              <a:rPr sz="3000" b="1">
                <a:solidFill>
                  <a:srgbClr val="1F2A44"/>
                </a:solidFill>
              </a:rPr>
              <a:t>MAPbI</a:t>
            </a:r>
            <a:r>
              <a:rPr sz="2160" b="1" baseline="-25000">
                <a:solidFill>
                  <a:srgbClr val="1F2A44"/>
                </a:solidFill>
              </a:rPr>
              <a:t>3</a:t>
            </a:r>
            <a:r>
              <a:rPr sz="3000" b="1">
                <a:solidFill>
                  <a:srgbClr val="1F2A44"/>
                </a:solidFill>
              </a:rPr>
              <a:t> Base Model</a:t>
            </a:r>
            <a:endParaRPr sz="3000" b="1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64240" cy="31750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029200" cy="4937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SCAPS: Gummel+Newton, (</a:t>
            </a:r>
            <a:r>
              <a:rPr sz="1600" b="0">
                <a:solidFill>
                  <a:srgbClr val="333A4A"/>
                </a:solidFill>
                <a:latin typeface="PingFang SC" panose="020B0400000000000000" charset="-122"/>
                <a:ea typeface="PingFang SC" panose="020B0400000000000000" charset="-122"/>
              </a:rPr>
              <a:t>Φ</a:t>
            </a:r>
            <a:r>
              <a:rPr sz="1600" b="0">
                <a:solidFill>
                  <a:srgbClr val="333A4A"/>
                </a:solidFill>
              </a:rPr>
              <a:t>, E</a:t>
            </a:r>
            <a:r>
              <a:rPr sz="1150" b="0" baseline="-25000">
                <a:solidFill>
                  <a:srgbClr val="333A4A"/>
                </a:solidFill>
              </a:rPr>
              <a:t>Fn</a:t>
            </a:r>
            <a:r>
              <a:rPr sz="1600" b="0">
                <a:solidFill>
                  <a:srgbClr val="333A4A"/>
                </a:solidFill>
              </a:rPr>
              <a:t>, E</a:t>
            </a:r>
            <a:r>
              <a:rPr sz="1150" b="0" baseline="-25000">
                <a:solidFill>
                  <a:srgbClr val="333A4A"/>
                </a:solidFill>
              </a:rPr>
              <a:t>Fp</a:t>
            </a:r>
            <a:r>
              <a:rPr sz="1600" b="0">
                <a:solidFill>
                  <a:srgbClr val="333A4A"/>
                </a:solidFill>
              </a:rPr>
              <a:t>) [1]; SolarLab: method-of-lines Radau</a:t>
            </a:r>
            <a:endParaRPr sz="1600" b="0">
              <a:solidFill>
                <a:srgbClr val="333A4A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4700" y="2372360"/>
            <a:ext cx="8101965" cy="36163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0698"/>
            <a:ext cx="11064240" cy="5530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3000" b="1">
                <a:solidFill>
                  <a:srgbClr val="1F2A44"/>
                </a:solidFill>
              </a:rPr>
              <a:t>SolarLab </a:t>
            </a:r>
            <a:r>
              <a:rPr sz="3000" b="1">
                <a:solidFill>
                  <a:srgbClr val="1F2A44"/>
                </a:solidFill>
              </a:rPr>
              <a:t>DD Solvers on the</a:t>
            </a:r>
            <a:r>
              <a:rPr lang="en-US" sz="3000" b="1">
                <a:solidFill>
                  <a:srgbClr val="1F2A44"/>
                </a:solidFill>
              </a:rPr>
              <a:t> </a:t>
            </a:r>
            <a:r>
              <a:rPr sz="3000" b="1">
                <a:solidFill>
                  <a:srgbClr val="1F2A44"/>
                </a:solidFill>
              </a:rPr>
              <a:t>MAPbI</a:t>
            </a:r>
            <a:r>
              <a:rPr sz="2160" b="1" baseline="-25000">
                <a:solidFill>
                  <a:srgbClr val="1F2A44"/>
                </a:solidFill>
              </a:rPr>
              <a:t>3</a:t>
            </a:r>
            <a:r>
              <a:rPr sz="3000" b="1">
                <a:solidFill>
                  <a:srgbClr val="1F2A44"/>
                </a:solidFill>
              </a:rPr>
              <a:t> Base Model</a:t>
            </a:r>
            <a:endParaRPr sz="3000" b="1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64240" cy="31750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38885"/>
            <a:ext cx="5029200" cy="4937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SCAPS: Gummel+Newton, (</a:t>
            </a:r>
            <a:r>
              <a:rPr sz="1600" b="0">
                <a:solidFill>
                  <a:srgbClr val="333A4A"/>
                </a:solidFill>
                <a:latin typeface="PingFang SC" panose="020B0400000000000000" charset="-122"/>
                <a:ea typeface="PingFang SC" panose="020B0400000000000000" charset="-122"/>
              </a:rPr>
              <a:t>Φ</a:t>
            </a:r>
            <a:r>
              <a:rPr sz="1600" b="0">
                <a:solidFill>
                  <a:srgbClr val="333A4A"/>
                </a:solidFill>
              </a:rPr>
              <a:t>, E</a:t>
            </a:r>
            <a:r>
              <a:rPr sz="1150" b="0" baseline="-25000">
                <a:solidFill>
                  <a:srgbClr val="333A4A"/>
                </a:solidFill>
              </a:rPr>
              <a:t>Fn</a:t>
            </a:r>
            <a:r>
              <a:rPr sz="1600" b="0">
                <a:solidFill>
                  <a:srgbClr val="333A4A"/>
                </a:solidFill>
              </a:rPr>
              <a:t>, E</a:t>
            </a:r>
            <a:r>
              <a:rPr sz="1150" b="0" baseline="-25000">
                <a:solidFill>
                  <a:srgbClr val="333A4A"/>
                </a:solidFill>
              </a:rPr>
              <a:t>Fp</a:t>
            </a:r>
            <a:r>
              <a:rPr sz="1600" b="0">
                <a:solidFill>
                  <a:srgbClr val="333A4A"/>
                </a:solidFill>
              </a:rPr>
              <a:t>) [1]; SolarLab: method-of-lines Radau</a:t>
            </a:r>
            <a:endParaRPr sz="1600" b="0">
              <a:solidFill>
                <a:srgbClr val="333A4A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8210" y="1568450"/>
            <a:ext cx="6190615" cy="27584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210" y="4554220"/>
            <a:ext cx="6985000" cy="2076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0698"/>
            <a:ext cx="11064240" cy="5530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</a:rPr>
              <a:t>Two DD Solvers on the</a:t>
            </a:r>
            <a:r>
              <a:rPr lang="en-US" sz="3000" b="1">
                <a:solidFill>
                  <a:srgbClr val="1F2A44"/>
                </a:solidFill>
              </a:rPr>
              <a:t> </a:t>
            </a:r>
            <a:r>
              <a:rPr sz="3000" b="1">
                <a:solidFill>
                  <a:srgbClr val="1F2A44"/>
                </a:solidFill>
              </a:rPr>
              <a:t>MAPbI</a:t>
            </a:r>
            <a:r>
              <a:rPr sz="2160" b="1" baseline="-25000">
                <a:solidFill>
                  <a:srgbClr val="1F2A44"/>
                </a:solidFill>
              </a:rPr>
              <a:t>3</a:t>
            </a:r>
            <a:r>
              <a:rPr sz="3000" b="1">
                <a:solidFill>
                  <a:srgbClr val="1F2A44"/>
                </a:solidFill>
              </a:rPr>
              <a:t> Base Model</a:t>
            </a:r>
            <a:endParaRPr sz="3000" b="1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64240" cy="31750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029200" cy="4937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Both Boltzmann, Scharfetter–Gummel flux [5], tunnelling OFF [2]</a:t>
            </a:r>
            <a:endParaRPr sz="1600" b="0">
              <a:solidFill>
                <a:srgbClr val="333A4A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7475" y="1898015"/>
            <a:ext cx="4251960" cy="44837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177405" y="1417320"/>
            <a:ext cx="28327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>
                <a:solidFill>
                  <a:srgbClr val="333A4A"/>
                </a:solidFill>
                <a:sym typeface="+mn-ea"/>
              </a:rPr>
              <a:t>Scharfetter–Gummel flux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390" y="2907030"/>
            <a:ext cx="3211830" cy="122174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015683" y="243427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/>
              <a:t>The electron (n) and hole (p) densities are given by</a:t>
            </a:r>
            <a:endParaRPr lang="en-US" altLang="zh-CN"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0698"/>
            <a:ext cx="11064240" cy="5530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3000" b="1">
                <a:solidFill>
                  <a:srgbClr val="333A4A"/>
                </a:solidFill>
                <a:sym typeface="+mn-ea"/>
              </a:rPr>
              <a:t>T</a:t>
            </a:r>
            <a:r>
              <a:rPr sz="3000" b="1">
                <a:solidFill>
                  <a:srgbClr val="333A4A"/>
                </a:solidFill>
                <a:sym typeface="+mn-ea"/>
              </a:rPr>
              <a:t>unnelling </a:t>
            </a:r>
            <a:endParaRPr sz="3000" b="1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64240" cy="31750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2885" y="1524635"/>
            <a:ext cx="9176385" cy="48190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0698"/>
            <a:ext cx="11064240" cy="5530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US" sz="3000" b="1">
                <a:solidFill>
                  <a:srgbClr val="333A4A"/>
                </a:solidFill>
                <a:sym typeface="+mn-ea"/>
              </a:rPr>
              <a:t>T</a:t>
            </a:r>
            <a:r>
              <a:rPr sz="3000" b="1">
                <a:solidFill>
                  <a:srgbClr val="333A4A"/>
                </a:solidFill>
                <a:sym typeface="+mn-ea"/>
              </a:rPr>
              <a:t>unnelling </a:t>
            </a:r>
            <a:endParaRPr sz="3000" b="1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64240" cy="31750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31340"/>
            <a:ext cx="5323205" cy="41719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350" y="2042795"/>
            <a:ext cx="5817870" cy="3749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0698"/>
            <a:ext cx="11064240" cy="5530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</a:rPr>
              <a:t>Where SolarLab and SCAPS Diverge</a:t>
            </a:r>
            <a:endParaRPr sz="3000" b="1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64240" cy="31750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029200" cy="4937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V</a:t>
            </a:r>
            <a:r>
              <a:rPr sz="1150" b="0" baseline="-25000">
                <a:solidFill>
                  <a:srgbClr val="333A4A"/>
                </a:solidFill>
              </a:rPr>
              <a:t>bi</a:t>
            </a:r>
            <a:r>
              <a:rPr sz="1600" b="0">
                <a:solidFill>
                  <a:srgbClr val="333A4A"/>
                </a:solidFill>
              </a:rPr>
              <a:t>: frozen scalar (SolarLab) vs. doping/band-tracking flatband (SCAPS) [1,6]</a:t>
            </a:r>
            <a:endParaRPr sz="1600" b="0">
              <a:solidFill>
                <a:srgbClr val="333A4A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Interface SRH: bulk-projected cross-carrier vs. single-plane Pauwels–Vanhoutte [8]</a:t>
            </a:r>
            <a:endParaRPr sz="1600" b="0">
              <a:solidFill>
                <a:srgbClr val="333A4A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Contacts: hard-Dirichlet ohmic vs. flatband work-function [6]</a:t>
            </a:r>
            <a:endParaRPr sz="1600" b="0">
              <a:solidFill>
                <a:srgbClr val="333A4A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Transport: TE flux-cap on SG vs. TE as the interface BC [4]</a:t>
            </a:r>
            <a:endParaRPr sz="1600" b="0">
              <a:solidFill>
                <a:srgbClr val="333A4A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Optics: TMM front reflection + finite absorber vs. R=0 ideal</a:t>
            </a:r>
            <a:endParaRPr sz="1600" b="0">
              <a:solidFill>
                <a:srgbClr val="333A4A"/>
              </a:solidFill>
            </a:endParaRPr>
          </a:p>
        </p:txBody>
      </p:sp>
      <p:pic>
        <p:nvPicPr>
          <p:cNvPr id="5" name="Picture 4" descr="f4_solver_arc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023208"/>
            <a:ext cx="5852160" cy="37259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0698"/>
            <a:ext cx="11064240" cy="5530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>
                <a:solidFill>
                  <a:srgbClr val="333A4A"/>
                </a:solidFill>
                <a:sym typeface="+mn-ea"/>
              </a:rPr>
              <a:t>V</a:t>
            </a:r>
            <a:r>
              <a:rPr sz="3000" baseline="-25000">
                <a:solidFill>
                  <a:srgbClr val="333A4A"/>
                </a:solidFill>
                <a:sym typeface="+mn-ea"/>
              </a:rPr>
              <a:t>bi</a:t>
            </a:r>
            <a:endParaRPr sz="3000" b="1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64240" cy="31750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029200" cy="4937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V</a:t>
            </a:r>
            <a:r>
              <a:rPr sz="1150" b="0" baseline="-25000">
                <a:solidFill>
                  <a:srgbClr val="333A4A"/>
                </a:solidFill>
              </a:rPr>
              <a:t>bi</a:t>
            </a:r>
            <a:r>
              <a:rPr sz="1600" b="0">
                <a:solidFill>
                  <a:srgbClr val="333A4A"/>
                </a:solidFill>
              </a:rPr>
              <a:t>: frozen scalar (SolarLab) vs. doping/band-tracking flatband (SCAPS) [1,6]</a:t>
            </a:r>
            <a:endParaRPr sz="1600" b="0">
              <a:solidFill>
                <a:srgbClr val="333A4A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sz="1600" b="0">
              <a:solidFill>
                <a:srgbClr val="333A4A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2620" y="2219325"/>
            <a:ext cx="4073525" cy="39084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9290" y="2814955"/>
            <a:ext cx="6761480" cy="19062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0698"/>
            <a:ext cx="11064240" cy="5530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>
                <a:solidFill>
                  <a:srgbClr val="333A4A"/>
                </a:solidFill>
                <a:sym typeface="+mn-ea"/>
              </a:rPr>
              <a:t>Interface SRH</a:t>
            </a:r>
            <a:endParaRPr sz="3000" b="1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64240" cy="31750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029200" cy="4937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Interface SRH: bulk-projected cross-carrier vs. single-plane Pauwels–Vanhoutte [8]</a:t>
            </a:r>
            <a:endParaRPr sz="1600" b="0">
              <a:solidFill>
                <a:srgbClr val="333A4A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sz="1600" b="0">
              <a:solidFill>
                <a:srgbClr val="333A4A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7180" y="1337945"/>
            <a:ext cx="5395595" cy="47726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30" y="2204085"/>
            <a:ext cx="6546850" cy="368363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0698"/>
            <a:ext cx="11064240" cy="5530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>
                <a:solidFill>
                  <a:srgbClr val="333A4A"/>
                </a:solidFill>
                <a:sym typeface="+mn-ea"/>
              </a:rPr>
              <a:t>Contacts</a:t>
            </a:r>
            <a:endParaRPr sz="3000" b="1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64240" cy="31750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029200" cy="4937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Contacts: hard-Dirichlet ohmic vs. flatband work-function [6]</a:t>
            </a:r>
            <a:endParaRPr sz="1600" b="0">
              <a:solidFill>
                <a:srgbClr val="333A4A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sz="1600" b="0">
              <a:solidFill>
                <a:srgbClr val="333A4A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4115" y="1307465"/>
            <a:ext cx="4219575" cy="16903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120" y="2950210"/>
            <a:ext cx="3754755" cy="34048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2586355"/>
            <a:ext cx="5756275" cy="18624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0698"/>
            <a:ext cx="11064240" cy="5530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>
                <a:solidFill>
                  <a:srgbClr val="333A4A"/>
                </a:solidFill>
                <a:sym typeface="+mn-ea"/>
              </a:rPr>
              <a:t>Optics</a:t>
            </a:r>
            <a:endParaRPr sz="3000" b="1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64240" cy="31750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029200" cy="4937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Optics: TMM front reflection + finite absorber vs. R=0 ideal</a:t>
            </a:r>
            <a:endParaRPr sz="1600" b="0">
              <a:solidFill>
                <a:srgbClr val="333A4A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9055" y="2086610"/>
            <a:ext cx="9532620" cy="41262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0698"/>
            <a:ext cx="11064240" cy="5530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>
                <a:solidFill>
                  <a:srgbClr val="333A4A"/>
                </a:solidFill>
                <a:sym typeface="+mn-ea"/>
              </a:rPr>
              <a:t>Transport</a:t>
            </a:r>
            <a:endParaRPr sz="3000" b="1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64240" cy="31750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029200" cy="4937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Transport: TE flux-cap on SG vs. TE as the interface BC [4]</a:t>
            </a:r>
            <a:endParaRPr sz="1600" b="0">
              <a:solidFill>
                <a:srgbClr val="333A4A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9265" y="1796415"/>
            <a:ext cx="5086350" cy="195072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2655" y="3925570"/>
            <a:ext cx="4039870" cy="24295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85" y="2781935"/>
            <a:ext cx="6468745" cy="27933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0698"/>
            <a:ext cx="11064240" cy="5530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</a:rPr>
              <a:t>Frozen V</a:t>
            </a:r>
            <a:r>
              <a:rPr sz="2160" b="1" baseline="-25000">
                <a:solidFill>
                  <a:srgbClr val="1F2A44"/>
                </a:solidFill>
              </a:rPr>
              <a:t>bi</a:t>
            </a:r>
            <a:r>
              <a:rPr sz="3000" b="1">
                <a:solidFill>
                  <a:srgbClr val="1F2A44"/>
                </a:solidFill>
              </a:rPr>
              <a:t> Severs the ETL-Doping Lever</a:t>
            </a:r>
            <a:endParaRPr sz="3000" b="1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64240" cy="31750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029200" cy="4937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Poisson boundary hard-wired to V</a:t>
            </a:r>
            <a:r>
              <a:rPr sz="1150" b="0" baseline="-25000">
                <a:solidFill>
                  <a:srgbClr val="333A4A"/>
                </a:solidFill>
              </a:rPr>
              <a:t>bi</a:t>
            </a:r>
            <a:r>
              <a:rPr sz="1600" b="0">
                <a:solidFill>
                  <a:srgbClr val="333A4A"/>
                </a:solidFill>
              </a:rPr>
              <a:t>=1.30 V (config line 40)</a:t>
            </a:r>
            <a:endParaRPr sz="1600" b="0">
              <a:solidFill>
                <a:srgbClr val="333A4A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Band-derived V</a:t>
            </a:r>
            <a:r>
              <a:rPr sz="1150" b="0" baseline="-25000">
                <a:solidFill>
                  <a:srgbClr val="333A4A"/>
                </a:solidFill>
              </a:rPr>
              <a:t>bi,eff</a:t>
            </a:r>
            <a:r>
              <a:rPr sz="1600" b="0">
                <a:solidFill>
                  <a:srgbClr val="333A4A"/>
                </a:solidFill>
              </a:rPr>
              <a:t> computed but routed only to sweep range</a:t>
            </a:r>
            <a:endParaRPr sz="1600" b="0">
              <a:solidFill>
                <a:srgbClr val="333A4A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Raising N</a:t>
            </a:r>
            <a:r>
              <a:rPr sz="1150" b="0" baseline="-25000">
                <a:solidFill>
                  <a:srgbClr val="333A4A"/>
                </a:solidFill>
              </a:rPr>
              <a:t>D</a:t>
            </a:r>
            <a:r>
              <a:rPr sz="1600" b="0">
                <a:solidFill>
                  <a:srgbClr val="333A4A"/>
                </a:solidFill>
              </a:rPr>
              <a:t> cannot lift built-in potential → V</a:t>
            </a:r>
            <a:r>
              <a:rPr sz="1150" b="0" baseline="-25000">
                <a:solidFill>
                  <a:srgbClr val="333A4A"/>
                </a:solidFill>
              </a:rPr>
              <a:t>oc</a:t>
            </a:r>
            <a:r>
              <a:rPr sz="1600" b="0">
                <a:solidFill>
                  <a:srgbClr val="333A4A"/>
                </a:solidFill>
              </a:rPr>
              <a:t> flat</a:t>
            </a:r>
            <a:endParaRPr sz="1600" b="0">
              <a:solidFill>
                <a:srgbClr val="333A4A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SCAPS rises +100 mV; SolarLab nets −11 mV (direction reversal)</a:t>
            </a:r>
            <a:endParaRPr sz="1600" b="0">
              <a:solidFill>
                <a:srgbClr val="333A4A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Signature: V</a:t>
            </a:r>
            <a:r>
              <a:rPr sz="1150" b="0" baseline="-25000">
                <a:solidFill>
                  <a:srgbClr val="333A4A"/>
                </a:solidFill>
              </a:rPr>
              <a:t>oc</a:t>
            </a:r>
            <a:r>
              <a:rPr sz="1600" b="0">
                <a:solidFill>
                  <a:srgbClr val="333A4A"/>
                </a:solidFill>
              </a:rPr>
              <a:t> falls 1.0954→1.0656 V then drifts to 1.0844 V</a:t>
            </a:r>
            <a:endParaRPr sz="1600" b="0">
              <a:solidFill>
                <a:srgbClr val="333A4A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Classification: numerical boundary, not interface recombination</a:t>
            </a:r>
            <a:endParaRPr sz="1600" b="0">
              <a:solidFill>
                <a:srgbClr val="333A4A"/>
              </a:solidFill>
            </a:endParaRPr>
          </a:p>
        </p:txBody>
      </p:sp>
      <p:pic>
        <p:nvPicPr>
          <p:cNvPr id="5" name="Picture 4" descr="f1_voc_lev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423160"/>
            <a:ext cx="585216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</a:rPr>
              <a:t>Refuting the Prior 37x-J</a:t>
            </a:r>
            <a:r>
              <a:rPr sz="2160" b="1" baseline="-25000">
                <a:solidFill>
                  <a:srgbClr val="1F2A44"/>
                </a:solidFill>
              </a:rPr>
              <a:t>0</a:t>
            </a:r>
            <a:r>
              <a:rPr sz="3000" b="1">
                <a:solidFill>
                  <a:srgbClr val="1F2A44"/>
                </a:solidFill>
              </a:rPr>
              <a:t> Claim: The CBO Gap Persists</a:t>
            </a:r>
            <a:endParaRPr sz="3000" b="1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64240" cy="31750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029200" cy="4937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Prior report: 37x J</a:t>
            </a:r>
            <a:r>
              <a:rPr sz="1150" b="0" baseline="-25000">
                <a:solidFill>
                  <a:srgbClr val="333A4A"/>
                </a:solidFill>
              </a:rPr>
              <a:t>0</a:t>
            </a:r>
            <a:r>
              <a:rPr sz="1600" b="0">
                <a:solidFill>
                  <a:srgbClr val="333A4A"/>
                </a:solidFill>
              </a:rPr>
              <a:t> from QFL dissipated across band offsets</a:t>
            </a:r>
            <a:endParaRPr sz="1600" b="0">
              <a:solidFill>
                <a:srgbClr val="333A4A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Test: sweep the conduction-band offset to Delta-E</a:t>
            </a:r>
            <a:r>
              <a:rPr sz="1150" b="0" baseline="-25000">
                <a:solidFill>
                  <a:srgbClr val="333A4A"/>
                </a:solidFill>
              </a:rPr>
              <a:t>C</a:t>
            </a:r>
            <a:r>
              <a:rPr sz="1600" b="0">
                <a:solidFill>
                  <a:srgbClr val="333A4A"/>
                </a:solidFill>
              </a:rPr>
              <a:t> → 0</a:t>
            </a:r>
            <a:endParaRPr sz="1600" b="0">
              <a:solidFill>
                <a:srgbClr val="333A4A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Removing the offset does NOT close the gap</a:t>
            </a:r>
            <a:endParaRPr sz="1600" b="0">
              <a:solidFill>
                <a:srgbClr val="333A4A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At Delta-E</a:t>
            </a:r>
            <a:r>
              <a:rPr sz="1150" b="0" baseline="-25000">
                <a:solidFill>
                  <a:srgbClr val="333A4A"/>
                </a:solidFill>
              </a:rPr>
              <a:t>C</a:t>
            </a:r>
            <a:r>
              <a:rPr sz="1600" b="0">
                <a:solidFill>
                  <a:srgbClr val="333A4A"/>
                </a:solidFill>
              </a:rPr>
              <a:t>=0: SolarLab ~1.085 V vs. SCAPS ~1.248 V (~163 mV)</a:t>
            </a:r>
            <a:endParaRPr sz="1600" b="0">
              <a:solidFill>
                <a:srgbClr val="333A4A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Gap widens, not closes — the offset is not the seat of the deficit</a:t>
            </a:r>
            <a:endParaRPr sz="1600" b="0">
              <a:solidFill>
                <a:srgbClr val="333A4A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Prior central physical claim should be retracted</a:t>
            </a:r>
            <a:endParaRPr sz="1600" b="0">
              <a:solidFill>
                <a:srgbClr val="333A4A"/>
              </a:solidFill>
            </a:endParaRPr>
          </a:p>
        </p:txBody>
      </p:sp>
      <p:pic>
        <p:nvPicPr>
          <p:cNvPr id="5" name="Picture 4" descr="f2_cbo_refu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474730"/>
            <a:ext cx="5852160" cy="282293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0698"/>
            <a:ext cx="11064240" cy="5530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</a:rPr>
              <a:t>SolarLab Sits at the Measured Median</a:t>
            </a:r>
            <a:endParaRPr sz="3000" b="1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64240" cy="31750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029200" cy="4937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Shockley–Queisser ceiling at E</a:t>
            </a:r>
            <a:r>
              <a:rPr sz="1150" b="0" baseline="-25000">
                <a:solidFill>
                  <a:srgbClr val="333A4A"/>
                </a:solidFill>
              </a:rPr>
              <a:t>g</a:t>
            </a:r>
            <a:r>
              <a:rPr sz="1600" b="0">
                <a:solidFill>
                  <a:srgbClr val="333A4A"/>
                </a:solidFill>
              </a:rPr>
              <a:t>=1.53 eV: ~1.28–1.33 V [12,14,15]</a:t>
            </a:r>
            <a:endParaRPr sz="1600" b="0">
              <a:solidFill>
                <a:srgbClr val="333A4A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Measured-device V</a:t>
            </a:r>
            <a:r>
              <a:rPr sz="1150" b="0" baseline="-25000">
                <a:solidFill>
                  <a:srgbClr val="333A4A"/>
                </a:solidFill>
              </a:rPr>
              <a:t>oc</a:t>
            </a:r>
            <a:r>
              <a:rPr sz="1600" b="0">
                <a:solidFill>
                  <a:srgbClr val="333A4A"/>
                </a:solidFill>
              </a:rPr>
              <a:t> median: ~1.05–1.13 V; champions to ~1.17 V [16,18]</a:t>
            </a:r>
            <a:endParaRPr sz="1600" b="0">
              <a:solidFill>
                <a:srgbClr val="333A4A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SolarLab 1.072 V sits inside the measured median band [13,18]</a:t>
            </a:r>
            <a:endParaRPr sz="1600" b="0">
              <a:solidFill>
                <a:srgbClr val="333A4A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SCAPS 1.1676 V is at the published champion ceiling [16,17]</a:t>
            </a:r>
            <a:endParaRPr sz="1600" b="0">
              <a:solidFill>
                <a:srgbClr val="333A4A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SCAPS PCE 26.69% exceeds the certified MAPbI</a:t>
            </a:r>
            <a:r>
              <a:rPr sz="1150" b="0" baseline="-25000">
                <a:solidFill>
                  <a:srgbClr val="333A4A"/>
                </a:solidFill>
              </a:rPr>
              <a:t>3</a:t>
            </a:r>
            <a:r>
              <a:rPr sz="1600" b="0">
                <a:solidFill>
                  <a:srgbClr val="333A4A"/>
                </a:solidFill>
              </a:rPr>
              <a:t> record (~21–23%) [16,17]</a:t>
            </a:r>
            <a:endParaRPr sz="1600" b="0">
              <a:solidFill>
                <a:srgbClr val="333A4A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On absolutes, SolarLab is the more conservative, representative value</a:t>
            </a:r>
            <a:endParaRPr sz="1600" b="0">
              <a:solidFill>
                <a:srgbClr val="333A4A"/>
              </a:solidFill>
            </a:endParaRPr>
          </a:p>
        </p:txBody>
      </p:sp>
      <p:pic>
        <p:nvPicPr>
          <p:cNvPr id="5" name="Picture 4" descr="f7_experiment_vo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455143"/>
            <a:ext cx="5852160" cy="286211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0698"/>
            <a:ext cx="11064240" cy="55308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</a:rPr>
              <a:t>PCE Anomaly = A J</a:t>
            </a:r>
            <a:r>
              <a:rPr sz="2160" b="1" baseline="-25000">
                <a:solidFill>
                  <a:srgbClr val="1F2A44"/>
                </a:solidFill>
              </a:rPr>
              <a:t>sc</a:t>
            </a:r>
            <a:r>
              <a:rPr sz="3000" b="1">
                <a:solidFill>
                  <a:srgbClr val="1F2A44"/>
                </a:solidFill>
              </a:rPr>
              <a:t> Cell-Splice</a:t>
            </a:r>
            <a:endParaRPr sz="3000" b="1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64240" cy="31750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029200" cy="493776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PCE ≡ V</a:t>
            </a:r>
            <a:r>
              <a:rPr sz="1150" b="0" baseline="-25000">
                <a:solidFill>
                  <a:srgbClr val="333A4A"/>
                </a:solidFill>
              </a:rPr>
              <a:t>oc</a:t>
            </a:r>
            <a:r>
              <a:rPr sz="1600" b="0">
                <a:solidFill>
                  <a:srgbClr val="333A4A"/>
                </a:solidFill>
              </a:rPr>
              <a:t>·J</a:t>
            </a:r>
            <a:r>
              <a:rPr sz="1150" b="0" baseline="-25000">
                <a:solidFill>
                  <a:srgbClr val="333A4A"/>
                </a:solidFill>
              </a:rPr>
              <a:t>sc</a:t>
            </a:r>
            <a:r>
              <a:rPr sz="1600" b="0">
                <a:solidFill>
                  <a:srgbClr val="333A4A"/>
                </a:solidFill>
              </a:rPr>
              <a:t>·FF is algebraically locked per run</a:t>
            </a:r>
            <a:endParaRPr sz="1600" b="0">
              <a:solidFill>
                <a:srgbClr val="333A4A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Task tuple violates the lock by +1.51 pp → multi-source pairing</a:t>
            </a:r>
            <a:endParaRPr sz="1600" b="0">
              <a:solidFill>
                <a:srgbClr val="333A4A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Foreign cell is J</a:t>
            </a:r>
            <a:r>
              <a:rPr sz="1150" b="0" baseline="-25000">
                <a:solidFill>
                  <a:srgbClr val="333A4A"/>
                </a:solidFill>
              </a:rPr>
              <a:t>sc</a:t>
            </a:r>
            <a:r>
              <a:rPr sz="1600" b="0">
                <a:solidFill>
                  <a:srgbClr val="333A4A"/>
                </a:solidFill>
              </a:rPr>
              <a:t>=25.73 (an N</a:t>
            </a:r>
            <a:r>
              <a:rPr sz="1150" b="0" baseline="-25000">
                <a:solidFill>
                  <a:srgbClr val="333A4A"/>
                </a:solidFill>
              </a:rPr>
              <a:t>grid</a:t>
            </a:r>
            <a:r>
              <a:rPr sz="1600" b="0">
                <a:solidFill>
                  <a:srgbClr val="333A4A"/>
                </a:solidFill>
              </a:rPr>
              <a:t>=30 run), not PCE</a:t>
            </a:r>
            <a:endParaRPr sz="1600" b="0">
              <a:solidFill>
                <a:srgbClr val="333A4A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Genuine J</a:t>
            </a:r>
            <a:r>
              <a:rPr sz="1150" b="0" baseline="-25000">
                <a:solidFill>
                  <a:srgbClr val="333A4A"/>
                </a:solidFill>
              </a:rPr>
              <a:t>sc</a:t>
            </a:r>
            <a:r>
              <a:rPr sz="1600" b="0">
                <a:solidFill>
                  <a:srgbClr val="333A4A"/>
                </a:solidFill>
              </a:rPr>
              <a:t>=23.96 → locked PCE = 22.1%</a:t>
            </a:r>
            <a:endParaRPr sz="1600" b="0">
              <a:solidFill>
                <a:srgbClr val="333A4A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Prior "true PCE ~23.6%" re-commits the splice — also wrong</a:t>
            </a:r>
            <a:endParaRPr sz="1600" b="0">
              <a:solidFill>
                <a:srgbClr val="333A4A"/>
              </a:solidFill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1A4E8A"/>
                </a:solidFill>
              </a:rPr>
              <a:t>•  </a:t>
            </a:r>
            <a:r>
              <a:rPr sz="1600" b="0">
                <a:solidFill>
                  <a:srgbClr val="333A4A"/>
                </a:solidFill>
              </a:rPr>
              <a:t>Classification: reporting artifact (held 3/3 at top level)</a:t>
            </a:r>
            <a:endParaRPr sz="1600" b="0">
              <a:solidFill>
                <a:srgbClr val="333A4A"/>
              </a:solidFill>
            </a:endParaRPr>
          </a:p>
        </p:txBody>
      </p:sp>
      <p:pic>
        <p:nvPicPr>
          <p:cNvPr id="5" name="Picture 4" descr="f3_pce_spli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376361"/>
            <a:ext cx="5852160" cy="301967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000" b="1">
                <a:solidFill>
                  <a:srgbClr val="1F2A44"/>
                </a:solidFill>
              </a:rPr>
              <a:t>References</a:t>
            </a:r>
            <a:endParaRPr sz="3000" b="1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207008"/>
            <a:ext cx="11064240" cy="31750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333A4A"/>
                </a:solidFill>
              </a:rPr>
              <a:t>[1] M. Burgelman, P. Nollet, S. Degrave. Modelling polycrystalline semiconductor solar cells. Thin Solid Films 361–362, 527–532 (2000).</a:t>
            </a:r>
            <a:endParaRPr sz="1100" b="0">
              <a:solidFill>
                <a:srgbClr val="333A4A"/>
              </a:solidFill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333A4A"/>
                </a:solidFill>
              </a:rPr>
              <a:t>[2] M. Burgelman, J. Marlein. Analysis of graded band gap solar cells with SCAPS. Thin Solid Films 515(15), 6276–6278 (2007).</a:t>
            </a:r>
            <a:endParaRPr sz="1100" b="0">
              <a:solidFill>
                <a:srgbClr val="333A4A"/>
              </a:solidFill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333A4A"/>
                </a:solidFill>
              </a:rPr>
              <a:t>[3] K. Decock, S. Khelifi, M. Burgelman. Modelling multivalent defects in thin-film solar cells. Thin Solid Films 519(21), 7481–7484 (2011).</a:t>
            </a:r>
            <a:endParaRPr sz="1100" b="0">
              <a:solidFill>
                <a:srgbClr val="333A4A"/>
              </a:solidFill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333A4A"/>
                </a:solidFill>
              </a:rPr>
              <a:t>[4] J. Niemegeers, M. Burgelman. Thermionic-emission interface transport and numerical scheme (1998).</a:t>
            </a:r>
            <a:endParaRPr sz="1100" b="0">
              <a:solidFill>
                <a:srgbClr val="333A4A"/>
              </a:solidFill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333A4A"/>
                </a:solidFill>
              </a:rPr>
              <a:t>[5] D. L. Scharfetter, H. K. Gummel. Large-signal analysis of a silicon Read diode oscillator. IEEE TED 16(1), 64–77 (1969).</a:t>
            </a:r>
            <a:endParaRPr sz="1100" b="0">
              <a:solidFill>
                <a:srgbClr val="333A4A"/>
              </a:solidFill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333A4A"/>
                </a:solidFill>
              </a:rPr>
              <a:t>[6] SCAPS Manual (Feb 2016), University of Gent. pp. 9–10, 24/26, 30–31, 36–37, 39–41.</a:t>
            </a:r>
            <a:endParaRPr sz="1100" b="0">
              <a:solidFill>
                <a:srgbClr val="333A4A"/>
              </a:solidFill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333A4A"/>
                </a:solidFill>
              </a:rPr>
              <a:t>[7] W. Shockley, W. T. Read. Statistics of the recombinations of holes and electrons. Phys. Rev. 87(5), 835–842 (1952).</a:t>
            </a:r>
            <a:endParaRPr sz="1100" b="0">
              <a:solidFill>
                <a:srgbClr val="333A4A"/>
              </a:solidFill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333A4A"/>
                </a:solidFill>
              </a:rPr>
              <a:t>[8] R. J. Pauwels, G. Vanhoutte. Influence of interface state and energy barriers on heterojunction solar cell efficiency. J. Phys. D 11(5), 649 (1978).</a:t>
            </a:r>
            <a:endParaRPr sz="1100" b="0">
              <a:solidFill>
                <a:srgbClr val="333A4A"/>
              </a:solidFill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333A4A"/>
                </a:solidFill>
              </a:rPr>
              <a:t>[9] J. Nelson. The Physics of Solar Cells. Imperial College Press (2003).</a:t>
            </a:r>
            <a:endParaRPr sz="1100" b="0">
              <a:solidFill>
                <a:srgbClr val="333A4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63640" y="1417320"/>
            <a:ext cx="55778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333A4A"/>
                </a:solidFill>
              </a:rPr>
              <a:t>[10] P. Calado et al. Evidence for ion migration in hybrid perovskite solar cells. Nat. Commun. 7, 13831 (2016) / Driftfusion.</a:t>
            </a:r>
            <a:endParaRPr sz="1100" b="0">
              <a:solidFill>
                <a:srgbClr val="333A4A"/>
              </a:solidFill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333A4A"/>
                </a:solidFill>
              </a:rPr>
              <a:t>[11] N. E. Courtier et al. IonMonger: a free and fast planar perovskite solar cell simulator. J. Comput. Electron. 18, 1435–1449 (2019).</a:t>
            </a:r>
            <a:endParaRPr sz="1100" b="0">
              <a:solidFill>
                <a:srgbClr val="333A4A"/>
              </a:solidFill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333A4A"/>
                </a:solidFill>
              </a:rPr>
              <a:t>[12] Effect of perovskite thickness on EL and conversion efficiency. J. Phys. Chem. Lett. (2020). doi:10.1021/acs.jpclett.0c02363.</a:t>
            </a:r>
            <a:endParaRPr sz="1100" b="0">
              <a:solidFill>
                <a:srgbClr val="333A4A"/>
              </a:solidFill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333A4A"/>
                </a:solidFill>
              </a:rPr>
              <a:t>[13] K. Tvingstedt et al. Radiative efficiency of lead iodide perovskite solar cells. Sci. Rep. 4, 6071 (2014). doi:10.1038/srep06071.</a:t>
            </a:r>
            <a:endParaRPr sz="1100" b="0">
              <a:solidFill>
                <a:srgbClr val="333A4A"/>
              </a:solidFill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333A4A"/>
                </a:solidFill>
              </a:rPr>
              <a:t>[14] L. M. Pazos-Outón et al. Fundamental efficiency limit of lead iodide perovskite. J. Phys. Chem. Lett. 9(7), 1703–1711 (2018).</a:t>
            </a:r>
            <a:endParaRPr sz="1100" b="0">
              <a:solidFill>
                <a:srgbClr val="333A4A"/>
              </a:solidFill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333A4A"/>
                </a:solidFill>
              </a:rPr>
              <a:t>[15] W. E. I. Sha et al. The efficiency limit of CH₃NH₃PbI₃ perovskite solar cells. Appl. Phys. Lett. 106, 221104 (2015). arXiv:1506.09003.</a:t>
            </a:r>
            <a:endParaRPr sz="1100" b="0">
              <a:solidFill>
                <a:srgbClr val="333A4A"/>
              </a:solidFill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333A4A"/>
                </a:solidFill>
              </a:rPr>
              <a:t>[16] Mesoporous-TiO₂/spiro champion. Energy Environ. Sci. (2016); PMC4705040. J</a:t>
            </a:r>
            <a:r>
              <a:rPr sz="790" b="0" baseline="-25000">
                <a:solidFill>
                  <a:srgbClr val="333A4A"/>
                </a:solidFill>
              </a:rPr>
              <a:t>sc</a:t>
            </a:r>
            <a:r>
              <a:rPr sz="1100" b="0">
                <a:solidFill>
                  <a:srgbClr val="333A4A"/>
                </a:solidFill>
              </a:rPr>
              <a:t> 24.6, V</a:t>
            </a:r>
            <a:r>
              <a:rPr sz="790" b="0" baseline="-25000">
                <a:solidFill>
                  <a:srgbClr val="333A4A"/>
                </a:solidFill>
              </a:rPr>
              <a:t>oc</a:t>
            </a:r>
            <a:r>
              <a:rPr sz="1100" b="0">
                <a:solidFill>
                  <a:srgbClr val="333A4A"/>
                </a:solidFill>
              </a:rPr>
              <a:t> 1.16 V, FF 0.73, PCE 20.8%.</a:t>
            </a:r>
            <a:endParaRPr sz="1100" b="0">
              <a:solidFill>
                <a:srgbClr val="333A4A"/>
              </a:solidFill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333A4A"/>
                </a:solidFill>
              </a:rPr>
              <a:t>[17] Low-loss MAPbI₃ stack: V</a:t>
            </a:r>
            <a:r>
              <a:rPr sz="790" b="0" baseline="-25000">
                <a:solidFill>
                  <a:srgbClr val="333A4A"/>
                </a:solidFill>
              </a:rPr>
              <a:t>oc</a:t>
            </a:r>
            <a:r>
              <a:rPr sz="1100" b="0">
                <a:solidFill>
                  <a:srgbClr val="333A4A"/>
                </a:solidFill>
              </a:rPr>
              <a:t> 1.21 V at 1.53 eV, certified 23.09% PCE. Sci. China Mater. (2025). doi:10.1007/s40843-025-3457-3.</a:t>
            </a:r>
            <a:endParaRPr sz="1100" b="0">
              <a:solidFill>
                <a:srgbClr val="333A4A"/>
              </a:solidFill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sz="1100" b="0">
                <a:solidFill>
                  <a:srgbClr val="333A4A"/>
                </a:solidFill>
              </a:rPr>
              <a:t>[18] Single-crystal MAPbI₃ cells &gt; 21% PCE, V</a:t>
            </a:r>
            <a:r>
              <a:rPr sz="790" b="0" baseline="-25000">
                <a:solidFill>
                  <a:srgbClr val="333A4A"/>
                </a:solidFill>
              </a:rPr>
              <a:t>oc</a:t>
            </a:r>
            <a:r>
              <a:rPr sz="1100" b="0">
                <a:solidFill>
                  <a:srgbClr val="333A4A"/>
                </a:solidFill>
              </a:rPr>
              <a:t> 1.0–1.1 V. ACS Energy Lett. 4(5), 1258 (2019). doi:10.1021/acsenergylett.9b00847.</a:t>
            </a:r>
            <a:endParaRPr sz="1100" b="0">
              <a:solidFill>
                <a:srgbClr val="333A4A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5795</Words>
  <Application>WPS 演示</Application>
  <PresentationFormat>On-screen Show (4:3)</PresentationFormat>
  <Paragraphs>130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5" baseType="lpstr">
      <vt:lpstr>Arial</vt:lpstr>
      <vt:lpstr>宋体</vt:lpstr>
      <vt:lpstr>Wingdings</vt:lpstr>
      <vt:lpstr>Arial</vt:lpstr>
      <vt:lpstr>PingFang SC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MS PGothic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陈宣言</cp:lastModifiedBy>
  <cp:revision>13</cp:revision>
  <dcterms:created xsi:type="dcterms:W3CDTF">2026-06-04T07:08:38Z</dcterms:created>
  <dcterms:modified xsi:type="dcterms:W3CDTF">2026-06-04T07:08:38Z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2F2A2EFA760D899F2C80206A4B677B16_42</vt:lpwstr>
  </property>
</Properties>
</file>