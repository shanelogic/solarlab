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This slide should replace the earlier carrier-density-curve sketch. The 2D code represents a material interface as an internal y-face between two neighboring finite-volume rows, not as a separate contact boundary condition. The left panel emphasizes the stencil: one face flux J_n,f and J_p,f couples row j and row j+1. The middle panel shows the heterojunction physics: chi and Eg change across the interface, producing conduction- and valence-band offsets. Those offsets enter the SG driving-potential jump: Delta psi_n,f = Delta phi_f + Delta chi_f and Delta psi_p,f = Delta phi_f + Delta chi_f + Delta E_g,f. The right panel maps this to the code path: Poisson gives phi, material arrays give chi and Eg, the solver constructs psi_n = phi + chi and psi_p = phi + chi + Eg, SG uses xi = Delta psi / V_T inside the Bernoulli flux, and thermionic-emission capping is applied at heterofaces when needed. The same face flux then enters the finite-volume divergence on the two sides with opposite signs, which is the conservative coupling.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011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Internal Interface: Band-Offset-Aware SG Face Flux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is an internal finite-volume face: band parameters create a jump in the SG driving potential, and the resulting face flux enters the divergence conservatively.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65992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3685032" cy="4736592"/>
          </a:xfrm>
          <a:prstGeom prst="roundRect">
            <a:avLst>
              <a:gd name="adj" fmla="val 198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35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Internal Face in the 2D Grid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3218688" y="137160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y-direction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1024128" y="1828800"/>
            <a:ext cx="2971800" cy="1316736"/>
          </a:xfrm>
          <a:prstGeom prst="roundRect">
            <a:avLst>
              <a:gd name="adj" fmla="val 2778"/>
            </a:avLst>
          </a:prstGeom>
          <a:solidFill>
            <a:srgbClr val="FEE4E2">
              <a:alpha val="94000"/>
            </a:srgbClr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3145536"/>
            <a:ext cx="2971800" cy="1316736"/>
          </a:xfrm>
          <a:prstGeom prst="roundRect">
            <a:avLst>
              <a:gd name="adj" fmla="val 2778"/>
            </a:avLst>
          </a:prstGeom>
          <a:solidFill>
            <a:srgbClr val="E0F2FE">
              <a:alpha val="96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145536"/>
            <a:ext cx="2971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170432" y="19751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A, row j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70432" y="34472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B, row j+1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88720" y="2359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 (n, p, φ) at row j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188720" y="383133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 (n, p, φ) at row j+1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52144" y="289864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face f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88336" y="2743200"/>
            <a:ext cx="0" cy="8046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834640" y="28803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44368" y="2948940"/>
            <a:ext cx="246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n,f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3191256" y="2898648"/>
            <a:ext cx="64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46704" y="28803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56432" y="2948940"/>
            <a:ext cx="246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p,f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834640" y="323697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normal flux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1024128" y="3145536"/>
            <a:ext cx="2971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87552" y="4736592"/>
            <a:ext cx="304495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486460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meaning: one shared face flux couples the two control volumes and enters their divergence balances with opposite signs.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26280" y="1188720"/>
            <a:ext cx="3493008" cy="4736592"/>
          </a:xfrm>
          <a:prstGeom prst="roundRect">
            <a:avLst>
              <a:gd name="adj" fmla="val 209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3350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Heterojunction Physics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6967728" y="137160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4901184" y="2011680"/>
            <a:ext cx="133502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236208" y="2011680"/>
            <a:ext cx="0" cy="384048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6236208" y="2395728"/>
            <a:ext cx="129844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4901184" y="3886200"/>
            <a:ext cx="1335024" cy="0"/>
          </a:xfrm>
          <a:prstGeom prst="line">
            <a:avLst/>
          </a:prstGeom>
          <a:noFill/>
          <a:ln w="12700">
            <a:solidFill>
              <a:srgbClr val="B42318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236208" y="3886200"/>
            <a:ext cx="0" cy="-393192"/>
          </a:xfrm>
          <a:prstGeom prst="line">
            <a:avLst/>
          </a:prstGeom>
          <a:noFill/>
          <a:ln w="12700">
            <a:solidFill>
              <a:srgbClr val="B42318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6236208" y="3493008"/>
            <a:ext cx="1298448" cy="0"/>
          </a:xfrm>
          <a:prstGeom prst="line">
            <a:avLst/>
          </a:prstGeom>
          <a:noFill/>
          <a:ln w="12700">
            <a:solidFill>
              <a:srgbClr val="B4231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236208" y="1801368"/>
            <a:ext cx="0" cy="23134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4946904" y="17922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840" b="1" baseline="-40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4946904" y="39776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840" b="1" baseline="-4000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5943600" y="417880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f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6400800" y="2029968"/>
            <a:ext cx="0" cy="34747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483096" y="212140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ΔE</a:t>
            </a:r>
            <a:pPr algn="l" indent="0" marL="0">
              <a:buNone/>
            </a:pPr>
            <a:r>
              <a:rPr lang="en-US" sz="840" b="1" baseline="-40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053328" y="3511296"/>
            <a:ext cx="0" cy="356616"/>
          </a:xfrm>
          <a:prstGeom prst="line">
            <a:avLst/>
          </a:prstGeom>
          <a:noFill/>
          <a:ln w="12700">
            <a:solidFill>
              <a:srgbClr val="B42318"/>
            </a:solidFill>
            <a:prstDash val="solid"/>
            <a:headEnd type="triangl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522976" y="360730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ΔE</a:t>
            </a:r>
            <a:pPr algn="l" indent="0" marL="0">
              <a:buNone/>
            </a:pPr>
            <a:r>
              <a:rPr lang="en-US" sz="840" b="1" baseline="-40000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4773168" y="4480560"/>
            <a:ext cx="3072384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66344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Δψ</a:t>
            </a:r>
            <a:pPr algn="l" indent="0" marL="0">
              <a:buNone/>
            </a:pPr>
            <a:r>
              <a:rPr lang="en-US" sz="82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n,f</a:t>
            </a:r>
            <a:pPr algn="l" indent="0" marL="0">
              <a:buNone/>
            </a:pPr>
            <a:r>
              <a:rPr lang="en-US" sz="8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Δφ</a:t>
            </a:r>
            <a:pPr algn="l" indent="0" marL="0">
              <a:buNone/>
            </a:pPr>
            <a:r>
              <a:rPr lang="en-US" sz="82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buNone/>
            </a:pPr>
            <a:r>
              <a:rPr lang="en-US" sz="8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Δχ</a:t>
            </a:r>
            <a:pPr algn="l" indent="0" marL="0">
              <a:buNone/>
            </a:pPr>
            <a:r>
              <a:rPr lang="en-US" sz="82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4983480" y="491947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Δψ</a:t>
            </a:r>
            <a:pPr algn="l" indent="0" marL="0">
              <a:buNone/>
            </a:pPr>
            <a:r>
              <a:rPr lang="en-US" sz="82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p,f</a:t>
            </a:r>
            <a:pPr algn="l" indent="0" marL="0">
              <a:buNone/>
            </a:pPr>
            <a:r>
              <a:rPr lang="en-US" sz="8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Δφ</a:t>
            </a:r>
            <a:pPr algn="l" indent="0" marL="0">
              <a:buNone/>
            </a:pPr>
            <a:r>
              <a:rPr lang="en-US" sz="82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buNone/>
            </a:pPr>
            <a:r>
              <a:rPr lang="en-US" sz="8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Δχ</a:t>
            </a:r>
            <a:pPr algn="l" indent="0" marL="0">
              <a:buNone/>
            </a:pPr>
            <a:r>
              <a:rPr lang="en-US" sz="82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buNone/>
            </a:pPr>
            <a:r>
              <a:rPr lang="en-US" sz="82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ΔE</a:t>
            </a:r>
            <a:pPr algn="l" indent="0" marL="0">
              <a:buNone/>
            </a:pPr>
            <a:r>
              <a:rPr lang="en-US" sz="82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g,f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983480" y="519379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offsets become SG driving-potential jumps.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8183880" y="1188720"/>
            <a:ext cx="3310128" cy="4736592"/>
          </a:xfrm>
          <a:prstGeom prst="roundRect">
            <a:avLst>
              <a:gd name="adj" fmla="val 221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13350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Numerical Treatment</a:t>
            </a:r>
            <a:endParaRPr lang="en-US" sz="1130" dirty="0"/>
          </a:p>
        </p:txBody>
      </p:sp>
      <p:sp>
        <p:nvSpPr>
          <p:cNvPr id="49" name="Text 47"/>
          <p:cNvSpPr/>
          <p:nvPr/>
        </p:nvSpPr>
        <p:spPr>
          <a:xfrm>
            <a:off x="10442448" y="13716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RHS path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8449056" y="1682496"/>
            <a:ext cx="2798064" cy="512064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49056" y="1682496"/>
            <a:ext cx="73152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13648" y="1792224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FIELD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8613648" y="2039112"/>
            <a:ext cx="2487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φ from charge density ρ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848088" y="2240280"/>
            <a:ext cx="0" cy="14630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449056" y="2423160"/>
            <a:ext cx="2798064" cy="786384"/>
          </a:xfrm>
          <a:prstGeom prst="roundRect">
            <a:avLst>
              <a:gd name="adj" fmla="val 9302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49056" y="2423160"/>
            <a:ext cx="73152" cy="7863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13648" y="253288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BAND-OFFSET DRIVING POTENTIALS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8686800" y="28986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</a:t>
            </a:r>
            <a:pPr algn="l" indent="0" marL="0">
              <a:buNone/>
            </a:pPr>
            <a:r>
              <a:rPr lang="en-US" sz="8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8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φ + χ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9674352" y="289864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</a:t>
            </a:r>
            <a:pPr algn="l" indent="0" marL="0">
              <a:buNone/>
            </a:pPr>
            <a:r>
              <a:rPr lang="en-US" sz="8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8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φ + χ + E</a:t>
            </a:r>
            <a:pPr algn="l" indent="0" marL="0">
              <a:buNone/>
            </a:pPr>
            <a:r>
              <a:rPr lang="en-US" sz="8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9848088" y="3255264"/>
            <a:ext cx="0" cy="10972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449056" y="3401568"/>
            <a:ext cx="2798064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58784" y="348386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JUMP ENTERS SG EXPONENT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8668512" y="3675888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pPr algn="l" indent="0" marL="0">
              <a:buNone/>
            </a:pPr>
            <a:r>
              <a:rPr lang="en-US" sz="78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n,f</a:t>
            </a:r>
            <a:pPr algn="l" indent="0" marL="0">
              <a:buNone/>
            </a:pPr>
            <a:r>
              <a:rPr lang="en-US" sz="7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Δψ</a:t>
            </a:r>
            <a:pPr algn="l" indent="0" marL="0">
              <a:buNone/>
            </a:pPr>
            <a:r>
              <a:rPr lang="en-US" sz="78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n,f</a:t>
            </a:r>
            <a:pPr algn="l" indent="0" marL="0">
              <a:buNone/>
            </a:pPr>
            <a:r>
              <a:rPr lang="en-US" sz="7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</a:t>
            </a:r>
            <a:pPr algn="l" indent="0" marL="0">
              <a:buNone/>
            </a:pPr>
            <a:r>
              <a:rPr lang="en-US" sz="78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9784080" y="367588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pPr algn="l" indent="0" marL="0">
              <a:buNone/>
            </a:pPr>
            <a:r>
              <a:rPr lang="en-US" sz="78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p,f</a:t>
            </a:r>
            <a:pPr algn="l" indent="0" marL="0">
              <a:buNone/>
            </a:pPr>
            <a:r>
              <a:rPr lang="en-US" sz="7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Δψ</a:t>
            </a:r>
            <a:pPr algn="l" indent="0" marL="0">
              <a:buNone/>
            </a:pPr>
            <a:r>
              <a:rPr lang="en-US" sz="78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p,f</a:t>
            </a:r>
            <a:pPr algn="l" indent="0" marL="0">
              <a:buNone/>
            </a:pPr>
            <a:r>
              <a:rPr lang="en-US" sz="7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</a:t>
            </a:r>
            <a:pPr algn="l" indent="0" marL="0">
              <a:buNone/>
            </a:pPr>
            <a:r>
              <a:rPr lang="en-US" sz="78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9848088" y="3995928"/>
            <a:ext cx="0" cy="14630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449056" y="4178808"/>
            <a:ext cx="2798064" cy="603504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49056" y="4178808"/>
            <a:ext cx="73152" cy="603504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13648" y="4279392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BERNOULLI SG FACE FLUX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732520" y="451713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8842248" y="4577486"/>
            <a:ext cx="246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n,f</a:t>
            </a:r>
            <a:endParaRPr lang="en-US" sz="560" dirty="0"/>
          </a:p>
        </p:txBody>
      </p:sp>
      <p:sp>
        <p:nvSpPr>
          <p:cNvPr id="71" name="Text 69"/>
          <p:cNvSpPr/>
          <p:nvPr/>
        </p:nvSpPr>
        <p:spPr>
          <a:xfrm>
            <a:off x="9089136" y="4535424"/>
            <a:ext cx="64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8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748" dirty="0"/>
          </a:p>
        </p:txBody>
      </p:sp>
      <p:sp>
        <p:nvSpPr>
          <p:cNvPr id="72" name="Text 70"/>
          <p:cNvSpPr/>
          <p:nvPr/>
        </p:nvSpPr>
        <p:spPr>
          <a:xfrm>
            <a:off x="9244584" y="451713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880" dirty="0"/>
          </a:p>
        </p:txBody>
      </p:sp>
      <p:sp>
        <p:nvSpPr>
          <p:cNvPr id="73" name="Text 71"/>
          <p:cNvSpPr/>
          <p:nvPr/>
        </p:nvSpPr>
        <p:spPr>
          <a:xfrm>
            <a:off x="9354312" y="4577486"/>
            <a:ext cx="246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p,f</a:t>
            </a:r>
            <a:endParaRPr lang="en-US" sz="560" dirty="0"/>
          </a:p>
        </p:txBody>
      </p:sp>
      <p:sp>
        <p:nvSpPr>
          <p:cNvPr id="74" name="Text 72"/>
          <p:cNvSpPr/>
          <p:nvPr/>
        </p:nvSpPr>
        <p:spPr>
          <a:xfrm>
            <a:off x="9674352" y="454456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B(ξ)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9848088" y="4818888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8449056" y="4992624"/>
            <a:ext cx="2798064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49056" y="4992624"/>
            <a:ext cx="73152" cy="530352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13648" y="510235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+ DIVERGENCE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8613648" y="5349240"/>
            <a:ext cx="2487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|J</a:t>
            </a:r>
            <a:pPr algn="l" indent="0" marL="0">
              <a:buNone/>
            </a:pPr>
            <a:r>
              <a:rPr lang="en-US" sz="800" baseline="3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</a:t>
            </a:r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≤ |J</a:t>
            </a:r>
            <a:pPr algn="l" indent="0" marL="0">
              <a:buNone/>
            </a:pPr>
            <a:r>
              <a:rPr lang="en-US" sz="800" baseline="3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pPr algn="l" indent="0" marL="0">
              <a:buNone/>
            </a:pPr>
            <a:r>
              <a:rPr lang="en-US" sz="8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if needed; then ∇·J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659368" y="5632704"/>
            <a:ext cx="914400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705088" y="5701284"/>
            <a:ext cx="822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BC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9701784" y="5632704"/>
            <a:ext cx="1207008" cy="283464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47504" y="5701284"/>
            <a:ext cx="11155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flux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0" y="6336792"/>
            <a:ext cx="12191695" cy="52120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6464808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band parameters χ and E</a:t>
            </a:r>
            <a:pPr algn="ctr" indent="0" marL="0">
              <a:buNone/>
            </a:pPr>
            <a:r>
              <a:rPr lang="en-US" sz="1160" b="1" baseline="-40000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ctr" indent="0" marL="0">
              <a:buNone/>
            </a:pPr>
            <a:r>
              <a:rPr lang="en-US" sz="1160" b="1" dirty="0">
                <a:solidFill>
                  <a:srgbClr val="16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 offsets into SG driving-potential jumps; Bernoulli flux plus cap gives a conservative face current.</a:t>
            </a:r>
            <a:endParaRPr lang="en-US" sz="1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SolarLab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Internal Interface: Conservative Heterointerface Flux</dc:title>
  <dc:subject>2D internal interface flux treatment</dc:subject>
  <dc:creator>SolarLab</dc:creator>
  <cp:lastModifiedBy>SolarLab</cp:lastModifiedBy>
  <cp:revision>1</cp:revision>
  <dcterms:created xsi:type="dcterms:W3CDTF">2026-05-20T04:58:38Z</dcterms:created>
  <dcterms:modified xsi:type="dcterms:W3CDTF">2026-05-20T04:58:38Z</dcterms:modified>
</cp:coreProperties>
</file>