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
          <c:y val="0.08"/>
          <c:w val="0.82"/>
          <c:h val="0.78"/>
        </c:manualLayout>
      </c:layout>
      <c:lineChart>
        <c:varyColors val="0"/>
        <c:ser>
          <c:idx val="0"/>
          <c:order val="0"/>
          <c:tx>
            <c:strRef>
              <c:f>Sheet1!$B$1</c:f>
              <c:strCache>
                <c:ptCount val="1"/>
                <c:pt idx="0">
                  <c:v>light</c:v>
                </c:pt>
              </c:strCache>
            </c:strRef>
          </c:tx>
          <c:spPr>
            <a:solidFill>
              <a:srgbClr val="B42318"/>
            </a:solidFill>
            <a:ln w="26035" cap="flat">
              <a:solidFill>
                <a:srgbClr val="B4231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B42318"/>
              </a:solidFill>
              <a:ln w="9525" cap="flat">
                <a:solidFill>
                  <a:srgbClr val="B42318"/>
                </a:solidFill>
                <a:prstDash val="solid"/>
                <a:round/>
              </a:ln>
              <a:effectLst/>
            </c:spPr>
          </c:marker>
          <c:cat>
            <c:multiLvlStrRef>
              <c:f>Sheet1!$A$2:$A$9</c:f>
              <c:multiLvlStrCache>
                <c:ptCount val="8"/>
                <c:lvl>
                  <c:pt idx="0">
                    <c:v>0</c:v>
                  </c:pt>
                  <c:pt idx="1">
                    <c:v>0.2</c:v>
                  </c:pt>
                  <c:pt idx="2">
                    <c:v>0.4</c:v>
                  </c:pt>
                  <c:pt idx="3">
                    <c:v>0.6</c:v>
                  </c:pt>
                  <c:pt idx="4">
                    <c:v>0.8</c:v>
                  </c:pt>
                  <c:pt idx="5">
                    <c:v>1.0</c:v>
                  </c:pt>
                  <c:pt idx="6">
                    <c:v>1.15</c:v>
                  </c:pt>
                  <c:pt idx="7">
                    <c:v>1.3</c:v>
                  </c:pt>
                </c:lvl>
              </c:multiLvlStrCache>
            </c:multiLvlStrRef>
          </c:cat>
          <c:val>
            <c:numRef>
              <c:f>Sheet1!$B$2:$B$9</c:f>
              <c:numCache>
                <c:formatCode>General</c:formatCode>
                <c:ptCount val="8"/>
                <c:pt idx="0">
                  <c:v>23.8</c:v>
                </c:pt>
                <c:pt idx="1">
                  <c:v>23.7</c:v>
                </c:pt>
                <c:pt idx="2">
                  <c:v>23.2</c:v>
                </c:pt>
                <c:pt idx="3">
                  <c:v>21.7</c:v>
                </c:pt>
                <c:pt idx="4">
                  <c:v>17.2</c:v>
                </c:pt>
                <c:pt idx="5">
                  <c:v>8.4</c:v>
                </c:pt>
                <c:pt idx="6">
                  <c:v>0</c:v>
                </c:pt>
                <c:pt idx="7">
                  <c:v>-6.8</c:v>
                </c:pt>
              </c:numCache>
            </c:numRef>
          </c:val>
          <c:smooth val="0"/>
        </c:ser>
        <c:ser>
          <c:idx val="1"/>
          <c:order val="1"/>
          <c:tx>
            <c:strRef>
              <c:f>Sheet1!$C$1</c:f>
              <c:strCache>
                <c:ptCount val="1"/>
                <c:pt idx="0">
                  <c:v>dark</c:v>
                </c:pt>
              </c:strCache>
            </c:strRef>
          </c:tx>
          <c:spPr>
            <a:solidFill>
              <a:srgbClr val="334155"/>
            </a:solidFill>
            <a:ln w="26035" cap="flat">
              <a:solidFill>
                <a:srgbClr val="33415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334155"/>
              </a:solidFill>
              <a:ln w="9525" cap="flat">
                <a:solidFill>
                  <a:srgbClr val="334155"/>
                </a:solidFill>
                <a:prstDash val="solid"/>
                <a:round/>
              </a:ln>
              <a:effectLst/>
            </c:spPr>
          </c:marker>
          <c:cat>
            <c:multiLvlStrRef>
              <c:f>Sheet1!$A$2:$A$9</c:f>
              <c:multiLvlStrCache>
                <c:ptCount val="8"/>
                <c:lvl>
                  <c:pt idx="0">
                    <c:v>0</c:v>
                  </c:pt>
                  <c:pt idx="1">
                    <c:v>0.2</c:v>
                  </c:pt>
                  <c:pt idx="2">
                    <c:v>0.4</c:v>
                  </c:pt>
                  <c:pt idx="3">
                    <c:v>0.6</c:v>
                  </c:pt>
                  <c:pt idx="4">
                    <c:v>0.8</c:v>
                  </c:pt>
                  <c:pt idx="5">
                    <c:v>1.0</c:v>
                  </c:pt>
                  <c:pt idx="6">
                    <c:v>1.15</c:v>
                  </c:pt>
                  <c:pt idx="7">
                    <c:v>1.3</c:v>
                  </c:pt>
                </c:lvl>
              </c:multiLvlStrCache>
            </c:multiLvlStrRef>
          </c:cat>
          <c:val>
            <c:numRef>
              <c:f>Sheet1!$C$2:$C$9</c:f>
              <c:numCache>
                <c:formatCode>General</c:formatCode>
                <c:ptCount val="8"/>
                <c:pt idx="0">
                  <c:v>0</c:v>
                </c:pt>
                <c:pt idx="1">
                  <c:v>0</c:v>
                </c:pt>
                <c:pt idx="2">
                  <c:v>0.1</c:v>
                </c:pt>
                <c:pt idx="3">
                  <c:v>0.4</c:v>
                </c:pt>
                <c:pt idx="4">
                  <c:v>1.5</c:v>
                </c:pt>
                <c:pt idx="5">
                  <c:v>5.4</c:v>
                </c:pt>
                <c:pt idx="6">
                  <c:v>15</c:v>
                </c:pt>
                <c:pt idx="7">
                  <c:v>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7620" cap="flat">
            <a:solidFill>
              <a:srgbClr val="334155"/>
            </a:solidFill>
            <a:prstDash val="solid"/>
            <a:round/>
          </a:ln>
        </c:spPr>
        <c:txPr>
          <a:bodyPr/>
          <a:lstStyle/>
          <a:p>
            <a:pPr>
              <a:defRPr sz="54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28"/>
          <c:min val="-8"/>
        </c:scaling>
        <c:delete val="0"/>
        <c:axPos val="l"/>
        <c:majorGridlines>
          <c:spPr>
            <a:ln w="5715" cap="flat">
              <a:solidFill>
                <a:srgbClr val="E2E8F0"/>
              </a:solidFill>
              <a:prstDash val="solid"/>
              <a:round/>
            </a:ln>
          </c:spPr>
        </c:majorGridlines>
        <c:numFmt formatCode="0" sourceLinked="0"/>
        <c:majorTickMark val="none"/>
        <c:minorTickMark val="none"/>
        <c:tickLblPos val="nextTo"/>
        <c:spPr>
          <a:ln w="7620" cap="flat">
            <a:solidFill>
              <a:srgbClr val="334155"/>
            </a:solidFill>
            <a:prstDash val="solid"/>
            <a:round/>
          </a:ln>
        </c:spPr>
        <c:txPr>
          <a:bodyPr/>
          <a:lstStyle/>
          <a:p>
            <a:pPr>
              <a:defRPr sz="540" b="0" i="0" u="none" strike="noStrike">
                <a:solidFill>
                  <a:srgbClr val="64748B"/>
                </a:solidFill>
                <a:latin typeface="Arial"/>
              </a:defRPr>
            </a:pPr>
            <a:endParaRPr lang="en-US"/>
          </a:p>
        </c:txPr>
        <c:crossAx val="2094734554"/>
        <c:crosses val="autoZero"/>
        <c:crossBetween val="between"/>
        <c:majorUnit val="6"/>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
          <c:y val="0.08"/>
          <c:w val="0.82"/>
          <c:h val="0.78"/>
        </c:manualLayout>
      </c:layout>
      <c:lineChart>
        <c:varyColors val="0"/>
        <c:ser>
          <c:idx val="0"/>
          <c:order val="0"/>
          <c:tx>
            <c:strRef>
              <c:f>Sheet1!$B$1</c:f>
              <c:strCache>
                <c:ptCount val="1"/>
                <c:pt idx="0">
                  <c:v>C</c:v>
                </c:pt>
              </c:strCache>
            </c:strRef>
          </c:tx>
          <c:spPr>
            <a:solidFill>
              <a:srgbClr val="2563EB"/>
            </a:solidFill>
            <a:ln w="26035" cap="flat">
              <a:solidFill>
                <a:srgbClr val="2563E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2563EB"/>
              </a:solidFill>
              <a:ln w="9525" cap="flat">
                <a:solidFill>
                  <a:srgbClr val="2563EB"/>
                </a:solidFill>
                <a:prstDash val="solid"/>
                <a:round/>
              </a:ln>
              <a:effectLst/>
            </c:spPr>
          </c:marker>
          <c:cat>
            <c:multiLvlStrRef>
              <c:f>Sheet1!$A$2:$A$9</c:f>
              <c:multiLvlStrCache>
                <c:ptCount val="8"/>
                <c:lvl>
                  <c:pt idx="0">
                    <c:v>−0.4</c:v>
                  </c:pt>
                  <c:pt idx="1">
                    <c:v>−0.2</c:v>
                  </c:pt>
                  <c:pt idx="2">
                    <c:v>0</c:v>
                  </c:pt>
                  <c:pt idx="3">
                    <c:v>0.2</c:v>
                  </c:pt>
                  <c:pt idx="4">
                    <c:v>0.4</c:v>
                  </c:pt>
                  <c:pt idx="5">
                    <c:v>0.6</c:v>
                  </c:pt>
                  <c:pt idx="6">
                    <c:v>0.8</c:v>
                  </c:pt>
                  <c:pt idx="7">
                    <c:v>1.0</c:v>
                  </c:pt>
                </c:lvl>
              </c:multiLvlStrCache>
            </c:multiLvlStrRef>
          </c:cat>
          <c:val>
            <c:numRef>
              <c:f>Sheet1!$B$2:$B$9</c:f>
              <c:numCache>
                <c:formatCode>General</c:formatCode>
                <c:ptCount val="8"/>
                <c:pt idx="0">
                  <c:v>0.92</c:v>
                </c:pt>
                <c:pt idx="1">
                  <c:v>0.82</c:v>
                </c:pt>
                <c:pt idx="2">
                  <c:v>0.7</c:v>
                </c:pt>
                <c:pt idx="3">
                  <c:v>0.59</c:v>
                </c:pt>
                <c:pt idx="4">
                  <c:v>0.49</c:v>
                </c:pt>
                <c:pt idx="5">
                  <c:v>0.42</c:v>
                </c:pt>
                <c:pt idx="6">
                  <c:v>0.38</c:v>
                </c:pt>
                <c:pt idx="7">
                  <c:v>0.37</c:v>
                </c:pt>
              </c:numCache>
            </c:numRef>
          </c:val>
          <c:smooth val="1"/>
        </c:ser>
        <c:ser>
          <c:idx val="1"/>
          <c:order val="1"/>
          <c:tx>
            <c:strRef>
              <c:f>Sheet1!$C$1</c:f>
              <c:strCache>
                <c:ptCount val="1"/>
                <c:pt idx="0">
                  <c:v>1/C2</c:v>
                </c:pt>
              </c:strCache>
            </c:strRef>
          </c:tx>
          <c:spPr>
            <a:solidFill>
              <a:srgbClr val="16803C"/>
            </a:solidFill>
            <a:ln w="26035" cap="flat">
              <a:solidFill>
                <a:srgbClr val="1680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16803C"/>
              </a:solidFill>
              <a:ln w="9525" cap="flat">
                <a:solidFill>
                  <a:srgbClr val="16803C"/>
                </a:solidFill>
                <a:prstDash val="solid"/>
                <a:round/>
              </a:ln>
              <a:effectLst/>
            </c:spPr>
          </c:marker>
          <c:cat>
            <c:multiLvlStrRef>
              <c:f>Sheet1!$A$2:$A$9</c:f>
              <c:multiLvlStrCache>
                <c:ptCount val="8"/>
                <c:lvl>
                  <c:pt idx="0">
                    <c:v>−0.4</c:v>
                  </c:pt>
                  <c:pt idx="1">
                    <c:v>−0.2</c:v>
                  </c:pt>
                  <c:pt idx="2">
                    <c:v>0</c:v>
                  </c:pt>
                  <c:pt idx="3">
                    <c:v>0.2</c:v>
                  </c:pt>
                  <c:pt idx="4">
                    <c:v>0.4</c:v>
                  </c:pt>
                  <c:pt idx="5">
                    <c:v>0.6</c:v>
                  </c:pt>
                  <c:pt idx="6">
                    <c:v>0.8</c:v>
                  </c:pt>
                  <c:pt idx="7">
                    <c:v>1.0</c:v>
                  </c:pt>
                </c:lvl>
              </c:multiLvlStrCache>
            </c:multiLvlStrRef>
          </c:cat>
          <c:val>
            <c:numRef>
              <c:f>Sheet1!$C$2:$C$9</c:f>
              <c:numCache>
                <c:formatCode>General</c:formatCode>
                <c:ptCount val="8"/>
                <c:pt idx="0">
                  <c:v>0.12</c:v>
                </c:pt>
                <c:pt idx="1">
                  <c:v>0.2</c:v>
                </c:pt>
                <c:pt idx="2">
                  <c:v>0.31</c:v>
                </c:pt>
                <c:pt idx="3">
                  <c:v>0.43</c:v>
                </c:pt>
                <c:pt idx="4">
                  <c:v>0.57</c:v>
                </c:pt>
                <c:pt idx="5">
                  <c:v>0.7</c:v>
                </c:pt>
                <c:pt idx="6">
                  <c:v>0.82</c:v>
                </c:pt>
                <c:pt idx="7">
                  <c:v>0.88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7620" cap="flat">
            <a:solidFill>
              <a:srgbClr val="334155"/>
            </a:solidFill>
            <a:prstDash val="solid"/>
            <a:round/>
          </a:ln>
        </c:spPr>
        <c:txPr>
          <a:bodyPr/>
          <a:lstStyle/>
          <a:p>
            <a:pPr>
              <a:defRPr sz="54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5715" cap="flat">
              <a:solidFill>
                <a:srgbClr val="E2E8F0"/>
              </a:solidFill>
              <a:prstDash val="solid"/>
              <a:round/>
            </a:ln>
          </c:spPr>
        </c:majorGridlines>
        <c:numFmt formatCode="0.0" sourceLinked="0"/>
        <c:majorTickMark val="none"/>
        <c:minorTickMark val="none"/>
        <c:tickLblPos val="nextTo"/>
        <c:spPr>
          <a:ln w="7620" cap="flat">
            <a:solidFill>
              <a:srgbClr val="334155"/>
            </a:solidFill>
            <a:prstDash val="solid"/>
            <a:round/>
          </a:ln>
        </c:spPr>
        <c:txPr>
          <a:bodyPr/>
          <a:lstStyle/>
          <a:p>
            <a:pPr>
              <a:defRPr sz="540" b="0" i="0" u="none" strike="noStrike">
                <a:solidFill>
                  <a:srgbClr val="64748B"/>
                </a:solidFill>
                <a:latin typeface="Arial"/>
              </a:defRPr>
            </a:pPr>
            <a:endParaRPr lang="en-US"/>
          </a:p>
        </c:txPr>
        <c:crossAx val="2094734554"/>
        <c:crosses val="autoZero"/>
        <c:crossBetween val="between"/>
        <c:majorUnit val="0.2"/>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
          <c:y val="0.08"/>
          <c:w val="0.82"/>
          <c:h val="0.78"/>
        </c:manualLayout>
      </c:layout>
      <c:lineChart>
        <c:varyColors val="0"/>
        <c:ser>
          <c:idx val="0"/>
          <c:order val="0"/>
          <c:tx>
            <c:strRef>
              <c:f>Sheet1!$B$1</c:f>
              <c:strCache>
                <c:ptCount val="1"/>
                <c:pt idx="0">
                  <c:v>C</c:v>
                </c:pt>
              </c:strCache>
            </c:strRef>
          </c:tx>
          <c:spPr>
            <a:solidFill>
              <a:srgbClr val="16803C"/>
            </a:solidFill>
            <a:ln w="26035" cap="flat">
              <a:solidFill>
                <a:srgbClr val="1680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16803C"/>
              </a:solidFill>
              <a:ln w="9525" cap="flat">
                <a:solidFill>
                  <a:srgbClr val="16803C"/>
                </a:solidFill>
                <a:prstDash val="solid"/>
                <a:round/>
              </a:ln>
              <a:effectLst/>
            </c:spPr>
          </c:marker>
          <c:cat>
            <c:multiLvlStrRef>
              <c:f>Sheet1!$A$2:$A$9</c:f>
              <c:multiLvlStrCache>
                <c:ptCount val="8"/>
                <c:lvl>
                  <c:pt idx="0">
                    <c:v>10</c:v>
                  </c:pt>
                  <c:pt idx="1">
                    <c:v>10²</c:v>
                  </c:pt>
                  <c:pt idx="2">
                    <c:v>10³</c:v>
                  </c:pt>
                  <c:pt idx="3">
                    <c:v>10⁴</c:v>
                  </c:pt>
                  <c:pt idx="4">
                    <c:v>10⁵</c:v>
                  </c:pt>
                  <c:pt idx="5">
                    <c:v>10⁶</c:v>
                  </c:pt>
                  <c:pt idx="6">
                    <c:v>10⁷</c:v>
                  </c:pt>
                  <c:pt idx="7">
                    <c:v>10⁸</c:v>
                  </c:pt>
                </c:lvl>
              </c:multiLvlStrCache>
            </c:multiLvlStrRef>
          </c:cat>
          <c:val>
            <c:numRef>
              <c:f>Sheet1!$B$2:$B$9</c:f>
              <c:numCache>
                <c:formatCode>General</c:formatCode>
                <c:ptCount val="8"/>
                <c:pt idx="0">
                  <c:v>0.95</c:v>
                </c:pt>
                <c:pt idx="1">
                  <c:v>0.94</c:v>
                </c:pt>
                <c:pt idx="2">
                  <c:v>0.91</c:v>
                </c:pt>
                <c:pt idx="3">
                  <c:v>0.83</c:v>
                </c:pt>
                <c:pt idx="4">
                  <c:v>0.63</c:v>
                </c:pt>
                <c:pt idx="5">
                  <c:v>0.42</c:v>
                </c:pt>
                <c:pt idx="6">
                  <c:v>0.31</c:v>
                </c:pt>
                <c:pt idx="7">
                  <c:v>0.28</c:v>
                </c:pt>
              </c:numCache>
            </c:numRef>
          </c:val>
          <c:smooth val="1"/>
        </c:ser>
        <c:ser>
          <c:idx val="1"/>
          <c:order val="1"/>
          <c:tx>
            <c:strRef>
              <c:f>Sheet1!$C$1</c:f>
              <c:strCache>
                <c:ptCount val="1"/>
                <c:pt idx="0">
                  <c:v>G</c:v>
                </c:pt>
              </c:strCache>
            </c:strRef>
          </c:tx>
          <c:spPr>
            <a:solidFill>
              <a:srgbClr val="A16207"/>
            </a:solidFill>
            <a:ln w="26035" cap="flat">
              <a:solidFill>
                <a:srgbClr val="A1620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A16207"/>
              </a:solidFill>
              <a:ln w="9525" cap="flat">
                <a:solidFill>
                  <a:srgbClr val="A16207"/>
                </a:solidFill>
                <a:prstDash val="solid"/>
                <a:round/>
              </a:ln>
              <a:effectLst/>
            </c:spPr>
          </c:marker>
          <c:cat>
            <c:multiLvlStrRef>
              <c:f>Sheet1!$A$2:$A$9</c:f>
              <c:multiLvlStrCache>
                <c:ptCount val="8"/>
                <c:lvl>
                  <c:pt idx="0">
                    <c:v>10</c:v>
                  </c:pt>
                  <c:pt idx="1">
                    <c:v>10²</c:v>
                  </c:pt>
                  <c:pt idx="2">
                    <c:v>10³</c:v>
                  </c:pt>
                  <c:pt idx="3">
                    <c:v>10⁴</c:v>
                  </c:pt>
                  <c:pt idx="4">
                    <c:v>10⁵</c:v>
                  </c:pt>
                  <c:pt idx="5">
                    <c:v>10⁶</c:v>
                  </c:pt>
                  <c:pt idx="6">
                    <c:v>10⁷</c:v>
                  </c:pt>
                  <c:pt idx="7">
                    <c:v>10⁸</c:v>
                  </c:pt>
                </c:lvl>
              </c:multiLvlStrCache>
            </c:multiLvlStrRef>
          </c:cat>
          <c:val>
            <c:numRef>
              <c:f>Sheet1!$C$2:$C$9</c:f>
              <c:numCache>
                <c:formatCode>General</c:formatCode>
                <c:ptCount val="8"/>
                <c:pt idx="0">
                  <c:v>0.12</c:v>
                </c:pt>
                <c:pt idx="1">
                  <c:v>0.17</c:v>
                </c:pt>
                <c:pt idx="2">
                  <c:v>0.29</c:v>
                </c:pt>
                <c:pt idx="3">
                  <c:v>0.56</c:v>
                </c:pt>
                <c:pt idx="4">
                  <c:v>0.82</c:v>
                </c:pt>
                <c:pt idx="5">
                  <c:v>0.63</c:v>
                </c:pt>
                <c:pt idx="6">
                  <c:v>0.34</c:v>
                </c:pt>
                <c:pt idx="7">
                  <c:v>0.16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7620" cap="flat">
            <a:solidFill>
              <a:srgbClr val="334155"/>
            </a:solidFill>
            <a:prstDash val="solid"/>
            <a:round/>
          </a:ln>
        </c:spPr>
        <c:txPr>
          <a:bodyPr/>
          <a:lstStyle/>
          <a:p>
            <a:pPr>
              <a:defRPr sz="54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5715" cap="flat">
              <a:solidFill>
                <a:srgbClr val="E2E8F0"/>
              </a:solidFill>
              <a:prstDash val="solid"/>
              <a:round/>
            </a:ln>
          </c:spPr>
        </c:majorGridlines>
        <c:numFmt formatCode="0.0" sourceLinked="0"/>
        <c:majorTickMark val="none"/>
        <c:minorTickMark val="none"/>
        <c:tickLblPos val="nextTo"/>
        <c:spPr>
          <a:ln w="7620" cap="flat">
            <a:solidFill>
              <a:srgbClr val="334155"/>
            </a:solidFill>
            <a:prstDash val="solid"/>
            <a:round/>
          </a:ln>
        </c:spPr>
        <c:txPr>
          <a:bodyPr/>
          <a:lstStyle/>
          <a:p>
            <a:pPr>
              <a:defRPr sz="540" b="0" i="0" u="none" strike="noStrike">
                <a:solidFill>
                  <a:srgbClr val="64748B"/>
                </a:solidFill>
                <a:latin typeface="Arial"/>
              </a:defRPr>
            </a:pPr>
            <a:endParaRPr lang="en-US"/>
          </a:p>
        </c:txPr>
        <c:crossAx val="2094734554"/>
        <c:crosses val="autoZero"/>
        <c:crossBetween val="between"/>
        <c:majorUnit val="0.2"/>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
          <c:y val="0.08"/>
          <c:w val="0.82"/>
          <c:h val="0.78"/>
        </c:manualLayout>
      </c:layout>
      <c:lineChart>
        <c:varyColors val="0"/>
        <c:ser>
          <c:idx val="0"/>
          <c:order val="0"/>
          <c:tx>
            <c:strRef>
              <c:f>Sheet1!$B$1</c:f>
              <c:strCache>
                <c:ptCount val="1"/>
                <c:pt idx="0">
                  <c:v>QE</c:v>
                </c:pt>
              </c:strCache>
            </c:strRef>
          </c:tx>
          <c:spPr>
            <a:solidFill>
              <a:srgbClr val="6D28D9"/>
            </a:solidFill>
            <a:ln w="26035" cap="flat">
              <a:solidFill>
                <a:srgbClr val="6D28D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3"/>
            <c:spPr>
              <a:solidFill>
                <a:srgbClr val="6D28D9"/>
              </a:solidFill>
              <a:ln w="9525" cap="flat">
                <a:solidFill>
                  <a:srgbClr val="6D28D9"/>
                </a:solidFill>
                <a:prstDash val="solid"/>
                <a:round/>
              </a:ln>
              <a:effectLst/>
            </c:spPr>
          </c:marker>
          <c:cat>
            <c:multiLvlStrRef>
              <c:f>Sheet1!$A$2:$A$10</c:f>
              <c:multiLvlStrCache>
                <c:ptCount val="9"/>
                <c:lvl>
                  <c:pt idx="0">
                    <c:v>300</c:v>
                  </c:pt>
                  <c:pt idx="1">
                    <c:v>400</c:v>
                  </c:pt>
                  <c:pt idx="2">
                    <c:v>500</c:v>
                  </c:pt>
                  <c:pt idx="3">
                    <c:v>600</c:v>
                  </c:pt>
                  <c:pt idx="4">
                    <c:v>700</c:v>
                  </c:pt>
                  <c:pt idx="5">
                    <c:v>800</c:v>
                  </c:pt>
                  <c:pt idx="6">
                    <c:v>850</c:v>
                  </c:pt>
                  <c:pt idx="7">
                    <c:v>900</c:v>
                  </c:pt>
                  <c:pt idx="8">
                    <c:v>950</c:v>
                  </c:pt>
                </c:lvl>
              </c:multiLvlStrCache>
            </c:multiLvlStrRef>
          </c:cat>
          <c:val>
            <c:numRef>
              <c:f>Sheet1!$B$2:$B$10</c:f>
              <c:numCache>
                <c:formatCode>General</c:formatCode>
                <c:ptCount val="9"/>
                <c:pt idx="0">
                  <c:v>4</c:v>
                </c:pt>
                <c:pt idx="1">
                  <c:v>35</c:v>
                </c:pt>
                <c:pt idx="2">
                  <c:v>70</c:v>
                </c:pt>
                <c:pt idx="3">
                  <c:v>86</c:v>
                </c:pt>
                <c:pt idx="4">
                  <c:v>88</c:v>
                </c:pt>
                <c:pt idx="5">
                  <c:v>82</c:v>
                </c:pt>
                <c:pt idx="6">
                  <c:v>62</c:v>
                </c:pt>
                <c:pt idx="7">
                  <c:v>20</c:v>
                </c:pt>
                <c:pt idx="8">
                  <c:v>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7620" cap="flat">
            <a:solidFill>
              <a:srgbClr val="334155"/>
            </a:solidFill>
            <a:prstDash val="solid"/>
            <a:round/>
          </a:ln>
        </c:spPr>
        <c:txPr>
          <a:bodyPr/>
          <a:lstStyle/>
          <a:p>
            <a:pPr>
              <a:defRPr sz="54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5715" cap="flat">
              <a:solidFill>
                <a:srgbClr val="E2E8F0"/>
              </a:solidFill>
              <a:prstDash val="solid"/>
              <a:round/>
            </a:ln>
          </c:spPr>
        </c:majorGridlines>
        <c:numFmt formatCode="0" sourceLinked="0"/>
        <c:majorTickMark val="none"/>
        <c:minorTickMark val="none"/>
        <c:tickLblPos val="nextTo"/>
        <c:spPr>
          <a:ln w="7620" cap="flat">
            <a:solidFill>
              <a:srgbClr val="334155"/>
            </a:solidFill>
            <a:prstDash val="solid"/>
            <a:round/>
          </a:ln>
        </c:spPr>
        <c:txPr>
          <a:bodyPr/>
          <a:lstStyle/>
          <a:p>
            <a:pPr>
              <a:defRPr sz="540" b="0" i="0" u="none" strike="noStrike">
                <a:solidFill>
                  <a:srgbClr val="64748B"/>
                </a:solidFill>
                <a:latin typeface="Arial"/>
              </a:defRPr>
            </a:pPr>
            <a:endParaRPr lang="en-US"/>
          </a:p>
        </c:txPr>
        <c:crossAx val="2094734554"/>
        <c:crosses val="autoZero"/>
        <c:crossBetween val="between"/>
        <c:majorUnit val="20"/>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narration:
This slide summarizes the four main SCAPS-1D output modules. I-V/J-V gives terminal photovoltaic performance and dark diode behavior. C-V, usually shown with the Mott-Schottky 1/C^2 plot, extracts built-in voltage and apparent doping under depletion assumptions. C-f/admittance spectroscopy probes frequency-dependent capacitance and conductance, which are often linked to traps, ionic motion, and interfacial charging. QE is the spectral collection response versus wavelength or photon energy and can be integrated to cross-check Jsc. Internal profiles such as band diagrams and recombination profiles are still important diagnostic outputs, but they should be presented separately from these four main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38912" y="201168"/>
            <a:ext cx="7086600" cy="310896"/>
          </a:xfrm>
          <a:prstGeom prst="rect">
            <a:avLst/>
          </a:prstGeom>
          <a:noFill/>
          <a:ln/>
        </p:spPr>
        <p:txBody>
          <a:bodyPr wrap="square" lIns="0" tIns="0" rIns="0" bIns="0" rtlCol="0" anchor="t">
            <a:normAutofit/>
          </a:bodyPr>
          <a:lstStyle/>
          <a:p>
            <a:pPr algn="l" indent="0" marL="0">
              <a:buNone/>
            </a:pPr>
            <a:r>
              <a:rPr lang="en-US" sz="2100" b="1" dirty="0">
                <a:solidFill>
                  <a:srgbClr val="162033"/>
                </a:solidFill>
                <a:latin typeface="Arial" pitchFamily="34" charset="0"/>
                <a:ea typeface="Arial" pitchFamily="34" charset="-122"/>
                <a:cs typeface="Arial" pitchFamily="34" charset="-120"/>
              </a:rPr>
              <a:t>SCAPS-1D Main Output Modules</a:t>
            </a:r>
            <a:endParaRPr lang="en-US" sz="2100" dirty="0"/>
          </a:p>
        </p:txBody>
      </p:sp>
      <p:sp>
        <p:nvSpPr>
          <p:cNvPr id="3" name="Text 1"/>
          <p:cNvSpPr/>
          <p:nvPr/>
        </p:nvSpPr>
        <p:spPr>
          <a:xfrm>
            <a:off x="457200" y="630936"/>
            <a:ext cx="10927080" cy="201168"/>
          </a:xfrm>
          <a:prstGeom prst="rect">
            <a:avLst/>
          </a:prstGeom>
          <a:noFill/>
          <a:ln/>
        </p:spPr>
        <p:txBody>
          <a:bodyPr wrap="square" lIns="0" tIns="0" rIns="0" bIns="0" rtlCol="0" anchor="t">
            <a:normAutofit/>
          </a:bodyPr>
          <a:lstStyle/>
          <a:p>
            <a:pPr algn="l" indent="0" marL="0">
              <a:buNone/>
            </a:pPr>
            <a:r>
              <a:rPr lang="en-US" sz="1030" dirty="0">
                <a:solidFill>
                  <a:srgbClr val="334155"/>
                </a:solidFill>
                <a:latin typeface="Arial" pitchFamily="34" charset="0"/>
                <a:ea typeface="Arial" pitchFamily="34" charset="-122"/>
                <a:cs typeface="Arial" pitchFamily="34" charset="-120"/>
              </a:rPr>
              <a:t>Four primary characterization outputs used to evaluate solar-cell performance, junction electrostatics, defect response, and spectral collection.</a:t>
            </a:r>
            <a:endParaRPr lang="en-US" sz="1030" dirty="0"/>
          </a:p>
        </p:txBody>
      </p:sp>
      <p:sp>
        <p:nvSpPr>
          <p:cNvPr id="4" name="Shape 2"/>
          <p:cNvSpPr/>
          <p:nvPr/>
        </p:nvSpPr>
        <p:spPr>
          <a:xfrm>
            <a:off x="10552176" y="265176"/>
            <a:ext cx="749808" cy="219456"/>
          </a:xfrm>
          <a:prstGeom prst="roundRect">
            <a:avLst>
              <a:gd name="adj" fmla="val 25000"/>
            </a:avLst>
          </a:prstGeom>
          <a:solidFill>
            <a:srgbClr val="DBEAFE"/>
          </a:solidFill>
          <a:ln w="12700">
            <a:solidFill>
              <a:srgbClr val="2563EB"/>
            </a:solidFill>
            <a:prstDash val="solid"/>
          </a:ln>
        </p:spPr>
      </p:sp>
      <p:sp>
        <p:nvSpPr>
          <p:cNvPr id="5" name="Text 3"/>
          <p:cNvSpPr/>
          <p:nvPr/>
        </p:nvSpPr>
        <p:spPr>
          <a:xfrm>
            <a:off x="10597896" y="312725"/>
            <a:ext cx="658368" cy="91440"/>
          </a:xfrm>
          <a:prstGeom prst="rect">
            <a:avLst/>
          </a:prstGeom>
          <a:noFill/>
          <a:ln/>
        </p:spPr>
        <p:txBody>
          <a:bodyPr wrap="square" lIns="0" tIns="0" rIns="0" bIns="0" rtlCol="0" anchor="t">
            <a:normAutofit/>
          </a:bodyPr>
          <a:lstStyle/>
          <a:p>
            <a:pPr algn="ctr" indent="0" marL="0">
              <a:buNone/>
            </a:pPr>
            <a:r>
              <a:rPr lang="en-US" sz="660" b="1" dirty="0">
                <a:solidFill>
                  <a:srgbClr val="2563EB"/>
                </a:solidFill>
                <a:latin typeface="Arial" pitchFamily="34" charset="0"/>
                <a:ea typeface="Arial" pitchFamily="34" charset="-122"/>
                <a:cs typeface="Arial" pitchFamily="34" charset="-120"/>
              </a:rPr>
              <a:t>editable</a:t>
            </a:r>
            <a:endParaRPr lang="en-US" sz="660" dirty="0"/>
          </a:p>
        </p:txBody>
      </p:sp>
      <p:sp>
        <p:nvSpPr>
          <p:cNvPr id="6" name="Shape 4"/>
          <p:cNvSpPr/>
          <p:nvPr/>
        </p:nvSpPr>
        <p:spPr>
          <a:xfrm>
            <a:off x="11356848" y="265176"/>
            <a:ext cx="676656" cy="219456"/>
          </a:xfrm>
          <a:prstGeom prst="roundRect">
            <a:avLst>
              <a:gd name="adj" fmla="val 25000"/>
            </a:avLst>
          </a:prstGeom>
          <a:solidFill>
            <a:srgbClr val="EEF2F7"/>
          </a:solidFill>
          <a:ln w="12700">
            <a:solidFill>
              <a:srgbClr val="334155"/>
            </a:solidFill>
            <a:prstDash val="solid"/>
          </a:ln>
        </p:spPr>
      </p:sp>
      <p:sp>
        <p:nvSpPr>
          <p:cNvPr id="7" name="Text 5"/>
          <p:cNvSpPr/>
          <p:nvPr/>
        </p:nvSpPr>
        <p:spPr>
          <a:xfrm>
            <a:off x="11402568" y="312725"/>
            <a:ext cx="585216" cy="91440"/>
          </a:xfrm>
          <a:prstGeom prst="rect">
            <a:avLst/>
          </a:prstGeom>
          <a:noFill/>
          <a:ln/>
        </p:spPr>
        <p:txBody>
          <a:bodyPr wrap="square" lIns="0" tIns="0" rIns="0" bIns="0" rtlCol="0" anchor="t">
            <a:normAutofit/>
          </a:bodyPr>
          <a:lstStyle/>
          <a:p>
            <a:pPr algn="ctr" indent="0" marL="0">
              <a:buNone/>
            </a:pPr>
            <a:r>
              <a:rPr lang="en-US" sz="630" b="1" dirty="0">
                <a:solidFill>
                  <a:srgbClr val="334155"/>
                </a:solidFill>
                <a:latin typeface="Arial" pitchFamily="34" charset="0"/>
                <a:ea typeface="Arial" pitchFamily="34" charset="-122"/>
                <a:cs typeface="Arial" pitchFamily="34" charset="-120"/>
              </a:rPr>
              <a:t>SCAPS-1D</a:t>
            </a:r>
            <a:endParaRPr lang="en-US" sz="630" dirty="0"/>
          </a:p>
        </p:txBody>
      </p:sp>
      <p:sp>
        <p:nvSpPr>
          <p:cNvPr id="8" name="Shape 6"/>
          <p:cNvSpPr/>
          <p:nvPr/>
        </p:nvSpPr>
        <p:spPr>
          <a:xfrm>
            <a:off x="457200" y="1005840"/>
            <a:ext cx="5486400" cy="2331720"/>
          </a:xfrm>
          <a:prstGeom prst="roundRect">
            <a:avLst>
              <a:gd name="adj" fmla="val 3137"/>
            </a:avLst>
          </a:prstGeom>
          <a:solidFill>
            <a:srgbClr val="FFFFFF"/>
          </a:solidFill>
          <a:ln w="12700">
            <a:solidFill>
              <a:srgbClr val="CBD5E1"/>
            </a:solidFill>
            <a:prstDash val="solid"/>
          </a:ln>
        </p:spPr>
      </p:sp>
      <p:sp>
        <p:nvSpPr>
          <p:cNvPr id="9" name="Shape 7"/>
          <p:cNvSpPr/>
          <p:nvPr/>
        </p:nvSpPr>
        <p:spPr>
          <a:xfrm>
            <a:off x="457200" y="1005840"/>
            <a:ext cx="73152" cy="2331720"/>
          </a:xfrm>
          <a:prstGeom prst="rect">
            <a:avLst/>
          </a:prstGeom>
          <a:solidFill>
            <a:srgbClr val="B42318"/>
          </a:solidFill>
          <a:ln w="12700">
            <a:solidFill>
              <a:srgbClr val="B42318">
                <a:alpha val="0"/>
              </a:srgbClr>
            </a:solidFill>
            <a:prstDash val="solid"/>
          </a:ln>
        </p:spPr>
      </p:sp>
      <p:sp>
        <p:nvSpPr>
          <p:cNvPr id="10" name="Shape 8"/>
          <p:cNvSpPr/>
          <p:nvPr/>
        </p:nvSpPr>
        <p:spPr>
          <a:xfrm>
            <a:off x="621792" y="1143000"/>
            <a:ext cx="347472" cy="219456"/>
          </a:xfrm>
          <a:prstGeom prst="roundRect">
            <a:avLst>
              <a:gd name="adj" fmla="val 25000"/>
            </a:avLst>
          </a:prstGeom>
          <a:solidFill>
            <a:srgbClr val="FEE4E2"/>
          </a:solidFill>
          <a:ln w="12700">
            <a:solidFill>
              <a:srgbClr val="B42318"/>
            </a:solidFill>
            <a:prstDash val="solid"/>
          </a:ln>
        </p:spPr>
      </p:sp>
      <p:sp>
        <p:nvSpPr>
          <p:cNvPr id="11" name="Text 9"/>
          <p:cNvSpPr/>
          <p:nvPr/>
        </p:nvSpPr>
        <p:spPr>
          <a:xfrm>
            <a:off x="667512" y="1190549"/>
            <a:ext cx="256032" cy="91440"/>
          </a:xfrm>
          <a:prstGeom prst="rect">
            <a:avLst/>
          </a:prstGeom>
          <a:noFill/>
          <a:ln/>
        </p:spPr>
        <p:txBody>
          <a:bodyPr wrap="square" lIns="0" tIns="0" rIns="0" bIns="0" rtlCol="0" anchor="t">
            <a:normAutofit/>
          </a:bodyPr>
          <a:lstStyle/>
          <a:p>
            <a:pPr algn="ctr" indent="0" marL="0">
              <a:buNone/>
            </a:pPr>
            <a:r>
              <a:rPr lang="en-US" sz="660" b="1" dirty="0">
                <a:solidFill>
                  <a:srgbClr val="B42318"/>
                </a:solidFill>
                <a:latin typeface="Arial" pitchFamily="34" charset="0"/>
                <a:ea typeface="Arial" pitchFamily="34" charset="-122"/>
                <a:cs typeface="Arial" pitchFamily="34" charset="-120"/>
              </a:rPr>
              <a:t>A</a:t>
            </a:r>
            <a:endParaRPr lang="en-US" sz="660" dirty="0"/>
          </a:p>
        </p:txBody>
      </p:sp>
      <p:sp>
        <p:nvSpPr>
          <p:cNvPr id="12" name="Text 10"/>
          <p:cNvSpPr/>
          <p:nvPr/>
        </p:nvSpPr>
        <p:spPr>
          <a:xfrm>
            <a:off x="1060704" y="1152144"/>
            <a:ext cx="4700016" cy="182880"/>
          </a:xfrm>
          <a:prstGeom prst="rect">
            <a:avLst/>
          </a:prstGeom>
          <a:noFill/>
          <a:ln/>
        </p:spPr>
        <p:txBody>
          <a:bodyPr wrap="square" lIns="0" tIns="0" rIns="0" bIns="0" rtlCol="0" anchor="t">
            <a:normAutofit/>
          </a:bodyPr>
          <a:lstStyle/>
          <a:p>
            <a:pPr algn="l" indent="0" marL="0">
              <a:buNone/>
            </a:pPr>
            <a:r>
              <a:rPr lang="en-US" sz="1000" b="1" dirty="0">
                <a:solidFill>
                  <a:srgbClr val="334155"/>
                </a:solidFill>
                <a:latin typeface="Arial" pitchFamily="34" charset="0"/>
                <a:ea typeface="Arial" pitchFamily="34" charset="-122"/>
                <a:cs typeface="Arial" pitchFamily="34" charset="-120"/>
              </a:rPr>
              <a:t>I-V / J-V characteristics</a:t>
            </a:r>
            <a:endParaRPr lang="en-US" sz="1000" dirty="0"/>
          </a:p>
        </p:txBody>
      </p:sp>
      <p:graphicFrame>
        <p:nvGraphicFramePr>
          <p:cNvPr id="13" name="Chart 0" descr=""/>
          <p:cNvGraphicFramePr/>
          <p:nvPr/>
        </p:nvGraphicFramePr>
        <p:xfrm>
          <a:off x="676656" y="1536192"/>
          <a:ext cx="2834640" cy="1563624"/>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1645920" y="3026664"/>
            <a:ext cx="786384" cy="109728"/>
          </a:xfrm>
          <a:prstGeom prst="rect">
            <a:avLst/>
          </a:prstGeom>
          <a:noFill/>
          <a:ln/>
        </p:spPr>
        <p:txBody>
          <a:bodyPr wrap="square" lIns="0" tIns="0" rIns="0" bIns="0" rtlCol="0" anchor="t">
            <a:normAutofit/>
          </a:bodyPr>
          <a:lstStyle/>
          <a:p>
            <a:pPr algn="ctr" indent="0" marL="0">
              <a:buNone/>
            </a:pPr>
            <a:r>
              <a:rPr lang="en-US" sz="610" dirty="0">
                <a:solidFill>
                  <a:srgbClr val="64748B"/>
                </a:solidFill>
                <a:latin typeface="Arial" pitchFamily="34" charset="0"/>
                <a:ea typeface="Arial" pitchFamily="34" charset="-122"/>
                <a:cs typeface="Arial" pitchFamily="34" charset="-120"/>
              </a:rPr>
              <a:t>Voltage </a:t>
            </a:r>
            <a:pPr algn="ctr" indent="0" marL="0">
              <a:buNone/>
            </a:pPr>
            <a:r>
              <a:rPr lang="en-US" sz="610" i="1" dirty="0">
                <a:solidFill>
                  <a:srgbClr val="64748B"/>
                </a:solidFill>
                <a:latin typeface="Arial" pitchFamily="34" charset="0"/>
                <a:ea typeface="Arial" pitchFamily="34" charset="-122"/>
                <a:cs typeface="Arial" pitchFamily="34" charset="-120"/>
              </a:rPr>
              <a:t>V</a:t>
            </a:r>
            <a:pPr algn="ctr" indent="0" marL="0">
              <a:buNone/>
            </a:pPr>
            <a:r>
              <a:rPr lang="en-US" sz="610" dirty="0">
                <a:solidFill>
                  <a:srgbClr val="64748B"/>
                </a:solidFill>
                <a:latin typeface="Arial" pitchFamily="34" charset="0"/>
                <a:ea typeface="Arial" pitchFamily="34" charset="-122"/>
                <a:cs typeface="Arial" pitchFamily="34" charset="-120"/>
              </a:rPr>
              <a:t> (V)</a:t>
            </a:r>
            <a:endParaRPr lang="en-US" sz="610" dirty="0"/>
          </a:p>
        </p:txBody>
      </p:sp>
      <p:sp>
        <p:nvSpPr>
          <p:cNvPr id="15" name="Text 12"/>
          <p:cNvSpPr/>
          <p:nvPr/>
        </p:nvSpPr>
        <p:spPr>
          <a:xfrm>
            <a:off x="649224" y="1517904"/>
            <a:ext cx="1280160" cy="109728"/>
          </a:xfrm>
          <a:prstGeom prst="rect">
            <a:avLst/>
          </a:prstGeom>
          <a:noFill/>
          <a:ln/>
        </p:spPr>
        <p:txBody>
          <a:bodyPr wrap="square" lIns="0" tIns="0" rIns="0" bIns="0" rtlCol="0" anchor="t">
            <a:normAutofit/>
          </a:bodyPr>
          <a:lstStyle/>
          <a:p>
            <a:pPr algn="l" indent="0" marL="0">
              <a:buNone/>
            </a:pPr>
            <a:r>
              <a:rPr lang="en-US" sz="610" dirty="0">
                <a:solidFill>
                  <a:srgbClr val="64748B"/>
                </a:solidFill>
                <a:latin typeface="Arial" pitchFamily="34" charset="0"/>
                <a:ea typeface="Arial" pitchFamily="34" charset="-122"/>
                <a:cs typeface="Arial" pitchFamily="34" charset="-120"/>
              </a:rPr>
              <a:t>Current density </a:t>
            </a:r>
            <a:pPr algn="l" indent="0" marL="0">
              <a:buNone/>
            </a:pPr>
            <a:r>
              <a:rPr lang="en-US" sz="610" i="1" dirty="0">
                <a:solidFill>
                  <a:srgbClr val="64748B"/>
                </a:solidFill>
                <a:latin typeface="Arial" pitchFamily="34" charset="0"/>
                <a:ea typeface="Arial" pitchFamily="34" charset="-122"/>
                <a:cs typeface="Arial" pitchFamily="34" charset="-120"/>
              </a:rPr>
              <a:t>J</a:t>
            </a:r>
            <a:pPr algn="l" indent="0" marL="0">
              <a:buNone/>
            </a:pPr>
            <a:r>
              <a:rPr lang="en-US" sz="610" dirty="0">
                <a:solidFill>
                  <a:srgbClr val="64748B"/>
                </a:solidFill>
                <a:latin typeface="Arial" pitchFamily="34" charset="0"/>
                <a:ea typeface="Arial" pitchFamily="34" charset="-122"/>
                <a:cs typeface="Arial" pitchFamily="34" charset="-120"/>
              </a:rPr>
              <a:t> (mA cm</a:t>
            </a:r>
            <a:pPr algn="l" indent="0" marL="0">
              <a:buNone/>
            </a:pPr>
            <a:r>
              <a:rPr lang="en-US" sz="610" baseline="30000" dirty="0">
                <a:solidFill>
                  <a:srgbClr val="64748B"/>
                </a:solidFill>
                <a:latin typeface="Arial" pitchFamily="34" charset="0"/>
                <a:ea typeface="Arial" pitchFamily="34" charset="-122"/>
                <a:cs typeface="Arial" pitchFamily="34" charset="-120"/>
              </a:rPr>
              <a:t>−2</a:t>
            </a:r>
            <a:pPr algn="l" indent="0" marL="0">
              <a:buNone/>
            </a:pPr>
            <a:r>
              <a:rPr lang="en-US" sz="610" dirty="0">
                <a:solidFill>
                  <a:srgbClr val="64748B"/>
                </a:solidFill>
                <a:latin typeface="Arial" pitchFamily="34" charset="0"/>
                <a:ea typeface="Arial" pitchFamily="34" charset="-122"/>
                <a:cs typeface="Arial" pitchFamily="34" charset="-120"/>
              </a:rPr>
              <a:t>)</a:t>
            </a:r>
            <a:endParaRPr lang="en-US" sz="610" dirty="0"/>
          </a:p>
        </p:txBody>
      </p:sp>
      <p:sp>
        <p:nvSpPr>
          <p:cNvPr id="16" name="Shape 13"/>
          <p:cNvSpPr/>
          <p:nvPr/>
        </p:nvSpPr>
        <p:spPr>
          <a:xfrm>
            <a:off x="3767328" y="1536192"/>
            <a:ext cx="822960" cy="283464"/>
          </a:xfrm>
          <a:prstGeom prst="roundRect">
            <a:avLst>
              <a:gd name="adj" fmla="val 12903"/>
            </a:avLst>
          </a:prstGeom>
          <a:solidFill>
            <a:srgbClr val="F8FAFC"/>
          </a:solidFill>
          <a:ln w="12700">
            <a:solidFill>
              <a:srgbClr val="CBD5E1"/>
            </a:solidFill>
            <a:prstDash val="solid"/>
          </a:ln>
        </p:spPr>
      </p:sp>
      <p:sp>
        <p:nvSpPr>
          <p:cNvPr id="17" name="Text 14"/>
          <p:cNvSpPr/>
          <p:nvPr/>
        </p:nvSpPr>
        <p:spPr>
          <a:xfrm>
            <a:off x="3822192" y="1578254"/>
            <a:ext cx="310896" cy="91440"/>
          </a:xfrm>
          <a:prstGeom prst="rect">
            <a:avLst/>
          </a:prstGeom>
          <a:noFill/>
          <a:ln/>
        </p:spPr>
        <p:txBody>
          <a:bodyPr wrap="square" lIns="0" tIns="0" rIns="0" bIns="0" rtlCol="0" anchor="t">
            <a:normAutofit/>
          </a:bodyPr>
          <a:lstStyle/>
          <a:p>
            <a:pPr algn="l" indent="0" marL="0">
              <a:buNone/>
            </a:pPr>
            <a:r>
              <a:rPr lang="en-US" sz="580" i="1" dirty="0">
                <a:solidFill>
                  <a:srgbClr val="64748B"/>
                </a:solidFill>
                <a:latin typeface="Arial" pitchFamily="34" charset="0"/>
                <a:ea typeface="Arial" pitchFamily="34" charset="-122"/>
                <a:cs typeface="Arial" pitchFamily="34" charset="-120"/>
              </a:rPr>
              <a:t>V</a:t>
            </a:r>
            <a:pPr algn="l" indent="0" marL="0">
              <a:buNone/>
            </a:pPr>
            <a:r>
              <a:rPr lang="en-US" sz="580" baseline="-40000" dirty="0">
                <a:solidFill>
                  <a:srgbClr val="64748B"/>
                </a:solidFill>
                <a:latin typeface="Arial" pitchFamily="34" charset="0"/>
                <a:ea typeface="Arial" pitchFamily="34" charset="-122"/>
                <a:cs typeface="Arial" pitchFamily="34" charset="-120"/>
              </a:rPr>
              <a:t>oc</a:t>
            </a:r>
            <a:endParaRPr lang="en-US" sz="580" dirty="0"/>
          </a:p>
        </p:txBody>
      </p:sp>
      <p:sp>
        <p:nvSpPr>
          <p:cNvPr id="18" name="Text 15"/>
          <p:cNvSpPr/>
          <p:nvPr/>
        </p:nvSpPr>
        <p:spPr>
          <a:xfrm>
            <a:off x="4133088" y="1575511"/>
            <a:ext cx="393192" cy="100584"/>
          </a:xfrm>
          <a:prstGeom prst="rect">
            <a:avLst/>
          </a:prstGeom>
          <a:noFill/>
          <a:ln/>
        </p:spPr>
        <p:txBody>
          <a:bodyPr wrap="square" lIns="0" tIns="0" rIns="0" bIns="0" rtlCol="0" anchor="t">
            <a:normAutofit/>
          </a:bodyPr>
          <a:lstStyle/>
          <a:p>
            <a:pPr algn="r" indent="0" marL="0">
              <a:buNone/>
            </a:pPr>
            <a:r>
              <a:rPr lang="en-US" sz="640" b="1" dirty="0">
                <a:solidFill>
                  <a:srgbClr val="B42318"/>
                </a:solidFill>
                <a:latin typeface="Arial" pitchFamily="34" charset="0"/>
                <a:ea typeface="Arial" pitchFamily="34" charset="-122"/>
                <a:cs typeface="Arial" pitchFamily="34" charset="-120"/>
              </a:rPr>
              <a:t>1.15 V</a:t>
            </a:r>
            <a:endParaRPr lang="en-US" sz="640" dirty="0"/>
          </a:p>
        </p:txBody>
      </p:sp>
      <p:sp>
        <p:nvSpPr>
          <p:cNvPr id="19" name="Shape 16"/>
          <p:cNvSpPr/>
          <p:nvPr/>
        </p:nvSpPr>
        <p:spPr>
          <a:xfrm>
            <a:off x="4690872" y="1536192"/>
            <a:ext cx="822960" cy="283464"/>
          </a:xfrm>
          <a:prstGeom prst="roundRect">
            <a:avLst>
              <a:gd name="adj" fmla="val 12903"/>
            </a:avLst>
          </a:prstGeom>
          <a:solidFill>
            <a:srgbClr val="F8FAFC"/>
          </a:solidFill>
          <a:ln w="12700">
            <a:solidFill>
              <a:srgbClr val="CBD5E1"/>
            </a:solidFill>
            <a:prstDash val="solid"/>
          </a:ln>
        </p:spPr>
      </p:sp>
      <p:sp>
        <p:nvSpPr>
          <p:cNvPr id="20" name="Text 17"/>
          <p:cNvSpPr/>
          <p:nvPr/>
        </p:nvSpPr>
        <p:spPr>
          <a:xfrm>
            <a:off x="4745736" y="1578254"/>
            <a:ext cx="310896" cy="91440"/>
          </a:xfrm>
          <a:prstGeom prst="rect">
            <a:avLst/>
          </a:prstGeom>
          <a:noFill/>
          <a:ln/>
        </p:spPr>
        <p:txBody>
          <a:bodyPr wrap="square" lIns="0" tIns="0" rIns="0" bIns="0" rtlCol="0" anchor="t">
            <a:normAutofit/>
          </a:bodyPr>
          <a:lstStyle/>
          <a:p>
            <a:pPr algn="l" indent="0" marL="0">
              <a:buNone/>
            </a:pPr>
            <a:r>
              <a:rPr lang="en-US" sz="580" i="1" dirty="0">
                <a:solidFill>
                  <a:srgbClr val="64748B"/>
                </a:solidFill>
                <a:latin typeface="Arial" pitchFamily="34" charset="0"/>
                <a:ea typeface="Arial" pitchFamily="34" charset="-122"/>
                <a:cs typeface="Arial" pitchFamily="34" charset="-120"/>
              </a:rPr>
              <a:t>J</a:t>
            </a:r>
            <a:pPr algn="l" indent="0" marL="0">
              <a:buNone/>
            </a:pPr>
            <a:r>
              <a:rPr lang="en-US" sz="580" baseline="-40000" dirty="0">
                <a:solidFill>
                  <a:srgbClr val="64748B"/>
                </a:solidFill>
                <a:latin typeface="Arial" pitchFamily="34" charset="0"/>
                <a:ea typeface="Arial" pitchFamily="34" charset="-122"/>
                <a:cs typeface="Arial" pitchFamily="34" charset="-120"/>
              </a:rPr>
              <a:t>sc</a:t>
            </a:r>
            <a:endParaRPr lang="en-US" sz="580" dirty="0"/>
          </a:p>
        </p:txBody>
      </p:sp>
      <p:sp>
        <p:nvSpPr>
          <p:cNvPr id="21" name="Text 18"/>
          <p:cNvSpPr/>
          <p:nvPr/>
        </p:nvSpPr>
        <p:spPr>
          <a:xfrm>
            <a:off x="5056632" y="1575511"/>
            <a:ext cx="393192" cy="100584"/>
          </a:xfrm>
          <a:prstGeom prst="rect">
            <a:avLst/>
          </a:prstGeom>
          <a:noFill/>
          <a:ln/>
        </p:spPr>
        <p:txBody>
          <a:bodyPr wrap="square" lIns="0" tIns="0" rIns="0" bIns="0" rtlCol="0" anchor="t">
            <a:normAutofit/>
          </a:bodyPr>
          <a:lstStyle/>
          <a:p>
            <a:pPr algn="r" indent="0" marL="0">
              <a:buNone/>
            </a:pPr>
            <a:r>
              <a:rPr lang="en-US" sz="640" b="1" dirty="0">
                <a:solidFill>
                  <a:srgbClr val="B42318"/>
                </a:solidFill>
                <a:latin typeface="Arial" pitchFamily="34" charset="0"/>
                <a:ea typeface="Arial" pitchFamily="34" charset="-122"/>
                <a:cs typeface="Arial" pitchFamily="34" charset="-120"/>
              </a:rPr>
              <a:t>23.8</a:t>
            </a:r>
            <a:endParaRPr lang="en-US" sz="640" dirty="0"/>
          </a:p>
        </p:txBody>
      </p:sp>
      <p:sp>
        <p:nvSpPr>
          <p:cNvPr id="22" name="Shape 19"/>
          <p:cNvSpPr/>
          <p:nvPr/>
        </p:nvSpPr>
        <p:spPr>
          <a:xfrm>
            <a:off x="3767328" y="1892808"/>
            <a:ext cx="822960" cy="283464"/>
          </a:xfrm>
          <a:prstGeom prst="roundRect">
            <a:avLst>
              <a:gd name="adj" fmla="val 12903"/>
            </a:avLst>
          </a:prstGeom>
          <a:solidFill>
            <a:srgbClr val="F8FAFC"/>
          </a:solidFill>
          <a:ln w="12700">
            <a:solidFill>
              <a:srgbClr val="CBD5E1"/>
            </a:solidFill>
            <a:prstDash val="solid"/>
          </a:ln>
        </p:spPr>
      </p:sp>
      <p:sp>
        <p:nvSpPr>
          <p:cNvPr id="23" name="Text 20"/>
          <p:cNvSpPr/>
          <p:nvPr/>
        </p:nvSpPr>
        <p:spPr>
          <a:xfrm>
            <a:off x="3822192" y="1934870"/>
            <a:ext cx="310896" cy="91440"/>
          </a:xfrm>
          <a:prstGeom prst="rect">
            <a:avLst/>
          </a:prstGeom>
          <a:noFill/>
          <a:ln/>
        </p:spPr>
        <p:txBody>
          <a:bodyPr wrap="square" lIns="0" tIns="0" rIns="0" bIns="0" rtlCol="0" anchor="t">
            <a:normAutofit/>
          </a:bodyPr>
          <a:lstStyle/>
          <a:p>
            <a:pPr algn="l" indent="0" marL="0">
              <a:buNone/>
            </a:pPr>
            <a:r>
              <a:rPr lang="en-US" sz="580" dirty="0">
                <a:solidFill>
                  <a:srgbClr val="64748B"/>
                </a:solidFill>
                <a:latin typeface="Arial" pitchFamily="34" charset="0"/>
                <a:ea typeface="Arial" pitchFamily="34" charset="-122"/>
                <a:cs typeface="Arial" pitchFamily="34" charset="-120"/>
              </a:rPr>
              <a:t>FF</a:t>
            </a:r>
            <a:endParaRPr lang="en-US" sz="580" dirty="0"/>
          </a:p>
        </p:txBody>
      </p:sp>
      <p:sp>
        <p:nvSpPr>
          <p:cNvPr id="24" name="Text 21"/>
          <p:cNvSpPr/>
          <p:nvPr/>
        </p:nvSpPr>
        <p:spPr>
          <a:xfrm>
            <a:off x="4133088" y="1932127"/>
            <a:ext cx="393192" cy="100584"/>
          </a:xfrm>
          <a:prstGeom prst="rect">
            <a:avLst/>
          </a:prstGeom>
          <a:noFill/>
          <a:ln/>
        </p:spPr>
        <p:txBody>
          <a:bodyPr wrap="square" lIns="0" tIns="0" rIns="0" bIns="0" rtlCol="0" anchor="t">
            <a:normAutofit/>
          </a:bodyPr>
          <a:lstStyle/>
          <a:p>
            <a:pPr algn="r" indent="0" marL="0">
              <a:buNone/>
            </a:pPr>
            <a:r>
              <a:rPr lang="en-US" sz="640" b="1" dirty="0">
                <a:solidFill>
                  <a:srgbClr val="B42318"/>
                </a:solidFill>
                <a:latin typeface="Arial" pitchFamily="34" charset="0"/>
                <a:ea typeface="Arial" pitchFamily="34" charset="-122"/>
                <a:cs typeface="Arial" pitchFamily="34" charset="-120"/>
              </a:rPr>
              <a:t>78%</a:t>
            </a:r>
            <a:endParaRPr lang="en-US" sz="640" dirty="0"/>
          </a:p>
        </p:txBody>
      </p:sp>
      <p:sp>
        <p:nvSpPr>
          <p:cNvPr id="25" name="Shape 22"/>
          <p:cNvSpPr/>
          <p:nvPr/>
        </p:nvSpPr>
        <p:spPr>
          <a:xfrm>
            <a:off x="4690872" y="1892808"/>
            <a:ext cx="822960" cy="283464"/>
          </a:xfrm>
          <a:prstGeom prst="roundRect">
            <a:avLst>
              <a:gd name="adj" fmla="val 12903"/>
            </a:avLst>
          </a:prstGeom>
          <a:solidFill>
            <a:srgbClr val="F8FAFC"/>
          </a:solidFill>
          <a:ln w="12700">
            <a:solidFill>
              <a:srgbClr val="CBD5E1"/>
            </a:solidFill>
            <a:prstDash val="solid"/>
          </a:ln>
        </p:spPr>
      </p:sp>
      <p:sp>
        <p:nvSpPr>
          <p:cNvPr id="26" name="Text 23"/>
          <p:cNvSpPr/>
          <p:nvPr/>
        </p:nvSpPr>
        <p:spPr>
          <a:xfrm>
            <a:off x="4745736" y="1934870"/>
            <a:ext cx="310896" cy="91440"/>
          </a:xfrm>
          <a:prstGeom prst="rect">
            <a:avLst/>
          </a:prstGeom>
          <a:noFill/>
          <a:ln/>
        </p:spPr>
        <p:txBody>
          <a:bodyPr wrap="square" lIns="0" tIns="0" rIns="0" bIns="0" rtlCol="0" anchor="t">
            <a:normAutofit/>
          </a:bodyPr>
          <a:lstStyle/>
          <a:p>
            <a:pPr algn="l" indent="0" marL="0">
              <a:buNone/>
            </a:pPr>
            <a:r>
              <a:rPr lang="en-US" sz="580" dirty="0">
                <a:solidFill>
                  <a:srgbClr val="64748B"/>
                </a:solidFill>
                <a:latin typeface="Arial" pitchFamily="34" charset="0"/>
                <a:ea typeface="Arial" pitchFamily="34" charset="-122"/>
                <a:cs typeface="Arial" pitchFamily="34" charset="-120"/>
              </a:rPr>
              <a:t>η</a:t>
            </a:r>
            <a:endParaRPr lang="en-US" sz="580" dirty="0"/>
          </a:p>
        </p:txBody>
      </p:sp>
      <p:sp>
        <p:nvSpPr>
          <p:cNvPr id="27" name="Text 24"/>
          <p:cNvSpPr/>
          <p:nvPr/>
        </p:nvSpPr>
        <p:spPr>
          <a:xfrm>
            <a:off x="5056632" y="1932127"/>
            <a:ext cx="393192" cy="100584"/>
          </a:xfrm>
          <a:prstGeom prst="rect">
            <a:avLst/>
          </a:prstGeom>
          <a:noFill/>
          <a:ln/>
        </p:spPr>
        <p:txBody>
          <a:bodyPr wrap="square" lIns="0" tIns="0" rIns="0" bIns="0" rtlCol="0" anchor="t">
            <a:normAutofit/>
          </a:bodyPr>
          <a:lstStyle/>
          <a:p>
            <a:pPr algn="r" indent="0" marL="0">
              <a:buNone/>
            </a:pPr>
            <a:r>
              <a:rPr lang="en-US" sz="640" b="1" dirty="0">
                <a:solidFill>
                  <a:srgbClr val="B42318"/>
                </a:solidFill>
                <a:latin typeface="Arial" pitchFamily="34" charset="0"/>
                <a:ea typeface="Arial" pitchFamily="34" charset="-122"/>
                <a:cs typeface="Arial" pitchFamily="34" charset="-120"/>
              </a:rPr>
              <a:t>21.3%</a:t>
            </a:r>
            <a:endParaRPr lang="en-US" sz="640" dirty="0"/>
          </a:p>
        </p:txBody>
      </p:sp>
      <p:sp>
        <p:nvSpPr>
          <p:cNvPr id="28" name="Shape 25"/>
          <p:cNvSpPr/>
          <p:nvPr/>
        </p:nvSpPr>
        <p:spPr>
          <a:xfrm>
            <a:off x="1097280" y="2194560"/>
            <a:ext cx="896112" cy="384048"/>
          </a:xfrm>
          <a:prstGeom prst="roundRect">
            <a:avLst>
              <a:gd name="adj" fmla="val 8333"/>
            </a:avLst>
          </a:prstGeom>
          <a:solidFill>
            <a:srgbClr val="FFFFFF">
              <a:alpha val="94000"/>
            </a:srgbClr>
          </a:solidFill>
          <a:ln w="12700">
            <a:solidFill>
              <a:srgbClr val="B42318"/>
            </a:solidFill>
            <a:prstDash val="solid"/>
          </a:ln>
        </p:spPr>
      </p:sp>
      <p:sp>
        <p:nvSpPr>
          <p:cNvPr id="29" name="Shape 26"/>
          <p:cNvSpPr/>
          <p:nvPr/>
        </p:nvSpPr>
        <p:spPr>
          <a:xfrm>
            <a:off x="1170432" y="2295144"/>
            <a:ext cx="173736" cy="0"/>
          </a:xfrm>
          <a:prstGeom prst="line">
            <a:avLst/>
          </a:prstGeom>
          <a:noFill/>
          <a:ln w="12700">
            <a:solidFill>
              <a:srgbClr val="B42318"/>
            </a:solidFill>
            <a:prstDash val="solid"/>
            <a:headEnd type="none"/>
            <a:tailEnd type="none"/>
          </a:ln>
        </p:spPr>
      </p:sp>
      <p:sp>
        <p:nvSpPr>
          <p:cNvPr id="30" name="Text 27"/>
          <p:cNvSpPr/>
          <p:nvPr/>
        </p:nvSpPr>
        <p:spPr>
          <a:xfrm>
            <a:off x="1389888" y="2250338"/>
            <a:ext cx="548640" cy="82296"/>
          </a:xfrm>
          <a:prstGeom prst="rect">
            <a:avLst/>
          </a:prstGeom>
          <a:noFill/>
          <a:ln/>
        </p:spPr>
        <p:txBody>
          <a:bodyPr wrap="square" lIns="0" tIns="0" rIns="0" bIns="0" rtlCol="0" anchor="t">
            <a:normAutofit/>
          </a:bodyPr>
          <a:lstStyle/>
          <a:p>
            <a:pPr algn="l" indent="0" marL="0">
              <a:buNone/>
            </a:pPr>
            <a:r>
              <a:rPr lang="en-US" sz="535" dirty="0">
                <a:solidFill>
                  <a:srgbClr val="334155"/>
                </a:solidFill>
                <a:latin typeface="Arial" pitchFamily="34" charset="0"/>
                <a:ea typeface="Arial" pitchFamily="34" charset="-122"/>
                <a:cs typeface="Arial" pitchFamily="34" charset="-120"/>
              </a:rPr>
              <a:t>light </a:t>
            </a:r>
            <a:pPr algn="l" indent="0" marL="0">
              <a:buNone/>
            </a:pPr>
            <a:r>
              <a:rPr lang="en-US" sz="535" i="1" dirty="0">
                <a:solidFill>
                  <a:srgbClr val="334155"/>
                </a:solidFill>
                <a:latin typeface="Arial" pitchFamily="34" charset="0"/>
                <a:ea typeface="Arial" pitchFamily="34" charset="-122"/>
                <a:cs typeface="Arial" pitchFamily="34" charset="-120"/>
              </a:rPr>
              <a:t>J</a:t>
            </a:r>
            <a:pPr algn="l" indent="0" marL="0">
              <a:buNone/>
            </a:pPr>
            <a:r>
              <a:rPr lang="en-US" sz="535" dirty="0">
                <a:solidFill>
                  <a:srgbClr val="334155"/>
                </a:solidFill>
                <a:latin typeface="Arial" pitchFamily="34" charset="0"/>
                <a:ea typeface="Arial" pitchFamily="34" charset="-122"/>
                <a:cs typeface="Arial" pitchFamily="34" charset="-120"/>
              </a:rPr>
              <a:t>-</a:t>
            </a:r>
            <a:pPr algn="l" indent="0" marL="0">
              <a:buNone/>
            </a:pPr>
            <a:r>
              <a:rPr lang="en-US" sz="535" i="1" dirty="0">
                <a:solidFill>
                  <a:srgbClr val="334155"/>
                </a:solidFill>
                <a:latin typeface="Arial" pitchFamily="34" charset="0"/>
                <a:ea typeface="Arial" pitchFamily="34" charset="-122"/>
                <a:cs typeface="Arial" pitchFamily="34" charset="-120"/>
              </a:rPr>
              <a:t>V</a:t>
            </a:r>
            <a:endParaRPr lang="en-US" sz="535" dirty="0"/>
          </a:p>
        </p:txBody>
      </p:sp>
      <p:sp>
        <p:nvSpPr>
          <p:cNvPr id="31" name="Shape 28"/>
          <p:cNvSpPr/>
          <p:nvPr/>
        </p:nvSpPr>
        <p:spPr>
          <a:xfrm>
            <a:off x="1170432" y="2427732"/>
            <a:ext cx="173736" cy="0"/>
          </a:xfrm>
          <a:prstGeom prst="line">
            <a:avLst/>
          </a:prstGeom>
          <a:noFill/>
          <a:ln w="12700">
            <a:solidFill>
              <a:srgbClr val="334155"/>
            </a:solidFill>
            <a:prstDash val="solid"/>
            <a:headEnd type="none"/>
            <a:tailEnd type="none"/>
          </a:ln>
        </p:spPr>
      </p:sp>
      <p:sp>
        <p:nvSpPr>
          <p:cNvPr id="32" name="Text 29"/>
          <p:cNvSpPr/>
          <p:nvPr/>
        </p:nvSpPr>
        <p:spPr>
          <a:xfrm>
            <a:off x="1389888" y="2382926"/>
            <a:ext cx="548640" cy="82296"/>
          </a:xfrm>
          <a:prstGeom prst="rect">
            <a:avLst/>
          </a:prstGeom>
          <a:noFill/>
          <a:ln/>
        </p:spPr>
        <p:txBody>
          <a:bodyPr wrap="square" lIns="0" tIns="0" rIns="0" bIns="0" rtlCol="0" anchor="t">
            <a:normAutofit/>
          </a:bodyPr>
          <a:lstStyle/>
          <a:p>
            <a:pPr algn="l" indent="0" marL="0">
              <a:buNone/>
            </a:pPr>
            <a:r>
              <a:rPr lang="en-US" sz="535" dirty="0">
                <a:solidFill>
                  <a:srgbClr val="334155"/>
                </a:solidFill>
                <a:latin typeface="Arial" pitchFamily="34" charset="0"/>
                <a:ea typeface="Arial" pitchFamily="34" charset="-122"/>
                <a:cs typeface="Arial" pitchFamily="34" charset="-120"/>
              </a:rPr>
              <a:t>dark </a:t>
            </a:r>
            <a:pPr algn="l" indent="0" marL="0">
              <a:buNone/>
            </a:pPr>
            <a:r>
              <a:rPr lang="en-US" sz="535" i="1" dirty="0">
                <a:solidFill>
                  <a:srgbClr val="334155"/>
                </a:solidFill>
                <a:latin typeface="Arial" pitchFamily="34" charset="0"/>
                <a:ea typeface="Arial" pitchFamily="34" charset="-122"/>
                <a:cs typeface="Arial" pitchFamily="34" charset="-120"/>
              </a:rPr>
              <a:t>J</a:t>
            </a:r>
            <a:pPr algn="l" indent="0" marL="0">
              <a:buNone/>
            </a:pPr>
            <a:r>
              <a:rPr lang="en-US" sz="535" dirty="0">
                <a:solidFill>
                  <a:srgbClr val="334155"/>
                </a:solidFill>
                <a:latin typeface="Arial" pitchFamily="34" charset="0"/>
                <a:ea typeface="Arial" pitchFamily="34" charset="-122"/>
                <a:cs typeface="Arial" pitchFamily="34" charset="-120"/>
              </a:rPr>
              <a:t>-</a:t>
            </a:r>
            <a:pPr algn="l" indent="0" marL="0">
              <a:buNone/>
            </a:pPr>
            <a:r>
              <a:rPr lang="en-US" sz="535" i="1" dirty="0">
                <a:solidFill>
                  <a:srgbClr val="334155"/>
                </a:solidFill>
                <a:latin typeface="Arial" pitchFamily="34" charset="0"/>
                <a:ea typeface="Arial" pitchFamily="34" charset="-122"/>
                <a:cs typeface="Arial" pitchFamily="34" charset="-120"/>
              </a:rPr>
              <a:t>V</a:t>
            </a:r>
            <a:endParaRPr lang="en-US" sz="535" dirty="0"/>
          </a:p>
        </p:txBody>
      </p:sp>
      <p:sp>
        <p:nvSpPr>
          <p:cNvPr id="33" name="Shape 30"/>
          <p:cNvSpPr/>
          <p:nvPr/>
        </p:nvSpPr>
        <p:spPr>
          <a:xfrm>
            <a:off x="3767328" y="2382012"/>
            <a:ext cx="32004" cy="32004"/>
          </a:xfrm>
          <a:prstGeom prst="rect">
            <a:avLst/>
          </a:prstGeom>
          <a:solidFill>
            <a:srgbClr val="B42318"/>
          </a:solidFill>
          <a:ln w="12700">
            <a:solidFill>
              <a:srgbClr val="B42318">
                <a:alpha val="0"/>
              </a:srgbClr>
            </a:solidFill>
            <a:prstDash val="solid"/>
          </a:ln>
        </p:spPr>
      </p:sp>
      <p:sp>
        <p:nvSpPr>
          <p:cNvPr id="34" name="Text 31"/>
          <p:cNvSpPr/>
          <p:nvPr/>
        </p:nvSpPr>
        <p:spPr>
          <a:xfrm>
            <a:off x="3858768" y="2340864"/>
            <a:ext cx="1865376" cy="310896"/>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SCAPS core terminal output: light/dark curves and photovoltaic metrics.</a:t>
            </a:r>
            <a:endParaRPr lang="en-US" sz="670" dirty="0"/>
          </a:p>
        </p:txBody>
      </p:sp>
      <p:sp>
        <p:nvSpPr>
          <p:cNvPr id="35" name="Shape 32"/>
          <p:cNvSpPr/>
          <p:nvPr/>
        </p:nvSpPr>
        <p:spPr>
          <a:xfrm>
            <a:off x="3767328" y="2747772"/>
            <a:ext cx="32004" cy="32004"/>
          </a:xfrm>
          <a:prstGeom prst="rect">
            <a:avLst/>
          </a:prstGeom>
          <a:solidFill>
            <a:srgbClr val="334155"/>
          </a:solidFill>
          <a:ln w="12700">
            <a:solidFill>
              <a:srgbClr val="334155">
                <a:alpha val="0"/>
              </a:srgbClr>
            </a:solidFill>
            <a:prstDash val="solid"/>
          </a:ln>
        </p:spPr>
      </p:sp>
      <p:sp>
        <p:nvSpPr>
          <p:cNvPr id="36" name="Text 33"/>
          <p:cNvSpPr/>
          <p:nvPr/>
        </p:nvSpPr>
        <p:spPr>
          <a:xfrm>
            <a:off x="3858768" y="2706624"/>
            <a:ext cx="1865376" cy="384048"/>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I = J × area; sign convention controls whether the curve appears upward or downward.</a:t>
            </a:r>
            <a:endParaRPr lang="en-US" sz="670" dirty="0"/>
          </a:p>
        </p:txBody>
      </p:sp>
      <p:sp>
        <p:nvSpPr>
          <p:cNvPr id="37" name="Shape 34"/>
          <p:cNvSpPr/>
          <p:nvPr/>
        </p:nvSpPr>
        <p:spPr>
          <a:xfrm>
            <a:off x="6254496" y="1005840"/>
            <a:ext cx="5486400" cy="2331720"/>
          </a:xfrm>
          <a:prstGeom prst="roundRect">
            <a:avLst>
              <a:gd name="adj" fmla="val 3137"/>
            </a:avLst>
          </a:prstGeom>
          <a:solidFill>
            <a:srgbClr val="FFFFFF"/>
          </a:solidFill>
          <a:ln w="12700">
            <a:solidFill>
              <a:srgbClr val="CBD5E1"/>
            </a:solidFill>
            <a:prstDash val="solid"/>
          </a:ln>
        </p:spPr>
      </p:sp>
      <p:sp>
        <p:nvSpPr>
          <p:cNvPr id="38" name="Shape 35"/>
          <p:cNvSpPr/>
          <p:nvPr/>
        </p:nvSpPr>
        <p:spPr>
          <a:xfrm>
            <a:off x="6254496" y="1005840"/>
            <a:ext cx="73152" cy="2331720"/>
          </a:xfrm>
          <a:prstGeom prst="rect">
            <a:avLst/>
          </a:prstGeom>
          <a:solidFill>
            <a:srgbClr val="2563EB"/>
          </a:solidFill>
          <a:ln w="12700">
            <a:solidFill>
              <a:srgbClr val="2563EB">
                <a:alpha val="0"/>
              </a:srgbClr>
            </a:solidFill>
            <a:prstDash val="solid"/>
          </a:ln>
        </p:spPr>
      </p:sp>
      <p:sp>
        <p:nvSpPr>
          <p:cNvPr id="39" name="Shape 36"/>
          <p:cNvSpPr/>
          <p:nvPr/>
        </p:nvSpPr>
        <p:spPr>
          <a:xfrm>
            <a:off x="6419088" y="1143000"/>
            <a:ext cx="347472" cy="219456"/>
          </a:xfrm>
          <a:prstGeom prst="roundRect">
            <a:avLst>
              <a:gd name="adj" fmla="val 25000"/>
            </a:avLst>
          </a:prstGeom>
          <a:solidFill>
            <a:srgbClr val="DBEAFE"/>
          </a:solidFill>
          <a:ln w="12700">
            <a:solidFill>
              <a:srgbClr val="2563EB"/>
            </a:solidFill>
            <a:prstDash val="solid"/>
          </a:ln>
        </p:spPr>
      </p:sp>
      <p:sp>
        <p:nvSpPr>
          <p:cNvPr id="40" name="Text 37"/>
          <p:cNvSpPr/>
          <p:nvPr/>
        </p:nvSpPr>
        <p:spPr>
          <a:xfrm>
            <a:off x="6464808" y="1190549"/>
            <a:ext cx="256032" cy="91440"/>
          </a:xfrm>
          <a:prstGeom prst="rect">
            <a:avLst/>
          </a:prstGeom>
          <a:noFill/>
          <a:ln/>
        </p:spPr>
        <p:txBody>
          <a:bodyPr wrap="square" lIns="0" tIns="0" rIns="0" bIns="0" rtlCol="0" anchor="t">
            <a:normAutofit/>
          </a:bodyPr>
          <a:lstStyle/>
          <a:p>
            <a:pPr algn="ctr" indent="0" marL="0">
              <a:buNone/>
            </a:pPr>
            <a:r>
              <a:rPr lang="en-US" sz="660" b="1" dirty="0">
                <a:solidFill>
                  <a:srgbClr val="2563EB"/>
                </a:solidFill>
                <a:latin typeface="Arial" pitchFamily="34" charset="0"/>
                <a:ea typeface="Arial" pitchFamily="34" charset="-122"/>
                <a:cs typeface="Arial" pitchFamily="34" charset="-120"/>
              </a:rPr>
              <a:t>B</a:t>
            </a:r>
            <a:endParaRPr lang="en-US" sz="660" dirty="0"/>
          </a:p>
        </p:txBody>
      </p:sp>
      <p:sp>
        <p:nvSpPr>
          <p:cNvPr id="41" name="Text 38"/>
          <p:cNvSpPr/>
          <p:nvPr/>
        </p:nvSpPr>
        <p:spPr>
          <a:xfrm>
            <a:off x="6858000" y="1152144"/>
            <a:ext cx="4700016" cy="182880"/>
          </a:xfrm>
          <a:prstGeom prst="rect">
            <a:avLst/>
          </a:prstGeom>
          <a:noFill/>
          <a:ln/>
        </p:spPr>
        <p:txBody>
          <a:bodyPr wrap="square" lIns="0" tIns="0" rIns="0" bIns="0" rtlCol="0" anchor="t">
            <a:normAutofit/>
          </a:bodyPr>
          <a:lstStyle/>
          <a:p>
            <a:pPr algn="l" indent="0" marL="0">
              <a:buNone/>
            </a:pPr>
            <a:r>
              <a:rPr lang="en-US" sz="1000" b="1" dirty="0">
                <a:solidFill>
                  <a:srgbClr val="334155"/>
                </a:solidFill>
                <a:latin typeface="Arial" pitchFamily="34" charset="0"/>
                <a:ea typeface="Arial" pitchFamily="34" charset="-122"/>
                <a:cs typeface="Arial" pitchFamily="34" charset="-120"/>
              </a:rPr>
              <a:t>C-V and Mott-Schottky analysis</a:t>
            </a:r>
            <a:endParaRPr lang="en-US" sz="1000" dirty="0"/>
          </a:p>
        </p:txBody>
      </p:sp>
      <p:graphicFrame>
        <p:nvGraphicFramePr>
          <p:cNvPr id="42" name="Chart 1" descr=""/>
          <p:cNvGraphicFramePr/>
          <p:nvPr/>
        </p:nvGraphicFramePr>
        <p:xfrm>
          <a:off x="6473952" y="1536192"/>
          <a:ext cx="2834640" cy="1563624"/>
        </p:xfrm>
        <a:graphic xmlns:a="http://schemas.openxmlformats.org/drawingml/2006/main">
          <a:graphicData uri="http://schemas.openxmlformats.org/drawingml/2006/chart">
            <c:chart xmlns:c="http://schemas.openxmlformats.org/drawingml/2006/chart" r:id="rId2"/>
          </a:graphicData>
        </a:graphic>
      </p:graphicFrame>
      <p:sp>
        <p:nvSpPr>
          <p:cNvPr id="43" name="Text 39"/>
          <p:cNvSpPr/>
          <p:nvPr/>
        </p:nvSpPr>
        <p:spPr>
          <a:xfrm>
            <a:off x="7507224" y="3026664"/>
            <a:ext cx="658368" cy="109728"/>
          </a:xfrm>
          <a:prstGeom prst="rect">
            <a:avLst/>
          </a:prstGeom>
          <a:noFill/>
          <a:ln/>
        </p:spPr>
        <p:txBody>
          <a:bodyPr wrap="square" lIns="0" tIns="0" rIns="0" bIns="0" rtlCol="0" anchor="t">
            <a:normAutofit/>
          </a:bodyPr>
          <a:lstStyle/>
          <a:p>
            <a:pPr algn="ctr" indent="0" marL="0">
              <a:buNone/>
            </a:pPr>
            <a:r>
              <a:rPr lang="en-US" sz="610" dirty="0">
                <a:solidFill>
                  <a:srgbClr val="64748B"/>
                </a:solidFill>
                <a:latin typeface="Arial" pitchFamily="34" charset="0"/>
                <a:ea typeface="Arial" pitchFamily="34" charset="-122"/>
                <a:cs typeface="Arial" pitchFamily="34" charset="-120"/>
              </a:rPr>
              <a:t>Bias </a:t>
            </a:r>
            <a:pPr algn="ctr" indent="0" marL="0">
              <a:buNone/>
            </a:pPr>
            <a:r>
              <a:rPr lang="en-US" sz="610" i="1" dirty="0">
                <a:solidFill>
                  <a:srgbClr val="64748B"/>
                </a:solidFill>
                <a:latin typeface="Arial" pitchFamily="34" charset="0"/>
                <a:ea typeface="Arial" pitchFamily="34" charset="-122"/>
                <a:cs typeface="Arial" pitchFamily="34" charset="-120"/>
              </a:rPr>
              <a:t>V</a:t>
            </a:r>
            <a:pPr algn="ctr" indent="0" marL="0">
              <a:buNone/>
            </a:pPr>
            <a:r>
              <a:rPr lang="en-US" sz="610" dirty="0">
                <a:solidFill>
                  <a:srgbClr val="64748B"/>
                </a:solidFill>
                <a:latin typeface="Arial" pitchFamily="34" charset="0"/>
                <a:ea typeface="Arial" pitchFamily="34" charset="-122"/>
                <a:cs typeface="Arial" pitchFamily="34" charset="-120"/>
              </a:rPr>
              <a:t> (V)</a:t>
            </a:r>
            <a:endParaRPr lang="en-US" sz="610" dirty="0"/>
          </a:p>
        </p:txBody>
      </p:sp>
      <p:sp>
        <p:nvSpPr>
          <p:cNvPr id="44" name="Text 40"/>
          <p:cNvSpPr/>
          <p:nvPr/>
        </p:nvSpPr>
        <p:spPr>
          <a:xfrm>
            <a:off x="6446520" y="1517904"/>
            <a:ext cx="1005840" cy="109728"/>
          </a:xfrm>
          <a:prstGeom prst="rect">
            <a:avLst/>
          </a:prstGeom>
          <a:noFill/>
          <a:ln/>
        </p:spPr>
        <p:txBody>
          <a:bodyPr wrap="square" lIns="0" tIns="0" rIns="0" bIns="0" rtlCol="0" anchor="t">
            <a:normAutofit/>
          </a:bodyPr>
          <a:lstStyle/>
          <a:p>
            <a:pPr algn="l" indent="0" marL="0">
              <a:buNone/>
            </a:pPr>
            <a:r>
              <a:rPr lang="en-US" sz="610" dirty="0">
                <a:solidFill>
                  <a:srgbClr val="64748B"/>
                </a:solidFill>
                <a:latin typeface="Arial" pitchFamily="34" charset="0"/>
                <a:ea typeface="Arial" pitchFamily="34" charset="-122"/>
                <a:cs typeface="Arial" pitchFamily="34" charset="-120"/>
              </a:rPr>
              <a:t>Normalized </a:t>
            </a:r>
            <a:pPr algn="l" indent="0" marL="0">
              <a:buNone/>
            </a:pPr>
            <a:r>
              <a:rPr lang="en-US" sz="610" i="1" dirty="0">
                <a:solidFill>
                  <a:srgbClr val="64748B"/>
                </a:solidFill>
                <a:latin typeface="Arial" pitchFamily="34" charset="0"/>
                <a:ea typeface="Arial" pitchFamily="34" charset="-122"/>
                <a:cs typeface="Arial" pitchFamily="34" charset="-120"/>
              </a:rPr>
              <a:t>C</a:t>
            </a:r>
            <a:pPr algn="l" indent="0" marL="0">
              <a:buNone/>
            </a:pPr>
            <a:r>
              <a:rPr lang="en-US" sz="610" dirty="0">
                <a:solidFill>
                  <a:srgbClr val="64748B"/>
                </a:solidFill>
                <a:latin typeface="Arial" pitchFamily="34" charset="0"/>
                <a:ea typeface="Arial" pitchFamily="34" charset="-122"/>
                <a:cs typeface="Arial" pitchFamily="34" charset="-120"/>
              </a:rPr>
              <a:t>, 1/</a:t>
            </a:r>
            <a:pPr algn="l" indent="0" marL="0">
              <a:buNone/>
            </a:pPr>
            <a:r>
              <a:rPr lang="en-US" sz="610" i="1" dirty="0">
                <a:solidFill>
                  <a:srgbClr val="64748B"/>
                </a:solidFill>
                <a:latin typeface="Arial" pitchFamily="34" charset="0"/>
                <a:ea typeface="Arial" pitchFamily="34" charset="-122"/>
                <a:cs typeface="Arial" pitchFamily="34" charset="-120"/>
              </a:rPr>
              <a:t>C</a:t>
            </a:r>
            <a:pPr algn="l" indent="0" marL="0">
              <a:buNone/>
            </a:pPr>
            <a:r>
              <a:rPr lang="en-US" sz="610" baseline="30000" dirty="0">
                <a:solidFill>
                  <a:srgbClr val="64748B"/>
                </a:solidFill>
                <a:latin typeface="Arial" pitchFamily="34" charset="0"/>
                <a:ea typeface="Arial" pitchFamily="34" charset="-122"/>
                <a:cs typeface="Arial" pitchFamily="34" charset="-120"/>
              </a:rPr>
              <a:t>2</a:t>
            </a:r>
            <a:endParaRPr lang="en-US" sz="610" dirty="0"/>
          </a:p>
        </p:txBody>
      </p:sp>
      <p:sp>
        <p:nvSpPr>
          <p:cNvPr id="45" name="Shape 41"/>
          <p:cNvSpPr/>
          <p:nvPr/>
        </p:nvSpPr>
        <p:spPr>
          <a:xfrm>
            <a:off x="9564624" y="1536192"/>
            <a:ext cx="822960" cy="283464"/>
          </a:xfrm>
          <a:prstGeom prst="roundRect">
            <a:avLst>
              <a:gd name="adj" fmla="val 12903"/>
            </a:avLst>
          </a:prstGeom>
          <a:solidFill>
            <a:srgbClr val="F8FAFC"/>
          </a:solidFill>
          <a:ln w="12700">
            <a:solidFill>
              <a:srgbClr val="CBD5E1"/>
            </a:solidFill>
            <a:prstDash val="solid"/>
          </a:ln>
        </p:spPr>
      </p:sp>
      <p:sp>
        <p:nvSpPr>
          <p:cNvPr id="46" name="Text 42"/>
          <p:cNvSpPr/>
          <p:nvPr/>
        </p:nvSpPr>
        <p:spPr>
          <a:xfrm>
            <a:off x="9619488" y="1578254"/>
            <a:ext cx="310896" cy="91440"/>
          </a:xfrm>
          <a:prstGeom prst="rect">
            <a:avLst/>
          </a:prstGeom>
          <a:noFill/>
          <a:ln/>
        </p:spPr>
        <p:txBody>
          <a:bodyPr wrap="square" lIns="0" tIns="0" rIns="0" bIns="0" rtlCol="0" anchor="t">
            <a:normAutofit/>
          </a:bodyPr>
          <a:lstStyle/>
          <a:p>
            <a:pPr algn="l" indent="0" marL="0">
              <a:buNone/>
            </a:pPr>
            <a:r>
              <a:rPr lang="en-US" sz="580" i="1" dirty="0">
                <a:solidFill>
                  <a:srgbClr val="64748B"/>
                </a:solidFill>
                <a:latin typeface="Arial" pitchFamily="34" charset="0"/>
                <a:ea typeface="Arial" pitchFamily="34" charset="-122"/>
                <a:cs typeface="Arial" pitchFamily="34" charset="-120"/>
              </a:rPr>
              <a:t>V</a:t>
            </a:r>
            <a:pPr algn="l" indent="0" marL="0">
              <a:buNone/>
            </a:pPr>
            <a:r>
              <a:rPr lang="en-US" sz="580" baseline="-40000" dirty="0">
                <a:solidFill>
                  <a:srgbClr val="64748B"/>
                </a:solidFill>
                <a:latin typeface="Arial" pitchFamily="34" charset="0"/>
                <a:ea typeface="Arial" pitchFamily="34" charset="-122"/>
                <a:cs typeface="Arial" pitchFamily="34" charset="-120"/>
              </a:rPr>
              <a:t>bi</a:t>
            </a:r>
            <a:endParaRPr lang="en-US" sz="580" dirty="0"/>
          </a:p>
        </p:txBody>
      </p:sp>
      <p:sp>
        <p:nvSpPr>
          <p:cNvPr id="47" name="Text 43"/>
          <p:cNvSpPr/>
          <p:nvPr/>
        </p:nvSpPr>
        <p:spPr>
          <a:xfrm>
            <a:off x="9930384" y="1575511"/>
            <a:ext cx="393192" cy="100584"/>
          </a:xfrm>
          <a:prstGeom prst="rect">
            <a:avLst/>
          </a:prstGeom>
          <a:noFill/>
          <a:ln/>
        </p:spPr>
        <p:txBody>
          <a:bodyPr wrap="square" lIns="0" tIns="0" rIns="0" bIns="0" rtlCol="0" anchor="t">
            <a:normAutofit/>
          </a:bodyPr>
          <a:lstStyle/>
          <a:p>
            <a:pPr algn="r" indent="0" marL="0">
              <a:buNone/>
            </a:pPr>
            <a:r>
              <a:rPr lang="en-US" sz="640" b="1" dirty="0">
                <a:solidFill>
                  <a:srgbClr val="2563EB"/>
                </a:solidFill>
                <a:latin typeface="Arial" pitchFamily="34" charset="0"/>
                <a:ea typeface="Arial" pitchFamily="34" charset="-122"/>
                <a:cs typeface="Arial" pitchFamily="34" charset="-120"/>
              </a:rPr>
              <a:t>0.96 V</a:t>
            </a:r>
            <a:endParaRPr lang="en-US" sz="640" dirty="0"/>
          </a:p>
        </p:txBody>
      </p:sp>
      <p:sp>
        <p:nvSpPr>
          <p:cNvPr id="48" name="Shape 44"/>
          <p:cNvSpPr/>
          <p:nvPr/>
        </p:nvSpPr>
        <p:spPr>
          <a:xfrm>
            <a:off x="10488168" y="1536192"/>
            <a:ext cx="822960" cy="283464"/>
          </a:xfrm>
          <a:prstGeom prst="roundRect">
            <a:avLst>
              <a:gd name="adj" fmla="val 12903"/>
            </a:avLst>
          </a:prstGeom>
          <a:solidFill>
            <a:srgbClr val="F8FAFC"/>
          </a:solidFill>
          <a:ln w="12700">
            <a:solidFill>
              <a:srgbClr val="CBD5E1"/>
            </a:solidFill>
            <a:prstDash val="solid"/>
          </a:ln>
        </p:spPr>
      </p:sp>
      <p:sp>
        <p:nvSpPr>
          <p:cNvPr id="49" name="Text 45"/>
          <p:cNvSpPr/>
          <p:nvPr/>
        </p:nvSpPr>
        <p:spPr>
          <a:xfrm>
            <a:off x="10543032" y="1578254"/>
            <a:ext cx="310896" cy="91440"/>
          </a:xfrm>
          <a:prstGeom prst="rect">
            <a:avLst/>
          </a:prstGeom>
          <a:noFill/>
          <a:ln/>
        </p:spPr>
        <p:txBody>
          <a:bodyPr wrap="square" lIns="0" tIns="0" rIns="0" bIns="0" rtlCol="0" anchor="t">
            <a:normAutofit/>
          </a:bodyPr>
          <a:lstStyle/>
          <a:p>
            <a:pPr algn="l" indent="0" marL="0">
              <a:buNone/>
            </a:pPr>
            <a:r>
              <a:rPr lang="en-US" sz="580" i="1" dirty="0">
                <a:solidFill>
                  <a:srgbClr val="64748B"/>
                </a:solidFill>
                <a:latin typeface="Arial" pitchFamily="34" charset="0"/>
                <a:ea typeface="Arial" pitchFamily="34" charset="-122"/>
                <a:cs typeface="Arial" pitchFamily="34" charset="-120"/>
              </a:rPr>
              <a:t>N</a:t>
            </a:r>
            <a:pPr algn="l" indent="0" marL="0">
              <a:buNone/>
            </a:pPr>
            <a:r>
              <a:rPr lang="en-US" sz="580" baseline="-40000" dirty="0">
                <a:solidFill>
                  <a:srgbClr val="64748B"/>
                </a:solidFill>
                <a:latin typeface="Arial" pitchFamily="34" charset="0"/>
                <a:ea typeface="Arial" pitchFamily="34" charset="-122"/>
                <a:cs typeface="Arial" pitchFamily="34" charset="-120"/>
              </a:rPr>
              <a:t>eff</a:t>
            </a:r>
            <a:endParaRPr lang="en-US" sz="580" dirty="0"/>
          </a:p>
        </p:txBody>
      </p:sp>
      <p:sp>
        <p:nvSpPr>
          <p:cNvPr id="50" name="Text 46"/>
          <p:cNvSpPr/>
          <p:nvPr/>
        </p:nvSpPr>
        <p:spPr>
          <a:xfrm>
            <a:off x="10853928" y="1575511"/>
            <a:ext cx="393192" cy="100584"/>
          </a:xfrm>
          <a:prstGeom prst="rect">
            <a:avLst/>
          </a:prstGeom>
          <a:noFill/>
          <a:ln/>
        </p:spPr>
        <p:txBody>
          <a:bodyPr wrap="square" lIns="0" tIns="0" rIns="0" bIns="0" rtlCol="0" anchor="t">
            <a:normAutofit/>
          </a:bodyPr>
          <a:lstStyle/>
          <a:p>
            <a:pPr algn="r" indent="0" marL="0">
              <a:buNone/>
            </a:pPr>
            <a:r>
              <a:rPr lang="en-US" sz="640" b="1" dirty="0">
                <a:solidFill>
                  <a:srgbClr val="2563EB"/>
                </a:solidFill>
                <a:latin typeface="Arial" pitchFamily="34" charset="0"/>
                <a:ea typeface="Arial" pitchFamily="34" charset="-122"/>
                <a:cs typeface="Arial" pitchFamily="34" charset="-120"/>
              </a:rPr>
              <a:t>2×10¹⁶</a:t>
            </a:r>
            <a:endParaRPr lang="en-US" sz="640" dirty="0"/>
          </a:p>
        </p:txBody>
      </p:sp>
      <p:sp>
        <p:nvSpPr>
          <p:cNvPr id="51" name="Shape 47"/>
          <p:cNvSpPr/>
          <p:nvPr/>
        </p:nvSpPr>
        <p:spPr>
          <a:xfrm>
            <a:off x="8257032" y="2514600"/>
            <a:ext cx="658368" cy="384048"/>
          </a:xfrm>
          <a:prstGeom prst="roundRect">
            <a:avLst>
              <a:gd name="adj" fmla="val 8333"/>
            </a:avLst>
          </a:prstGeom>
          <a:solidFill>
            <a:srgbClr val="FFFFFF">
              <a:alpha val="94000"/>
            </a:srgbClr>
          </a:solidFill>
          <a:ln w="12700">
            <a:solidFill>
              <a:srgbClr val="2563EB"/>
            </a:solidFill>
            <a:prstDash val="solid"/>
          </a:ln>
        </p:spPr>
      </p:sp>
      <p:sp>
        <p:nvSpPr>
          <p:cNvPr id="52" name="Shape 48"/>
          <p:cNvSpPr/>
          <p:nvPr/>
        </p:nvSpPr>
        <p:spPr>
          <a:xfrm>
            <a:off x="8330184" y="2615184"/>
            <a:ext cx="173736" cy="0"/>
          </a:xfrm>
          <a:prstGeom prst="line">
            <a:avLst/>
          </a:prstGeom>
          <a:noFill/>
          <a:ln w="12700">
            <a:solidFill>
              <a:srgbClr val="2563EB"/>
            </a:solidFill>
            <a:prstDash val="solid"/>
            <a:headEnd type="none"/>
            <a:tailEnd type="none"/>
          </a:ln>
        </p:spPr>
      </p:sp>
      <p:sp>
        <p:nvSpPr>
          <p:cNvPr id="53" name="Text 49"/>
          <p:cNvSpPr/>
          <p:nvPr/>
        </p:nvSpPr>
        <p:spPr>
          <a:xfrm>
            <a:off x="8549640" y="2570378"/>
            <a:ext cx="310896" cy="82296"/>
          </a:xfrm>
          <a:prstGeom prst="rect">
            <a:avLst/>
          </a:prstGeom>
          <a:noFill/>
          <a:ln/>
        </p:spPr>
        <p:txBody>
          <a:bodyPr wrap="square" lIns="0" tIns="0" rIns="0" bIns="0" rtlCol="0" anchor="t">
            <a:normAutofit/>
          </a:bodyPr>
          <a:lstStyle/>
          <a:p>
            <a:pPr algn="l" indent="0" marL="0">
              <a:buNone/>
            </a:pPr>
            <a:r>
              <a:rPr lang="en-US" sz="535" i="1" dirty="0">
                <a:solidFill>
                  <a:srgbClr val="334155"/>
                </a:solidFill>
                <a:latin typeface="Arial" pitchFamily="34" charset="0"/>
                <a:ea typeface="Arial" pitchFamily="34" charset="-122"/>
                <a:cs typeface="Arial" pitchFamily="34" charset="-120"/>
              </a:rPr>
              <a:t>C</a:t>
            </a:r>
            <a:pPr algn="l" indent="0" marL="0">
              <a:buNone/>
            </a:pPr>
            <a:r>
              <a:rPr lang="en-US" sz="535" dirty="0">
                <a:solidFill>
                  <a:srgbClr val="334155"/>
                </a:solidFill>
                <a:latin typeface="Arial" pitchFamily="34" charset="0"/>
                <a:ea typeface="Arial" pitchFamily="34" charset="-122"/>
                <a:cs typeface="Arial" pitchFamily="34" charset="-120"/>
              </a:rPr>
              <a:t>(</a:t>
            </a:r>
            <a:pPr algn="l" indent="0" marL="0">
              <a:buNone/>
            </a:pPr>
            <a:r>
              <a:rPr lang="en-US" sz="535" i="1" dirty="0">
                <a:solidFill>
                  <a:srgbClr val="334155"/>
                </a:solidFill>
                <a:latin typeface="Arial" pitchFamily="34" charset="0"/>
                <a:ea typeface="Arial" pitchFamily="34" charset="-122"/>
                <a:cs typeface="Arial" pitchFamily="34" charset="-120"/>
              </a:rPr>
              <a:t>V</a:t>
            </a:r>
            <a:pPr algn="l" indent="0" marL="0">
              <a:buNone/>
            </a:pPr>
            <a:r>
              <a:rPr lang="en-US" sz="535" dirty="0">
                <a:solidFill>
                  <a:srgbClr val="334155"/>
                </a:solidFill>
                <a:latin typeface="Arial" pitchFamily="34" charset="0"/>
                <a:ea typeface="Arial" pitchFamily="34" charset="-122"/>
                <a:cs typeface="Arial" pitchFamily="34" charset="-120"/>
              </a:rPr>
              <a:t>)</a:t>
            </a:r>
            <a:endParaRPr lang="en-US" sz="535" dirty="0"/>
          </a:p>
        </p:txBody>
      </p:sp>
      <p:sp>
        <p:nvSpPr>
          <p:cNvPr id="54" name="Shape 50"/>
          <p:cNvSpPr/>
          <p:nvPr/>
        </p:nvSpPr>
        <p:spPr>
          <a:xfrm>
            <a:off x="8330184" y="2747772"/>
            <a:ext cx="173736" cy="0"/>
          </a:xfrm>
          <a:prstGeom prst="line">
            <a:avLst/>
          </a:prstGeom>
          <a:noFill/>
          <a:ln w="12700">
            <a:solidFill>
              <a:srgbClr val="16803C"/>
            </a:solidFill>
            <a:prstDash val="solid"/>
            <a:headEnd type="none"/>
            <a:tailEnd type="none"/>
          </a:ln>
        </p:spPr>
      </p:sp>
      <p:sp>
        <p:nvSpPr>
          <p:cNvPr id="55" name="Text 51"/>
          <p:cNvSpPr/>
          <p:nvPr/>
        </p:nvSpPr>
        <p:spPr>
          <a:xfrm>
            <a:off x="8549640" y="2702966"/>
            <a:ext cx="310896" cy="82296"/>
          </a:xfrm>
          <a:prstGeom prst="rect">
            <a:avLst/>
          </a:prstGeom>
          <a:noFill/>
          <a:ln/>
        </p:spPr>
        <p:txBody>
          <a:bodyPr wrap="square" lIns="0" tIns="0" rIns="0" bIns="0" rtlCol="0" anchor="t">
            <a:normAutofit/>
          </a:bodyPr>
          <a:lstStyle/>
          <a:p>
            <a:pPr algn="l" indent="0" marL="0">
              <a:buNone/>
            </a:pPr>
            <a:r>
              <a:rPr lang="en-US" sz="535" dirty="0">
                <a:solidFill>
                  <a:srgbClr val="334155"/>
                </a:solidFill>
                <a:latin typeface="Arial" pitchFamily="34" charset="0"/>
                <a:ea typeface="Arial" pitchFamily="34" charset="-122"/>
                <a:cs typeface="Arial" pitchFamily="34" charset="-120"/>
              </a:rPr>
              <a:t>1/</a:t>
            </a:r>
            <a:pPr algn="l" indent="0" marL="0">
              <a:buNone/>
            </a:pPr>
            <a:r>
              <a:rPr lang="en-US" sz="535" i="1" dirty="0">
                <a:solidFill>
                  <a:srgbClr val="334155"/>
                </a:solidFill>
                <a:latin typeface="Arial" pitchFamily="34" charset="0"/>
                <a:ea typeface="Arial" pitchFamily="34" charset="-122"/>
                <a:cs typeface="Arial" pitchFamily="34" charset="-120"/>
              </a:rPr>
              <a:t>C</a:t>
            </a:r>
            <a:pPr algn="l" indent="0" marL="0">
              <a:buNone/>
            </a:pPr>
            <a:r>
              <a:rPr lang="en-US" sz="535" baseline="30000" dirty="0">
                <a:solidFill>
                  <a:srgbClr val="334155"/>
                </a:solidFill>
                <a:latin typeface="Arial" pitchFamily="34" charset="0"/>
                <a:ea typeface="Arial" pitchFamily="34" charset="-122"/>
                <a:cs typeface="Arial" pitchFamily="34" charset="-120"/>
              </a:rPr>
              <a:t>2</a:t>
            </a:r>
            <a:endParaRPr lang="en-US" sz="535" dirty="0"/>
          </a:p>
        </p:txBody>
      </p:sp>
      <p:sp>
        <p:nvSpPr>
          <p:cNvPr id="56" name="Shape 52"/>
          <p:cNvSpPr/>
          <p:nvPr/>
        </p:nvSpPr>
        <p:spPr>
          <a:xfrm>
            <a:off x="9564624" y="2089404"/>
            <a:ext cx="32004" cy="32004"/>
          </a:xfrm>
          <a:prstGeom prst="rect">
            <a:avLst/>
          </a:prstGeom>
          <a:solidFill>
            <a:srgbClr val="2563EB"/>
          </a:solidFill>
          <a:ln w="12700">
            <a:solidFill>
              <a:srgbClr val="2563EB">
                <a:alpha val="0"/>
              </a:srgbClr>
            </a:solidFill>
            <a:prstDash val="solid"/>
          </a:ln>
        </p:spPr>
      </p:sp>
      <p:sp>
        <p:nvSpPr>
          <p:cNvPr id="57" name="Text 53"/>
          <p:cNvSpPr/>
          <p:nvPr/>
        </p:nvSpPr>
        <p:spPr>
          <a:xfrm>
            <a:off x="9656064" y="2048256"/>
            <a:ext cx="1865376" cy="338328"/>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Extract depletion capacitance, built-in voltage, and apparent doping.</a:t>
            </a:r>
            <a:endParaRPr lang="en-US" sz="670" dirty="0"/>
          </a:p>
        </p:txBody>
      </p:sp>
      <p:sp>
        <p:nvSpPr>
          <p:cNvPr id="58" name="Shape 54"/>
          <p:cNvSpPr/>
          <p:nvPr/>
        </p:nvSpPr>
        <p:spPr>
          <a:xfrm>
            <a:off x="9564624" y="2482596"/>
            <a:ext cx="32004" cy="32004"/>
          </a:xfrm>
          <a:prstGeom prst="rect">
            <a:avLst/>
          </a:prstGeom>
          <a:solidFill>
            <a:srgbClr val="16803C"/>
          </a:solidFill>
          <a:ln w="12700">
            <a:solidFill>
              <a:srgbClr val="16803C">
                <a:alpha val="0"/>
              </a:srgbClr>
            </a:solidFill>
            <a:prstDash val="solid"/>
          </a:ln>
        </p:spPr>
      </p:sp>
      <p:sp>
        <p:nvSpPr>
          <p:cNvPr id="59" name="Text 55"/>
          <p:cNvSpPr/>
          <p:nvPr/>
        </p:nvSpPr>
        <p:spPr>
          <a:xfrm>
            <a:off x="9656064" y="2441448"/>
            <a:ext cx="1865376" cy="384048"/>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Linear 1/</a:t>
            </a:r>
            <a:pPr algn="l" indent="0" marL="0">
              <a:buNone/>
            </a:pPr>
            <a:r>
              <a:rPr lang="en-US" sz="670" i="1" dirty="0">
                <a:solidFill>
                  <a:srgbClr val="334155"/>
                </a:solidFill>
                <a:latin typeface="Arial" pitchFamily="34" charset="0"/>
                <a:ea typeface="Arial" pitchFamily="34" charset="-122"/>
                <a:cs typeface="Arial" pitchFamily="34" charset="-120"/>
              </a:rPr>
              <a:t>C</a:t>
            </a:r>
            <a:pPr algn="l" indent="0" marL="0">
              <a:buNone/>
            </a:pPr>
            <a:r>
              <a:rPr lang="en-US" sz="670" baseline="30000" dirty="0">
                <a:solidFill>
                  <a:srgbClr val="334155"/>
                </a:solidFill>
                <a:latin typeface="Arial" pitchFamily="34" charset="0"/>
                <a:ea typeface="Arial" pitchFamily="34" charset="-122"/>
                <a:cs typeface="Arial" pitchFamily="34" charset="-120"/>
              </a:rPr>
              <a:t>2</a:t>
            </a:r>
            <a:pPr algn="l" indent="0" marL="0">
              <a:buNone/>
            </a:pPr>
            <a:r>
              <a:rPr lang="en-US" sz="670" dirty="0">
                <a:solidFill>
                  <a:srgbClr val="334155"/>
                </a:solidFill>
                <a:latin typeface="Arial" pitchFamily="34" charset="0"/>
                <a:ea typeface="Arial" pitchFamily="34" charset="-122"/>
                <a:cs typeface="Arial" pitchFamily="34" charset="-120"/>
              </a:rPr>
              <a:t> versus </a:t>
            </a:r>
            <a:pPr algn="l" indent="0" marL="0">
              <a:buNone/>
            </a:pPr>
            <a:r>
              <a:rPr lang="en-US" sz="670" i="1" dirty="0">
                <a:solidFill>
                  <a:srgbClr val="334155"/>
                </a:solidFill>
                <a:latin typeface="Arial" pitchFamily="34" charset="0"/>
                <a:ea typeface="Arial" pitchFamily="34" charset="-122"/>
                <a:cs typeface="Arial" pitchFamily="34" charset="-120"/>
              </a:rPr>
              <a:t>V</a:t>
            </a:r>
            <a:pPr algn="l" indent="0" marL="0">
              <a:buNone/>
            </a:pPr>
            <a:r>
              <a:rPr lang="en-US" sz="670" dirty="0">
                <a:solidFill>
                  <a:srgbClr val="334155"/>
                </a:solidFill>
                <a:latin typeface="Arial" pitchFamily="34" charset="0"/>
                <a:ea typeface="Arial" pitchFamily="34" charset="-122"/>
                <a:cs typeface="Arial" pitchFamily="34" charset="-120"/>
              </a:rPr>
              <a:t> is used only in the depletion regime.</a:t>
            </a:r>
            <a:endParaRPr lang="en-US" sz="670" dirty="0"/>
          </a:p>
        </p:txBody>
      </p:sp>
      <p:sp>
        <p:nvSpPr>
          <p:cNvPr id="60" name="Shape 56"/>
          <p:cNvSpPr/>
          <p:nvPr/>
        </p:nvSpPr>
        <p:spPr>
          <a:xfrm>
            <a:off x="9564624" y="2921508"/>
            <a:ext cx="32004" cy="32004"/>
          </a:xfrm>
          <a:prstGeom prst="rect">
            <a:avLst/>
          </a:prstGeom>
          <a:solidFill>
            <a:srgbClr val="334155"/>
          </a:solidFill>
          <a:ln w="12700">
            <a:solidFill>
              <a:srgbClr val="334155">
                <a:alpha val="0"/>
              </a:srgbClr>
            </a:solidFill>
            <a:prstDash val="solid"/>
          </a:ln>
        </p:spPr>
      </p:sp>
      <p:sp>
        <p:nvSpPr>
          <p:cNvPr id="61" name="Text 57"/>
          <p:cNvSpPr/>
          <p:nvPr/>
        </p:nvSpPr>
        <p:spPr>
          <a:xfrm>
            <a:off x="9656064" y="2880360"/>
            <a:ext cx="1865376" cy="265176"/>
          </a:xfrm>
          <a:prstGeom prst="rect">
            <a:avLst/>
          </a:prstGeom>
          <a:noFill/>
          <a:ln/>
        </p:spPr>
        <p:txBody>
          <a:bodyPr wrap="square" lIns="0" tIns="0" rIns="0" bIns="0" rtlCol="0" anchor="t">
            <a:normAutofit/>
          </a:bodyPr>
          <a:lstStyle/>
          <a:p>
            <a:pPr algn="l" indent="0" marL="0">
              <a:buNone/>
            </a:pPr>
            <a:r>
              <a:rPr lang="en-US" sz="635" dirty="0">
                <a:solidFill>
                  <a:srgbClr val="334155"/>
                </a:solidFill>
                <a:latin typeface="Arial" pitchFamily="34" charset="0"/>
                <a:ea typeface="Arial" pitchFamily="34" charset="-122"/>
                <a:cs typeface="Arial" pitchFamily="34" charset="-120"/>
              </a:rPr>
              <a:t>Fully depleted thin absorbers need careful interpretation.</a:t>
            </a:r>
            <a:endParaRPr lang="en-US" sz="635" dirty="0"/>
          </a:p>
        </p:txBody>
      </p:sp>
      <p:sp>
        <p:nvSpPr>
          <p:cNvPr id="62" name="Shape 58"/>
          <p:cNvSpPr/>
          <p:nvPr/>
        </p:nvSpPr>
        <p:spPr>
          <a:xfrm>
            <a:off x="457200" y="3621024"/>
            <a:ext cx="5486400" cy="2331720"/>
          </a:xfrm>
          <a:prstGeom prst="roundRect">
            <a:avLst>
              <a:gd name="adj" fmla="val 3137"/>
            </a:avLst>
          </a:prstGeom>
          <a:solidFill>
            <a:srgbClr val="FFFFFF"/>
          </a:solidFill>
          <a:ln w="12700">
            <a:solidFill>
              <a:srgbClr val="CBD5E1"/>
            </a:solidFill>
            <a:prstDash val="solid"/>
          </a:ln>
        </p:spPr>
      </p:sp>
      <p:sp>
        <p:nvSpPr>
          <p:cNvPr id="63" name="Shape 59"/>
          <p:cNvSpPr/>
          <p:nvPr/>
        </p:nvSpPr>
        <p:spPr>
          <a:xfrm>
            <a:off x="457200" y="3621024"/>
            <a:ext cx="73152" cy="2331720"/>
          </a:xfrm>
          <a:prstGeom prst="rect">
            <a:avLst/>
          </a:prstGeom>
          <a:solidFill>
            <a:srgbClr val="16803C"/>
          </a:solidFill>
          <a:ln w="12700">
            <a:solidFill>
              <a:srgbClr val="16803C">
                <a:alpha val="0"/>
              </a:srgbClr>
            </a:solidFill>
            <a:prstDash val="solid"/>
          </a:ln>
        </p:spPr>
      </p:sp>
      <p:sp>
        <p:nvSpPr>
          <p:cNvPr id="64" name="Shape 60"/>
          <p:cNvSpPr/>
          <p:nvPr/>
        </p:nvSpPr>
        <p:spPr>
          <a:xfrm>
            <a:off x="621792" y="3758184"/>
            <a:ext cx="347472" cy="219456"/>
          </a:xfrm>
          <a:prstGeom prst="roundRect">
            <a:avLst>
              <a:gd name="adj" fmla="val 25000"/>
            </a:avLst>
          </a:prstGeom>
          <a:solidFill>
            <a:srgbClr val="DCFCE7"/>
          </a:solidFill>
          <a:ln w="12700">
            <a:solidFill>
              <a:srgbClr val="16803C"/>
            </a:solidFill>
            <a:prstDash val="solid"/>
          </a:ln>
        </p:spPr>
      </p:sp>
      <p:sp>
        <p:nvSpPr>
          <p:cNvPr id="65" name="Text 61"/>
          <p:cNvSpPr/>
          <p:nvPr/>
        </p:nvSpPr>
        <p:spPr>
          <a:xfrm>
            <a:off x="667512" y="3805733"/>
            <a:ext cx="256032" cy="91440"/>
          </a:xfrm>
          <a:prstGeom prst="rect">
            <a:avLst/>
          </a:prstGeom>
          <a:noFill/>
          <a:ln/>
        </p:spPr>
        <p:txBody>
          <a:bodyPr wrap="square" lIns="0" tIns="0" rIns="0" bIns="0" rtlCol="0" anchor="t">
            <a:normAutofit/>
          </a:bodyPr>
          <a:lstStyle/>
          <a:p>
            <a:pPr algn="ctr" indent="0" marL="0">
              <a:buNone/>
            </a:pPr>
            <a:r>
              <a:rPr lang="en-US" sz="660" b="1" dirty="0">
                <a:solidFill>
                  <a:srgbClr val="16803C"/>
                </a:solidFill>
                <a:latin typeface="Arial" pitchFamily="34" charset="0"/>
                <a:ea typeface="Arial" pitchFamily="34" charset="-122"/>
                <a:cs typeface="Arial" pitchFamily="34" charset="-120"/>
              </a:rPr>
              <a:t>C</a:t>
            </a:r>
            <a:endParaRPr lang="en-US" sz="660" dirty="0"/>
          </a:p>
        </p:txBody>
      </p:sp>
      <p:sp>
        <p:nvSpPr>
          <p:cNvPr id="66" name="Text 62"/>
          <p:cNvSpPr/>
          <p:nvPr/>
        </p:nvSpPr>
        <p:spPr>
          <a:xfrm>
            <a:off x="1060704" y="3767328"/>
            <a:ext cx="4700016" cy="182880"/>
          </a:xfrm>
          <a:prstGeom prst="rect">
            <a:avLst/>
          </a:prstGeom>
          <a:noFill/>
          <a:ln/>
        </p:spPr>
        <p:txBody>
          <a:bodyPr wrap="square" lIns="0" tIns="0" rIns="0" bIns="0" rtlCol="0" anchor="t">
            <a:normAutofit/>
          </a:bodyPr>
          <a:lstStyle/>
          <a:p>
            <a:pPr algn="l" indent="0" marL="0">
              <a:buNone/>
            </a:pPr>
            <a:r>
              <a:rPr lang="en-US" sz="1000" b="1" dirty="0">
                <a:solidFill>
                  <a:srgbClr val="334155"/>
                </a:solidFill>
                <a:latin typeface="Arial" pitchFamily="34" charset="0"/>
                <a:ea typeface="Arial" pitchFamily="34" charset="-122"/>
                <a:cs typeface="Arial" pitchFamily="34" charset="-120"/>
              </a:rPr>
              <a:t>C-f / admittance spectroscopy</a:t>
            </a:r>
            <a:endParaRPr lang="en-US" sz="1000" dirty="0"/>
          </a:p>
        </p:txBody>
      </p:sp>
      <p:graphicFrame>
        <p:nvGraphicFramePr>
          <p:cNvPr id="67" name="Chart 2" descr=""/>
          <p:cNvGraphicFramePr/>
          <p:nvPr/>
        </p:nvGraphicFramePr>
        <p:xfrm>
          <a:off x="676656" y="4151376"/>
          <a:ext cx="2834640" cy="1563624"/>
        </p:xfrm>
        <a:graphic xmlns:a="http://schemas.openxmlformats.org/drawingml/2006/main">
          <a:graphicData uri="http://schemas.openxmlformats.org/drawingml/2006/chart">
            <c:chart xmlns:c="http://schemas.openxmlformats.org/drawingml/2006/chart" r:id="rId3"/>
          </a:graphicData>
        </a:graphic>
      </p:graphicFrame>
      <p:sp>
        <p:nvSpPr>
          <p:cNvPr id="68" name="Text 63"/>
          <p:cNvSpPr/>
          <p:nvPr/>
        </p:nvSpPr>
        <p:spPr>
          <a:xfrm>
            <a:off x="1609344" y="5641848"/>
            <a:ext cx="822960" cy="109728"/>
          </a:xfrm>
          <a:prstGeom prst="rect">
            <a:avLst/>
          </a:prstGeom>
          <a:noFill/>
          <a:ln/>
        </p:spPr>
        <p:txBody>
          <a:bodyPr wrap="square" lIns="0" tIns="0" rIns="0" bIns="0" rtlCol="0" anchor="t">
            <a:normAutofit/>
          </a:bodyPr>
          <a:lstStyle/>
          <a:p>
            <a:pPr algn="ctr" indent="0" marL="0">
              <a:buNone/>
            </a:pPr>
            <a:r>
              <a:rPr lang="en-US" sz="610" dirty="0">
                <a:solidFill>
                  <a:srgbClr val="64748B"/>
                </a:solidFill>
                <a:latin typeface="Arial" pitchFamily="34" charset="0"/>
                <a:ea typeface="Arial" pitchFamily="34" charset="-122"/>
                <a:cs typeface="Arial" pitchFamily="34" charset="-120"/>
              </a:rPr>
              <a:t>Frequency </a:t>
            </a:r>
            <a:pPr algn="ctr" indent="0" marL="0">
              <a:buNone/>
            </a:pPr>
            <a:r>
              <a:rPr lang="en-US" sz="610" i="1" dirty="0">
                <a:solidFill>
                  <a:srgbClr val="64748B"/>
                </a:solidFill>
                <a:latin typeface="Arial" pitchFamily="34" charset="0"/>
                <a:ea typeface="Arial" pitchFamily="34" charset="-122"/>
                <a:cs typeface="Arial" pitchFamily="34" charset="-120"/>
              </a:rPr>
              <a:t>f</a:t>
            </a:r>
            <a:pPr algn="ctr" indent="0" marL="0">
              <a:buNone/>
            </a:pPr>
            <a:r>
              <a:rPr lang="en-US" sz="610" dirty="0">
                <a:solidFill>
                  <a:srgbClr val="64748B"/>
                </a:solidFill>
                <a:latin typeface="Arial" pitchFamily="34" charset="0"/>
                <a:ea typeface="Arial" pitchFamily="34" charset="-122"/>
                <a:cs typeface="Arial" pitchFamily="34" charset="-120"/>
              </a:rPr>
              <a:t> (Hz)</a:t>
            </a:r>
            <a:endParaRPr lang="en-US" sz="610" dirty="0"/>
          </a:p>
        </p:txBody>
      </p:sp>
      <p:sp>
        <p:nvSpPr>
          <p:cNvPr id="69" name="Text 64"/>
          <p:cNvSpPr/>
          <p:nvPr/>
        </p:nvSpPr>
        <p:spPr>
          <a:xfrm>
            <a:off x="649224" y="4133088"/>
            <a:ext cx="859536" cy="109728"/>
          </a:xfrm>
          <a:prstGeom prst="rect">
            <a:avLst/>
          </a:prstGeom>
          <a:noFill/>
          <a:ln/>
        </p:spPr>
        <p:txBody>
          <a:bodyPr wrap="square" lIns="0" tIns="0" rIns="0" bIns="0" rtlCol="0" anchor="t">
            <a:normAutofit/>
          </a:bodyPr>
          <a:lstStyle/>
          <a:p>
            <a:pPr algn="l" indent="0" marL="0">
              <a:buNone/>
            </a:pPr>
            <a:r>
              <a:rPr lang="en-US" sz="610" dirty="0">
                <a:solidFill>
                  <a:srgbClr val="64748B"/>
                </a:solidFill>
                <a:latin typeface="Arial" pitchFamily="34" charset="0"/>
                <a:ea typeface="Arial" pitchFamily="34" charset="-122"/>
                <a:cs typeface="Arial" pitchFamily="34" charset="-120"/>
              </a:rPr>
              <a:t>Normalized </a:t>
            </a:r>
            <a:pPr algn="l" indent="0" marL="0">
              <a:buNone/>
            </a:pPr>
            <a:r>
              <a:rPr lang="en-US" sz="610" i="1" dirty="0">
                <a:solidFill>
                  <a:srgbClr val="64748B"/>
                </a:solidFill>
                <a:latin typeface="Arial" pitchFamily="34" charset="0"/>
                <a:ea typeface="Arial" pitchFamily="34" charset="-122"/>
                <a:cs typeface="Arial" pitchFamily="34" charset="-120"/>
              </a:rPr>
              <a:t>C</a:t>
            </a:r>
            <a:pPr algn="l" indent="0" marL="0">
              <a:buNone/>
            </a:pPr>
            <a:r>
              <a:rPr lang="en-US" sz="610" dirty="0">
                <a:solidFill>
                  <a:srgbClr val="64748B"/>
                </a:solidFill>
                <a:latin typeface="Arial" pitchFamily="34" charset="0"/>
                <a:ea typeface="Arial" pitchFamily="34" charset="-122"/>
                <a:cs typeface="Arial" pitchFamily="34" charset="-120"/>
              </a:rPr>
              <a:t> / </a:t>
            </a:r>
            <a:pPr algn="l" indent="0" marL="0">
              <a:buNone/>
            </a:pPr>
            <a:r>
              <a:rPr lang="en-US" sz="610" i="1" dirty="0">
                <a:solidFill>
                  <a:srgbClr val="64748B"/>
                </a:solidFill>
                <a:latin typeface="Arial" pitchFamily="34" charset="0"/>
                <a:ea typeface="Arial" pitchFamily="34" charset="-122"/>
                <a:cs typeface="Arial" pitchFamily="34" charset="-120"/>
              </a:rPr>
              <a:t>G</a:t>
            </a:r>
            <a:endParaRPr lang="en-US" sz="610" dirty="0"/>
          </a:p>
        </p:txBody>
      </p:sp>
      <p:sp>
        <p:nvSpPr>
          <p:cNvPr id="70" name="Text 65"/>
          <p:cNvSpPr/>
          <p:nvPr/>
        </p:nvSpPr>
        <p:spPr>
          <a:xfrm>
            <a:off x="3767328" y="4151376"/>
            <a:ext cx="1956816" cy="164592"/>
          </a:xfrm>
          <a:prstGeom prst="rect">
            <a:avLst/>
          </a:prstGeom>
          <a:noFill/>
          <a:ln/>
        </p:spPr>
        <p:txBody>
          <a:bodyPr wrap="square" lIns="0" tIns="0" rIns="0" bIns="0" rtlCol="0" anchor="t">
            <a:normAutofit/>
          </a:bodyPr>
          <a:lstStyle/>
          <a:p>
            <a:pPr algn="l" indent="0" marL="0">
              <a:buNone/>
            </a:pPr>
            <a:r>
              <a:rPr lang="en-US" sz="690" b="1" dirty="0">
                <a:solidFill>
                  <a:srgbClr val="16803C"/>
                </a:solidFill>
                <a:latin typeface="Arial" pitchFamily="34" charset="0"/>
                <a:ea typeface="Arial" pitchFamily="34" charset="-122"/>
                <a:cs typeface="Arial" pitchFamily="34" charset="-120"/>
              </a:rPr>
              <a:t>From admittance: </a:t>
            </a:r>
            <a:pPr algn="l" indent="0" marL="0">
              <a:buNone/>
            </a:pPr>
            <a:r>
              <a:rPr lang="en-US" sz="690" b="1" i="1" dirty="0">
                <a:solidFill>
                  <a:srgbClr val="16803C"/>
                </a:solidFill>
                <a:latin typeface="Arial" pitchFamily="34" charset="0"/>
                <a:ea typeface="Arial" pitchFamily="34" charset="-122"/>
                <a:cs typeface="Arial" pitchFamily="34" charset="-120"/>
              </a:rPr>
              <a:t>Y</a:t>
            </a:r>
            <a:pPr algn="l" indent="0" marL="0">
              <a:buNone/>
            </a:pPr>
            <a:r>
              <a:rPr lang="en-US" sz="690" b="1" dirty="0">
                <a:solidFill>
                  <a:srgbClr val="16803C"/>
                </a:solidFill>
                <a:latin typeface="Arial" pitchFamily="34" charset="0"/>
                <a:ea typeface="Arial" pitchFamily="34" charset="-122"/>
                <a:cs typeface="Arial" pitchFamily="34" charset="-120"/>
              </a:rPr>
              <a:t> = 1/</a:t>
            </a:r>
            <a:pPr algn="l" indent="0" marL="0">
              <a:buNone/>
            </a:pPr>
            <a:r>
              <a:rPr lang="en-US" sz="690" b="1" i="1" dirty="0">
                <a:solidFill>
                  <a:srgbClr val="16803C"/>
                </a:solidFill>
                <a:latin typeface="Arial" pitchFamily="34" charset="0"/>
                <a:ea typeface="Arial" pitchFamily="34" charset="-122"/>
                <a:cs typeface="Arial" pitchFamily="34" charset="-120"/>
              </a:rPr>
              <a:t>Z</a:t>
            </a:r>
            <a:pPr algn="l" indent="0" marL="0">
              <a:buNone/>
            </a:pPr>
            <a:r>
              <a:rPr lang="en-US" sz="690" b="1" dirty="0">
                <a:solidFill>
                  <a:srgbClr val="16803C"/>
                </a:solidFill>
                <a:latin typeface="Arial" pitchFamily="34" charset="0"/>
                <a:ea typeface="Arial" pitchFamily="34" charset="-122"/>
                <a:cs typeface="Arial" pitchFamily="34" charset="-120"/>
              </a:rPr>
              <a:t> = </a:t>
            </a:r>
            <a:pPr algn="l" indent="0" marL="0">
              <a:buNone/>
            </a:pPr>
            <a:r>
              <a:rPr lang="en-US" sz="690" b="1" i="1" dirty="0">
                <a:solidFill>
                  <a:srgbClr val="16803C"/>
                </a:solidFill>
                <a:latin typeface="Arial" pitchFamily="34" charset="0"/>
                <a:ea typeface="Arial" pitchFamily="34" charset="-122"/>
                <a:cs typeface="Arial" pitchFamily="34" charset="-120"/>
              </a:rPr>
              <a:t>G</a:t>
            </a:r>
            <a:pPr algn="l" indent="0" marL="0">
              <a:buNone/>
            </a:pPr>
            <a:r>
              <a:rPr lang="en-US" sz="690" b="1" dirty="0">
                <a:solidFill>
                  <a:srgbClr val="16803C"/>
                </a:solidFill>
                <a:latin typeface="Arial" pitchFamily="34" charset="0"/>
                <a:ea typeface="Arial" pitchFamily="34" charset="-122"/>
                <a:cs typeface="Arial" pitchFamily="34" charset="-120"/>
              </a:rPr>
              <a:t> + jω</a:t>
            </a:r>
            <a:pPr algn="l" indent="0" marL="0">
              <a:buNone/>
            </a:pPr>
            <a:r>
              <a:rPr lang="en-US" sz="690" b="1" i="1" dirty="0">
                <a:solidFill>
                  <a:srgbClr val="16803C"/>
                </a:solidFill>
                <a:latin typeface="Arial" pitchFamily="34" charset="0"/>
                <a:ea typeface="Arial" pitchFamily="34" charset="-122"/>
                <a:cs typeface="Arial" pitchFamily="34" charset="-120"/>
              </a:rPr>
              <a:t>C</a:t>
            </a:r>
            <a:endParaRPr lang="en-US" sz="690" dirty="0"/>
          </a:p>
        </p:txBody>
      </p:sp>
      <p:sp>
        <p:nvSpPr>
          <p:cNvPr id="71" name="Shape 66"/>
          <p:cNvSpPr/>
          <p:nvPr/>
        </p:nvSpPr>
        <p:spPr>
          <a:xfrm>
            <a:off x="2350008" y="4334256"/>
            <a:ext cx="640080" cy="384048"/>
          </a:xfrm>
          <a:prstGeom prst="roundRect">
            <a:avLst>
              <a:gd name="adj" fmla="val 8333"/>
            </a:avLst>
          </a:prstGeom>
          <a:solidFill>
            <a:srgbClr val="FFFFFF">
              <a:alpha val="94000"/>
            </a:srgbClr>
          </a:solidFill>
          <a:ln w="12700">
            <a:solidFill>
              <a:srgbClr val="16803C"/>
            </a:solidFill>
            <a:prstDash val="solid"/>
          </a:ln>
        </p:spPr>
      </p:sp>
      <p:sp>
        <p:nvSpPr>
          <p:cNvPr id="72" name="Shape 67"/>
          <p:cNvSpPr/>
          <p:nvPr/>
        </p:nvSpPr>
        <p:spPr>
          <a:xfrm>
            <a:off x="2423160" y="4434840"/>
            <a:ext cx="173736" cy="0"/>
          </a:xfrm>
          <a:prstGeom prst="line">
            <a:avLst/>
          </a:prstGeom>
          <a:noFill/>
          <a:ln w="12700">
            <a:solidFill>
              <a:srgbClr val="16803C"/>
            </a:solidFill>
            <a:prstDash val="solid"/>
            <a:headEnd type="none"/>
            <a:tailEnd type="none"/>
          </a:ln>
        </p:spPr>
      </p:sp>
      <p:sp>
        <p:nvSpPr>
          <p:cNvPr id="73" name="Text 68"/>
          <p:cNvSpPr/>
          <p:nvPr/>
        </p:nvSpPr>
        <p:spPr>
          <a:xfrm>
            <a:off x="2642616" y="4390034"/>
            <a:ext cx="292608" cy="82296"/>
          </a:xfrm>
          <a:prstGeom prst="rect">
            <a:avLst/>
          </a:prstGeom>
          <a:noFill/>
          <a:ln/>
        </p:spPr>
        <p:txBody>
          <a:bodyPr wrap="square" lIns="0" tIns="0" rIns="0" bIns="0" rtlCol="0" anchor="t">
            <a:normAutofit/>
          </a:bodyPr>
          <a:lstStyle/>
          <a:p>
            <a:pPr algn="l" indent="0" marL="0">
              <a:buNone/>
            </a:pPr>
            <a:r>
              <a:rPr lang="en-US" sz="535" i="1" dirty="0">
                <a:solidFill>
                  <a:srgbClr val="334155"/>
                </a:solidFill>
                <a:latin typeface="Arial" pitchFamily="34" charset="0"/>
                <a:ea typeface="Arial" pitchFamily="34" charset="-122"/>
                <a:cs typeface="Arial" pitchFamily="34" charset="-120"/>
              </a:rPr>
              <a:t>C</a:t>
            </a:r>
            <a:pPr algn="l" indent="0" marL="0">
              <a:buNone/>
            </a:pPr>
            <a:r>
              <a:rPr lang="en-US" sz="535" dirty="0">
                <a:solidFill>
                  <a:srgbClr val="334155"/>
                </a:solidFill>
                <a:latin typeface="Arial" pitchFamily="34" charset="0"/>
                <a:ea typeface="Arial" pitchFamily="34" charset="-122"/>
                <a:cs typeface="Arial" pitchFamily="34" charset="-120"/>
              </a:rPr>
              <a:t>(</a:t>
            </a:r>
            <a:pPr algn="l" indent="0" marL="0">
              <a:buNone/>
            </a:pPr>
            <a:r>
              <a:rPr lang="en-US" sz="535" i="1" dirty="0">
                <a:solidFill>
                  <a:srgbClr val="334155"/>
                </a:solidFill>
                <a:latin typeface="Arial" pitchFamily="34" charset="0"/>
                <a:ea typeface="Arial" pitchFamily="34" charset="-122"/>
                <a:cs typeface="Arial" pitchFamily="34" charset="-120"/>
              </a:rPr>
              <a:t>f</a:t>
            </a:r>
            <a:pPr algn="l" indent="0" marL="0">
              <a:buNone/>
            </a:pPr>
            <a:r>
              <a:rPr lang="en-US" sz="535" dirty="0">
                <a:solidFill>
                  <a:srgbClr val="334155"/>
                </a:solidFill>
                <a:latin typeface="Arial" pitchFamily="34" charset="0"/>
                <a:ea typeface="Arial" pitchFamily="34" charset="-122"/>
                <a:cs typeface="Arial" pitchFamily="34" charset="-120"/>
              </a:rPr>
              <a:t>)</a:t>
            </a:r>
            <a:endParaRPr lang="en-US" sz="535" dirty="0"/>
          </a:p>
        </p:txBody>
      </p:sp>
      <p:sp>
        <p:nvSpPr>
          <p:cNvPr id="74" name="Shape 69"/>
          <p:cNvSpPr/>
          <p:nvPr/>
        </p:nvSpPr>
        <p:spPr>
          <a:xfrm>
            <a:off x="2423160" y="4567428"/>
            <a:ext cx="173736" cy="0"/>
          </a:xfrm>
          <a:prstGeom prst="line">
            <a:avLst/>
          </a:prstGeom>
          <a:noFill/>
          <a:ln w="12700">
            <a:solidFill>
              <a:srgbClr val="A16207"/>
            </a:solidFill>
            <a:prstDash val="solid"/>
            <a:headEnd type="none"/>
            <a:tailEnd type="none"/>
          </a:ln>
        </p:spPr>
      </p:sp>
      <p:sp>
        <p:nvSpPr>
          <p:cNvPr id="75" name="Text 70"/>
          <p:cNvSpPr/>
          <p:nvPr/>
        </p:nvSpPr>
        <p:spPr>
          <a:xfrm>
            <a:off x="2642616" y="4522622"/>
            <a:ext cx="292608" cy="82296"/>
          </a:xfrm>
          <a:prstGeom prst="rect">
            <a:avLst/>
          </a:prstGeom>
          <a:noFill/>
          <a:ln/>
        </p:spPr>
        <p:txBody>
          <a:bodyPr wrap="square" lIns="0" tIns="0" rIns="0" bIns="0" rtlCol="0" anchor="t">
            <a:normAutofit/>
          </a:bodyPr>
          <a:lstStyle/>
          <a:p>
            <a:pPr algn="l" indent="0" marL="0">
              <a:buNone/>
            </a:pPr>
            <a:r>
              <a:rPr lang="en-US" sz="535" i="1" dirty="0">
                <a:solidFill>
                  <a:srgbClr val="334155"/>
                </a:solidFill>
                <a:latin typeface="Arial" pitchFamily="34" charset="0"/>
                <a:ea typeface="Arial" pitchFamily="34" charset="-122"/>
                <a:cs typeface="Arial" pitchFamily="34" charset="-120"/>
              </a:rPr>
              <a:t>G</a:t>
            </a:r>
            <a:pPr algn="l" indent="0" marL="0">
              <a:buNone/>
            </a:pPr>
            <a:r>
              <a:rPr lang="en-US" sz="535" dirty="0">
                <a:solidFill>
                  <a:srgbClr val="334155"/>
                </a:solidFill>
                <a:latin typeface="Arial" pitchFamily="34" charset="0"/>
                <a:ea typeface="Arial" pitchFamily="34" charset="-122"/>
                <a:cs typeface="Arial" pitchFamily="34" charset="-120"/>
              </a:rPr>
              <a:t>(</a:t>
            </a:r>
            <a:pPr algn="l" indent="0" marL="0">
              <a:buNone/>
            </a:pPr>
            <a:r>
              <a:rPr lang="en-US" sz="535" i="1" dirty="0">
                <a:solidFill>
                  <a:srgbClr val="334155"/>
                </a:solidFill>
                <a:latin typeface="Arial" pitchFamily="34" charset="0"/>
                <a:ea typeface="Arial" pitchFamily="34" charset="-122"/>
                <a:cs typeface="Arial" pitchFamily="34" charset="-120"/>
              </a:rPr>
              <a:t>f</a:t>
            </a:r>
            <a:pPr algn="l" indent="0" marL="0">
              <a:buNone/>
            </a:pPr>
            <a:r>
              <a:rPr lang="en-US" sz="535" dirty="0">
                <a:solidFill>
                  <a:srgbClr val="334155"/>
                </a:solidFill>
                <a:latin typeface="Arial" pitchFamily="34" charset="0"/>
                <a:ea typeface="Arial" pitchFamily="34" charset="-122"/>
                <a:cs typeface="Arial" pitchFamily="34" charset="-120"/>
              </a:rPr>
              <a:t>)</a:t>
            </a:r>
            <a:endParaRPr lang="en-US" sz="535" dirty="0"/>
          </a:p>
        </p:txBody>
      </p:sp>
      <p:sp>
        <p:nvSpPr>
          <p:cNvPr id="76" name="Shape 71"/>
          <p:cNvSpPr/>
          <p:nvPr/>
        </p:nvSpPr>
        <p:spPr>
          <a:xfrm>
            <a:off x="3767328" y="4585716"/>
            <a:ext cx="32004" cy="32004"/>
          </a:xfrm>
          <a:prstGeom prst="rect">
            <a:avLst/>
          </a:prstGeom>
          <a:solidFill>
            <a:srgbClr val="16803C"/>
          </a:solidFill>
          <a:ln w="12700">
            <a:solidFill>
              <a:srgbClr val="16803C">
                <a:alpha val="0"/>
              </a:srgbClr>
            </a:solidFill>
            <a:prstDash val="solid"/>
          </a:ln>
        </p:spPr>
      </p:sp>
      <p:sp>
        <p:nvSpPr>
          <p:cNvPr id="77" name="Text 72"/>
          <p:cNvSpPr/>
          <p:nvPr/>
        </p:nvSpPr>
        <p:spPr>
          <a:xfrm>
            <a:off x="3858768" y="4544568"/>
            <a:ext cx="1865376" cy="393192"/>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Frequency dispersion indicates slow traps, ions, or interfacial charging.</a:t>
            </a:r>
            <a:endParaRPr lang="en-US" sz="670" dirty="0"/>
          </a:p>
        </p:txBody>
      </p:sp>
      <p:sp>
        <p:nvSpPr>
          <p:cNvPr id="78" name="Shape 73"/>
          <p:cNvSpPr/>
          <p:nvPr/>
        </p:nvSpPr>
        <p:spPr>
          <a:xfrm>
            <a:off x="3767328" y="5033772"/>
            <a:ext cx="32004" cy="32004"/>
          </a:xfrm>
          <a:prstGeom prst="rect">
            <a:avLst/>
          </a:prstGeom>
          <a:solidFill>
            <a:srgbClr val="A16207"/>
          </a:solidFill>
          <a:ln w="12700">
            <a:solidFill>
              <a:srgbClr val="A16207">
                <a:alpha val="0"/>
              </a:srgbClr>
            </a:solidFill>
            <a:prstDash val="solid"/>
          </a:ln>
        </p:spPr>
      </p:sp>
      <p:sp>
        <p:nvSpPr>
          <p:cNvPr id="79" name="Text 74"/>
          <p:cNvSpPr/>
          <p:nvPr/>
        </p:nvSpPr>
        <p:spPr>
          <a:xfrm>
            <a:off x="3858768" y="4992624"/>
            <a:ext cx="1865376" cy="356616"/>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Temperature-dependent C-f / G-f supports activation-energy analysis.</a:t>
            </a:r>
            <a:endParaRPr lang="en-US" sz="670" dirty="0"/>
          </a:p>
        </p:txBody>
      </p:sp>
      <p:sp>
        <p:nvSpPr>
          <p:cNvPr id="80" name="Shape 75"/>
          <p:cNvSpPr/>
          <p:nvPr/>
        </p:nvSpPr>
        <p:spPr>
          <a:xfrm>
            <a:off x="3767328" y="5445252"/>
            <a:ext cx="32004" cy="32004"/>
          </a:xfrm>
          <a:prstGeom prst="rect">
            <a:avLst/>
          </a:prstGeom>
          <a:solidFill>
            <a:srgbClr val="334155"/>
          </a:solidFill>
          <a:ln w="12700">
            <a:solidFill>
              <a:srgbClr val="334155">
                <a:alpha val="0"/>
              </a:srgbClr>
            </a:solidFill>
            <a:prstDash val="solid"/>
          </a:ln>
        </p:spPr>
      </p:sp>
      <p:sp>
        <p:nvSpPr>
          <p:cNvPr id="81" name="Text 76"/>
          <p:cNvSpPr/>
          <p:nvPr/>
        </p:nvSpPr>
        <p:spPr>
          <a:xfrm>
            <a:off x="3858768" y="5404104"/>
            <a:ext cx="1865376" cy="246888"/>
          </a:xfrm>
          <a:prstGeom prst="rect">
            <a:avLst/>
          </a:prstGeom>
          <a:noFill/>
          <a:ln/>
        </p:spPr>
        <p:txBody>
          <a:bodyPr wrap="square" lIns="0" tIns="0" rIns="0" bIns="0" rtlCol="0" anchor="t">
            <a:normAutofit/>
          </a:bodyPr>
          <a:lstStyle/>
          <a:p>
            <a:pPr algn="l" indent="0" marL="0">
              <a:buNone/>
            </a:pPr>
            <a:r>
              <a:rPr lang="en-US" sz="635" dirty="0">
                <a:solidFill>
                  <a:srgbClr val="334155"/>
                </a:solidFill>
                <a:latin typeface="Arial" pitchFamily="34" charset="0"/>
                <a:ea typeface="Arial" pitchFamily="34" charset="-122"/>
                <a:cs typeface="Arial" pitchFamily="34" charset="-120"/>
              </a:rPr>
              <a:t>Here, C-f is derived from impedance/admittance.</a:t>
            </a:r>
            <a:endParaRPr lang="en-US" sz="635" dirty="0"/>
          </a:p>
        </p:txBody>
      </p:sp>
      <p:sp>
        <p:nvSpPr>
          <p:cNvPr id="82" name="Shape 77"/>
          <p:cNvSpPr/>
          <p:nvPr/>
        </p:nvSpPr>
        <p:spPr>
          <a:xfrm>
            <a:off x="6254496" y="3621024"/>
            <a:ext cx="5486400" cy="2331720"/>
          </a:xfrm>
          <a:prstGeom prst="roundRect">
            <a:avLst>
              <a:gd name="adj" fmla="val 3137"/>
            </a:avLst>
          </a:prstGeom>
          <a:solidFill>
            <a:srgbClr val="FFFFFF"/>
          </a:solidFill>
          <a:ln w="12700">
            <a:solidFill>
              <a:srgbClr val="CBD5E1"/>
            </a:solidFill>
            <a:prstDash val="solid"/>
          </a:ln>
        </p:spPr>
      </p:sp>
      <p:sp>
        <p:nvSpPr>
          <p:cNvPr id="83" name="Shape 78"/>
          <p:cNvSpPr/>
          <p:nvPr/>
        </p:nvSpPr>
        <p:spPr>
          <a:xfrm>
            <a:off x="6254496" y="3621024"/>
            <a:ext cx="73152" cy="2331720"/>
          </a:xfrm>
          <a:prstGeom prst="rect">
            <a:avLst/>
          </a:prstGeom>
          <a:solidFill>
            <a:srgbClr val="6D28D9"/>
          </a:solidFill>
          <a:ln w="12700">
            <a:solidFill>
              <a:srgbClr val="6D28D9">
                <a:alpha val="0"/>
              </a:srgbClr>
            </a:solidFill>
            <a:prstDash val="solid"/>
          </a:ln>
        </p:spPr>
      </p:sp>
      <p:sp>
        <p:nvSpPr>
          <p:cNvPr id="84" name="Shape 79"/>
          <p:cNvSpPr/>
          <p:nvPr/>
        </p:nvSpPr>
        <p:spPr>
          <a:xfrm>
            <a:off x="6419088" y="3758184"/>
            <a:ext cx="347472" cy="219456"/>
          </a:xfrm>
          <a:prstGeom prst="roundRect">
            <a:avLst>
              <a:gd name="adj" fmla="val 25000"/>
            </a:avLst>
          </a:prstGeom>
          <a:solidFill>
            <a:srgbClr val="EDE9FE"/>
          </a:solidFill>
          <a:ln w="12700">
            <a:solidFill>
              <a:srgbClr val="6D28D9"/>
            </a:solidFill>
            <a:prstDash val="solid"/>
          </a:ln>
        </p:spPr>
      </p:sp>
      <p:sp>
        <p:nvSpPr>
          <p:cNvPr id="85" name="Text 80"/>
          <p:cNvSpPr/>
          <p:nvPr/>
        </p:nvSpPr>
        <p:spPr>
          <a:xfrm>
            <a:off x="6464808" y="3805733"/>
            <a:ext cx="256032" cy="91440"/>
          </a:xfrm>
          <a:prstGeom prst="rect">
            <a:avLst/>
          </a:prstGeom>
          <a:noFill/>
          <a:ln/>
        </p:spPr>
        <p:txBody>
          <a:bodyPr wrap="square" lIns="0" tIns="0" rIns="0" bIns="0" rtlCol="0" anchor="t">
            <a:normAutofit/>
          </a:bodyPr>
          <a:lstStyle/>
          <a:p>
            <a:pPr algn="ctr" indent="0" marL="0">
              <a:buNone/>
            </a:pPr>
            <a:r>
              <a:rPr lang="en-US" sz="660" b="1" dirty="0">
                <a:solidFill>
                  <a:srgbClr val="6D28D9"/>
                </a:solidFill>
                <a:latin typeface="Arial" pitchFamily="34" charset="0"/>
                <a:ea typeface="Arial" pitchFamily="34" charset="-122"/>
                <a:cs typeface="Arial" pitchFamily="34" charset="-120"/>
              </a:rPr>
              <a:t>D</a:t>
            </a:r>
            <a:endParaRPr lang="en-US" sz="660" dirty="0"/>
          </a:p>
        </p:txBody>
      </p:sp>
      <p:sp>
        <p:nvSpPr>
          <p:cNvPr id="86" name="Text 81"/>
          <p:cNvSpPr/>
          <p:nvPr/>
        </p:nvSpPr>
        <p:spPr>
          <a:xfrm>
            <a:off x="6858000" y="3767328"/>
            <a:ext cx="4700016" cy="182880"/>
          </a:xfrm>
          <a:prstGeom prst="rect">
            <a:avLst/>
          </a:prstGeom>
          <a:noFill/>
          <a:ln/>
        </p:spPr>
        <p:txBody>
          <a:bodyPr wrap="square" lIns="0" tIns="0" rIns="0" bIns="0" rtlCol="0" anchor="t">
            <a:normAutofit/>
          </a:bodyPr>
          <a:lstStyle/>
          <a:p>
            <a:pPr algn="l" indent="0" marL="0">
              <a:buNone/>
            </a:pPr>
            <a:r>
              <a:rPr lang="en-US" sz="1000" b="1" dirty="0">
                <a:solidFill>
                  <a:srgbClr val="334155"/>
                </a:solidFill>
                <a:latin typeface="Arial" pitchFamily="34" charset="0"/>
                <a:ea typeface="Arial" pitchFamily="34" charset="-122"/>
                <a:cs typeface="Arial" pitchFamily="34" charset="-120"/>
              </a:rPr>
              <a:t>QE / spectral response</a:t>
            </a:r>
            <a:endParaRPr lang="en-US" sz="1000" dirty="0"/>
          </a:p>
        </p:txBody>
      </p:sp>
      <p:graphicFrame>
        <p:nvGraphicFramePr>
          <p:cNvPr id="87" name="Chart 3" descr=""/>
          <p:cNvGraphicFramePr/>
          <p:nvPr/>
        </p:nvGraphicFramePr>
        <p:xfrm>
          <a:off x="6473952" y="4151376"/>
          <a:ext cx="2834640" cy="1563624"/>
        </p:xfrm>
        <a:graphic xmlns:a="http://schemas.openxmlformats.org/drawingml/2006/main">
          <a:graphicData uri="http://schemas.openxmlformats.org/drawingml/2006/chart">
            <c:chart xmlns:c="http://schemas.openxmlformats.org/drawingml/2006/chart" r:id="rId4"/>
          </a:graphicData>
        </a:graphic>
      </p:graphicFrame>
      <p:sp>
        <p:nvSpPr>
          <p:cNvPr id="88" name="Text 82"/>
          <p:cNvSpPr/>
          <p:nvPr/>
        </p:nvSpPr>
        <p:spPr>
          <a:xfrm>
            <a:off x="7388352" y="5641848"/>
            <a:ext cx="960120" cy="109728"/>
          </a:xfrm>
          <a:prstGeom prst="rect">
            <a:avLst/>
          </a:prstGeom>
          <a:noFill/>
          <a:ln/>
        </p:spPr>
        <p:txBody>
          <a:bodyPr wrap="square" lIns="0" tIns="0" rIns="0" bIns="0" rtlCol="0" anchor="t">
            <a:normAutofit/>
          </a:bodyPr>
          <a:lstStyle/>
          <a:p>
            <a:pPr algn="ctr" indent="0" marL="0">
              <a:buNone/>
            </a:pPr>
            <a:r>
              <a:rPr lang="en-US" sz="610" dirty="0">
                <a:solidFill>
                  <a:srgbClr val="64748B"/>
                </a:solidFill>
                <a:latin typeface="Arial" pitchFamily="34" charset="0"/>
                <a:ea typeface="Arial" pitchFamily="34" charset="-122"/>
                <a:cs typeface="Arial" pitchFamily="34" charset="-120"/>
              </a:rPr>
              <a:t>Wavelength λ (nm)</a:t>
            </a:r>
            <a:endParaRPr lang="en-US" sz="610" dirty="0"/>
          </a:p>
        </p:txBody>
      </p:sp>
      <p:sp>
        <p:nvSpPr>
          <p:cNvPr id="89" name="Text 83"/>
          <p:cNvSpPr/>
          <p:nvPr/>
        </p:nvSpPr>
        <p:spPr>
          <a:xfrm>
            <a:off x="6455664" y="4133088"/>
            <a:ext cx="502920" cy="109728"/>
          </a:xfrm>
          <a:prstGeom prst="rect">
            <a:avLst/>
          </a:prstGeom>
          <a:noFill/>
          <a:ln/>
        </p:spPr>
        <p:txBody>
          <a:bodyPr wrap="square" lIns="0" tIns="0" rIns="0" bIns="0" rtlCol="0" anchor="t">
            <a:normAutofit/>
          </a:bodyPr>
          <a:lstStyle/>
          <a:p>
            <a:pPr algn="l" indent="0" marL="0">
              <a:buNone/>
            </a:pPr>
            <a:r>
              <a:rPr lang="en-US" sz="610" dirty="0">
                <a:solidFill>
                  <a:srgbClr val="64748B"/>
                </a:solidFill>
                <a:latin typeface="Arial" pitchFamily="34" charset="0"/>
                <a:ea typeface="Arial" pitchFamily="34" charset="-122"/>
                <a:cs typeface="Arial" pitchFamily="34" charset="-120"/>
              </a:rPr>
              <a:t>QE (%)</a:t>
            </a:r>
            <a:endParaRPr lang="en-US" sz="610" dirty="0"/>
          </a:p>
        </p:txBody>
      </p:sp>
      <p:sp>
        <p:nvSpPr>
          <p:cNvPr id="90" name="Shape 84"/>
          <p:cNvSpPr/>
          <p:nvPr/>
        </p:nvSpPr>
        <p:spPr>
          <a:xfrm>
            <a:off x="8339328" y="4352544"/>
            <a:ext cx="658368" cy="251460"/>
          </a:xfrm>
          <a:prstGeom prst="roundRect">
            <a:avLst>
              <a:gd name="adj" fmla="val 12727"/>
            </a:avLst>
          </a:prstGeom>
          <a:solidFill>
            <a:srgbClr val="FFFFFF">
              <a:alpha val="94000"/>
            </a:srgbClr>
          </a:solidFill>
          <a:ln w="12700">
            <a:solidFill>
              <a:srgbClr val="6D28D9"/>
            </a:solidFill>
            <a:prstDash val="solid"/>
          </a:ln>
        </p:spPr>
      </p:sp>
      <p:sp>
        <p:nvSpPr>
          <p:cNvPr id="91" name="Shape 85"/>
          <p:cNvSpPr/>
          <p:nvPr/>
        </p:nvSpPr>
        <p:spPr>
          <a:xfrm>
            <a:off x="8412480" y="4453128"/>
            <a:ext cx="173736" cy="0"/>
          </a:xfrm>
          <a:prstGeom prst="line">
            <a:avLst/>
          </a:prstGeom>
          <a:noFill/>
          <a:ln w="12700">
            <a:solidFill>
              <a:srgbClr val="6D28D9"/>
            </a:solidFill>
            <a:prstDash val="solid"/>
            <a:headEnd type="none"/>
            <a:tailEnd type="none"/>
          </a:ln>
        </p:spPr>
      </p:sp>
      <p:sp>
        <p:nvSpPr>
          <p:cNvPr id="92" name="Text 86"/>
          <p:cNvSpPr/>
          <p:nvPr/>
        </p:nvSpPr>
        <p:spPr>
          <a:xfrm>
            <a:off x="8631936" y="4408322"/>
            <a:ext cx="310896" cy="82296"/>
          </a:xfrm>
          <a:prstGeom prst="rect">
            <a:avLst/>
          </a:prstGeom>
          <a:noFill/>
          <a:ln/>
        </p:spPr>
        <p:txBody>
          <a:bodyPr wrap="square" lIns="0" tIns="0" rIns="0" bIns="0" rtlCol="0" anchor="t">
            <a:normAutofit/>
          </a:bodyPr>
          <a:lstStyle/>
          <a:p>
            <a:pPr algn="l" indent="0" marL="0">
              <a:buNone/>
            </a:pPr>
            <a:r>
              <a:rPr lang="en-US" sz="535" dirty="0">
                <a:solidFill>
                  <a:srgbClr val="334155"/>
                </a:solidFill>
                <a:latin typeface="Arial" pitchFamily="34" charset="0"/>
                <a:ea typeface="Arial" pitchFamily="34" charset="-122"/>
                <a:cs typeface="Arial" pitchFamily="34" charset="-120"/>
              </a:rPr>
              <a:t>QE(λ)</a:t>
            </a:r>
            <a:endParaRPr lang="en-US" sz="535" dirty="0"/>
          </a:p>
        </p:txBody>
      </p:sp>
      <p:sp>
        <p:nvSpPr>
          <p:cNvPr id="93" name="Shape 87"/>
          <p:cNvSpPr/>
          <p:nvPr/>
        </p:nvSpPr>
        <p:spPr>
          <a:xfrm>
            <a:off x="9564624" y="4151376"/>
            <a:ext cx="822960" cy="283464"/>
          </a:xfrm>
          <a:prstGeom prst="roundRect">
            <a:avLst>
              <a:gd name="adj" fmla="val 12903"/>
            </a:avLst>
          </a:prstGeom>
          <a:solidFill>
            <a:srgbClr val="F8FAFC"/>
          </a:solidFill>
          <a:ln w="12700">
            <a:solidFill>
              <a:srgbClr val="CBD5E1"/>
            </a:solidFill>
            <a:prstDash val="solid"/>
          </a:ln>
        </p:spPr>
      </p:sp>
      <p:sp>
        <p:nvSpPr>
          <p:cNvPr id="94" name="Text 88"/>
          <p:cNvSpPr/>
          <p:nvPr/>
        </p:nvSpPr>
        <p:spPr>
          <a:xfrm>
            <a:off x="9619488" y="4193438"/>
            <a:ext cx="310896" cy="91440"/>
          </a:xfrm>
          <a:prstGeom prst="rect">
            <a:avLst/>
          </a:prstGeom>
          <a:noFill/>
          <a:ln/>
        </p:spPr>
        <p:txBody>
          <a:bodyPr wrap="square" lIns="0" tIns="0" rIns="0" bIns="0" rtlCol="0" anchor="t">
            <a:normAutofit/>
          </a:bodyPr>
          <a:lstStyle/>
          <a:p>
            <a:pPr algn="l" indent="0" marL="0">
              <a:buNone/>
            </a:pPr>
            <a:r>
              <a:rPr lang="en-US" sz="580" i="1" dirty="0">
                <a:solidFill>
                  <a:srgbClr val="64748B"/>
                </a:solidFill>
                <a:latin typeface="Arial" pitchFamily="34" charset="0"/>
                <a:ea typeface="Arial" pitchFamily="34" charset="-122"/>
                <a:cs typeface="Arial" pitchFamily="34" charset="-120"/>
              </a:rPr>
              <a:t>J</a:t>
            </a:r>
            <a:pPr algn="l" indent="0" marL="0">
              <a:buNone/>
            </a:pPr>
            <a:r>
              <a:rPr lang="en-US" sz="580" baseline="-40000" dirty="0">
                <a:solidFill>
                  <a:srgbClr val="64748B"/>
                </a:solidFill>
                <a:latin typeface="Arial" pitchFamily="34" charset="0"/>
                <a:ea typeface="Arial" pitchFamily="34" charset="-122"/>
                <a:cs typeface="Arial" pitchFamily="34" charset="-120"/>
              </a:rPr>
              <a:t>sc,QE</a:t>
            </a:r>
            <a:endParaRPr lang="en-US" sz="580" dirty="0"/>
          </a:p>
        </p:txBody>
      </p:sp>
      <p:sp>
        <p:nvSpPr>
          <p:cNvPr id="95" name="Text 89"/>
          <p:cNvSpPr/>
          <p:nvPr/>
        </p:nvSpPr>
        <p:spPr>
          <a:xfrm>
            <a:off x="9930384" y="4190695"/>
            <a:ext cx="393192" cy="100584"/>
          </a:xfrm>
          <a:prstGeom prst="rect">
            <a:avLst/>
          </a:prstGeom>
          <a:noFill/>
          <a:ln/>
        </p:spPr>
        <p:txBody>
          <a:bodyPr wrap="square" lIns="0" tIns="0" rIns="0" bIns="0" rtlCol="0" anchor="t">
            <a:normAutofit/>
          </a:bodyPr>
          <a:lstStyle/>
          <a:p>
            <a:pPr algn="r" indent="0" marL="0">
              <a:buNone/>
            </a:pPr>
            <a:r>
              <a:rPr lang="en-US" sz="640" b="1" dirty="0">
                <a:solidFill>
                  <a:srgbClr val="6D28D9"/>
                </a:solidFill>
                <a:latin typeface="Arial" pitchFamily="34" charset="0"/>
                <a:ea typeface="Arial" pitchFamily="34" charset="-122"/>
                <a:cs typeface="Arial" pitchFamily="34" charset="-120"/>
              </a:rPr>
              <a:t>23.5</a:t>
            </a:r>
            <a:endParaRPr lang="en-US" sz="640" dirty="0"/>
          </a:p>
        </p:txBody>
      </p:sp>
      <p:sp>
        <p:nvSpPr>
          <p:cNvPr id="96" name="Shape 90"/>
          <p:cNvSpPr/>
          <p:nvPr/>
        </p:nvSpPr>
        <p:spPr>
          <a:xfrm>
            <a:off x="10488168" y="4151376"/>
            <a:ext cx="822960" cy="283464"/>
          </a:xfrm>
          <a:prstGeom prst="roundRect">
            <a:avLst>
              <a:gd name="adj" fmla="val 12903"/>
            </a:avLst>
          </a:prstGeom>
          <a:solidFill>
            <a:srgbClr val="F8FAFC"/>
          </a:solidFill>
          <a:ln w="12700">
            <a:solidFill>
              <a:srgbClr val="CBD5E1"/>
            </a:solidFill>
            <a:prstDash val="solid"/>
          </a:ln>
        </p:spPr>
      </p:sp>
      <p:sp>
        <p:nvSpPr>
          <p:cNvPr id="97" name="Text 91"/>
          <p:cNvSpPr/>
          <p:nvPr/>
        </p:nvSpPr>
        <p:spPr>
          <a:xfrm>
            <a:off x="10543032" y="4193438"/>
            <a:ext cx="219456" cy="91440"/>
          </a:xfrm>
          <a:prstGeom prst="rect">
            <a:avLst/>
          </a:prstGeom>
          <a:noFill/>
          <a:ln/>
        </p:spPr>
        <p:txBody>
          <a:bodyPr wrap="square" lIns="0" tIns="0" rIns="0" bIns="0" rtlCol="0" anchor="t">
            <a:normAutofit/>
          </a:bodyPr>
          <a:lstStyle/>
          <a:p>
            <a:pPr algn="l" indent="0" marL="0">
              <a:buNone/>
            </a:pPr>
            <a:r>
              <a:rPr lang="en-US" sz="580" i="1" dirty="0">
                <a:solidFill>
                  <a:srgbClr val="64748B"/>
                </a:solidFill>
                <a:latin typeface="Arial" pitchFamily="34" charset="0"/>
                <a:ea typeface="Arial" pitchFamily="34" charset="-122"/>
                <a:cs typeface="Arial" pitchFamily="34" charset="-120"/>
              </a:rPr>
              <a:t>E</a:t>
            </a:r>
            <a:pPr algn="l" indent="0" marL="0">
              <a:buNone/>
            </a:pPr>
            <a:r>
              <a:rPr lang="en-US" sz="580" baseline="-40000" dirty="0">
                <a:solidFill>
                  <a:srgbClr val="64748B"/>
                </a:solidFill>
                <a:latin typeface="Arial" pitchFamily="34" charset="0"/>
                <a:ea typeface="Arial" pitchFamily="34" charset="-122"/>
                <a:cs typeface="Arial" pitchFamily="34" charset="-120"/>
              </a:rPr>
              <a:t>g</a:t>
            </a:r>
            <a:endParaRPr lang="en-US" sz="580" dirty="0"/>
          </a:p>
        </p:txBody>
      </p:sp>
      <p:sp>
        <p:nvSpPr>
          <p:cNvPr id="98" name="Text 92"/>
          <p:cNvSpPr/>
          <p:nvPr/>
        </p:nvSpPr>
        <p:spPr>
          <a:xfrm>
            <a:off x="10826496" y="4190695"/>
            <a:ext cx="420624" cy="100584"/>
          </a:xfrm>
          <a:prstGeom prst="rect">
            <a:avLst/>
          </a:prstGeom>
          <a:noFill/>
          <a:ln/>
        </p:spPr>
        <p:txBody>
          <a:bodyPr wrap="square" lIns="0" tIns="0" rIns="0" bIns="0" rtlCol="0" anchor="t">
            <a:normAutofit/>
          </a:bodyPr>
          <a:lstStyle/>
          <a:p>
            <a:pPr algn="r" indent="0" marL="0">
              <a:buNone/>
            </a:pPr>
            <a:r>
              <a:rPr lang="en-US" sz="640" b="1" dirty="0">
                <a:solidFill>
                  <a:srgbClr val="6D28D9"/>
                </a:solidFill>
                <a:latin typeface="Arial" pitchFamily="34" charset="0"/>
                <a:ea typeface="Arial" pitchFamily="34" charset="-122"/>
                <a:cs typeface="Arial" pitchFamily="34" charset="-120"/>
              </a:rPr>
              <a:t>edge</a:t>
            </a:r>
            <a:endParaRPr lang="en-US" sz="640" dirty="0"/>
          </a:p>
        </p:txBody>
      </p:sp>
      <p:sp>
        <p:nvSpPr>
          <p:cNvPr id="99" name="Shape 93"/>
          <p:cNvSpPr/>
          <p:nvPr/>
        </p:nvSpPr>
        <p:spPr>
          <a:xfrm>
            <a:off x="9564624" y="4649724"/>
            <a:ext cx="32004" cy="32004"/>
          </a:xfrm>
          <a:prstGeom prst="rect">
            <a:avLst/>
          </a:prstGeom>
          <a:solidFill>
            <a:srgbClr val="6D28D9"/>
          </a:solidFill>
          <a:ln w="12700">
            <a:solidFill>
              <a:srgbClr val="6D28D9">
                <a:alpha val="0"/>
              </a:srgbClr>
            </a:solidFill>
            <a:prstDash val="solid"/>
          </a:ln>
        </p:spPr>
      </p:sp>
      <p:sp>
        <p:nvSpPr>
          <p:cNvPr id="100" name="Text 94"/>
          <p:cNvSpPr/>
          <p:nvPr/>
        </p:nvSpPr>
        <p:spPr>
          <a:xfrm>
            <a:off x="9656064" y="4608576"/>
            <a:ext cx="1865376" cy="347472"/>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QE is plotted versus wavelength λ or photon energy hν, not electrical frequency.</a:t>
            </a:r>
            <a:endParaRPr lang="en-US" sz="670" dirty="0"/>
          </a:p>
        </p:txBody>
      </p:sp>
      <p:sp>
        <p:nvSpPr>
          <p:cNvPr id="101" name="Shape 95"/>
          <p:cNvSpPr/>
          <p:nvPr/>
        </p:nvSpPr>
        <p:spPr>
          <a:xfrm>
            <a:off x="9564624" y="5052060"/>
            <a:ext cx="32004" cy="32004"/>
          </a:xfrm>
          <a:prstGeom prst="rect">
            <a:avLst/>
          </a:prstGeom>
          <a:solidFill>
            <a:srgbClr val="6D28D9"/>
          </a:solidFill>
          <a:ln w="12700">
            <a:solidFill>
              <a:srgbClr val="6D28D9">
                <a:alpha val="0"/>
              </a:srgbClr>
            </a:solidFill>
            <a:prstDash val="solid"/>
          </a:ln>
        </p:spPr>
      </p:sp>
      <p:sp>
        <p:nvSpPr>
          <p:cNvPr id="102" name="Text 96"/>
          <p:cNvSpPr/>
          <p:nvPr/>
        </p:nvSpPr>
        <p:spPr>
          <a:xfrm>
            <a:off x="9656064" y="5010912"/>
            <a:ext cx="1865376" cy="329184"/>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Integrated QE gives a consistency check on </a:t>
            </a:r>
            <a:pPr algn="l" indent="0" marL="0">
              <a:buNone/>
            </a:pPr>
            <a:r>
              <a:rPr lang="en-US" sz="670" i="1" dirty="0">
                <a:solidFill>
                  <a:srgbClr val="334155"/>
                </a:solidFill>
                <a:latin typeface="Arial" pitchFamily="34" charset="0"/>
                <a:ea typeface="Arial" pitchFamily="34" charset="-122"/>
                <a:cs typeface="Arial" pitchFamily="34" charset="-120"/>
              </a:rPr>
              <a:t>J</a:t>
            </a:r>
            <a:pPr algn="l" indent="0" marL="0">
              <a:buNone/>
            </a:pPr>
            <a:r>
              <a:rPr lang="en-US" sz="670" baseline="-40000" dirty="0">
                <a:solidFill>
                  <a:srgbClr val="334155"/>
                </a:solidFill>
                <a:latin typeface="Arial" pitchFamily="34" charset="0"/>
                <a:ea typeface="Arial" pitchFamily="34" charset="-122"/>
                <a:cs typeface="Arial" pitchFamily="34" charset="-120"/>
              </a:rPr>
              <a:t>sc</a:t>
            </a:r>
            <a:pPr algn="l" indent="0" marL="0">
              <a:buNone/>
            </a:pPr>
            <a:r>
              <a:rPr lang="en-US" sz="670" dirty="0">
                <a:solidFill>
                  <a:srgbClr val="334155"/>
                </a:solidFill>
                <a:latin typeface="Arial" pitchFamily="34" charset="0"/>
                <a:ea typeface="Arial" pitchFamily="34" charset="-122"/>
                <a:cs typeface="Arial" pitchFamily="34" charset="-120"/>
              </a:rPr>
              <a:t> under AM1.5G illumination.</a:t>
            </a:r>
            <a:endParaRPr lang="en-US" sz="670" dirty="0"/>
          </a:p>
        </p:txBody>
      </p:sp>
      <p:sp>
        <p:nvSpPr>
          <p:cNvPr id="103" name="Shape 97"/>
          <p:cNvSpPr/>
          <p:nvPr/>
        </p:nvSpPr>
        <p:spPr>
          <a:xfrm>
            <a:off x="9564624" y="5417820"/>
            <a:ext cx="32004" cy="32004"/>
          </a:xfrm>
          <a:prstGeom prst="rect">
            <a:avLst/>
          </a:prstGeom>
          <a:solidFill>
            <a:srgbClr val="334155"/>
          </a:solidFill>
          <a:ln w="12700">
            <a:solidFill>
              <a:srgbClr val="334155">
                <a:alpha val="0"/>
              </a:srgbClr>
            </a:solidFill>
            <a:prstDash val="solid"/>
          </a:ln>
        </p:spPr>
      </p:sp>
      <p:sp>
        <p:nvSpPr>
          <p:cNvPr id="104" name="Text 98"/>
          <p:cNvSpPr/>
          <p:nvPr/>
        </p:nvSpPr>
        <p:spPr>
          <a:xfrm>
            <a:off x="9656064" y="5376672"/>
            <a:ext cx="1865376" cy="283464"/>
          </a:xfrm>
          <a:prstGeom prst="rect">
            <a:avLst/>
          </a:prstGeom>
          <a:noFill/>
          <a:ln/>
        </p:spPr>
        <p:txBody>
          <a:bodyPr wrap="square" lIns="0" tIns="0" rIns="0" bIns="0" rtlCol="0" anchor="t">
            <a:normAutofit/>
          </a:bodyPr>
          <a:lstStyle/>
          <a:p>
            <a:pPr algn="l" indent="0" marL="0">
              <a:buNone/>
            </a:pPr>
            <a:r>
              <a:rPr lang="en-US" sz="670" dirty="0">
                <a:solidFill>
                  <a:srgbClr val="334155"/>
                </a:solidFill>
                <a:latin typeface="Arial" pitchFamily="34" charset="0"/>
                <a:ea typeface="Arial" pitchFamily="34" charset="-122"/>
                <a:cs typeface="Arial" pitchFamily="34" charset="-120"/>
              </a:rPr>
              <a:t>Short- and long-wavelength roll-off locate optical and collection losses.</a:t>
            </a:r>
            <a:endParaRPr lang="en-US" sz="670" dirty="0"/>
          </a:p>
        </p:txBody>
      </p:sp>
      <p:sp>
        <p:nvSpPr>
          <p:cNvPr id="105" name="Shape 99"/>
          <p:cNvSpPr/>
          <p:nvPr/>
        </p:nvSpPr>
        <p:spPr>
          <a:xfrm>
            <a:off x="0" y="6291072"/>
            <a:ext cx="12191695" cy="566928"/>
          </a:xfrm>
          <a:prstGeom prst="rect">
            <a:avLst/>
          </a:prstGeom>
          <a:solidFill>
            <a:srgbClr val="EAF2FF"/>
          </a:solidFill>
          <a:ln w="12700">
            <a:solidFill>
              <a:srgbClr val="EAF2FF">
                <a:alpha val="0"/>
              </a:srgbClr>
            </a:solidFill>
            <a:prstDash val="solid"/>
          </a:ln>
        </p:spPr>
      </p:sp>
      <p:sp>
        <p:nvSpPr>
          <p:cNvPr id="106" name="Text 100"/>
          <p:cNvSpPr/>
          <p:nvPr/>
        </p:nvSpPr>
        <p:spPr>
          <a:xfrm>
            <a:off x="585216" y="6455664"/>
            <a:ext cx="11018520" cy="182880"/>
          </a:xfrm>
          <a:prstGeom prst="rect">
            <a:avLst/>
          </a:prstGeom>
          <a:noFill/>
          <a:ln/>
        </p:spPr>
        <p:txBody>
          <a:bodyPr wrap="square" lIns="0" tIns="0" rIns="0" bIns="0" rtlCol="0" anchor="t">
            <a:normAutofit/>
          </a:bodyPr>
          <a:lstStyle/>
          <a:p>
            <a:pPr algn="ctr" indent="0" marL="0">
              <a:buNone/>
            </a:pPr>
            <a:r>
              <a:rPr lang="en-US" sz="1010" b="1" dirty="0">
                <a:solidFill>
                  <a:srgbClr val="162033"/>
                </a:solidFill>
                <a:latin typeface="Arial" pitchFamily="34" charset="0"/>
                <a:ea typeface="Arial" pitchFamily="34" charset="-122"/>
                <a:cs typeface="Arial" pitchFamily="34" charset="-120"/>
              </a:rPr>
              <a:t>Note: </a:t>
            </a:r>
            <a:pPr algn="ctr" indent="0" marL="0">
              <a:buNone/>
            </a:pPr>
            <a:r>
              <a:rPr lang="en-US" sz="1010" dirty="0">
                <a:solidFill>
                  <a:srgbClr val="162033"/>
                </a:solidFill>
                <a:latin typeface="Arial" pitchFamily="34" charset="0"/>
                <a:ea typeface="Arial" pitchFamily="34" charset="-122"/>
                <a:cs typeface="Arial" pitchFamily="34" charset="-120"/>
              </a:rPr>
              <a:t>band diagrams, carrier densities, electric field, current components, generation and recombination are </a:t>
            </a:r>
            <a:pPr algn="ctr" indent="0" marL="0">
              <a:buNone/>
            </a:pPr>
            <a:r>
              <a:rPr lang="en-US" sz="1010" b="1" dirty="0">
                <a:solidFill>
                  <a:srgbClr val="2563EB"/>
                </a:solidFill>
                <a:latin typeface="Arial" pitchFamily="34" charset="0"/>
                <a:ea typeface="Arial" pitchFamily="34" charset="-122"/>
                <a:cs typeface="Arial" pitchFamily="34" charset="-120"/>
              </a:rPr>
              <a:t>diagnostic working-point profiles</a:t>
            </a:r>
            <a:pPr algn="ctr" indent="0" marL="0">
              <a:buNone/>
            </a:pPr>
            <a:r>
              <a:rPr lang="en-US" sz="1010" dirty="0">
                <a:solidFill>
                  <a:srgbClr val="162033"/>
                </a:solidFill>
                <a:latin typeface="Arial" pitchFamily="34" charset="0"/>
                <a:ea typeface="Arial" pitchFamily="34" charset="-122"/>
                <a:cs typeface="Arial" pitchFamily="34" charset="-120"/>
              </a:rPr>
              <a:t>, not the four primary SCAPS-1D output modules.</a:t>
            </a:r>
            <a:endParaRPr lang="en-US" sz="10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SolarLab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Output Modules in SCAPS-1D</dc:title>
  <dc:subject>SCAPS-1D main output modules</dc:subject>
  <dc:creator>SolarLab</dc:creator>
  <cp:lastModifiedBy>SolarLab</cp:lastModifiedBy>
  <cp:revision>1</cp:revision>
  <dcterms:created xsi:type="dcterms:W3CDTF">2026-05-20T17:17:23Z</dcterms:created>
  <dcterms:modified xsi:type="dcterms:W3CDTF">2026-05-20T17:17:23Z</dcterms:modified>
</cp:coreProperties>
</file>