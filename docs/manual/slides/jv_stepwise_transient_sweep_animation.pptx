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anyan CHEN" userId="ac0898da-0780-4339-9c11-b9bc62c9cfd0" providerId="ADAL" clId="{06826636-F056-5708-8737-B49C84DF50B8}"/>
    <pc:docChg chg="modSld">
      <pc:chgData name="Xuanyan CHEN" userId="ac0898da-0780-4339-9c11-b9bc62c9cfd0" providerId="ADAL" clId="{06826636-F056-5708-8737-B49C84DF50B8}" dt="2026-05-21T15:33:58.453" v="0" actId="164"/>
      <pc:docMkLst>
        <pc:docMk/>
      </pc:docMkLst>
      <pc:sldChg chg="addSp mod">
        <pc:chgData name="Xuanyan CHEN" userId="ac0898da-0780-4339-9c11-b9bc62c9cfd0" providerId="ADAL" clId="{06826636-F056-5708-8737-B49C84DF50B8}" dt="2026-05-21T15:33:58.453" v="0" actId="164"/>
        <pc:sldMkLst>
          <pc:docMk/>
          <pc:sldMk cId="0" sldId="256"/>
        </pc:sldMkLst>
        <pc:grpChg chg="add">
          <ac:chgData name="Xuanyan CHEN" userId="ac0898da-0780-4339-9c11-b9bc62c9cfd0" providerId="ADAL" clId="{06826636-F056-5708-8737-B49C84DF50B8}" dt="2026-05-21T15:33:58.453" v="0" actId="164"/>
          <ac:grpSpMkLst>
            <pc:docMk/>
            <pc:sldMk cId="0" sldId="256"/>
            <ac:grpSpMk id="22" creationId="{70BDEA2E-7C59-700D-3229-532EF5AD22AA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46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This slide separates the actual SolarLab J-V sweep implementation from the idealized continuous-ramp picture. The frontend supplies a scan rate and a finite number of voltage samples. The backend converts those into a dwell time per sample, dt = |V_{k+1} - V_k| / scan_rate.
At each sample, V_app is held fixed. Radau integrates the coupled drift-diffusion state over that dwell interval, the terminal current is recorded after the settle, and the final state becomes the initial condition for the next voltage sample. This state carry-over is what allows forward and reverse sweeps to differ when ions or slow coupled variables lag the voltage history.
The important distinction is that this is not a single continuous V_app(t) ramp inside one solve_ivp call. It is a chain of fixed-voltage transient solves: forward from 0 to V_max, then reverse from V_max back to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0116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J-V Sweep: Fixed-Voltage Radau Calls Chained in Time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29768" y="603504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SolarLab mode: hold V</a:t>
            </a:r>
            <a:r>
              <a:rPr lang="en-US" sz="1220" baseline="-40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12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fixed, integrate one transient, record J, then warm-start the next voltage.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438912" y="941832"/>
            <a:ext cx="11320272" cy="4645152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10881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Stepwise Transient Sweep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8869680" y="110642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 animation; use slideshow mode for playback.</a:t>
            </a:r>
            <a:endParaRPr lang="en-US" sz="880" dirty="0"/>
          </a:p>
        </p:txBody>
      </p:sp>
      <p:pic>
        <p:nvPicPr>
          <p:cNvPr id="7" name="Image 0" descr="/Users/shane/Library/CloudStorage/OneDrive-HKUST(Guangzhou)/SolarLab/docs/manual/figures/jv_stepwise_transient_sweep.gif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371600"/>
            <a:ext cx="10771632" cy="3621024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70BDEA2E-7C59-700D-3229-532EF5AD22AA}"/>
              </a:ext>
            </a:extLst>
          </p:cNvPr>
          <p:cNvGrpSpPr/>
          <p:nvPr/>
        </p:nvGrpSpPr>
        <p:grpSpPr>
          <a:xfrm>
            <a:off x="548640" y="5650992"/>
            <a:ext cx="11091672" cy="585216"/>
            <a:chOff x="548640" y="5650992"/>
            <a:chExt cx="11091672" cy="585216"/>
          </a:xfrm>
        </p:grpSpPr>
        <p:sp>
          <p:nvSpPr>
            <p:cNvPr id="8" name="Shape 5"/>
            <p:cNvSpPr/>
            <p:nvPr/>
          </p:nvSpPr>
          <p:spPr>
            <a:xfrm>
              <a:off x="548640" y="5650992"/>
              <a:ext cx="3520440" cy="585216"/>
            </a:xfrm>
            <a:prstGeom prst="roundRect">
              <a:avLst>
                <a:gd name="adj" fmla="val 12500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548640" y="5650992"/>
              <a:ext cx="73152" cy="585216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713232" y="5760720"/>
              <a:ext cx="32095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60" b="1" dirty="0">
                  <a:solidFill>
                    <a:srgbClr val="2563E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STAIRCASE VOLTAGE</a:t>
              </a:r>
              <a:endParaRPr lang="en-US" sz="96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13232" y="5989320"/>
              <a:ext cx="32095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8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sampled plateaus; not one continuous ramp</a:t>
              </a:r>
              <a:endParaRPr lang="en-US" sz="88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4334256" y="5650992"/>
              <a:ext cx="3520440" cy="585216"/>
            </a:xfrm>
            <a:prstGeom prst="roundRect">
              <a:avLst>
                <a:gd name="adj" fmla="val 12500"/>
              </a:avLst>
            </a:prstGeom>
            <a:solidFill>
              <a:srgbClr val="EDE9FE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4334256" y="5650992"/>
              <a:ext cx="73152" cy="585216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4498848" y="5760720"/>
              <a:ext cx="32095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60" b="1" dirty="0">
                  <a:solidFill>
                    <a:srgbClr val="6D28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ONE RADAU CALL</a:t>
              </a:r>
              <a:endParaRPr lang="en-US" sz="96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498848" y="5989320"/>
              <a:ext cx="32095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9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[t</a:t>
              </a:r>
              <a:r>
                <a:rPr lang="en-US" sz="890" baseline="-4000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</a:t>
              </a:r>
              <a:r>
                <a:rPr lang="en-US" sz="89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t</a:t>
              </a:r>
              <a:r>
                <a:rPr lang="en-US" sz="890" baseline="-4000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k+1</a:t>
              </a:r>
              <a:r>
                <a:rPr lang="en-US" sz="89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] at fixed V</a:t>
              </a:r>
              <a:r>
                <a:rPr lang="en-US" sz="890" baseline="-4000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</a:t>
              </a:r>
              <a:endParaRPr lang="en-US" sz="89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8119872" y="5650992"/>
              <a:ext cx="3520440" cy="585216"/>
            </a:xfrm>
            <a:prstGeom prst="roundRect">
              <a:avLst>
                <a:gd name="adj" fmla="val 12500"/>
              </a:avLst>
            </a:prstGeom>
            <a:solidFill>
              <a:srgbClr val="DCFCE7"/>
            </a:solidFill>
            <a:ln w="12700">
              <a:solidFill>
                <a:srgbClr val="1680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8119872" y="5650992"/>
              <a:ext cx="73152" cy="585216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8284464" y="5760720"/>
              <a:ext cx="32095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60" b="1" dirty="0">
                  <a:solidFill>
                    <a:srgbClr val="1680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STATE CARRY-OVER</a:t>
              </a:r>
              <a:endParaRPr lang="en-US" sz="96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8284464" y="5989320"/>
              <a:ext cx="32095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9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</a:t>
              </a:r>
              <a:r>
                <a:rPr lang="en-US" sz="890" baseline="-4000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k+1</a:t>
              </a:r>
              <a:r>
                <a:rPr lang="en-US" sz="890" dirty="0">
                  <a:solidFill>
                    <a:srgbClr val="1620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seeds the next voltage point</a:t>
              </a:r>
              <a:endParaRPr lang="en-US" sz="890" dirty="0"/>
            </a:p>
          </p:txBody>
        </p:sp>
      </p:grpSp>
      <p:sp>
        <p:nvSpPr>
          <p:cNvPr id="20" name="Shape 17"/>
          <p:cNvSpPr/>
          <p:nvPr/>
        </p:nvSpPr>
        <p:spPr>
          <a:xfrm>
            <a:off x="0" y="6364224"/>
            <a:ext cx="12191695" cy="493776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mode: </a:t>
            </a:r>
            <a:r>
              <a:rPr lang="en-US" sz="10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piecewise-constant V</a:t>
            </a:r>
            <a:r>
              <a:rPr lang="en-US" sz="10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r>
              <a:rPr lang="en-US" sz="10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Δt = |V</a:t>
            </a:r>
            <a:r>
              <a:rPr lang="en-US" sz="10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k+1</a:t>
            </a:r>
            <a:r>
              <a:rPr lang="en-US" sz="10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</a:t>
            </a:r>
            <a:r>
              <a:rPr lang="en-US" sz="10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10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/ scan rate; forward 0 -&gt; V</a:t>
            </a:r>
            <a:r>
              <a:rPr lang="en-US" sz="10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10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reverse V</a:t>
            </a:r>
            <a:r>
              <a:rPr lang="en-US" sz="10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10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-&gt; 0.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292</Words>
  <Application>Microsoft Macintosh PowerPoint</Application>
  <PresentationFormat>宽屏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SolarLab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J-V Sweep: Stepwise Fixed-Voltage Radau Transient Solves</dc:title>
  <dc:subject>Animated explanation of SolarLab stepwise J-V sweep</dc:subject>
  <dc:creator>SolarLab</dc:creator>
  <cp:lastModifiedBy>Xuanyan CHEN</cp:lastModifiedBy>
  <cp:revision>1</cp:revision>
  <dcterms:created xsi:type="dcterms:W3CDTF">2026-05-21T15:00:41Z</dcterms:created>
  <dcterms:modified xsi:type="dcterms:W3CDTF">2026-05-21T15:34:09Z</dcterms:modified>
</cp:coreProperties>
</file>