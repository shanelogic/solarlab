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Lst>
  <p:sldSz cx="12191365" cy="6858000"/>
  <p:notesSz cx="6858000" cy="1219136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
          <c:y val="0.08"/>
          <c:w val="0.82"/>
          <c:h val="0.78"/>
        </c:manualLayout>
      </c:layout>
      <c:lineChart>
        <c:grouping val="none"/>
        <c:varyColors val="0"/>
        <c:ser>
          <c:idx val="0"/>
          <c:order val="0"/>
          <c:tx>
            <c:strRef>
              <c:f>Sheet1!$B$1</c:f>
              <c:strCache>
                <c:ptCount val="1"/>
                <c:pt idx="0">
                  <c:v>light</c:v>
                </c:pt>
              </c:strCache>
            </c:strRef>
          </c:tx>
          <c:spPr>
            <a:ln w="26035" cap="flat" cmpd="sng" algn="ctr">
              <a:solidFill>
                <a:srgbClr val="B42318"/>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9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Sheet1!$A$2:$A$9</c:f>
              <c:numCache>
                <c:formatCode>General</c:formatCode>
                <c:ptCount val="8"/>
                <c:pt idx="0">
                  <c:v>0</c:v>
                </c:pt>
                <c:pt idx="1">
                  <c:v>0.2</c:v>
                </c:pt>
                <c:pt idx="2">
                  <c:v>0.4</c:v>
                </c:pt>
                <c:pt idx="3">
                  <c:v>0.6</c:v>
                </c:pt>
                <c:pt idx="4">
                  <c:v>0.8</c:v>
                </c:pt>
                <c:pt idx="5">
                  <c:v>1</c:v>
                </c:pt>
                <c:pt idx="6">
                  <c:v>1.15</c:v>
                </c:pt>
                <c:pt idx="7">
                  <c:v>1.3</c:v>
                </c:pt>
              </c:numCache>
            </c:numRef>
          </c:cat>
          <c:val>
            <c:numRef>
              <c:f>Sheet1!$B$2:$B$9</c:f>
              <c:numCache>
                <c:formatCode>General</c:formatCode>
                <c:ptCount val="8"/>
                <c:pt idx="0">
                  <c:v>23.8</c:v>
                </c:pt>
                <c:pt idx="1">
                  <c:v>23.7</c:v>
                </c:pt>
                <c:pt idx="2">
                  <c:v>23.2</c:v>
                </c:pt>
                <c:pt idx="3">
                  <c:v>21.7</c:v>
                </c:pt>
                <c:pt idx="4">
                  <c:v>17.2</c:v>
                </c:pt>
                <c:pt idx="5">
                  <c:v>8.4</c:v>
                </c:pt>
                <c:pt idx="6">
                  <c:v>0</c:v>
                </c:pt>
                <c:pt idx="7">
                  <c:v>-6.8</c:v>
                </c:pt>
              </c:numCache>
            </c:numRef>
          </c:val>
          <c:smooth val="0"/>
        </c:ser>
        <c:ser>
          <c:idx val="1"/>
          <c:order val="1"/>
          <c:tx>
            <c:strRef>
              <c:f>Sheet1!$C$1</c:f>
              <c:strCache>
                <c:ptCount val="1"/>
                <c:pt idx="0">
                  <c:v>dark</c:v>
                </c:pt>
              </c:strCache>
            </c:strRef>
          </c:tx>
          <c:spPr>
            <a:ln w="26035" cap="flat" cmpd="sng" algn="ctr">
              <a:solidFill>
                <a:srgbClr val="334155"/>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9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Sheet1!$A$2:$A$9</c:f>
              <c:numCache>
                <c:formatCode>General</c:formatCode>
                <c:ptCount val="8"/>
                <c:pt idx="0">
                  <c:v>0</c:v>
                </c:pt>
                <c:pt idx="1">
                  <c:v>0.2</c:v>
                </c:pt>
                <c:pt idx="2">
                  <c:v>0.4</c:v>
                </c:pt>
                <c:pt idx="3">
                  <c:v>0.6</c:v>
                </c:pt>
                <c:pt idx="4">
                  <c:v>0.8</c:v>
                </c:pt>
                <c:pt idx="5">
                  <c:v>1</c:v>
                </c:pt>
                <c:pt idx="6">
                  <c:v>1.15</c:v>
                </c:pt>
                <c:pt idx="7">
                  <c:v>1.3</c:v>
                </c:pt>
              </c:numCache>
            </c:numRef>
          </c:cat>
          <c:val>
            <c:numRef>
              <c:f>Sheet1!$C$2:$C$9</c:f>
              <c:numCache>
                <c:formatCode>General</c:formatCode>
                <c:ptCount val="8"/>
                <c:pt idx="0">
                  <c:v>0</c:v>
                </c:pt>
                <c:pt idx="1">
                  <c:v>0</c:v>
                </c:pt>
                <c:pt idx="2">
                  <c:v>0.1</c:v>
                </c:pt>
                <c:pt idx="3">
                  <c:v>0.4</c:v>
                </c:pt>
                <c:pt idx="4">
                  <c:v>1.5</c:v>
                </c:pt>
                <c:pt idx="5">
                  <c:v>5.4</c:v>
                </c:pt>
                <c:pt idx="6">
                  <c:v>15</c:v>
                </c:pt>
                <c:pt idx="7">
                  <c:v>26</c:v>
                </c:pt>
              </c:numCache>
            </c:numRef>
          </c:val>
          <c:smooth val="0"/>
        </c:ser>
        <c:dLbls>
          <c:showLegendKey val="0"/>
          <c:showVal val="0"/>
          <c:showCatName val="0"/>
          <c:showSerName val="0"/>
          <c:showPercent val="0"/>
          <c:showBubbleSize val="0"/>
        </c:dLbls>
        <c:marker val="0"/>
        <c:smooth val="0"/>
        <c:axId val="2094734554"/>
        <c:axId val="2094734552"/>
      </c:lineChart>
      <c:catAx>
        <c:axId val="2094734554"/>
        <c:scaling>
          <c:orientation val="minMax"/>
        </c:scaling>
        <c:delete val="0"/>
        <c:axPos val="b"/>
        <c:numFmt formatCode="General" sourceLinked="1"/>
        <c:majorTickMark val="none"/>
        <c:minorTickMark val="none"/>
        <c:tickLblPos val="low"/>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28"/>
          <c:min val="-8"/>
        </c:scaling>
        <c:delete val="0"/>
        <c:axPos val="l"/>
        <c:majorGridlines>
          <c:spPr>
            <a:ln w="5715" cap="flat" cmpd="sng" algn="ctr">
              <a:solidFill>
                <a:srgbClr val="E2E8F0"/>
              </a:solidFill>
              <a:prstDash val="solid"/>
              <a:round/>
            </a:ln>
          </c:spPr>
        </c:majorGridlines>
        <c:numFmt formatCode="0" sourceLinked="0"/>
        <c:majorTickMark val="none"/>
        <c:minorTickMark val="none"/>
        <c:tickLblPos val="nextTo"/>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4"/>
        <c:crosses val="autoZero"/>
        <c:crossBetween val="between"/>
        <c:majorUnit val="6"/>
      </c:valAx>
      <c:spPr>
        <a:solidFill>
          <a:srgbClr val="FFFFFF">
            <a:alpha val="0"/>
          </a:srgbClr>
        </a:solidFill>
        <a:ln w="12700" cap="flat">
          <a:solidFill>
            <a:srgbClr val="FFFFFF"/>
          </a:solidFill>
        </a:ln>
        <a:effectLst/>
      </c:spPr>
    </c:plotArea>
    <c:plotVisOnly val="1"/>
    <c:dispBlanksAs val="span"/>
    <c:showDLblsOverMax val="0"/>
    <c:extLst>
      <c:ext uri="{0b15fc19-7d7d-44ad-8c2d-2c3a37ce22c3}">
        <chartProps xmlns="https://web.wps.cn/et/2018/main" chartId="{f54f4d6f-628c-4dab-a8d5-40379c5fcfc8}"/>
      </c:ext>
    </c:extLst>
  </c:chart>
  <c:spPr>
    <a:solidFill>
      <a:srgbClr val="FFFFFF">
        <a:alpha val="0"/>
      </a:srgbClr>
    </a:solidFill>
    <a:ln w="12700" cap="flat">
      <a:solidFill>
        <a:srgbClr val="FFFFFF"/>
      </a:solid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
          <c:y val="0.08"/>
          <c:w val="0.82"/>
          <c:h val="0.78"/>
        </c:manualLayout>
      </c:layout>
      <c:lineChart>
        <c:grouping val="none"/>
        <c:varyColors val="0"/>
        <c:ser>
          <c:idx val="0"/>
          <c:order val="0"/>
          <c:tx>
            <c:strRef>
              <c:f>Sheet1!$B$1</c:f>
              <c:strCache>
                <c:ptCount val="1"/>
                <c:pt idx="0">
                  <c:v>C</c:v>
                </c:pt>
              </c:strCache>
            </c:strRef>
          </c:tx>
          <c:spPr>
            <a:ln w="26035" cap="flat" cmpd="sng" algn="ctr">
              <a:solidFill>
                <a:srgbClr val="2563EB"/>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9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Sheet1!$A$2:$A$9</c:f>
              <c:numCache>
                <c:formatCode>General</c:formatCode>
                <c:ptCount val="8"/>
                <c:pt idx="0">
                  <c:v>-0.4</c:v>
                </c:pt>
                <c:pt idx="1">
                  <c:v>-0.2</c:v>
                </c:pt>
                <c:pt idx="2">
                  <c:v>0</c:v>
                </c:pt>
                <c:pt idx="3">
                  <c:v>0.2</c:v>
                </c:pt>
                <c:pt idx="4">
                  <c:v>0.4</c:v>
                </c:pt>
                <c:pt idx="5">
                  <c:v>0.6</c:v>
                </c:pt>
                <c:pt idx="6">
                  <c:v>0.8</c:v>
                </c:pt>
                <c:pt idx="7">
                  <c:v>1</c:v>
                </c:pt>
              </c:numCache>
            </c:numRef>
          </c:cat>
          <c:val>
            <c:numRef>
              <c:f>Sheet1!$B$2:$B$9</c:f>
              <c:numCache>
                <c:formatCode>General</c:formatCode>
                <c:ptCount val="8"/>
                <c:pt idx="0">
                  <c:v>0.92</c:v>
                </c:pt>
                <c:pt idx="1">
                  <c:v>0.82</c:v>
                </c:pt>
                <c:pt idx="2">
                  <c:v>0.7</c:v>
                </c:pt>
                <c:pt idx="3">
                  <c:v>0.59</c:v>
                </c:pt>
                <c:pt idx="4">
                  <c:v>0.49</c:v>
                </c:pt>
                <c:pt idx="5">
                  <c:v>0.42</c:v>
                </c:pt>
                <c:pt idx="6">
                  <c:v>0.38</c:v>
                </c:pt>
                <c:pt idx="7">
                  <c:v>0.37</c:v>
                </c:pt>
              </c:numCache>
            </c:numRef>
          </c:val>
          <c:smooth val="1"/>
        </c:ser>
        <c:ser>
          <c:idx val="1"/>
          <c:order val="1"/>
          <c:tx>
            <c:strRef>
              <c:f>Sheet1!$C$1</c:f>
              <c:strCache>
                <c:ptCount val="1"/>
                <c:pt idx="0">
                  <c:v>1/C2</c:v>
                </c:pt>
              </c:strCache>
            </c:strRef>
          </c:tx>
          <c:spPr>
            <a:ln w="26035" cap="flat" cmpd="sng" algn="ctr">
              <a:solidFill>
                <a:srgbClr val="16803C"/>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9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Sheet1!$A$2:$A$9</c:f>
              <c:numCache>
                <c:formatCode>General</c:formatCode>
                <c:ptCount val="8"/>
                <c:pt idx="0">
                  <c:v>-0.4</c:v>
                </c:pt>
                <c:pt idx="1">
                  <c:v>-0.2</c:v>
                </c:pt>
                <c:pt idx="2">
                  <c:v>0</c:v>
                </c:pt>
                <c:pt idx="3">
                  <c:v>0.2</c:v>
                </c:pt>
                <c:pt idx="4">
                  <c:v>0.4</c:v>
                </c:pt>
                <c:pt idx="5">
                  <c:v>0.6</c:v>
                </c:pt>
                <c:pt idx="6">
                  <c:v>0.8</c:v>
                </c:pt>
                <c:pt idx="7">
                  <c:v>1</c:v>
                </c:pt>
              </c:numCache>
            </c:numRef>
          </c:cat>
          <c:val>
            <c:numRef>
              <c:f>Sheet1!$C$2:$C$9</c:f>
              <c:numCache>
                <c:formatCode>General</c:formatCode>
                <c:ptCount val="8"/>
                <c:pt idx="0">
                  <c:v>0.12</c:v>
                </c:pt>
                <c:pt idx="1">
                  <c:v>0.2</c:v>
                </c:pt>
                <c:pt idx="2">
                  <c:v>0.31</c:v>
                </c:pt>
                <c:pt idx="3">
                  <c:v>0.43</c:v>
                </c:pt>
                <c:pt idx="4">
                  <c:v>0.57</c:v>
                </c:pt>
                <c:pt idx="5">
                  <c:v>0.7</c:v>
                </c:pt>
                <c:pt idx="6">
                  <c:v>0.82</c:v>
                </c:pt>
                <c:pt idx="7">
                  <c:v>0.88</c:v>
                </c:pt>
              </c:numCache>
            </c:numRef>
          </c:val>
          <c:smooth val="1"/>
        </c:ser>
        <c:dLbls>
          <c:showLegendKey val="0"/>
          <c:showVal val="0"/>
          <c:showCatName val="0"/>
          <c:showSerName val="0"/>
          <c:showPercent val="0"/>
          <c:showBubbleSize val="0"/>
        </c:dLbls>
        <c:marker val="0"/>
        <c:smooth val="1"/>
        <c:axId val="2094734554"/>
        <c:axId val="2094734552"/>
      </c:lineChart>
      <c:catAx>
        <c:axId val="2094734554"/>
        <c:scaling>
          <c:orientation val="minMax"/>
        </c:scaling>
        <c:delete val="0"/>
        <c:axPos val="b"/>
        <c:numFmt formatCode="General" sourceLinked="1"/>
        <c:majorTickMark val="none"/>
        <c:minorTickMark val="none"/>
        <c:tickLblPos val="low"/>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1"/>
          <c:min val="0"/>
        </c:scaling>
        <c:delete val="0"/>
        <c:axPos val="l"/>
        <c:majorGridlines>
          <c:spPr>
            <a:ln w="5715" cap="flat" cmpd="sng" algn="ctr">
              <a:solidFill>
                <a:srgbClr val="E2E8F0"/>
              </a:solidFill>
              <a:prstDash val="solid"/>
              <a:round/>
            </a:ln>
          </c:spPr>
        </c:majorGridlines>
        <c:numFmt formatCode="0.0" sourceLinked="0"/>
        <c:majorTickMark val="none"/>
        <c:minorTickMark val="none"/>
        <c:tickLblPos val="nextTo"/>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4"/>
        <c:crosses val="autoZero"/>
        <c:crossBetween val="between"/>
        <c:majorUnit val="0.2"/>
      </c:valAx>
      <c:spPr>
        <a:solidFill>
          <a:srgbClr val="FFFFFF">
            <a:alpha val="0"/>
          </a:srgbClr>
        </a:solidFill>
        <a:ln w="12700" cap="flat">
          <a:solidFill>
            <a:srgbClr val="FFFFFF"/>
          </a:solidFill>
        </a:ln>
        <a:effectLst/>
      </c:spPr>
    </c:plotArea>
    <c:plotVisOnly val="1"/>
    <c:dispBlanksAs val="span"/>
    <c:showDLblsOverMax val="0"/>
    <c:extLst>
      <c:ext uri="{0b15fc19-7d7d-44ad-8c2d-2c3a37ce22c3}">
        <chartProps xmlns="https://web.wps.cn/et/2018/main" chartId="{079bf0cd-9f88-4821-b851-44bac96f5b2a}"/>
      </c:ext>
    </c:extLst>
  </c:chart>
  <c:spPr>
    <a:solidFill>
      <a:srgbClr val="FFFFFF">
        <a:alpha val="0"/>
      </a:srgbClr>
    </a:solidFill>
    <a:ln w="12700" cap="flat">
      <a:solidFill>
        <a:srgbClr val="FFFFFF"/>
      </a:solid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
          <c:y val="0.08"/>
          <c:w val="0.82"/>
          <c:h val="0.78"/>
        </c:manualLayout>
      </c:layout>
      <c:lineChart>
        <c:grouping val="none"/>
        <c:varyColors val="0"/>
        <c:ser>
          <c:idx val="0"/>
          <c:order val="0"/>
          <c:tx>
            <c:strRef>
              <c:f>Sheet1!$B$1</c:f>
              <c:strCache>
                <c:ptCount val="1"/>
                <c:pt idx="0">
                  <c:v>C</c:v>
                </c:pt>
              </c:strCache>
            </c:strRef>
          </c:tx>
          <c:spPr>
            <a:ln w="26035" cap="flat" cmpd="sng" algn="ctr">
              <a:solidFill>
                <a:srgbClr val="16803C"/>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9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Sheet1!$A$2:$A$9</c:f>
              <c:strCache>
                <c:ptCount val="8"/>
                <c:pt idx="0">
                  <c:v>10</c:v>
                </c:pt>
                <c:pt idx="1">
                  <c:v>10²</c:v>
                </c:pt>
                <c:pt idx="2">
                  <c:v>10³</c:v>
                </c:pt>
                <c:pt idx="3">
                  <c:v>10⁴</c:v>
                </c:pt>
                <c:pt idx="4">
                  <c:v>10⁵</c:v>
                </c:pt>
                <c:pt idx="5">
                  <c:v>10⁶</c:v>
                </c:pt>
                <c:pt idx="6">
                  <c:v>10⁷</c:v>
                </c:pt>
                <c:pt idx="7">
                  <c:v>10⁸</c:v>
                </c:pt>
              </c:strCache>
            </c:strRef>
          </c:cat>
          <c:val>
            <c:numRef>
              <c:f>Sheet1!$B$2:$B$9</c:f>
              <c:numCache>
                <c:formatCode>General</c:formatCode>
                <c:ptCount val="8"/>
                <c:pt idx="0">
                  <c:v>0.95</c:v>
                </c:pt>
                <c:pt idx="1">
                  <c:v>0.94</c:v>
                </c:pt>
                <c:pt idx="2">
                  <c:v>0.91</c:v>
                </c:pt>
                <c:pt idx="3">
                  <c:v>0.83</c:v>
                </c:pt>
                <c:pt idx="4">
                  <c:v>0.63</c:v>
                </c:pt>
                <c:pt idx="5">
                  <c:v>0.42</c:v>
                </c:pt>
                <c:pt idx="6">
                  <c:v>0.31</c:v>
                </c:pt>
                <c:pt idx="7">
                  <c:v>0.28</c:v>
                </c:pt>
              </c:numCache>
            </c:numRef>
          </c:val>
          <c:smooth val="1"/>
        </c:ser>
        <c:ser>
          <c:idx val="1"/>
          <c:order val="1"/>
          <c:tx>
            <c:strRef>
              <c:f>Sheet1!$C$1</c:f>
              <c:strCache>
                <c:ptCount val="1"/>
                <c:pt idx="0">
                  <c:v>G</c:v>
                </c:pt>
              </c:strCache>
            </c:strRef>
          </c:tx>
          <c:spPr>
            <a:ln w="26035" cap="flat" cmpd="sng" algn="ctr">
              <a:solidFill>
                <a:srgbClr val="A16207"/>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9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Sheet1!$A$2:$A$9</c:f>
              <c:strCache>
                <c:ptCount val="8"/>
                <c:pt idx="0">
                  <c:v>10</c:v>
                </c:pt>
                <c:pt idx="1">
                  <c:v>10²</c:v>
                </c:pt>
                <c:pt idx="2">
                  <c:v>10³</c:v>
                </c:pt>
                <c:pt idx="3">
                  <c:v>10⁴</c:v>
                </c:pt>
                <c:pt idx="4">
                  <c:v>10⁵</c:v>
                </c:pt>
                <c:pt idx="5">
                  <c:v>10⁶</c:v>
                </c:pt>
                <c:pt idx="6">
                  <c:v>10⁷</c:v>
                </c:pt>
                <c:pt idx="7">
                  <c:v>10⁸</c:v>
                </c:pt>
              </c:strCache>
            </c:strRef>
          </c:cat>
          <c:val>
            <c:numRef>
              <c:f>Sheet1!$C$2:$C$9</c:f>
              <c:numCache>
                <c:formatCode>General</c:formatCode>
                <c:ptCount val="8"/>
                <c:pt idx="0">
                  <c:v>0.12</c:v>
                </c:pt>
                <c:pt idx="1">
                  <c:v>0.17</c:v>
                </c:pt>
                <c:pt idx="2">
                  <c:v>0.29</c:v>
                </c:pt>
                <c:pt idx="3">
                  <c:v>0.56</c:v>
                </c:pt>
                <c:pt idx="4">
                  <c:v>0.82</c:v>
                </c:pt>
                <c:pt idx="5">
                  <c:v>0.63</c:v>
                </c:pt>
                <c:pt idx="6">
                  <c:v>0.34</c:v>
                </c:pt>
                <c:pt idx="7">
                  <c:v>0.16</c:v>
                </c:pt>
              </c:numCache>
            </c:numRef>
          </c:val>
          <c:smooth val="1"/>
        </c:ser>
        <c:dLbls>
          <c:showLegendKey val="0"/>
          <c:showVal val="0"/>
          <c:showCatName val="0"/>
          <c:showSerName val="0"/>
          <c:showPercent val="0"/>
          <c:showBubbleSize val="0"/>
        </c:dLbls>
        <c:marker val="0"/>
        <c:smooth val="1"/>
        <c:axId val="2094734554"/>
        <c:axId val="2094734552"/>
      </c:lineChart>
      <c:catAx>
        <c:axId val="2094734554"/>
        <c:scaling>
          <c:orientation val="minMax"/>
        </c:scaling>
        <c:delete val="0"/>
        <c:axPos val="b"/>
        <c:numFmt formatCode="General" sourceLinked="1"/>
        <c:majorTickMark val="none"/>
        <c:minorTickMark val="none"/>
        <c:tickLblPos val="low"/>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1"/>
          <c:min val="0"/>
        </c:scaling>
        <c:delete val="0"/>
        <c:axPos val="l"/>
        <c:majorGridlines>
          <c:spPr>
            <a:ln w="5715" cap="flat" cmpd="sng" algn="ctr">
              <a:solidFill>
                <a:srgbClr val="E2E8F0"/>
              </a:solidFill>
              <a:prstDash val="solid"/>
              <a:round/>
            </a:ln>
          </c:spPr>
        </c:majorGridlines>
        <c:numFmt formatCode="0.0" sourceLinked="0"/>
        <c:majorTickMark val="none"/>
        <c:minorTickMark val="none"/>
        <c:tickLblPos val="nextTo"/>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4"/>
        <c:crosses val="autoZero"/>
        <c:crossBetween val="between"/>
        <c:majorUnit val="0.2"/>
      </c:valAx>
      <c:spPr>
        <a:solidFill>
          <a:srgbClr val="FFFFFF">
            <a:alpha val="0"/>
          </a:srgbClr>
        </a:solidFill>
        <a:ln w="12700" cap="flat">
          <a:solidFill>
            <a:srgbClr val="FFFFFF"/>
          </a:solidFill>
        </a:ln>
        <a:effectLst/>
      </c:spPr>
    </c:plotArea>
    <c:plotVisOnly val="1"/>
    <c:dispBlanksAs val="span"/>
    <c:showDLblsOverMax val="0"/>
    <c:extLst>
      <c:ext uri="{0b15fc19-7d7d-44ad-8c2d-2c3a37ce22c3}">
        <chartProps xmlns="https://web.wps.cn/et/2018/main" chartId="{d3f68afe-cbf6-43a3-b210-1ebd0cf5d73f}"/>
      </c:ext>
    </c:extLst>
  </c:chart>
  <c:spPr>
    <a:solidFill>
      <a:srgbClr val="FFFFFF">
        <a:alpha val="0"/>
      </a:srgbClr>
    </a:solidFill>
    <a:ln w="12700" cap="flat">
      <a:solidFill>
        <a:srgbClr val="FFFFFF"/>
      </a:solid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
          <c:y val="0.08"/>
          <c:w val="0.82"/>
          <c:h val="0.78"/>
        </c:manualLayout>
      </c:layout>
      <c:lineChart>
        <c:grouping val="none"/>
        <c:varyColors val="0"/>
        <c:ser>
          <c:idx val="0"/>
          <c:order val="0"/>
          <c:tx>
            <c:strRef>
              <c:f>Sheet1!$B$1</c:f>
              <c:strCache>
                <c:ptCount val="1"/>
                <c:pt idx="0">
                  <c:v>QE</c:v>
                </c:pt>
              </c:strCache>
            </c:strRef>
          </c:tx>
          <c:spPr>
            <a:ln w="26035" cap="flat" cmpd="sng" algn="ctr">
              <a:solidFill>
                <a:srgbClr val="6D28D9"/>
              </a:solidFill>
              <a:prstDash val="solid"/>
              <a:round/>
            </a:ln>
            <a:effectLst/>
          </c:spPr>
          <c:marker>
            <c:symbol val="none"/>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9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Sheet1!$A$2:$A$10</c:f>
              <c:numCache>
                <c:formatCode>General</c:formatCode>
                <c:ptCount val="9"/>
                <c:pt idx="0">
                  <c:v>300</c:v>
                </c:pt>
                <c:pt idx="1">
                  <c:v>400</c:v>
                </c:pt>
                <c:pt idx="2">
                  <c:v>500</c:v>
                </c:pt>
                <c:pt idx="3">
                  <c:v>600</c:v>
                </c:pt>
                <c:pt idx="4">
                  <c:v>700</c:v>
                </c:pt>
                <c:pt idx="5">
                  <c:v>800</c:v>
                </c:pt>
                <c:pt idx="6">
                  <c:v>850</c:v>
                </c:pt>
                <c:pt idx="7">
                  <c:v>900</c:v>
                </c:pt>
                <c:pt idx="8">
                  <c:v>950</c:v>
                </c:pt>
              </c:numCache>
            </c:numRef>
          </c:cat>
          <c:val>
            <c:numRef>
              <c:f>Sheet1!$B$2:$B$10</c:f>
              <c:numCache>
                <c:formatCode>General</c:formatCode>
                <c:ptCount val="9"/>
                <c:pt idx="0">
                  <c:v>4</c:v>
                </c:pt>
                <c:pt idx="1">
                  <c:v>35</c:v>
                </c:pt>
                <c:pt idx="2">
                  <c:v>70</c:v>
                </c:pt>
                <c:pt idx="3">
                  <c:v>86</c:v>
                </c:pt>
                <c:pt idx="4">
                  <c:v>88</c:v>
                </c:pt>
                <c:pt idx="5">
                  <c:v>82</c:v>
                </c:pt>
                <c:pt idx="6">
                  <c:v>62</c:v>
                </c:pt>
                <c:pt idx="7">
                  <c:v>20</c:v>
                </c:pt>
                <c:pt idx="8">
                  <c:v>2</c:v>
                </c:pt>
              </c:numCache>
            </c:numRef>
          </c:val>
          <c:smooth val="1"/>
        </c:ser>
        <c:dLbls>
          <c:showLegendKey val="0"/>
          <c:showVal val="0"/>
          <c:showCatName val="0"/>
          <c:showSerName val="0"/>
          <c:showPercent val="0"/>
          <c:showBubbleSize val="0"/>
        </c:dLbls>
        <c:marker val="0"/>
        <c:smooth val="1"/>
        <c:axId val="2094734554"/>
        <c:axId val="2094734552"/>
      </c:lineChart>
      <c:catAx>
        <c:axId val="2094734554"/>
        <c:scaling>
          <c:orientation val="minMax"/>
        </c:scaling>
        <c:delete val="0"/>
        <c:axPos val="b"/>
        <c:numFmt formatCode="General" sourceLinked="1"/>
        <c:majorTickMark val="none"/>
        <c:minorTickMark val="none"/>
        <c:tickLblPos val="low"/>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2"/>
        <c:crosses val="autoZero"/>
        <c:auto val="1"/>
        <c:lblAlgn val="ctr"/>
        <c:lblOffset val="100"/>
        <c:noMultiLvlLbl val="1"/>
      </c:catAx>
      <c:valAx>
        <c:axId val="2094734552"/>
        <c:scaling>
          <c:orientation val="minMax"/>
          <c:max val="100"/>
          <c:min val="0"/>
        </c:scaling>
        <c:delete val="0"/>
        <c:axPos val="l"/>
        <c:majorGridlines>
          <c:spPr>
            <a:ln w="5715" cap="flat" cmpd="sng" algn="ctr">
              <a:solidFill>
                <a:srgbClr val="E2E8F0"/>
              </a:solidFill>
              <a:prstDash val="solid"/>
              <a:round/>
            </a:ln>
          </c:spPr>
        </c:majorGridlines>
        <c:numFmt formatCode="0" sourceLinked="0"/>
        <c:majorTickMark val="none"/>
        <c:minorTickMark val="none"/>
        <c:tickLblPos val="nextTo"/>
        <c:spPr>
          <a:ln w="7620" cap="flat" cmpd="sng" algn="ctr">
            <a:solidFill>
              <a:srgbClr val="334155"/>
            </a:solidFill>
            <a:prstDash val="solid"/>
            <a:round/>
          </a:ln>
        </c:spPr>
        <c:txPr>
          <a:bodyPr rot="-60000000" spcFirstLastPara="0" vertOverflow="ellipsis" vert="horz" wrap="square" anchor="ctr" anchorCtr="1"/>
          <a:lstStyle/>
          <a:p>
            <a:pPr>
              <a:defRPr lang="zh-CN" sz="540" b="0" i="0" u="none" strike="noStrike" kern="1200" baseline="0">
                <a:solidFill>
                  <a:srgbClr val="64748B"/>
                </a:solidFill>
                <a:latin typeface="Arial" panose="020B0604020202090204"/>
                <a:ea typeface="+mn-ea"/>
                <a:cs typeface="+mn-cs"/>
              </a:defRPr>
            </a:pPr>
          </a:p>
        </c:txPr>
        <c:crossAx val="2094734554"/>
        <c:crosses val="autoZero"/>
        <c:crossBetween val="between"/>
        <c:majorUnit val="20"/>
      </c:valAx>
      <c:spPr>
        <a:solidFill>
          <a:srgbClr val="FFFFFF">
            <a:alpha val="0"/>
          </a:srgbClr>
        </a:solidFill>
        <a:ln w="12700" cap="flat">
          <a:solidFill>
            <a:srgbClr val="FFFFFF"/>
          </a:solidFill>
        </a:ln>
        <a:effectLst/>
      </c:spPr>
    </c:plotArea>
    <c:plotVisOnly val="1"/>
    <c:dispBlanksAs val="span"/>
    <c:showDLblsOverMax val="0"/>
    <c:extLst>
      <c:ext uri="{0b15fc19-7d7d-44ad-8c2d-2c3a37ce22c3}">
        <chartProps xmlns="https://web.wps.cn/et/2018/main" chartId="{88939837-0120-449b-8bbb-62f942e54adb}"/>
      </c:ext>
    </c:extLst>
  </c:chart>
  <c:spPr>
    <a:solidFill>
      <a:srgbClr val="FFFFFF">
        <a:alpha val="0"/>
      </a:srgbClr>
    </a:solidFill>
    <a:ln w="12700" cap="flat">
      <a:solidFill>
        <a:srgbClr val="FFFFFF"/>
      </a:solid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narration:
This slide summarizes the four main SCAPS-1D output modules. I-V/J-V gives terminal photovoltaic performance and dark diode behavior. C-V, usually shown with the Mott-Schottky 1/C^2 plot, extracts built-in voltage and apparent doping under depletion assumptions. C-f/admittance spectroscopy probes frequency-dependent capacitance and conductance, which are often linked to traps, ionic motion, and interfacial charging. QE is the spectral collection response versus wavelength or photon energy and can be integrated to cross-check Jsc. Internal profiles such as band diagrams and recombination profiles are still important diagnostic outputs, but they should be presented separately from these four main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38912" y="201168"/>
            <a:ext cx="7086600" cy="310896"/>
          </a:xfrm>
          <a:prstGeom prst="rect">
            <a:avLst/>
          </a:prstGeom>
          <a:noFill/>
        </p:spPr>
        <p:txBody>
          <a:bodyPr wrap="square" lIns="0" tIns="0" rIns="0" bIns="0" rtlCol="0" anchor="t">
            <a:normAutofit/>
          </a:bodyPr>
          <a:lstStyle/>
          <a:p>
            <a:pPr marL="0" indent="0" algn="l">
              <a:buNone/>
            </a:pPr>
            <a:r>
              <a:rPr lang="en-US" sz="2100" b="1" dirty="0">
                <a:solidFill>
                  <a:srgbClr val="162033"/>
                </a:solidFill>
                <a:latin typeface="Arial" panose="020B0604020202090204" pitchFamily="34" charset="0"/>
                <a:ea typeface="Arial" panose="020B0604020202090204" pitchFamily="34" charset="-122"/>
                <a:cs typeface="Arial" panose="020B0604020202090204" pitchFamily="34" charset="-120"/>
              </a:rPr>
              <a:t>SCAPS-1D Main Output Modules</a:t>
            </a:r>
            <a:endParaRPr lang="en-US" sz="2100" dirty="0"/>
          </a:p>
        </p:txBody>
      </p:sp>
      <p:sp>
        <p:nvSpPr>
          <p:cNvPr id="3" name="Text 1"/>
          <p:cNvSpPr/>
          <p:nvPr/>
        </p:nvSpPr>
        <p:spPr>
          <a:xfrm>
            <a:off x="457200" y="630936"/>
            <a:ext cx="10927080" cy="201168"/>
          </a:xfrm>
          <a:prstGeom prst="rect">
            <a:avLst/>
          </a:prstGeom>
          <a:noFill/>
        </p:spPr>
        <p:txBody>
          <a:bodyPr wrap="square" lIns="0" tIns="0" rIns="0" bIns="0" rtlCol="0" anchor="t">
            <a:normAutofit/>
          </a:bodyPr>
          <a:lstStyle/>
          <a:p>
            <a:pPr marL="0" indent="0" algn="l">
              <a:buNone/>
            </a:pPr>
            <a:r>
              <a:rPr lang="en-US" sz="1030" dirty="0">
                <a:solidFill>
                  <a:srgbClr val="334155"/>
                </a:solidFill>
                <a:latin typeface="Arial" panose="020B0604020202090204" pitchFamily="34" charset="0"/>
                <a:ea typeface="Arial" panose="020B0604020202090204" pitchFamily="34" charset="-122"/>
                <a:cs typeface="Arial" panose="020B0604020202090204" pitchFamily="34" charset="-120"/>
              </a:rPr>
              <a:t>Four primary characterization outputs used to evaluate solar-cell performance, junction electrostatics, defect response, and spectral collection.</a:t>
            </a:r>
            <a:endParaRPr lang="en-US" sz="1030" dirty="0"/>
          </a:p>
        </p:txBody>
      </p:sp>
      <p:sp>
        <p:nvSpPr>
          <p:cNvPr id="4" name="Shape 2"/>
          <p:cNvSpPr/>
          <p:nvPr/>
        </p:nvSpPr>
        <p:spPr>
          <a:xfrm>
            <a:off x="10552176" y="265176"/>
            <a:ext cx="749808" cy="219456"/>
          </a:xfrm>
          <a:prstGeom prst="roundRect">
            <a:avLst>
              <a:gd name="adj" fmla="val 25000"/>
            </a:avLst>
          </a:prstGeom>
          <a:solidFill>
            <a:srgbClr val="DBEAFE"/>
          </a:solidFill>
          <a:ln w="12700">
            <a:solidFill>
              <a:srgbClr val="2563EB"/>
            </a:solidFill>
            <a:prstDash val="solid"/>
          </a:ln>
        </p:spPr>
      </p:sp>
      <p:sp>
        <p:nvSpPr>
          <p:cNvPr id="5" name="Text 3"/>
          <p:cNvSpPr/>
          <p:nvPr/>
        </p:nvSpPr>
        <p:spPr>
          <a:xfrm>
            <a:off x="10597896" y="312725"/>
            <a:ext cx="658368" cy="91440"/>
          </a:xfrm>
          <a:prstGeom prst="rect">
            <a:avLst/>
          </a:prstGeom>
          <a:noFill/>
        </p:spPr>
        <p:txBody>
          <a:bodyPr wrap="square" lIns="0" tIns="0" rIns="0" bIns="0" rtlCol="0" anchor="t">
            <a:normAutofit/>
          </a:bodyPr>
          <a:lstStyle/>
          <a:p>
            <a:pPr marL="0" indent="0" algn="ctr">
              <a:buNone/>
            </a:pPr>
            <a:r>
              <a:rPr lang="en-US" sz="660" b="1" dirty="0">
                <a:solidFill>
                  <a:srgbClr val="2563EB"/>
                </a:solidFill>
                <a:latin typeface="Arial" panose="020B0604020202090204" pitchFamily="34" charset="0"/>
                <a:ea typeface="Arial" panose="020B0604020202090204" pitchFamily="34" charset="-122"/>
                <a:cs typeface="Arial" panose="020B0604020202090204" pitchFamily="34" charset="-120"/>
              </a:rPr>
              <a:t>editable</a:t>
            </a:r>
            <a:endParaRPr lang="en-US" sz="660" dirty="0"/>
          </a:p>
        </p:txBody>
      </p:sp>
      <p:sp>
        <p:nvSpPr>
          <p:cNvPr id="6" name="Shape 4"/>
          <p:cNvSpPr/>
          <p:nvPr/>
        </p:nvSpPr>
        <p:spPr>
          <a:xfrm>
            <a:off x="11356848" y="265176"/>
            <a:ext cx="676656" cy="219456"/>
          </a:xfrm>
          <a:prstGeom prst="roundRect">
            <a:avLst>
              <a:gd name="adj" fmla="val 25000"/>
            </a:avLst>
          </a:prstGeom>
          <a:solidFill>
            <a:srgbClr val="EEF2F7"/>
          </a:solidFill>
          <a:ln w="12700">
            <a:solidFill>
              <a:srgbClr val="334155"/>
            </a:solidFill>
            <a:prstDash val="solid"/>
          </a:ln>
        </p:spPr>
      </p:sp>
      <p:sp>
        <p:nvSpPr>
          <p:cNvPr id="7" name="Text 5"/>
          <p:cNvSpPr/>
          <p:nvPr/>
        </p:nvSpPr>
        <p:spPr>
          <a:xfrm>
            <a:off x="11402568" y="312725"/>
            <a:ext cx="585216" cy="91440"/>
          </a:xfrm>
          <a:prstGeom prst="rect">
            <a:avLst/>
          </a:prstGeom>
          <a:noFill/>
        </p:spPr>
        <p:txBody>
          <a:bodyPr wrap="square" lIns="0" tIns="0" rIns="0" bIns="0" rtlCol="0" anchor="t">
            <a:normAutofit/>
          </a:bodyPr>
          <a:lstStyle/>
          <a:p>
            <a:pPr marL="0" indent="0" algn="ctr">
              <a:buNone/>
            </a:pPr>
            <a:r>
              <a:rPr lang="en-US" sz="630" b="1" dirty="0">
                <a:solidFill>
                  <a:srgbClr val="334155"/>
                </a:solidFill>
                <a:latin typeface="Arial" panose="020B0604020202090204" pitchFamily="34" charset="0"/>
                <a:ea typeface="Arial" panose="020B0604020202090204" pitchFamily="34" charset="-122"/>
                <a:cs typeface="Arial" panose="020B0604020202090204" pitchFamily="34" charset="-120"/>
              </a:rPr>
              <a:t>SCAPS-1D</a:t>
            </a:r>
            <a:endParaRPr lang="en-US" sz="630" dirty="0"/>
          </a:p>
        </p:txBody>
      </p:sp>
      <p:grpSp>
        <p:nvGrpSpPr>
          <p:cNvPr id="107" name="组合 106"/>
          <p:cNvGrpSpPr/>
          <p:nvPr/>
        </p:nvGrpSpPr>
        <p:grpSpPr>
          <a:xfrm>
            <a:off x="457200" y="1005840"/>
            <a:ext cx="11283950" cy="4946650"/>
            <a:chOff x="720" y="1584"/>
            <a:chExt cx="17770" cy="7790"/>
          </a:xfrm>
        </p:grpSpPr>
        <p:sp>
          <p:nvSpPr>
            <p:cNvPr id="8" name="Shape 6"/>
            <p:cNvSpPr/>
            <p:nvPr/>
          </p:nvSpPr>
          <p:spPr>
            <a:xfrm>
              <a:off x="720" y="1584"/>
              <a:ext cx="8640" cy="3672"/>
            </a:xfrm>
            <a:prstGeom prst="roundRect">
              <a:avLst>
                <a:gd name="adj" fmla="val 3137"/>
              </a:avLst>
            </a:prstGeom>
            <a:solidFill>
              <a:srgbClr val="FFFFFF"/>
            </a:solidFill>
            <a:ln w="12700">
              <a:solidFill>
                <a:srgbClr val="CBD5E1"/>
              </a:solidFill>
              <a:prstDash val="solid"/>
            </a:ln>
          </p:spPr>
        </p:sp>
        <p:sp>
          <p:nvSpPr>
            <p:cNvPr id="9" name="Shape 7"/>
            <p:cNvSpPr/>
            <p:nvPr/>
          </p:nvSpPr>
          <p:spPr>
            <a:xfrm>
              <a:off x="720" y="1584"/>
              <a:ext cx="115" cy="3672"/>
            </a:xfrm>
            <a:prstGeom prst="rect">
              <a:avLst/>
            </a:prstGeom>
            <a:solidFill>
              <a:srgbClr val="B42318"/>
            </a:solidFill>
            <a:ln w="12700">
              <a:solidFill>
                <a:srgbClr val="B42318">
                  <a:alpha val="0"/>
                </a:srgbClr>
              </a:solidFill>
              <a:prstDash val="solid"/>
            </a:ln>
          </p:spPr>
        </p:sp>
        <p:sp>
          <p:nvSpPr>
            <p:cNvPr id="10" name="Shape 8"/>
            <p:cNvSpPr/>
            <p:nvPr/>
          </p:nvSpPr>
          <p:spPr>
            <a:xfrm>
              <a:off x="979" y="1800"/>
              <a:ext cx="547" cy="346"/>
            </a:xfrm>
            <a:prstGeom prst="roundRect">
              <a:avLst>
                <a:gd name="adj" fmla="val 25000"/>
              </a:avLst>
            </a:prstGeom>
            <a:solidFill>
              <a:srgbClr val="FEE4E2"/>
            </a:solidFill>
            <a:ln w="12700">
              <a:solidFill>
                <a:srgbClr val="B42318"/>
              </a:solidFill>
              <a:prstDash val="solid"/>
            </a:ln>
          </p:spPr>
        </p:sp>
        <p:sp>
          <p:nvSpPr>
            <p:cNvPr id="11" name="Text 9"/>
            <p:cNvSpPr/>
            <p:nvPr/>
          </p:nvSpPr>
          <p:spPr>
            <a:xfrm>
              <a:off x="1051" y="1875"/>
              <a:ext cx="403" cy="144"/>
            </a:xfrm>
            <a:prstGeom prst="rect">
              <a:avLst/>
            </a:prstGeom>
            <a:noFill/>
          </p:spPr>
          <p:txBody>
            <a:bodyPr wrap="square" lIns="0" tIns="0" rIns="0" bIns="0" rtlCol="0" anchor="t">
              <a:normAutofit/>
            </a:bodyPr>
            <a:lstStyle/>
            <a:p>
              <a:pPr marL="0" indent="0" algn="ctr">
                <a:buNone/>
              </a:pPr>
              <a:r>
                <a:rPr lang="en-US" sz="660" b="1" dirty="0">
                  <a:solidFill>
                    <a:srgbClr val="B42318"/>
                  </a:solidFill>
                  <a:latin typeface="Arial" panose="020B0604020202090204" pitchFamily="34" charset="0"/>
                  <a:ea typeface="Arial" panose="020B0604020202090204" pitchFamily="34" charset="-122"/>
                  <a:cs typeface="Arial" panose="020B0604020202090204" pitchFamily="34" charset="-120"/>
                </a:rPr>
                <a:t>A</a:t>
              </a:r>
              <a:endParaRPr lang="en-US" sz="660" dirty="0"/>
            </a:p>
          </p:txBody>
        </p:sp>
        <p:sp>
          <p:nvSpPr>
            <p:cNvPr id="12" name="Text 10"/>
            <p:cNvSpPr/>
            <p:nvPr/>
          </p:nvSpPr>
          <p:spPr>
            <a:xfrm>
              <a:off x="1670" y="1814"/>
              <a:ext cx="7402" cy="288"/>
            </a:xfrm>
            <a:prstGeom prst="rect">
              <a:avLst/>
            </a:prstGeom>
            <a:noFill/>
          </p:spPr>
          <p:txBody>
            <a:bodyPr wrap="square" lIns="0" tIns="0" rIns="0" bIns="0" rtlCol="0" anchor="t">
              <a:normAutofit/>
            </a:bodyPr>
            <a:lstStyle/>
            <a:p>
              <a:pPr marL="0" indent="0" algn="l">
                <a:buNone/>
              </a:pPr>
              <a:r>
                <a:rPr lang="en-US" sz="1000" b="1" dirty="0">
                  <a:solidFill>
                    <a:srgbClr val="334155"/>
                  </a:solidFill>
                  <a:latin typeface="Arial" panose="020B0604020202090204" pitchFamily="34" charset="0"/>
                  <a:ea typeface="Arial" panose="020B0604020202090204" pitchFamily="34" charset="-122"/>
                  <a:cs typeface="Arial" panose="020B0604020202090204" pitchFamily="34" charset="-120"/>
                </a:rPr>
                <a:t>I-V / J-V characteristics</a:t>
              </a:r>
              <a:endParaRPr lang="en-US" sz="1000" dirty="0"/>
            </a:p>
          </p:txBody>
        </p:sp>
        <p:graphicFrame>
          <p:nvGraphicFramePr>
            <p:cNvPr id="13" name="Chart 0"/>
            <p:cNvGraphicFramePr/>
            <p:nvPr/>
          </p:nvGraphicFramePr>
          <p:xfrm>
            <a:off x="1066" y="2419"/>
            <a:ext cx="4464" cy="2462"/>
          </p:xfrm>
          <a:graphic>
            <a:graphicData uri="http://schemas.openxmlformats.org/drawingml/2006/chart">
              <c:chart xmlns:c="http://schemas.openxmlformats.org/drawingml/2006/chart" xmlns:r="http://schemas.openxmlformats.org/officeDocument/2006/relationships" r:id="rId1"/>
            </a:graphicData>
          </a:graphic>
        </p:graphicFrame>
        <p:sp>
          <p:nvSpPr>
            <p:cNvPr id="14" name="Text 11"/>
            <p:cNvSpPr/>
            <p:nvPr/>
          </p:nvSpPr>
          <p:spPr>
            <a:xfrm>
              <a:off x="2592" y="4766"/>
              <a:ext cx="1238" cy="173"/>
            </a:xfrm>
            <a:prstGeom prst="rect">
              <a:avLst/>
            </a:prstGeom>
            <a:noFill/>
          </p:spPr>
          <p:txBody>
            <a:bodyPr wrap="square" lIns="0" tIns="0" rIns="0" bIns="0" rtlCol="0" anchor="t">
              <a:normAutofit/>
            </a:bodyPr>
            <a:lstStyle/>
            <a:p>
              <a:pPr marL="0" indent="0" algn="ctr">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Voltage </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V</a:t>
              </a: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 (V)</a:t>
              </a:r>
              <a:endParaRPr lang="en-US" sz="610" dirty="0"/>
            </a:p>
          </p:txBody>
        </p:sp>
        <p:sp>
          <p:nvSpPr>
            <p:cNvPr id="15" name="Text 12"/>
            <p:cNvSpPr/>
            <p:nvPr/>
          </p:nvSpPr>
          <p:spPr>
            <a:xfrm>
              <a:off x="1022" y="2390"/>
              <a:ext cx="2016" cy="173"/>
            </a:xfrm>
            <a:prstGeom prst="rect">
              <a:avLst/>
            </a:prstGeom>
            <a:noFill/>
          </p:spPr>
          <p:txBody>
            <a:bodyPr wrap="square" lIns="0" tIns="0" rIns="0" bIns="0" rtlCol="0" anchor="t">
              <a:normAutofit/>
            </a:bodyPr>
            <a:lstStyle/>
            <a:p>
              <a:pPr marL="0" indent="0" algn="l">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Current density </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J</a:t>
              </a: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 (mA cm</a:t>
              </a:r>
              <a:r>
                <a:rPr lang="en-US" sz="610" baseline="30000" dirty="0">
                  <a:solidFill>
                    <a:srgbClr val="64748B"/>
                  </a:solidFill>
                  <a:latin typeface="Arial" panose="020B0604020202090204" pitchFamily="34" charset="0"/>
                  <a:ea typeface="Arial" panose="020B0604020202090204" pitchFamily="34" charset="-122"/>
                  <a:cs typeface="Arial" panose="020B0604020202090204" pitchFamily="34" charset="-120"/>
                </a:rPr>
                <a:t>−2</a:t>
              </a: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a:t>
              </a:r>
              <a:endParaRPr lang="en-US" sz="610" dirty="0"/>
            </a:p>
          </p:txBody>
        </p:sp>
        <p:sp>
          <p:nvSpPr>
            <p:cNvPr id="16" name="Shape 13"/>
            <p:cNvSpPr/>
            <p:nvPr/>
          </p:nvSpPr>
          <p:spPr>
            <a:xfrm>
              <a:off x="5933" y="2419"/>
              <a:ext cx="1296" cy="446"/>
            </a:xfrm>
            <a:prstGeom prst="roundRect">
              <a:avLst>
                <a:gd name="adj" fmla="val 12903"/>
              </a:avLst>
            </a:prstGeom>
            <a:solidFill>
              <a:srgbClr val="F8FAFC"/>
            </a:solidFill>
            <a:ln w="12700">
              <a:solidFill>
                <a:srgbClr val="CBD5E1"/>
              </a:solidFill>
              <a:prstDash val="solid"/>
            </a:ln>
          </p:spPr>
        </p:sp>
        <p:sp>
          <p:nvSpPr>
            <p:cNvPr id="17" name="Text 14"/>
            <p:cNvSpPr/>
            <p:nvPr/>
          </p:nvSpPr>
          <p:spPr>
            <a:xfrm>
              <a:off x="6019" y="2485"/>
              <a:ext cx="490" cy="144"/>
            </a:xfrm>
            <a:prstGeom prst="rect">
              <a:avLst/>
            </a:prstGeom>
            <a:noFill/>
          </p:spPr>
          <p:txBody>
            <a:bodyPr wrap="square" lIns="0" tIns="0" rIns="0" bIns="0" rtlCol="0" anchor="t">
              <a:normAutofit/>
            </a:bodyPr>
            <a:lstStyle/>
            <a:p>
              <a:pPr marL="0" indent="0" algn="l">
                <a:buNone/>
              </a:pPr>
              <a:r>
                <a:rPr lang="en-US" sz="580" i="1" dirty="0">
                  <a:solidFill>
                    <a:srgbClr val="64748B"/>
                  </a:solidFill>
                  <a:latin typeface="Arial" panose="020B0604020202090204" pitchFamily="34" charset="0"/>
                  <a:ea typeface="Arial" panose="020B0604020202090204" pitchFamily="34" charset="-122"/>
                  <a:cs typeface="Arial" panose="020B0604020202090204" pitchFamily="34" charset="-120"/>
                </a:rPr>
                <a:t>V</a:t>
              </a:r>
              <a:r>
                <a:rPr lang="en-US" sz="580" baseline="-40000" dirty="0">
                  <a:solidFill>
                    <a:srgbClr val="64748B"/>
                  </a:solidFill>
                  <a:latin typeface="Arial" panose="020B0604020202090204" pitchFamily="34" charset="0"/>
                  <a:ea typeface="Arial" panose="020B0604020202090204" pitchFamily="34" charset="-122"/>
                  <a:cs typeface="Arial" panose="020B0604020202090204" pitchFamily="34" charset="-120"/>
                </a:rPr>
                <a:t>oc</a:t>
              </a:r>
              <a:endParaRPr lang="en-US" sz="580" dirty="0"/>
            </a:p>
          </p:txBody>
        </p:sp>
        <p:sp>
          <p:nvSpPr>
            <p:cNvPr id="18" name="Text 15"/>
            <p:cNvSpPr/>
            <p:nvPr/>
          </p:nvSpPr>
          <p:spPr>
            <a:xfrm>
              <a:off x="6509" y="2481"/>
              <a:ext cx="619" cy="158"/>
            </a:xfrm>
            <a:prstGeom prst="rect">
              <a:avLst/>
            </a:prstGeom>
            <a:noFill/>
          </p:spPr>
          <p:txBody>
            <a:bodyPr wrap="square" lIns="0" tIns="0" rIns="0" bIns="0" rtlCol="0" anchor="t">
              <a:normAutofit/>
            </a:bodyPr>
            <a:lstStyle/>
            <a:p>
              <a:pPr marL="0" indent="0" algn="r">
                <a:buNone/>
              </a:pPr>
              <a:r>
                <a:rPr lang="en-US" sz="640" b="1" dirty="0">
                  <a:solidFill>
                    <a:srgbClr val="B42318"/>
                  </a:solidFill>
                  <a:latin typeface="Arial" panose="020B0604020202090204" pitchFamily="34" charset="0"/>
                  <a:ea typeface="Arial" panose="020B0604020202090204" pitchFamily="34" charset="-122"/>
                  <a:cs typeface="Arial" panose="020B0604020202090204" pitchFamily="34" charset="-120"/>
                </a:rPr>
                <a:t>1.15 V</a:t>
              </a:r>
              <a:endParaRPr lang="en-US" sz="640" dirty="0"/>
            </a:p>
          </p:txBody>
        </p:sp>
        <p:sp>
          <p:nvSpPr>
            <p:cNvPr id="19" name="Shape 16"/>
            <p:cNvSpPr/>
            <p:nvPr/>
          </p:nvSpPr>
          <p:spPr>
            <a:xfrm>
              <a:off x="7387" y="2419"/>
              <a:ext cx="1296" cy="446"/>
            </a:xfrm>
            <a:prstGeom prst="roundRect">
              <a:avLst>
                <a:gd name="adj" fmla="val 12903"/>
              </a:avLst>
            </a:prstGeom>
            <a:solidFill>
              <a:srgbClr val="F8FAFC"/>
            </a:solidFill>
            <a:ln w="12700">
              <a:solidFill>
                <a:srgbClr val="CBD5E1"/>
              </a:solidFill>
              <a:prstDash val="solid"/>
            </a:ln>
          </p:spPr>
        </p:sp>
        <p:sp>
          <p:nvSpPr>
            <p:cNvPr id="20" name="Text 17"/>
            <p:cNvSpPr/>
            <p:nvPr/>
          </p:nvSpPr>
          <p:spPr>
            <a:xfrm>
              <a:off x="7474" y="2485"/>
              <a:ext cx="490" cy="144"/>
            </a:xfrm>
            <a:prstGeom prst="rect">
              <a:avLst/>
            </a:prstGeom>
            <a:noFill/>
          </p:spPr>
          <p:txBody>
            <a:bodyPr wrap="square" lIns="0" tIns="0" rIns="0" bIns="0" rtlCol="0" anchor="t">
              <a:normAutofit/>
            </a:bodyPr>
            <a:lstStyle/>
            <a:p>
              <a:pPr marL="0" indent="0" algn="l">
                <a:buNone/>
              </a:pPr>
              <a:r>
                <a:rPr lang="en-US" sz="580" i="1" dirty="0">
                  <a:solidFill>
                    <a:srgbClr val="64748B"/>
                  </a:solidFill>
                  <a:latin typeface="Arial" panose="020B0604020202090204" pitchFamily="34" charset="0"/>
                  <a:ea typeface="Arial" panose="020B0604020202090204" pitchFamily="34" charset="-122"/>
                  <a:cs typeface="Arial" panose="020B0604020202090204" pitchFamily="34" charset="-120"/>
                </a:rPr>
                <a:t>J</a:t>
              </a:r>
              <a:r>
                <a:rPr lang="en-US" sz="580" baseline="-40000" dirty="0">
                  <a:solidFill>
                    <a:srgbClr val="64748B"/>
                  </a:solidFill>
                  <a:latin typeface="Arial" panose="020B0604020202090204" pitchFamily="34" charset="0"/>
                  <a:ea typeface="Arial" panose="020B0604020202090204" pitchFamily="34" charset="-122"/>
                  <a:cs typeface="Arial" panose="020B0604020202090204" pitchFamily="34" charset="-120"/>
                </a:rPr>
                <a:t>sc</a:t>
              </a:r>
              <a:endParaRPr lang="en-US" sz="580" dirty="0"/>
            </a:p>
          </p:txBody>
        </p:sp>
        <p:sp>
          <p:nvSpPr>
            <p:cNvPr id="21" name="Text 18"/>
            <p:cNvSpPr/>
            <p:nvPr/>
          </p:nvSpPr>
          <p:spPr>
            <a:xfrm>
              <a:off x="7963" y="2481"/>
              <a:ext cx="619" cy="158"/>
            </a:xfrm>
            <a:prstGeom prst="rect">
              <a:avLst/>
            </a:prstGeom>
            <a:noFill/>
          </p:spPr>
          <p:txBody>
            <a:bodyPr wrap="square" lIns="0" tIns="0" rIns="0" bIns="0" rtlCol="0" anchor="t">
              <a:normAutofit/>
            </a:bodyPr>
            <a:lstStyle/>
            <a:p>
              <a:pPr marL="0" indent="0" algn="r">
                <a:buNone/>
              </a:pPr>
              <a:r>
                <a:rPr lang="en-US" sz="640" b="1" dirty="0">
                  <a:solidFill>
                    <a:srgbClr val="B42318"/>
                  </a:solidFill>
                  <a:latin typeface="Arial" panose="020B0604020202090204" pitchFamily="34" charset="0"/>
                  <a:ea typeface="Arial" panose="020B0604020202090204" pitchFamily="34" charset="-122"/>
                  <a:cs typeface="Arial" panose="020B0604020202090204" pitchFamily="34" charset="-120"/>
                </a:rPr>
                <a:t>23.8</a:t>
              </a:r>
              <a:endParaRPr lang="en-US" sz="640" dirty="0"/>
            </a:p>
          </p:txBody>
        </p:sp>
        <p:sp>
          <p:nvSpPr>
            <p:cNvPr id="22" name="Shape 19"/>
            <p:cNvSpPr/>
            <p:nvPr/>
          </p:nvSpPr>
          <p:spPr>
            <a:xfrm>
              <a:off x="5933" y="2981"/>
              <a:ext cx="1296" cy="446"/>
            </a:xfrm>
            <a:prstGeom prst="roundRect">
              <a:avLst>
                <a:gd name="adj" fmla="val 12903"/>
              </a:avLst>
            </a:prstGeom>
            <a:solidFill>
              <a:srgbClr val="F8FAFC"/>
            </a:solidFill>
            <a:ln w="12700">
              <a:solidFill>
                <a:srgbClr val="CBD5E1"/>
              </a:solidFill>
              <a:prstDash val="solid"/>
            </a:ln>
          </p:spPr>
        </p:sp>
        <p:sp>
          <p:nvSpPr>
            <p:cNvPr id="23" name="Text 20"/>
            <p:cNvSpPr/>
            <p:nvPr/>
          </p:nvSpPr>
          <p:spPr>
            <a:xfrm>
              <a:off x="6019" y="3047"/>
              <a:ext cx="490" cy="144"/>
            </a:xfrm>
            <a:prstGeom prst="rect">
              <a:avLst/>
            </a:prstGeom>
            <a:noFill/>
          </p:spPr>
          <p:txBody>
            <a:bodyPr wrap="square" lIns="0" tIns="0" rIns="0" bIns="0" rtlCol="0" anchor="t">
              <a:normAutofit/>
            </a:bodyPr>
            <a:lstStyle/>
            <a:p>
              <a:pPr marL="0" indent="0" algn="l">
                <a:buNone/>
              </a:pPr>
              <a:r>
                <a:rPr lang="en-US" sz="580" dirty="0">
                  <a:solidFill>
                    <a:srgbClr val="64748B"/>
                  </a:solidFill>
                  <a:latin typeface="Arial" panose="020B0604020202090204" pitchFamily="34" charset="0"/>
                  <a:ea typeface="Arial" panose="020B0604020202090204" pitchFamily="34" charset="-122"/>
                  <a:cs typeface="Arial" panose="020B0604020202090204" pitchFamily="34" charset="-120"/>
                </a:rPr>
                <a:t>FF</a:t>
              </a:r>
              <a:endParaRPr lang="en-US" sz="580" dirty="0"/>
            </a:p>
          </p:txBody>
        </p:sp>
        <p:sp>
          <p:nvSpPr>
            <p:cNvPr id="24" name="Text 21"/>
            <p:cNvSpPr/>
            <p:nvPr/>
          </p:nvSpPr>
          <p:spPr>
            <a:xfrm>
              <a:off x="6509" y="3043"/>
              <a:ext cx="619" cy="158"/>
            </a:xfrm>
            <a:prstGeom prst="rect">
              <a:avLst/>
            </a:prstGeom>
            <a:noFill/>
          </p:spPr>
          <p:txBody>
            <a:bodyPr wrap="square" lIns="0" tIns="0" rIns="0" bIns="0" rtlCol="0" anchor="t">
              <a:normAutofit/>
            </a:bodyPr>
            <a:lstStyle/>
            <a:p>
              <a:pPr marL="0" indent="0" algn="r">
                <a:buNone/>
              </a:pPr>
              <a:r>
                <a:rPr lang="en-US" sz="640" b="1" dirty="0">
                  <a:solidFill>
                    <a:srgbClr val="B42318"/>
                  </a:solidFill>
                  <a:latin typeface="Arial" panose="020B0604020202090204" pitchFamily="34" charset="0"/>
                  <a:ea typeface="Arial" panose="020B0604020202090204" pitchFamily="34" charset="-122"/>
                  <a:cs typeface="Arial" panose="020B0604020202090204" pitchFamily="34" charset="-120"/>
                </a:rPr>
                <a:t>78%</a:t>
              </a:r>
              <a:endParaRPr lang="en-US" sz="640" dirty="0"/>
            </a:p>
          </p:txBody>
        </p:sp>
        <p:sp>
          <p:nvSpPr>
            <p:cNvPr id="25" name="Shape 22"/>
            <p:cNvSpPr/>
            <p:nvPr/>
          </p:nvSpPr>
          <p:spPr>
            <a:xfrm>
              <a:off x="7387" y="2981"/>
              <a:ext cx="1296" cy="446"/>
            </a:xfrm>
            <a:prstGeom prst="roundRect">
              <a:avLst>
                <a:gd name="adj" fmla="val 12903"/>
              </a:avLst>
            </a:prstGeom>
            <a:solidFill>
              <a:srgbClr val="F8FAFC"/>
            </a:solidFill>
            <a:ln w="12700">
              <a:solidFill>
                <a:srgbClr val="CBD5E1"/>
              </a:solidFill>
              <a:prstDash val="solid"/>
            </a:ln>
          </p:spPr>
        </p:sp>
        <p:sp>
          <p:nvSpPr>
            <p:cNvPr id="26" name="Text 23"/>
            <p:cNvSpPr/>
            <p:nvPr/>
          </p:nvSpPr>
          <p:spPr>
            <a:xfrm>
              <a:off x="7474" y="3047"/>
              <a:ext cx="490" cy="144"/>
            </a:xfrm>
            <a:prstGeom prst="rect">
              <a:avLst/>
            </a:prstGeom>
            <a:noFill/>
          </p:spPr>
          <p:txBody>
            <a:bodyPr wrap="square" lIns="0" tIns="0" rIns="0" bIns="0" rtlCol="0" anchor="t">
              <a:normAutofit/>
            </a:bodyPr>
            <a:lstStyle/>
            <a:p>
              <a:pPr marL="0" indent="0" algn="l">
                <a:buNone/>
              </a:pPr>
              <a:r>
                <a:rPr lang="en-US" sz="580" dirty="0">
                  <a:solidFill>
                    <a:srgbClr val="64748B"/>
                  </a:solidFill>
                  <a:latin typeface="Arial" panose="020B0604020202090204" pitchFamily="34" charset="0"/>
                  <a:ea typeface="Arial" panose="020B0604020202090204" pitchFamily="34" charset="-122"/>
                  <a:cs typeface="Arial" panose="020B0604020202090204" pitchFamily="34" charset="-120"/>
                </a:rPr>
                <a:t>η</a:t>
              </a:r>
              <a:endParaRPr lang="en-US" sz="580" dirty="0"/>
            </a:p>
          </p:txBody>
        </p:sp>
        <p:sp>
          <p:nvSpPr>
            <p:cNvPr id="27" name="Text 24"/>
            <p:cNvSpPr/>
            <p:nvPr/>
          </p:nvSpPr>
          <p:spPr>
            <a:xfrm>
              <a:off x="7963" y="3043"/>
              <a:ext cx="619" cy="158"/>
            </a:xfrm>
            <a:prstGeom prst="rect">
              <a:avLst/>
            </a:prstGeom>
            <a:noFill/>
          </p:spPr>
          <p:txBody>
            <a:bodyPr wrap="square" lIns="0" tIns="0" rIns="0" bIns="0" rtlCol="0" anchor="t">
              <a:normAutofit/>
            </a:bodyPr>
            <a:lstStyle/>
            <a:p>
              <a:pPr marL="0" indent="0" algn="r">
                <a:buNone/>
              </a:pPr>
              <a:r>
                <a:rPr lang="en-US" sz="640" b="1" dirty="0">
                  <a:solidFill>
                    <a:srgbClr val="B42318"/>
                  </a:solidFill>
                  <a:latin typeface="Arial" panose="020B0604020202090204" pitchFamily="34" charset="0"/>
                  <a:ea typeface="Arial" panose="020B0604020202090204" pitchFamily="34" charset="-122"/>
                  <a:cs typeface="Arial" panose="020B0604020202090204" pitchFamily="34" charset="-120"/>
                </a:rPr>
                <a:t>21.3%</a:t>
              </a:r>
              <a:endParaRPr lang="en-US" sz="640" dirty="0"/>
            </a:p>
          </p:txBody>
        </p:sp>
        <p:sp>
          <p:nvSpPr>
            <p:cNvPr id="28" name="Shape 25"/>
            <p:cNvSpPr/>
            <p:nvPr/>
          </p:nvSpPr>
          <p:spPr>
            <a:xfrm>
              <a:off x="1728" y="3456"/>
              <a:ext cx="1411" cy="605"/>
            </a:xfrm>
            <a:prstGeom prst="roundRect">
              <a:avLst>
                <a:gd name="adj" fmla="val 8333"/>
              </a:avLst>
            </a:prstGeom>
            <a:solidFill>
              <a:srgbClr val="FFFFFF">
                <a:alpha val="94000"/>
              </a:srgbClr>
            </a:solidFill>
            <a:ln w="12700">
              <a:solidFill>
                <a:srgbClr val="B42318"/>
              </a:solidFill>
              <a:prstDash val="solid"/>
            </a:ln>
          </p:spPr>
        </p:sp>
        <p:sp>
          <p:nvSpPr>
            <p:cNvPr id="29" name="Shape 26"/>
            <p:cNvSpPr/>
            <p:nvPr/>
          </p:nvSpPr>
          <p:spPr>
            <a:xfrm>
              <a:off x="1843" y="3614"/>
              <a:ext cx="274" cy="0"/>
            </a:xfrm>
            <a:prstGeom prst="line">
              <a:avLst/>
            </a:prstGeom>
            <a:noFill/>
            <a:ln w="12700">
              <a:solidFill>
                <a:srgbClr val="B42318"/>
              </a:solidFill>
              <a:prstDash val="solid"/>
              <a:headEnd type="none"/>
              <a:tailEnd type="none"/>
            </a:ln>
          </p:spPr>
        </p:sp>
        <p:sp>
          <p:nvSpPr>
            <p:cNvPr id="30" name="Text 27"/>
            <p:cNvSpPr/>
            <p:nvPr/>
          </p:nvSpPr>
          <p:spPr>
            <a:xfrm>
              <a:off x="2189" y="3544"/>
              <a:ext cx="864" cy="130"/>
            </a:xfrm>
            <a:prstGeom prst="rect">
              <a:avLst/>
            </a:prstGeom>
            <a:noFill/>
          </p:spPr>
          <p:txBody>
            <a:bodyPr wrap="square" lIns="0" tIns="0" rIns="0" bIns="0" rtlCol="0" anchor="t">
              <a:normAutofit/>
            </a:bodyPr>
            <a:lstStyle/>
            <a:p>
              <a:pPr marL="0" indent="0" algn="l">
                <a:buNone/>
              </a:pP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light </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J</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V</a:t>
              </a:r>
              <a:endParaRPr lang="en-US" sz="535" dirty="0"/>
            </a:p>
          </p:txBody>
        </p:sp>
        <p:sp>
          <p:nvSpPr>
            <p:cNvPr id="31" name="Shape 28"/>
            <p:cNvSpPr/>
            <p:nvPr/>
          </p:nvSpPr>
          <p:spPr>
            <a:xfrm>
              <a:off x="1843" y="3823"/>
              <a:ext cx="274" cy="0"/>
            </a:xfrm>
            <a:prstGeom prst="line">
              <a:avLst/>
            </a:prstGeom>
            <a:noFill/>
            <a:ln w="12700">
              <a:solidFill>
                <a:srgbClr val="334155"/>
              </a:solidFill>
              <a:prstDash val="solid"/>
              <a:headEnd type="none"/>
              <a:tailEnd type="none"/>
            </a:ln>
          </p:spPr>
        </p:sp>
        <p:sp>
          <p:nvSpPr>
            <p:cNvPr id="32" name="Text 29"/>
            <p:cNvSpPr/>
            <p:nvPr/>
          </p:nvSpPr>
          <p:spPr>
            <a:xfrm>
              <a:off x="2189" y="3753"/>
              <a:ext cx="864" cy="130"/>
            </a:xfrm>
            <a:prstGeom prst="rect">
              <a:avLst/>
            </a:prstGeom>
            <a:noFill/>
          </p:spPr>
          <p:txBody>
            <a:bodyPr wrap="square" lIns="0" tIns="0" rIns="0" bIns="0" rtlCol="0" anchor="t">
              <a:normAutofit/>
            </a:bodyPr>
            <a:lstStyle/>
            <a:p>
              <a:pPr marL="0" indent="0" algn="l">
                <a:buNone/>
              </a:pP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dark </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J</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V</a:t>
              </a:r>
              <a:endParaRPr lang="en-US" sz="535" dirty="0"/>
            </a:p>
          </p:txBody>
        </p:sp>
        <p:sp>
          <p:nvSpPr>
            <p:cNvPr id="33" name="Shape 30"/>
            <p:cNvSpPr/>
            <p:nvPr/>
          </p:nvSpPr>
          <p:spPr>
            <a:xfrm>
              <a:off x="5933" y="3751"/>
              <a:ext cx="50" cy="50"/>
            </a:xfrm>
            <a:prstGeom prst="rect">
              <a:avLst/>
            </a:prstGeom>
            <a:solidFill>
              <a:srgbClr val="B42318"/>
            </a:solidFill>
            <a:ln w="12700">
              <a:solidFill>
                <a:srgbClr val="B42318">
                  <a:alpha val="0"/>
                </a:srgbClr>
              </a:solidFill>
              <a:prstDash val="solid"/>
            </a:ln>
          </p:spPr>
        </p:sp>
        <p:sp>
          <p:nvSpPr>
            <p:cNvPr id="34" name="Text 31"/>
            <p:cNvSpPr/>
            <p:nvPr/>
          </p:nvSpPr>
          <p:spPr>
            <a:xfrm>
              <a:off x="6077" y="3686"/>
              <a:ext cx="2938" cy="490"/>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SCAPS core terminal output: light/dark curves and photovoltaic metrics.</a:t>
              </a:r>
              <a:endParaRPr lang="en-US" sz="670" dirty="0"/>
            </a:p>
          </p:txBody>
        </p:sp>
        <p:sp>
          <p:nvSpPr>
            <p:cNvPr id="35" name="Shape 32"/>
            <p:cNvSpPr/>
            <p:nvPr/>
          </p:nvSpPr>
          <p:spPr>
            <a:xfrm>
              <a:off x="5933" y="4327"/>
              <a:ext cx="50" cy="50"/>
            </a:xfrm>
            <a:prstGeom prst="rect">
              <a:avLst/>
            </a:prstGeom>
            <a:solidFill>
              <a:srgbClr val="334155"/>
            </a:solidFill>
            <a:ln w="12700">
              <a:solidFill>
                <a:srgbClr val="334155">
                  <a:alpha val="0"/>
                </a:srgbClr>
              </a:solidFill>
              <a:prstDash val="solid"/>
            </a:ln>
          </p:spPr>
        </p:sp>
        <p:sp>
          <p:nvSpPr>
            <p:cNvPr id="36" name="Text 33"/>
            <p:cNvSpPr/>
            <p:nvPr/>
          </p:nvSpPr>
          <p:spPr>
            <a:xfrm>
              <a:off x="6077" y="4262"/>
              <a:ext cx="2938" cy="605"/>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I = J × area; sign convention controls whether the curve appears upward or downward.</a:t>
              </a:r>
              <a:endParaRPr lang="en-US" sz="670" dirty="0"/>
            </a:p>
          </p:txBody>
        </p:sp>
        <p:sp>
          <p:nvSpPr>
            <p:cNvPr id="37" name="Shape 34"/>
            <p:cNvSpPr/>
            <p:nvPr/>
          </p:nvSpPr>
          <p:spPr>
            <a:xfrm>
              <a:off x="9850" y="1584"/>
              <a:ext cx="8640" cy="3672"/>
            </a:xfrm>
            <a:prstGeom prst="roundRect">
              <a:avLst>
                <a:gd name="adj" fmla="val 3137"/>
              </a:avLst>
            </a:prstGeom>
            <a:solidFill>
              <a:srgbClr val="FFFFFF"/>
            </a:solidFill>
            <a:ln w="12700">
              <a:solidFill>
                <a:srgbClr val="CBD5E1"/>
              </a:solidFill>
              <a:prstDash val="solid"/>
            </a:ln>
          </p:spPr>
        </p:sp>
        <p:sp>
          <p:nvSpPr>
            <p:cNvPr id="38" name="Shape 35"/>
            <p:cNvSpPr/>
            <p:nvPr/>
          </p:nvSpPr>
          <p:spPr>
            <a:xfrm>
              <a:off x="9850" y="1584"/>
              <a:ext cx="115" cy="3672"/>
            </a:xfrm>
            <a:prstGeom prst="rect">
              <a:avLst/>
            </a:prstGeom>
            <a:solidFill>
              <a:srgbClr val="2563EB"/>
            </a:solidFill>
            <a:ln w="12700">
              <a:solidFill>
                <a:srgbClr val="2563EB">
                  <a:alpha val="0"/>
                </a:srgbClr>
              </a:solidFill>
              <a:prstDash val="solid"/>
            </a:ln>
          </p:spPr>
        </p:sp>
        <p:sp>
          <p:nvSpPr>
            <p:cNvPr id="39" name="Shape 36"/>
            <p:cNvSpPr/>
            <p:nvPr/>
          </p:nvSpPr>
          <p:spPr>
            <a:xfrm>
              <a:off x="10109" y="1800"/>
              <a:ext cx="547" cy="346"/>
            </a:xfrm>
            <a:prstGeom prst="roundRect">
              <a:avLst>
                <a:gd name="adj" fmla="val 25000"/>
              </a:avLst>
            </a:prstGeom>
            <a:solidFill>
              <a:srgbClr val="DBEAFE"/>
            </a:solidFill>
            <a:ln w="12700">
              <a:solidFill>
                <a:srgbClr val="2563EB"/>
              </a:solidFill>
              <a:prstDash val="solid"/>
            </a:ln>
          </p:spPr>
        </p:sp>
        <p:sp>
          <p:nvSpPr>
            <p:cNvPr id="40" name="Text 37"/>
            <p:cNvSpPr/>
            <p:nvPr/>
          </p:nvSpPr>
          <p:spPr>
            <a:xfrm>
              <a:off x="10181" y="1875"/>
              <a:ext cx="403" cy="144"/>
            </a:xfrm>
            <a:prstGeom prst="rect">
              <a:avLst/>
            </a:prstGeom>
            <a:noFill/>
          </p:spPr>
          <p:txBody>
            <a:bodyPr wrap="square" lIns="0" tIns="0" rIns="0" bIns="0" rtlCol="0" anchor="t">
              <a:normAutofit/>
            </a:bodyPr>
            <a:lstStyle/>
            <a:p>
              <a:pPr marL="0" indent="0" algn="ctr">
                <a:buNone/>
              </a:pPr>
              <a:r>
                <a:rPr lang="en-US" sz="660" b="1" dirty="0">
                  <a:solidFill>
                    <a:srgbClr val="2563EB"/>
                  </a:solidFill>
                  <a:latin typeface="Arial" panose="020B0604020202090204" pitchFamily="34" charset="0"/>
                  <a:ea typeface="Arial" panose="020B0604020202090204" pitchFamily="34" charset="-122"/>
                  <a:cs typeface="Arial" panose="020B0604020202090204" pitchFamily="34" charset="-120"/>
                </a:rPr>
                <a:t>B</a:t>
              </a:r>
              <a:endParaRPr lang="en-US" sz="660" dirty="0"/>
            </a:p>
          </p:txBody>
        </p:sp>
        <p:sp>
          <p:nvSpPr>
            <p:cNvPr id="41" name="Text 38"/>
            <p:cNvSpPr/>
            <p:nvPr/>
          </p:nvSpPr>
          <p:spPr>
            <a:xfrm>
              <a:off x="10800" y="1814"/>
              <a:ext cx="7402" cy="288"/>
            </a:xfrm>
            <a:prstGeom prst="rect">
              <a:avLst/>
            </a:prstGeom>
            <a:noFill/>
          </p:spPr>
          <p:txBody>
            <a:bodyPr wrap="square" lIns="0" tIns="0" rIns="0" bIns="0" rtlCol="0" anchor="t">
              <a:normAutofit/>
            </a:bodyPr>
            <a:lstStyle/>
            <a:p>
              <a:pPr marL="0" indent="0" algn="l">
                <a:buNone/>
              </a:pPr>
              <a:r>
                <a:rPr lang="en-US" sz="1000" b="1" dirty="0">
                  <a:solidFill>
                    <a:srgbClr val="334155"/>
                  </a:solidFill>
                  <a:latin typeface="Arial" panose="020B0604020202090204" pitchFamily="34" charset="0"/>
                  <a:ea typeface="Arial" panose="020B0604020202090204" pitchFamily="34" charset="-122"/>
                  <a:cs typeface="Arial" panose="020B0604020202090204" pitchFamily="34" charset="-120"/>
                </a:rPr>
                <a:t>C-V and Mott-Schottky analysis</a:t>
              </a:r>
              <a:endParaRPr lang="en-US" sz="1000" dirty="0"/>
            </a:p>
          </p:txBody>
        </p:sp>
        <p:graphicFrame>
          <p:nvGraphicFramePr>
            <p:cNvPr id="42" name="Chart 1"/>
            <p:cNvGraphicFramePr/>
            <p:nvPr/>
          </p:nvGraphicFramePr>
          <p:xfrm>
            <a:off x="10195" y="2419"/>
            <a:ext cx="4464" cy="2462"/>
          </p:xfrm>
          <a:graphic>
            <a:graphicData uri="http://schemas.openxmlformats.org/drawingml/2006/chart">
              <c:chart xmlns:c="http://schemas.openxmlformats.org/drawingml/2006/chart" xmlns:r="http://schemas.openxmlformats.org/officeDocument/2006/relationships" r:id="rId2"/>
            </a:graphicData>
          </a:graphic>
        </p:graphicFrame>
        <p:sp>
          <p:nvSpPr>
            <p:cNvPr id="43" name="Text 39"/>
            <p:cNvSpPr/>
            <p:nvPr/>
          </p:nvSpPr>
          <p:spPr>
            <a:xfrm>
              <a:off x="11822" y="4766"/>
              <a:ext cx="1037" cy="173"/>
            </a:xfrm>
            <a:prstGeom prst="rect">
              <a:avLst/>
            </a:prstGeom>
            <a:noFill/>
          </p:spPr>
          <p:txBody>
            <a:bodyPr wrap="square" lIns="0" tIns="0" rIns="0" bIns="0" rtlCol="0" anchor="t">
              <a:normAutofit/>
            </a:bodyPr>
            <a:lstStyle/>
            <a:p>
              <a:pPr marL="0" indent="0" algn="ctr">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Bias </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V</a:t>
              </a: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 (V)</a:t>
              </a:r>
              <a:endParaRPr lang="en-US" sz="610" dirty="0"/>
            </a:p>
          </p:txBody>
        </p:sp>
        <p:sp>
          <p:nvSpPr>
            <p:cNvPr id="44" name="Text 40"/>
            <p:cNvSpPr/>
            <p:nvPr/>
          </p:nvSpPr>
          <p:spPr>
            <a:xfrm>
              <a:off x="10152" y="2390"/>
              <a:ext cx="1584" cy="173"/>
            </a:xfrm>
            <a:prstGeom prst="rect">
              <a:avLst/>
            </a:prstGeom>
            <a:noFill/>
          </p:spPr>
          <p:txBody>
            <a:bodyPr wrap="square" lIns="0" tIns="0" rIns="0" bIns="0" rtlCol="0" anchor="t">
              <a:normAutofit/>
            </a:bodyPr>
            <a:lstStyle/>
            <a:p>
              <a:pPr marL="0" indent="0" algn="l">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Normalized </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C</a:t>
              </a: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 1/</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C</a:t>
              </a:r>
              <a:r>
                <a:rPr lang="en-US" sz="610" baseline="30000" dirty="0">
                  <a:solidFill>
                    <a:srgbClr val="64748B"/>
                  </a:solidFill>
                  <a:latin typeface="Arial" panose="020B0604020202090204" pitchFamily="34" charset="0"/>
                  <a:ea typeface="Arial" panose="020B0604020202090204" pitchFamily="34" charset="-122"/>
                  <a:cs typeface="Arial" panose="020B0604020202090204" pitchFamily="34" charset="-120"/>
                </a:rPr>
                <a:t>2</a:t>
              </a:r>
              <a:endParaRPr lang="en-US" sz="610" dirty="0"/>
            </a:p>
          </p:txBody>
        </p:sp>
        <p:sp>
          <p:nvSpPr>
            <p:cNvPr id="45" name="Shape 41"/>
            <p:cNvSpPr/>
            <p:nvPr/>
          </p:nvSpPr>
          <p:spPr>
            <a:xfrm>
              <a:off x="15062" y="2419"/>
              <a:ext cx="1296" cy="446"/>
            </a:xfrm>
            <a:prstGeom prst="roundRect">
              <a:avLst>
                <a:gd name="adj" fmla="val 12903"/>
              </a:avLst>
            </a:prstGeom>
            <a:solidFill>
              <a:srgbClr val="F8FAFC"/>
            </a:solidFill>
            <a:ln w="12700">
              <a:solidFill>
                <a:srgbClr val="CBD5E1"/>
              </a:solidFill>
              <a:prstDash val="solid"/>
            </a:ln>
          </p:spPr>
        </p:sp>
        <p:sp>
          <p:nvSpPr>
            <p:cNvPr id="46" name="Text 42"/>
            <p:cNvSpPr/>
            <p:nvPr/>
          </p:nvSpPr>
          <p:spPr>
            <a:xfrm>
              <a:off x="15149" y="2485"/>
              <a:ext cx="490" cy="144"/>
            </a:xfrm>
            <a:prstGeom prst="rect">
              <a:avLst/>
            </a:prstGeom>
            <a:noFill/>
          </p:spPr>
          <p:txBody>
            <a:bodyPr wrap="square" lIns="0" tIns="0" rIns="0" bIns="0" rtlCol="0" anchor="t">
              <a:normAutofit/>
            </a:bodyPr>
            <a:lstStyle/>
            <a:p>
              <a:pPr marL="0" indent="0" algn="l">
                <a:buNone/>
              </a:pPr>
              <a:r>
                <a:rPr lang="en-US" sz="580" i="1" dirty="0">
                  <a:solidFill>
                    <a:srgbClr val="64748B"/>
                  </a:solidFill>
                  <a:latin typeface="Arial" panose="020B0604020202090204" pitchFamily="34" charset="0"/>
                  <a:ea typeface="Arial" panose="020B0604020202090204" pitchFamily="34" charset="-122"/>
                  <a:cs typeface="Arial" panose="020B0604020202090204" pitchFamily="34" charset="-120"/>
                </a:rPr>
                <a:t>V</a:t>
              </a:r>
              <a:r>
                <a:rPr lang="en-US" sz="580" baseline="-40000" dirty="0">
                  <a:solidFill>
                    <a:srgbClr val="64748B"/>
                  </a:solidFill>
                  <a:latin typeface="Arial" panose="020B0604020202090204" pitchFamily="34" charset="0"/>
                  <a:ea typeface="Arial" panose="020B0604020202090204" pitchFamily="34" charset="-122"/>
                  <a:cs typeface="Arial" panose="020B0604020202090204" pitchFamily="34" charset="-120"/>
                </a:rPr>
                <a:t>bi</a:t>
              </a:r>
              <a:endParaRPr lang="en-US" sz="580" dirty="0"/>
            </a:p>
          </p:txBody>
        </p:sp>
        <p:sp>
          <p:nvSpPr>
            <p:cNvPr id="47" name="Text 43"/>
            <p:cNvSpPr/>
            <p:nvPr/>
          </p:nvSpPr>
          <p:spPr>
            <a:xfrm>
              <a:off x="15638" y="2481"/>
              <a:ext cx="619" cy="158"/>
            </a:xfrm>
            <a:prstGeom prst="rect">
              <a:avLst/>
            </a:prstGeom>
            <a:noFill/>
          </p:spPr>
          <p:txBody>
            <a:bodyPr wrap="square" lIns="0" tIns="0" rIns="0" bIns="0" rtlCol="0" anchor="t">
              <a:normAutofit/>
            </a:bodyPr>
            <a:lstStyle/>
            <a:p>
              <a:pPr marL="0" indent="0" algn="r">
                <a:buNone/>
              </a:pPr>
              <a:r>
                <a:rPr lang="en-US" sz="640" b="1" dirty="0">
                  <a:solidFill>
                    <a:srgbClr val="2563EB"/>
                  </a:solidFill>
                  <a:latin typeface="Arial" panose="020B0604020202090204" pitchFamily="34" charset="0"/>
                  <a:ea typeface="Arial" panose="020B0604020202090204" pitchFamily="34" charset="-122"/>
                  <a:cs typeface="Arial" panose="020B0604020202090204" pitchFamily="34" charset="-120"/>
                </a:rPr>
                <a:t>0.96 V</a:t>
              </a:r>
              <a:endParaRPr lang="en-US" sz="640" dirty="0"/>
            </a:p>
          </p:txBody>
        </p:sp>
        <p:sp>
          <p:nvSpPr>
            <p:cNvPr id="48" name="Shape 44"/>
            <p:cNvSpPr/>
            <p:nvPr/>
          </p:nvSpPr>
          <p:spPr>
            <a:xfrm>
              <a:off x="16517" y="2419"/>
              <a:ext cx="1296" cy="446"/>
            </a:xfrm>
            <a:prstGeom prst="roundRect">
              <a:avLst>
                <a:gd name="adj" fmla="val 12903"/>
              </a:avLst>
            </a:prstGeom>
            <a:solidFill>
              <a:srgbClr val="F8FAFC"/>
            </a:solidFill>
            <a:ln w="12700">
              <a:solidFill>
                <a:srgbClr val="CBD5E1"/>
              </a:solidFill>
              <a:prstDash val="solid"/>
            </a:ln>
          </p:spPr>
        </p:sp>
        <p:sp>
          <p:nvSpPr>
            <p:cNvPr id="49" name="Text 45"/>
            <p:cNvSpPr/>
            <p:nvPr/>
          </p:nvSpPr>
          <p:spPr>
            <a:xfrm>
              <a:off x="16603" y="2485"/>
              <a:ext cx="490" cy="144"/>
            </a:xfrm>
            <a:prstGeom prst="rect">
              <a:avLst/>
            </a:prstGeom>
            <a:noFill/>
          </p:spPr>
          <p:txBody>
            <a:bodyPr wrap="square" lIns="0" tIns="0" rIns="0" bIns="0" rtlCol="0" anchor="t">
              <a:normAutofit/>
            </a:bodyPr>
            <a:lstStyle/>
            <a:p>
              <a:pPr marL="0" indent="0" algn="l">
                <a:buNone/>
              </a:pPr>
              <a:r>
                <a:rPr lang="en-US" sz="580" i="1" dirty="0">
                  <a:solidFill>
                    <a:srgbClr val="64748B"/>
                  </a:solidFill>
                  <a:latin typeface="Arial" panose="020B0604020202090204" pitchFamily="34" charset="0"/>
                  <a:ea typeface="Arial" panose="020B0604020202090204" pitchFamily="34" charset="-122"/>
                  <a:cs typeface="Arial" panose="020B0604020202090204" pitchFamily="34" charset="-120"/>
                </a:rPr>
                <a:t>N</a:t>
              </a:r>
              <a:r>
                <a:rPr lang="en-US" sz="580" baseline="-40000" dirty="0">
                  <a:solidFill>
                    <a:srgbClr val="64748B"/>
                  </a:solidFill>
                  <a:latin typeface="Arial" panose="020B0604020202090204" pitchFamily="34" charset="0"/>
                  <a:ea typeface="Arial" panose="020B0604020202090204" pitchFamily="34" charset="-122"/>
                  <a:cs typeface="Arial" panose="020B0604020202090204" pitchFamily="34" charset="-120"/>
                </a:rPr>
                <a:t>eff</a:t>
              </a:r>
              <a:endParaRPr lang="en-US" sz="580" dirty="0"/>
            </a:p>
          </p:txBody>
        </p:sp>
        <p:sp>
          <p:nvSpPr>
            <p:cNvPr id="50" name="Text 46"/>
            <p:cNvSpPr/>
            <p:nvPr/>
          </p:nvSpPr>
          <p:spPr>
            <a:xfrm>
              <a:off x="17093" y="2481"/>
              <a:ext cx="619" cy="158"/>
            </a:xfrm>
            <a:prstGeom prst="rect">
              <a:avLst/>
            </a:prstGeom>
            <a:noFill/>
          </p:spPr>
          <p:txBody>
            <a:bodyPr wrap="square" lIns="0" tIns="0" rIns="0" bIns="0" rtlCol="0" anchor="t">
              <a:normAutofit/>
            </a:bodyPr>
            <a:lstStyle/>
            <a:p>
              <a:pPr marL="0" indent="0" algn="r">
                <a:buNone/>
              </a:pPr>
              <a:r>
                <a:rPr lang="en-US" sz="640" b="1" dirty="0">
                  <a:solidFill>
                    <a:srgbClr val="2563EB"/>
                  </a:solidFill>
                  <a:latin typeface="Arial" panose="020B0604020202090204" pitchFamily="34" charset="0"/>
                  <a:ea typeface="Arial" panose="020B0604020202090204" pitchFamily="34" charset="-122"/>
                  <a:cs typeface="Arial" panose="020B0604020202090204" pitchFamily="34" charset="-120"/>
                </a:rPr>
                <a:t>2×10¹⁶</a:t>
              </a:r>
              <a:endParaRPr lang="en-US" sz="640" dirty="0"/>
            </a:p>
          </p:txBody>
        </p:sp>
        <p:sp>
          <p:nvSpPr>
            <p:cNvPr id="51" name="Shape 47"/>
            <p:cNvSpPr/>
            <p:nvPr/>
          </p:nvSpPr>
          <p:spPr>
            <a:xfrm>
              <a:off x="13003" y="3960"/>
              <a:ext cx="1037" cy="605"/>
            </a:xfrm>
            <a:prstGeom prst="roundRect">
              <a:avLst>
                <a:gd name="adj" fmla="val 8333"/>
              </a:avLst>
            </a:prstGeom>
            <a:solidFill>
              <a:srgbClr val="FFFFFF">
                <a:alpha val="94000"/>
              </a:srgbClr>
            </a:solidFill>
            <a:ln w="12700">
              <a:solidFill>
                <a:srgbClr val="2563EB"/>
              </a:solidFill>
              <a:prstDash val="solid"/>
            </a:ln>
          </p:spPr>
        </p:sp>
        <p:sp>
          <p:nvSpPr>
            <p:cNvPr id="52" name="Shape 48"/>
            <p:cNvSpPr/>
            <p:nvPr/>
          </p:nvSpPr>
          <p:spPr>
            <a:xfrm>
              <a:off x="13118" y="4118"/>
              <a:ext cx="274" cy="0"/>
            </a:xfrm>
            <a:prstGeom prst="line">
              <a:avLst/>
            </a:prstGeom>
            <a:noFill/>
            <a:ln w="12700">
              <a:solidFill>
                <a:srgbClr val="2563EB"/>
              </a:solidFill>
              <a:prstDash val="solid"/>
              <a:headEnd type="none"/>
              <a:tailEnd type="none"/>
            </a:ln>
          </p:spPr>
        </p:sp>
        <p:sp>
          <p:nvSpPr>
            <p:cNvPr id="53" name="Text 49"/>
            <p:cNvSpPr/>
            <p:nvPr/>
          </p:nvSpPr>
          <p:spPr>
            <a:xfrm>
              <a:off x="13464" y="4048"/>
              <a:ext cx="490" cy="130"/>
            </a:xfrm>
            <a:prstGeom prst="rect">
              <a:avLst/>
            </a:prstGeom>
            <a:noFill/>
          </p:spPr>
          <p:txBody>
            <a:bodyPr wrap="square" lIns="0" tIns="0" rIns="0" bIns="0" rtlCol="0" anchor="t">
              <a:normAutofit/>
            </a:bodyPr>
            <a:lstStyle/>
            <a:p>
              <a:pPr marL="0" indent="0" algn="l">
                <a:buNone/>
              </a:pP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C</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V</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endParaRPr lang="en-US" sz="535" dirty="0"/>
            </a:p>
          </p:txBody>
        </p:sp>
        <p:sp>
          <p:nvSpPr>
            <p:cNvPr id="54" name="Shape 50"/>
            <p:cNvSpPr/>
            <p:nvPr/>
          </p:nvSpPr>
          <p:spPr>
            <a:xfrm>
              <a:off x="13118" y="4327"/>
              <a:ext cx="274" cy="0"/>
            </a:xfrm>
            <a:prstGeom prst="line">
              <a:avLst/>
            </a:prstGeom>
            <a:noFill/>
            <a:ln w="12700">
              <a:solidFill>
                <a:srgbClr val="16803C"/>
              </a:solidFill>
              <a:prstDash val="solid"/>
              <a:headEnd type="none"/>
              <a:tailEnd type="none"/>
            </a:ln>
          </p:spPr>
        </p:sp>
        <p:sp>
          <p:nvSpPr>
            <p:cNvPr id="55" name="Text 51"/>
            <p:cNvSpPr/>
            <p:nvPr/>
          </p:nvSpPr>
          <p:spPr>
            <a:xfrm>
              <a:off x="13464" y="4257"/>
              <a:ext cx="490" cy="130"/>
            </a:xfrm>
            <a:prstGeom prst="rect">
              <a:avLst/>
            </a:prstGeom>
            <a:noFill/>
          </p:spPr>
          <p:txBody>
            <a:bodyPr wrap="square" lIns="0" tIns="0" rIns="0" bIns="0" rtlCol="0" anchor="t">
              <a:normAutofit/>
            </a:bodyPr>
            <a:lstStyle/>
            <a:p>
              <a:pPr marL="0" indent="0" algn="l">
                <a:buNone/>
              </a:pP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1/</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C</a:t>
              </a:r>
              <a:r>
                <a:rPr lang="en-US" sz="535" baseline="30000" dirty="0">
                  <a:solidFill>
                    <a:srgbClr val="334155"/>
                  </a:solidFill>
                  <a:latin typeface="Arial" panose="020B0604020202090204" pitchFamily="34" charset="0"/>
                  <a:ea typeface="Arial" panose="020B0604020202090204" pitchFamily="34" charset="-122"/>
                  <a:cs typeface="Arial" panose="020B0604020202090204" pitchFamily="34" charset="-120"/>
                </a:rPr>
                <a:t>2</a:t>
              </a:r>
              <a:endParaRPr lang="en-US" sz="535" dirty="0"/>
            </a:p>
          </p:txBody>
        </p:sp>
        <p:sp>
          <p:nvSpPr>
            <p:cNvPr id="56" name="Shape 52"/>
            <p:cNvSpPr/>
            <p:nvPr/>
          </p:nvSpPr>
          <p:spPr>
            <a:xfrm>
              <a:off x="15062" y="3290"/>
              <a:ext cx="50" cy="50"/>
            </a:xfrm>
            <a:prstGeom prst="rect">
              <a:avLst/>
            </a:prstGeom>
            <a:solidFill>
              <a:srgbClr val="2563EB"/>
            </a:solidFill>
            <a:ln w="12700">
              <a:solidFill>
                <a:srgbClr val="2563EB">
                  <a:alpha val="0"/>
                </a:srgbClr>
              </a:solidFill>
              <a:prstDash val="solid"/>
            </a:ln>
          </p:spPr>
        </p:sp>
        <p:sp>
          <p:nvSpPr>
            <p:cNvPr id="57" name="Text 53"/>
            <p:cNvSpPr/>
            <p:nvPr/>
          </p:nvSpPr>
          <p:spPr>
            <a:xfrm>
              <a:off x="15206" y="3226"/>
              <a:ext cx="2938" cy="533"/>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Extract depletion capacitance, built-in voltage, and apparent doping.</a:t>
              </a:r>
              <a:endParaRPr lang="en-US" sz="670" dirty="0"/>
            </a:p>
          </p:txBody>
        </p:sp>
        <p:sp>
          <p:nvSpPr>
            <p:cNvPr id="58" name="Shape 54"/>
            <p:cNvSpPr/>
            <p:nvPr/>
          </p:nvSpPr>
          <p:spPr>
            <a:xfrm>
              <a:off x="15062" y="3910"/>
              <a:ext cx="50" cy="50"/>
            </a:xfrm>
            <a:prstGeom prst="rect">
              <a:avLst/>
            </a:prstGeom>
            <a:solidFill>
              <a:srgbClr val="16803C"/>
            </a:solidFill>
            <a:ln w="12700">
              <a:solidFill>
                <a:srgbClr val="16803C">
                  <a:alpha val="0"/>
                </a:srgbClr>
              </a:solidFill>
              <a:prstDash val="solid"/>
            </a:ln>
          </p:spPr>
        </p:sp>
        <p:sp>
          <p:nvSpPr>
            <p:cNvPr id="59" name="Text 55"/>
            <p:cNvSpPr/>
            <p:nvPr/>
          </p:nvSpPr>
          <p:spPr>
            <a:xfrm>
              <a:off x="15206" y="3845"/>
              <a:ext cx="2938" cy="605"/>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Linear 1/</a:t>
              </a:r>
              <a:r>
                <a:rPr lang="en-US" sz="670" i="1" dirty="0">
                  <a:solidFill>
                    <a:srgbClr val="334155"/>
                  </a:solidFill>
                  <a:latin typeface="Arial" panose="020B0604020202090204" pitchFamily="34" charset="0"/>
                  <a:ea typeface="Arial" panose="020B0604020202090204" pitchFamily="34" charset="-122"/>
                  <a:cs typeface="Arial" panose="020B0604020202090204" pitchFamily="34" charset="-120"/>
                </a:rPr>
                <a:t>C</a:t>
              </a:r>
              <a:r>
                <a:rPr lang="en-US" sz="670" baseline="30000" dirty="0">
                  <a:solidFill>
                    <a:srgbClr val="334155"/>
                  </a:solidFill>
                  <a:latin typeface="Arial" panose="020B0604020202090204" pitchFamily="34" charset="0"/>
                  <a:ea typeface="Arial" panose="020B0604020202090204" pitchFamily="34" charset="-122"/>
                  <a:cs typeface="Arial" panose="020B0604020202090204" pitchFamily="34" charset="-120"/>
                </a:rPr>
                <a:t>2</a:t>
              </a: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 versus </a:t>
              </a:r>
              <a:r>
                <a:rPr lang="en-US" sz="670" i="1" dirty="0">
                  <a:solidFill>
                    <a:srgbClr val="334155"/>
                  </a:solidFill>
                  <a:latin typeface="Arial" panose="020B0604020202090204" pitchFamily="34" charset="0"/>
                  <a:ea typeface="Arial" panose="020B0604020202090204" pitchFamily="34" charset="-122"/>
                  <a:cs typeface="Arial" panose="020B0604020202090204" pitchFamily="34" charset="-120"/>
                </a:rPr>
                <a:t>V</a:t>
              </a: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 is used only in the depletion regime.</a:t>
              </a:r>
              <a:endParaRPr lang="en-US" sz="670" dirty="0"/>
            </a:p>
          </p:txBody>
        </p:sp>
        <p:sp>
          <p:nvSpPr>
            <p:cNvPr id="60" name="Shape 56"/>
            <p:cNvSpPr/>
            <p:nvPr/>
          </p:nvSpPr>
          <p:spPr>
            <a:xfrm>
              <a:off x="15062" y="4601"/>
              <a:ext cx="50" cy="50"/>
            </a:xfrm>
            <a:prstGeom prst="rect">
              <a:avLst/>
            </a:prstGeom>
            <a:solidFill>
              <a:srgbClr val="334155"/>
            </a:solidFill>
            <a:ln w="12700">
              <a:solidFill>
                <a:srgbClr val="334155">
                  <a:alpha val="0"/>
                </a:srgbClr>
              </a:solidFill>
              <a:prstDash val="solid"/>
            </a:ln>
          </p:spPr>
        </p:sp>
        <p:sp>
          <p:nvSpPr>
            <p:cNvPr id="61" name="Text 57"/>
            <p:cNvSpPr/>
            <p:nvPr/>
          </p:nvSpPr>
          <p:spPr>
            <a:xfrm>
              <a:off x="15206" y="4536"/>
              <a:ext cx="2938" cy="418"/>
            </a:xfrm>
            <a:prstGeom prst="rect">
              <a:avLst/>
            </a:prstGeom>
            <a:noFill/>
          </p:spPr>
          <p:txBody>
            <a:bodyPr wrap="square" lIns="0" tIns="0" rIns="0" bIns="0" rtlCol="0" anchor="t">
              <a:normAutofit/>
            </a:bodyPr>
            <a:lstStyle/>
            <a:p>
              <a:pPr marL="0" indent="0" algn="l">
                <a:buNone/>
              </a:pPr>
              <a:r>
                <a:rPr lang="en-US" sz="635" dirty="0">
                  <a:solidFill>
                    <a:srgbClr val="334155"/>
                  </a:solidFill>
                  <a:latin typeface="Arial" panose="020B0604020202090204" pitchFamily="34" charset="0"/>
                  <a:ea typeface="Arial" panose="020B0604020202090204" pitchFamily="34" charset="-122"/>
                  <a:cs typeface="Arial" panose="020B0604020202090204" pitchFamily="34" charset="-120"/>
                </a:rPr>
                <a:t>Fully depleted thin absorbers need careful interpretation.</a:t>
              </a:r>
              <a:endParaRPr lang="en-US" sz="635" dirty="0"/>
            </a:p>
          </p:txBody>
        </p:sp>
        <p:sp>
          <p:nvSpPr>
            <p:cNvPr id="62" name="Shape 58"/>
            <p:cNvSpPr/>
            <p:nvPr/>
          </p:nvSpPr>
          <p:spPr>
            <a:xfrm>
              <a:off x="720" y="5702"/>
              <a:ext cx="8640" cy="3672"/>
            </a:xfrm>
            <a:prstGeom prst="roundRect">
              <a:avLst>
                <a:gd name="adj" fmla="val 3137"/>
              </a:avLst>
            </a:prstGeom>
            <a:solidFill>
              <a:srgbClr val="FFFFFF"/>
            </a:solidFill>
            <a:ln w="12700">
              <a:solidFill>
                <a:srgbClr val="CBD5E1"/>
              </a:solidFill>
              <a:prstDash val="solid"/>
            </a:ln>
          </p:spPr>
        </p:sp>
        <p:sp>
          <p:nvSpPr>
            <p:cNvPr id="63" name="Shape 59"/>
            <p:cNvSpPr/>
            <p:nvPr/>
          </p:nvSpPr>
          <p:spPr>
            <a:xfrm>
              <a:off x="720" y="5702"/>
              <a:ext cx="115" cy="3672"/>
            </a:xfrm>
            <a:prstGeom prst="rect">
              <a:avLst/>
            </a:prstGeom>
            <a:solidFill>
              <a:srgbClr val="16803C"/>
            </a:solidFill>
            <a:ln w="12700">
              <a:solidFill>
                <a:srgbClr val="16803C">
                  <a:alpha val="0"/>
                </a:srgbClr>
              </a:solidFill>
              <a:prstDash val="solid"/>
            </a:ln>
          </p:spPr>
        </p:sp>
        <p:sp>
          <p:nvSpPr>
            <p:cNvPr id="64" name="Shape 60"/>
            <p:cNvSpPr/>
            <p:nvPr/>
          </p:nvSpPr>
          <p:spPr>
            <a:xfrm>
              <a:off x="979" y="5918"/>
              <a:ext cx="547" cy="346"/>
            </a:xfrm>
            <a:prstGeom prst="roundRect">
              <a:avLst>
                <a:gd name="adj" fmla="val 25000"/>
              </a:avLst>
            </a:prstGeom>
            <a:solidFill>
              <a:srgbClr val="DCFCE7"/>
            </a:solidFill>
            <a:ln w="12700">
              <a:solidFill>
                <a:srgbClr val="16803C"/>
              </a:solidFill>
              <a:prstDash val="solid"/>
            </a:ln>
          </p:spPr>
        </p:sp>
        <p:sp>
          <p:nvSpPr>
            <p:cNvPr id="65" name="Text 61"/>
            <p:cNvSpPr/>
            <p:nvPr/>
          </p:nvSpPr>
          <p:spPr>
            <a:xfrm>
              <a:off x="1051" y="5993"/>
              <a:ext cx="403" cy="144"/>
            </a:xfrm>
            <a:prstGeom prst="rect">
              <a:avLst/>
            </a:prstGeom>
            <a:noFill/>
          </p:spPr>
          <p:txBody>
            <a:bodyPr wrap="square" lIns="0" tIns="0" rIns="0" bIns="0" rtlCol="0" anchor="t">
              <a:normAutofit/>
            </a:bodyPr>
            <a:lstStyle/>
            <a:p>
              <a:pPr marL="0" indent="0" algn="ctr">
                <a:buNone/>
              </a:pPr>
              <a:r>
                <a:rPr lang="en-US" sz="660" b="1" dirty="0">
                  <a:solidFill>
                    <a:srgbClr val="16803C"/>
                  </a:solidFill>
                  <a:latin typeface="Arial" panose="020B0604020202090204" pitchFamily="34" charset="0"/>
                  <a:ea typeface="Arial" panose="020B0604020202090204" pitchFamily="34" charset="-122"/>
                  <a:cs typeface="Arial" panose="020B0604020202090204" pitchFamily="34" charset="-120"/>
                </a:rPr>
                <a:t>C</a:t>
              </a:r>
              <a:endParaRPr lang="en-US" sz="660" dirty="0"/>
            </a:p>
          </p:txBody>
        </p:sp>
        <p:sp>
          <p:nvSpPr>
            <p:cNvPr id="66" name="Text 62"/>
            <p:cNvSpPr/>
            <p:nvPr/>
          </p:nvSpPr>
          <p:spPr>
            <a:xfrm>
              <a:off x="1670" y="5933"/>
              <a:ext cx="7402" cy="288"/>
            </a:xfrm>
            <a:prstGeom prst="rect">
              <a:avLst/>
            </a:prstGeom>
            <a:noFill/>
          </p:spPr>
          <p:txBody>
            <a:bodyPr wrap="square" lIns="0" tIns="0" rIns="0" bIns="0" rtlCol="0" anchor="t">
              <a:normAutofit/>
            </a:bodyPr>
            <a:lstStyle/>
            <a:p>
              <a:pPr marL="0" indent="0" algn="l">
                <a:buNone/>
              </a:pPr>
              <a:r>
                <a:rPr lang="en-US" sz="1000" b="1" dirty="0">
                  <a:solidFill>
                    <a:srgbClr val="334155"/>
                  </a:solidFill>
                  <a:latin typeface="Arial" panose="020B0604020202090204" pitchFamily="34" charset="0"/>
                  <a:ea typeface="Arial" panose="020B0604020202090204" pitchFamily="34" charset="-122"/>
                  <a:cs typeface="Arial" panose="020B0604020202090204" pitchFamily="34" charset="-120"/>
                </a:rPr>
                <a:t>C-f / admittance spectroscopy</a:t>
              </a:r>
              <a:endParaRPr lang="en-US" sz="1000" dirty="0"/>
            </a:p>
          </p:txBody>
        </p:sp>
        <p:graphicFrame>
          <p:nvGraphicFramePr>
            <p:cNvPr id="67" name="Chart 2"/>
            <p:cNvGraphicFramePr/>
            <p:nvPr/>
          </p:nvGraphicFramePr>
          <p:xfrm>
            <a:off x="1066" y="6538"/>
            <a:ext cx="4464" cy="2462"/>
          </p:xfrm>
          <a:graphic>
            <a:graphicData uri="http://schemas.openxmlformats.org/drawingml/2006/chart">
              <c:chart xmlns:c="http://schemas.openxmlformats.org/drawingml/2006/chart" xmlns:r="http://schemas.openxmlformats.org/officeDocument/2006/relationships" r:id="rId3"/>
            </a:graphicData>
          </a:graphic>
        </p:graphicFrame>
        <p:sp>
          <p:nvSpPr>
            <p:cNvPr id="68" name="Text 63"/>
            <p:cNvSpPr/>
            <p:nvPr/>
          </p:nvSpPr>
          <p:spPr>
            <a:xfrm>
              <a:off x="2534" y="8885"/>
              <a:ext cx="1296" cy="173"/>
            </a:xfrm>
            <a:prstGeom prst="rect">
              <a:avLst/>
            </a:prstGeom>
            <a:noFill/>
          </p:spPr>
          <p:txBody>
            <a:bodyPr wrap="square" lIns="0" tIns="0" rIns="0" bIns="0" rtlCol="0" anchor="t">
              <a:normAutofit/>
            </a:bodyPr>
            <a:lstStyle/>
            <a:p>
              <a:pPr marL="0" indent="0" algn="ctr">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Frequency </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f</a:t>
              </a: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 (Hz)</a:t>
              </a:r>
              <a:endParaRPr lang="en-US" sz="610" dirty="0"/>
            </a:p>
          </p:txBody>
        </p:sp>
        <p:sp>
          <p:nvSpPr>
            <p:cNvPr id="69" name="Text 64"/>
            <p:cNvSpPr/>
            <p:nvPr/>
          </p:nvSpPr>
          <p:spPr>
            <a:xfrm>
              <a:off x="1022" y="6509"/>
              <a:ext cx="1354" cy="173"/>
            </a:xfrm>
            <a:prstGeom prst="rect">
              <a:avLst/>
            </a:prstGeom>
            <a:noFill/>
          </p:spPr>
          <p:txBody>
            <a:bodyPr wrap="square" lIns="0" tIns="0" rIns="0" bIns="0" rtlCol="0" anchor="t">
              <a:normAutofit/>
            </a:bodyPr>
            <a:lstStyle/>
            <a:p>
              <a:pPr marL="0" indent="0" algn="l">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Normalized </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C</a:t>
              </a: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 / </a:t>
              </a:r>
              <a:r>
                <a:rPr lang="en-US" sz="610" i="1" dirty="0">
                  <a:solidFill>
                    <a:srgbClr val="64748B"/>
                  </a:solidFill>
                  <a:latin typeface="Arial" panose="020B0604020202090204" pitchFamily="34" charset="0"/>
                  <a:ea typeface="Arial" panose="020B0604020202090204" pitchFamily="34" charset="-122"/>
                  <a:cs typeface="Arial" panose="020B0604020202090204" pitchFamily="34" charset="-120"/>
                </a:rPr>
                <a:t>G</a:t>
              </a:r>
              <a:endParaRPr lang="en-US" sz="610" dirty="0"/>
            </a:p>
          </p:txBody>
        </p:sp>
        <p:sp>
          <p:nvSpPr>
            <p:cNvPr id="70" name="Text 65"/>
            <p:cNvSpPr/>
            <p:nvPr/>
          </p:nvSpPr>
          <p:spPr>
            <a:xfrm>
              <a:off x="5933" y="6538"/>
              <a:ext cx="3082" cy="259"/>
            </a:xfrm>
            <a:prstGeom prst="rect">
              <a:avLst/>
            </a:prstGeom>
            <a:noFill/>
          </p:spPr>
          <p:txBody>
            <a:bodyPr wrap="square" lIns="0" tIns="0" rIns="0" bIns="0" rtlCol="0" anchor="t">
              <a:normAutofit/>
            </a:bodyPr>
            <a:lstStyle/>
            <a:p>
              <a:pPr marL="0" indent="0" algn="l">
                <a:buNone/>
              </a:pPr>
              <a:r>
                <a:rPr lang="en-US" sz="690" b="1" dirty="0">
                  <a:solidFill>
                    <a:srgbClr val="16803C"/>
                  </a:solidFill>
                  <a:latin typeface="Arial" panose="020B0604020202090204" pitchFamily="34" charset="0"/>
                  <a:ea typeface="Arial" panose="020B0604020202090204" pitchFamily="34" charset="-122"/>
                  <a:cs typeface="Arial" panose="020B0604020202090204" pitchFamily="34" charset="-120"/>
                </a:rPr>
                <a:t>From admittance: </a:t>
              </a:r>
              <a:r>
                <a:rPr lang="en-US" sz="690" b="1" i="1" dirty="0">
                  <a:solidFill>
                    <a:srgbClr val="16803C"/>
                  </a:solidFill>
                  <a:latin typeface="Arial" panose="020B0604020202090204" pitchFamily="34" charset="0"/>
                  <a:ea typeface="Arial" panose="020B0604020202090204" pitchFamily="34" charset="-122"/>
                  <a:cs typeface="Arial" panose="020B0604020202090204" pitchFamily="34" charset="-120"/>
                </a:rPr>
                <a:t>Y</a:t>
              </a:r>
              <a:r>
                <a:rPr lang="en-US" sz="690" b="1" dirty="0">
                  <a:solidFill>
                    <a:srgbClr val="16803C"/>
                  </a:solidFill>
                  <a:latin typeface="Arial" panose="020B0604020202090204" pitchFamily="34" charset="0"/>
                  <a:ea typeface="Arial" panose="020B0604020202090204" pitchFamily="34" charset="-122"/>
                  <a:cs typeface="Arial" panose="020B0604020202090204" pitchFamily="34" charset="-120"/>
                </a:rPr>
                <a:t> = 1/</a:t>
              </a:r>
              <a:r>
                <a:rPr lang="en-US" sz="690" b="1" i="1" dirty="0">
                  <a:solidFill>
                    <a:srgbClr val="16803C"/>
                  </a:solidFill>
                  <a:latin typeface="Arial" panose="020B0604020202090204" pitchFamily="34" charset="0"/>
                  <a:ea typeface="Arial" panose="020B0604020202090204" pitchFamily="34" charset="-122"/>
                  <a:cs typeface="Arial" panose="020B0604020202090204" pitchFamily="34" charset="-120"/>
                </a:rPr>
                <a:t>Z</a:t>
              </a:r>
              <a:r>
                <a:rPr lang="en-US" sz="690" b="1" dirty="0">
                  <a:solidFill>
                    <a:srgbClr val="16803C"/>
                  </a:solidFill>
                  <a:latin typeface="Arial" panose="020B0604020202090204" pitchFamily="34" charset="0"/>
                  <a:ea typeface="Arial" panose="020B0604020202090204" pitchFamily="34" charset="-122"/>
                  <a:cs typeface="Arial" panose="020B0604020202090204" pitchFamily="34" charset="-120"/>
                </a:rPr>
                <a:t> = </a:t>
              </a:r>
              <a:r>
                <a:rPr lang="en-US" sz="690" b="1" i="1" dirty="0">
                  <a:solidFill>
                    <a:srgbClr val="16803C"/>
                  </a:solidFill>
                  <a:latin typeface="Arial" panose="020B0604020202090204" pitchFamily="34" charset="0"/>
                  <a:ea typeface="Arial" panose="020B0604020202090204" pitchFamily="34" charset="-122"/>
                  <a:cs typeface="Arial" panose="020B0604020202090204" pitchFamily="34" charset="-120"/>
                </a:rPr>
                <a:t>G</a:t>
              </a:r>
              <a:r>
                <a:rPr lang="en-US" sz="690" b="1" dirty="0">
                  <a:solidFill>
                    <a:srgbClr val="16803C"/>
                  </a:solidFill>
                  <a:latin typeface="Arial" panose="020B0604020202090204" pitchFamily="34" charset="0"/>
                  <a:ea typeface="Arial" panose="020B0604020202090204" pitchFamily="34" charset="-122"/>
                  <a:cs typeface="Arial" panose="020B0604020202090204" pitchFamily="34" charset="-120"/>
                </a:rPr>
                <a:t> + jω</a:t>
              </a:r>
              <a:r>
                <a:rPr lang="en-US" sz="690" b="1" i="1" dirty="0">
                  <a:solidFill>
                    <a:srgbClr val="16803C"/>
                  </a:solidFill>
                  <a:latin typeface="Arial" panose="020B0604020202090204" pitchFamily="34" charset="0"/>
                  <a:ea typeface="Arial" panose="020B0604020202090204" pitchFamily="34" charset="-122"/>
                  <a:cs typeface="Arial" panose="020B0604020202090204" pitchFamily="34" charset="-120"/>
                </a:rPr>
                <a:t>C</a:t>
              </a:r>
              <a:endParaRPr lang="en-US" sz="690" dirty="0"/>
            </a:p>
          </p:txBody>
        </p:sp>
        <p:sp>
          <p:nvSpPr>
            <p:cNvPr id="71" name="Shape 66"/>
            <p:cNvSpPr/>
            <p:nvPr/>
          </p:nvSpPr>
          <p:spPr>
            <a:xfrm>
              <a:off x="3701" y="6826"/>
              <a:ext cx="1008" cy="605"/>
            </a:xfrm>
            <a:prstGeom prst="roundRect">
              <a:avLst>
                <a:gd name="adj" fmla="val 8333"/>
              </a:avLst>
            </a:prstGeom>
            <a:solidFill>
              <a:srgbClr val="FFFFFF">
                <a:alpha val="94000"/>
              </a:srgbClr>
            </a:solidFill>
            <a:ln w="12700">
              <a:solidFill>
                <a:srgbClr val="16803C"/>
              </a:solidFill>
              <a:prstDash val="solid"/>
            </a:ln>
          </p:spPr>
        </p:sp>
        <p:sp>
          <p:nvSpPr>
            <p:cNvPr id="72" name="Shape 67"/>
            <p:cNvSpPr/>
            <p:nvPr/>
          </p:nvSpPr>
          <p:spPr>
            <a:xfrm>
              <a:off x="3816" y="6984"/>
              <a:ext cx="274" cy="0"/>
            </a:xfrm>
            <a:prstGeom prst="line">
              <a:avLst/>
            </a:prstGeom>
            <a:noFill/>
            <a:ln w="12700">
              <a:solidFill>
                <a:srgbClr val="16803C"/>
              </a:solidFill>
              <a:prstDash val="solid"/>
              <a:headEnd type="none"/>
              <a:tailEnd type="none"/>
            </a:ln>
          </p:spPr>
        </p:sp>
        <p:sp>
          <p:nvSpPr>
            <p:cNvPr id="73" name="Text 68"/>
            <p:cNvSpPr/>
            <p:nvPr/>
          </p:nvSpPr>
          <p:spPr>
            <a:xfrm>
              <a:off x="4162" y="6913"/>
              <a:ext cx="461" cy="130"/>
            </a:xfrm>
            <a:prstGeom prst="rect">
              <a:avLst/>
            </a:prstGeom>
            <a:noFill/>
          </p:spPr>
          <p:txBody>
            <a:bodyPr wrap="square" lIns="0" tIns="0" rIns="0" bIns="0" rtlCol="0" anchor="t">
              <a:normAutofit/>
            </a:bodyPr>
            <a:lstStyle/>
            <a:p>
              <a:pPr marL="0" indent="0" algn="l">
                <a:buNone/>
              </a:pP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C</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f</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endParaRPr lang="en-US" sz="535" dirty="0"/>
            </a:p>
          </p:txBody>
        </p:sp>
        <p:sp>
          <p:nvSpPr>
            <p:cNvPr id="74" name="Shape 69"/>
            <p:cNvSpPr/>
            <p:nvPr/>
          </p:nvSpPr>
          <p:spPr>
            <a:xfrm>
              <a:off x="3816" y="7193"/>
              <a:ext cx="274" cy="0"/>
            </a:xfrm>
            <a:prstGeom prst="line">
              <a:avLst/>
            </a:prstGeom>
            <a:noFill/>
            <a:ln w="12700">
              <a:solidFill>
                <a:srgbClr val="A16207"/>
              </a:solidFill>
              <a:prstDash val="solid"/>
              <a:headEnd type="none"/>
              <a:tailEnd type="none"/>
            </a:ln>
          </p:spPr>
        </p:sp>
        <p:sp>
          <p:nvSpPr>
            <p:cNvPr id="75" name="Text 70"/>
            <p:cNvSpPr/>
            <p:nvPr/>
          </p:nvSpPr>
          <p:spPr>
            <a:xfrm>
              <a:off x="4162" y="7122"/>
              <a:ext cx="461" cy="130"/>
            </a:xfrm>
            <a:prstGeom prst="rect">
              <a:avLst/>
            </a:prstGeom>
            <a:noFill/>
          </p:spPr>
          <p:txBody>
            <a:bodyPr wrap="square" lIns="0" tIns="0" rIns="0" bIns="0" rtlCol="0" anchor="t">
              <a:normAutofit/>
            </a:bodyPr>
            <a:lstStyle/>
            <a:p>
              <a:pPr marL="0" indent="0" algn="l">
                <a:buNone/>
              </a:pP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G</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r>
                <a:rPr lang="en-US" sz="535" i="1" dirty="0">
                  <a:solidFill>
                    <a:srgbClr val="334155"/>
                  </a:solidFill>
                  <a:latin typeface="Arial" panose="020B0604020202090204" pitchFamily="34" charset="0"/>
                  <a:ea typeface="Arial" panose="020B0604020202090204" pitchFamily="34" charset="-122"/>
                  <a:cs typeface="Arial" panose="020B0604020202090204" pitchFamily="34" charset="-120"/>
                </a:rPr>
                <a:t>f</a:t>
              </a: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a:t>
              </a:r>
              <a:endParaRPr lang="en-US" sz="535" dirty="0"/>
            </a:p>
          </p:txBody>
        </p:sp>
        <p:sp>
          <p:nvSpPr>
            <p:cNvPr id="76" name="Shape 71"/>
            <p:cNvSpPr/>
            <p:nvPr/>
          </p:nvSpPr>
          <p:spPr>
            <a:xfrm>
              <a:off x="5933" y="7222"/>
              <a:ext cx="50" cy="50"/>
            </a:xfrm>
            <a:prstGeom prst="rect">
              <a:avLst/>
            </a:prstGeom>
            <a:solidFill>
              <a:srgbClr val="16803C"/>
            </a:solidFill>
            <a:ln w="12700">
              <a:solidFill>
                <a:srgbClr val="16803C">
                  <a:alpha val="0"/>
                </a:srgbClr>
              </a:solidFill>
              <a:prstDash val="solid"/>
            </a:ln>
          </p:spPr>
        </p:sp>
        <p:sp>
          <p:nvSpPr>
            <p:cNvPr id="77" name="Text 72"/>
            <p:cNvSpPr/>
            <p:nvPr/>
          </p:nvSpPr>
          <p:spPr>
            <a:xfrm>
              <a:off x="6077" y="7157"/>
              <a:ext cx="2938" cy="619"/>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Frequency dispersion indicates slow traps, ions, or interfacial charging.</a:t>
              </a:r>
              <a:endParaRPr lang="en-US" sz="670" dirty="0"/>
            </a:p>
          </p:txBody>
        </p:sp>
        <p:sp>
          <p:nvSpPr>
            <p:cNvPr id="78" name="Shape 73"/>
            <p:cNvSpPr/>
            <p:nvPr/>
          </p:nvSpPr>
          <p:spPr>
            <a:xfrm>
              <a:off x="5933" y="7927"/>
              <a:ext cx="50" cy="50"/>
            </a:xfrm>
            <a:prstGeom prst="rect">
              <a:avLst/>
            </a:prstGeom>
            <a:solidFill>
              <a:srgbClr val="A16207"/>
            </a:solidFill>
            <a:ln w="12700">
              <a:solidFill>
                <a:srgbClr val="A16207">
                  <a:alpha val="0"/>
                </a:srgbClr>
              </a:solidFill>
              <a:prstDash val="solid"/>
            </a:ln>
          </p:spPr>
        </p:sp>
        <p:sp>
          <p:nvSpPr>
            <p:cNvPr id="79" name="Text 74"/>
            <p:cNvSpPr/>
            <p:nvPr/>
          </p:nvSpPr>
          <p:spPr>
            <a:xfrm>
              <a:off x="6077" y="7862"/>
              <a:ext cx="2938" cy="562"/>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Temperature-dependent C-f / G-f supports activation-energy analysis.</a:t>
              </a:r>
              <a:endParaRPr lang="en-US" sz="670" dirty="0"/>
            </a:p>
          </p:txBody>
        </p:sp>
        <p:sp>
          <p:nvSpPr>
            <p:cNvPr id="80" name="Shape 75"/>
            <p:cNvSpPr/>
            <p:nvPr/>
          </p:nvSpPr>
          <p:spPr>
            <a:xfrm>
              <a:off x="5933" y="8575"/>
              <a:ext cx="50" cy="50"/>
            </a:xfrm>
            <a:prstGeom prst="rect">
              <a:avLst/>
            </a:prstGeom>
            <a:solidFill>
              <a:srgbClr val="334155"/>
            </a:solidFill>
            <a:ln w="12700">
              <a:solidFill>
                <a:srgbClr val="334155">
                  <a:alpha val="0"/>
                </a:srgbClr>
              </a:solidFill>
              <a:prstDash val="solid"/>
            </a:ln>
          </p:spPr>
        </p:sp>
        <p:sp>
          <p:nvSpPr>
            <p:cNvPr id="81" name="Text 76"/>
            <p:cNvSpPr/>
            <p:nvPr/>
          </p:nvSpPr>
          <p:spPr>
            <a:xfrm>
              <a:off x="6077" y="8510"/>
              <a:ext cx="2938" cy="389"/>
            </a:xfrm>
            <a:prstGeom prst="rect">
              <a:avLst/>
            </a:prstGeom>
            <a:noFill/>
          </p:spPr>
          <p:txBody>
            <a:bodyPr wrap="square" lIns="0" tIns="0" rIns="0" bIns="0" rtlCol="0" anchor="t">
              <a:normAutofit/>
            </a:bodyPr>
            <a:lstStyle/>
            <a:p>
              <a:pPr marL="0" indent="0" algn="l">
                <a:buNone/>
              </a:pPr>
              <a:r>
                <a:rPr lang="en-US" sz="635" dirty="0">
                  <a:solidFill>
                    <a:srgbClr val="334155"/>
                  </a:solidFill>
                  <a:latin typeface="Arial" panose="020B0604020202090204" pitchFamily="34" charset="0"/>
                  <a:ea typeface="Arial" panose="020B0604020202090204" pitchFamily="34" charset="-122"/>
                  <a:cs typeface="Arial" panose="020B0604020202090204" pitchFamily="34" charset="-120"/>
                </a:rPr>
                <a:t>Here, C-f is derived from impedance/admittance.</a:t>
              </a:r>
              <a:endParaRPr lang="en-US" sz="635" dirty="0"/>
            </a:p>
          </p:txBody>
        </p:sp>
        <p:sp>
          <p:nvSpPr>
            <p:cNvPr id="82" name="Shape 77"/>
            <p:cNvSpPr/>
            <p:nvPr/>
          </p:nvSpPr>
          <p:spPr>
            <a:xfrm>
              <a:off x="9850" y="5702"/>
              <a:ext cx="8640" cy="3672"/>
            </a:xfrm>
            <a:prstGeom prst="roundRect">
              <a:avLst>
                <a:gd name="adj" fmla="val 3137"/>
              </a:avLst>
            </a:prstGeom>
            <a:solidFill>
              <a:srgbClr val="FFFFFF"/>
            </a:solidFill>
            <a:ln w="12700">
              <a:solidFill>
                <a:srgbClr val="CBD5E1"/>
              </a:solidFill>
              <a:prstDash val="solid"/>
            </a:ln>
          </p:spPr>
        </p:sp>
        <p:sp>
          <p:nvSpPr>
            <p:cNvPr id="83" name="Shape 78"/>
            <p:cNvSpPr/>
            <p:nvPr/>
          </p:nvSpPr>
          <p:spPr>
            <a:xfrm>
              <a:off x="9850" y="5702"/>
              <a:ext cx="115" cy="3672"/>
            </a:xfrm>
            <a:prstGeom prst="rect">
              <a:avLst/>
            </a:prstGeom>
            <a:solidFill>
              <a:srgbClr val="6D28D9"/>
            </a:solidFill>
            <a:ln w="12700">
              <a:solidFill>
                <a:srgbClr val="6D28D9">
                  <a:alpha val="0"/>
                </a:srgbClr>
              </a:solidFill>
              <a:prstDash val="solid"/>
            </a:ln>
          </p:spPr>
        </p:sp>
        <p:sp>
          <p:nvSpPr>
            <p:cNvPr id="84" name="Shape 79"/>
            <p:cNvSpPr/>
            <p:nvPr/>
          </p:nvSpPr>
          <p:spPr>
            <a:xfrm>
              <a:off x="10109" y="5918"/>
              <a:ext cx="547" cy="346"/>
            </a:xfrm>
            <a:prstGeom prst="roundRect">
              <a:avLst>
                <a:gd name="adj" fmla="val 25000"/>
              </a:avLst>
            </a:prstGeom>
            <a:solidFill>
              <a:srgbClr val="EDE9FE"/>
            </a:solidFill>
            <a:ln w="12700">
              <a:solidFill>
                <a:srgbClr val="6D28D9"/>
              </a:solidFill>
              <a:prstDash val="solid"/>
            </a:ln>
          </p:spPr>
        </p:sp>
        <p:sp>
          <p:nvSpPr>
            <p:cNvPr id="85" name="Text 80"/>
            <p:cNvSpPr/>
            <p:nvPr/>
          </p:nvSpPr>
          <p:spPr>
            <a:xfrm>
              <a:off x="10181" y="5993"/>
              <a:ext cx="403" cy="144"/>
            </a:xfrm>
            <a:prstGeom prst="rect">
              <a:avLst/>
            </a:prstGeom>
            <a:noFill/>
          </p:spPr>
          <p:txBody>
            <a:bodyPr wrap="square" lIns="0" tIns="0" rIns="0" bIns="0" rtlCol="0" anchor="t">
              <a:normAutofit/>
            </a:bodyPr>
            <a:lstStyle/>
            <a:p>
              <a:pPr marL="0" indent="0" algn="ctr">
                <a:buNone/>
              </a:pPr>
              <a:r>
                <a:rPr lang="en-US" sz="660" b="1" dirty="0">
                  <a:solidFill>
                    <a:srgbClr val="6D28D9"/>
                  </a:solidFill>
                  <a:latin typeface="Arial" panose="020B0604020202090204" pitchFamily="34" charset="0"/>
                  <a:ea typeface="Arial" panose="020B0604020202090204" pitchFamily="34" charset="-122"/>
                  <a:cs typeface="Arial" panose="020B0604020202090204" pitchFamily="34" charset="-120"/>
                </a:rPr>
                <a:t>D</a:t>
              </a:r>
              <a:endParaRPr lang="en-US" sz="660" dirty="0"/>
            </a:p>
          </p:txBody>
        </p:sp>
        <p:sp>
          <p:nvSpPr>
            <p:cNvPr id="86" name="Text 81"/>
            <p:cNvSpPr/>
            <p:nvPr/>
          </p:nvSpPr>
          <p:spPr>
            <a:xfrm>
              <a:off x="10800" y="5933"/>
              <a:ext cx="7402" cy="288"/>
            </a:xfrm>
            <a:prstGeom prst="rect">
              <a:avLst/>
            </a:prstGeom>
            <a:noFill/>
          </p:spPr>
          <p:txBody>
            <a:bodyPr wrap="square" lIns="0" tIns="0" rIns="0" bIns="0" rtlCol="0" anchor="t">
              <a:normAutofit/>
            </a:bodyPr>
            <a:lstStyle/>
            <a:p>
              <a:pPr marL="0" indent="0" algn="l">
                <a:buNone/>
              </a:pPr>
              <a:r>
                <a:rPr lang="en-US" sz="1000" b="1" dirty="0">
                  <a:solidFill>
                    <a:srgbClr val="334155"/>
                  </a:solidFill>
                  <a:latin typeface="Arial" panose="020B0604020202090204" pitchFamily="34" charset="0"/>
                  <a:ea typeface="Arial" panose="020B0604020202090204" pitchFamily="34" charset="-122"/>
                  <a:cs typeface="Arial" panose="020B0604020202090204" pitchFamily="34" charset="-120"/>
                </a:rPr>
                <a:t>QE / spectral response</a:t>
              </a:r>
              <a:endParaRPr lang="en-US" sz="1000" dirty="0"/>
            </a:p>
          </p:txBody>
        </p:sp>
        <p:graphicFrame>
          <p:nvGraphicFramePr>
            <p:cNvPr id="87" name="Chart 3"/>
            <p:cNvGraphicFramePr/>
            <p:nvPr/>
          </p:nvGraphicFramePr>
          <p:xfrm>
            <a:off x="10195" y="6538"/>
            <a:ext cx="4464" cy="2462"/>
          </p:xfrm>
          <a:graphic>
            <a:graphicData uri="http://schemas.openxmlformats.org/drawingml/2006/chart">
              <c:chart xmlns:c="http://schemas.openxmlformats.org/drawingml/2006/chart" xmlns:r="http://schemas.openxmlformats.org/officeDocument/2006/relationships" r:id="rId4"/>
            </a:graphicData>
          </a:graphic>
        </p:graphicFrame>
        <p:sp>
          <p:nvSpPr>
            <p:cNvPr id="88" name="Text 82"/>
            <p:cNvSpPr/>
            <p:nvPr/>
          </p:nvSpPr>
          <p:spPr>
            <a:xfrm>
              <a:off x="11635" y="8885"/>
              <a:ext cx="1512" cy="173"/>
            </a:xfrm>
            <a:prstGeom prst="rect">
              <a:avLst/>
            </a:prstGeom>
            <a:noFill/>
          </p:spPr>
          <p:txBody>
            <a:bodyPr wrap="square" lIns="0" tIns="0" rIns="0" bIns="0" rtlCol="0" anchor="t">
              <a:normAutofit/>
            </a:bodyPr>
            <a:lstStyle/>
            <a:p>
              <a:pPr marL="0" indent="0" algn="ctr">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Wavelength λ (nm)</a:t>
              </a:r>
              <a:endParaRPr lang="en-US" sz="610" dirty="0"/>
            </a:p>
          </p:txBody>
        </p:sp>
        <p:sp>
          <p:nvSpPr>
            <p:cNvPr id="89" name="Text 83"/>
            <p:cNvSpPr/>
            <p:nvPr/>
          </p:nvSpPr>
          <p:spPr>
            <a:xfrm>
              <a:off x="10166" y="6509"/>
              <a:ext cx="792" cy="173"/>
            </a:xfrm>
            <a:prstGeom prst="rect">
              <a:avLst/>
            </a:prstGeom>
            <a:noFill/>
          </p:spPr>
          <p:txBody>
            <a:bodyPr wrap="square" lIns="0" tIns="0" rIns="0" bIns="0" rtlCol="0" anchor="t">
              <a:normAutofit/>
            </a:bodyPr>
            <a:lstStyle/>
            <a:p>
              <a:pPr marL="0" indent="0" algn="l">
                <a:buNone/>
              </a:pPr>
              <a:r>
                <a:rPr lang="en-US" sz="610" dirty="0">
                  <a:solidFill>
                    <a:srgbClr val="64748B"/>
                  </a:solidFill>
                  <a:latin typeface="Arial" panose="020B0604020202090204" pitchFamily="34" charset="0"/>
                  <a:ea typeface="Arial" panose="020B0604020202090204" pitchFamily="34" charset="-122"/>
                  <a:cs typeface="Arial" panose="020B0604020202090204" pitchFamily="34" charset="-120"/>
                </a:rPr>
                <a:t>QE (%)</a:t>
              </a:r>
              <a:endParaRPr lang="en-US" sz="610" dirty="0"/>
            </a:p>
          </p:txBody>
        </p:sp>
        <p:sp>
          <p:nvSpPr>
            <p:cNvPr id="90" name="Shape 84"/>
            <p:cNvSpPr/>
            <p:nvPr/>
          </p:nvSpPr>
          <p:spPr>
            <a:xfrm>
              <a:off x="13133" y="6854"/>
              <a:ext cx="1037" cy="396"/>
            </a:xfrm>
            <a:prstGeom prst="roundRect">
              <a:avLst>
                <a:gd name="adj" fmla="val 12727"/>
              </a:avLst>
            </a:prstGeom>
            <a:solidFill>
              <a:srgbClr val="FFFFFF">
                <a:alpha val="94000"/>
              </a:srgbClr>
            </a:solidFill>
            <a:ln w="12700">
              <a:solidFill>
                <a:srgbClr val="6D28D9"/>
              </a:solidFill>
              <a:prstDash val="solid"/>
            </a:ln>
          </p:spPr>
        </p:sp>
        <p:sp>
          <p:nvSpPr>
            <p:cNvPr id="91" name="Shape 85"/>
            <p:cNvSpPr/>
            <p:nvPr/>
          </p:nvSpPr>
          <p:spPr>
            <a:xfrm>
              <a:off x="13248" y="7013"/>
              <a:ext cx="274" cy="0"/>
            </a:xfrm>
            <a:prstGeom prst="line">
              <a:avLst/>
            </a:prstGeom>
            <a:noFill/>
            <a:ln w="12700">
              <a:solidFill>
                <a:srgbClr val="6D28D9"/>
              </a:solidFill>
              <a:prstDash val="solid"/>
              <a:headEnd type="none"/>
              <a:tailEnd type="none"/>
            </a:ln>
          </p:spPr>
        </p:sp>
        <p:sp>
          <p:nvSpPr>
            <p:cNvPr id="92" name="Text 86"/>
            <p:cNvSpPr/>
            <p:nvPr/>
          </p:nvSpPr>
          <p:spPr>
            <a:xfrm>
              <a:off x="13594" y="6942"/>
              <a:ext cx="490" cy="130"/>
            </a:xfrm>
            <a:prstGeom prst="rect">
              <a:avLst/>
            </a:prstGeom>
            <a:noFill/>
          </p:spPr>
          <p:txBody>
            <a:bodyPr wrap="square" lIns="0" tIns="0" rIns="0" bIns="0" rtlCol="0" anchor="t">
              <a:normAutofit/>
            </a:bodyPr>
            <a:lstStyle/>
            <a:p>
              <a:pPr marL="0" indent="0" algn="l">
                <a:buNone/>
              </a:pPr>
              <a:r>
                <a:rPr lang="en-US" sz="535" dirty="0">
                  <a:solidFill>
                    <a:srgbClr val="334155"/>
                  </a:solidFill>
                  <a:latin typeface="Arial" panose="020B0604020202090204" pitchFamily="34" charset="0"/>
                  <a:ea typeface="Arial" panose="020B0604020202090204" pitchFamily="34" charset="-122"/>
                  <a:cs typeface="Arial" panose="020B0604020202090204" pitchFamily="34" charset="-120"/>
                </a:rPr>
                <a:t>QE(λ)</a:t>
              </a:r>
              <a:endParaRPr lang="en-US" sz="535" dirty="0"/>
            </a:p>
          </p:txBody>
        </p:sp>
        <p:sp>
          <p:nvSpPr>
            <p:cNvPr id="93" name="Shape 87"/>
            <p:cNvSpPr/>
            <p:nvPr/>
          </p:nvSpPr>
          <p:spPr>
            <a:xfrm>
              <a:off x="15062" y="6538"/>
              <a:ext cx="1296" cy="446"/>
            </a:xfrm>
            <a:prstGeom prst="roundRect">
              <a:avLst>
                <a:gd name="adj" fmla="val 12903"/>
              </a:avLst>
            </a:prstGeom>
            <a:solidFill>
              <a:srgbClr val="F8FAFC"/>
            </a:solidFill>
            <a:ln w="12700">
              <a:solidFill>
                <a:srgbClr val="CBD5E1"/>
              </a:solidFill>
              <a:prstDash val="solid"/>
            </a:ln>
          </p:spPr>
        </p:sp>
        <p:sp>
          <p:nvSpPr>
            <p:cNvPr id="94" name="Text 88"/>
            <p:cNvSpPr/>
            <p:nvPr/>
          </p:nvSpPr>
          <p:spPr>
            <a:xfrm>
              <a:off x="15149" y="6604"/>
              <a:ext cx="490" cy="144"/>
            </a:xfrm>
            <a:prstGeom prst="rect">
              <a:avLst/>
            </a:prstGeom>
            <a:noFill/>
          </p:spPr>
          <p:txBody>
            <a:bodyPr wrap="square" lIns="0" tIns="0" rIns="0" bIns="0" rtlCol="0" anchor="t">
              <a:normAutofit/>
            </a:bodyPr>
            <a:lstStyle/>
            <a:p>
              <a:pPr marL="0" indent="0" algn="l">
                <a:buNone/>
              </a:pPr>
              <a:r>
                <a:rPr lang="en-US" sz="580" i="1" dirty="0">
                  <a:solidFill>
                    <a:srgbClr val="64748B"/>
                  </a:solidFill>
                  <a:latin typeface="Arial" panose="020B0604020202090204" pitchFamily="34" charset="0"/>
                  <a:ea typeface="Arial" panose="020B0604020202090204" pitchFamily="34" charset="-122"/>
                  <a:cs typeface="Arial" panose="020B0604020202090204" pitchFamily="34" charset="-120"/>
                </a:rPr>
                <a:t>J</a:t>
              </a:r>
              <a:r>
                <a:rPr lang="en-US" sz="580" baseline="-40000" dirty="0">
                  <a:solidFill>
                    <a:srgbClr val="64748B"/>
                  </a:solidFill>
                  <a:latin typeface="Arial" panose="020B0604020202090204" pitchFamily="34" charset="0"/>
                  <a:ea typeface="Arial" panose="020B0604020202090204" pitchFamily="34" charset="-122"/>
                  <a:cs typeface="Arial" panose="020B0604020202090204" pitchFamily="34" charset="-120"/>
                </a:rPr>
                <a:t>sc,QE</a:t>
              </a:r>
              <a:endParaRPr lang="en-US" sz="580" dirty="0"/>
            </a:p>
          </p:txBody>
        </p:sp>
        <p:sp>
          <p:nvSpPr>
            <p:cNvPr id="95" name="Text 89"/>
            <p:cNvSpPr/>
            <p:nvPr/>
          </p:nvSpPr>
          <p:spPr>
            <a:xfrm>
              <a:off x="15638" y="6600"/>
              <a:ext cx="619" cy="158"/>
            </a:xfrm>
            <a:prstGeom prst="rect">
              <a:avLst/>
            </a:prstGeom>
            <a:noFill/>
          </p:spPr>
          <p:txBody>
            <a:bodyPr wrap="square" lIns="0" tIns="0" rIns="0" bIns="0" rtlCol="0" anchor="t">
              <a:normAutofit/>
            </a:bodyPr>
            <a:lstStyle/>
            <a:p>
              <a:pPr marL="0" indent="0" algn="r">
                <a:buNone/>
              </a:pPr>
              <a:r>
                <a:rPr lang="en-US" sz="640" b="1" dirty="0">
                  <a:solidFill>
                    <a:srgbClr val="6D28D9"/>
                  </a:solidFill>
                  <a:latin typeface="Arial" panose="020B0604020202090204" pitchFamily="34" charset="0"/>
                  <a:ea typeface="Arial" panose="020B0604020202090204" pitchFamily="34" charset="-122"/>
                  <a:cs typeface="Arial" panose="020B0604020202090204" pitchFamily="34" charset="-120"/>
                </a:rPr>
                <a:t>23.5</a:t>
              </a:r>
              <a:endParaRPr lang="en-US" sz="640" dirty="0"/>
            </a:p>
          </p:txBody>
        </p:sp>
        <p:sp>
          <p:nvSpPr>
            <p:cNvPr id="96" name="Shape 90"/>
            <p:cNvSpPr/>
            <p:nvPr/>
          </p:nvSpPr>
          <p:spPr>
            <a:xfrm>
              <a:off x="16517" y="6538"/>
              <a:ext cx="1296" cy="446"/>
            </a:xfrm>
            <a:prstGeom prst="roundRect">
              <a:avLst>
                <a:gd name="adj" fmla="val 12903"/>
              </a:avLst>
            </a:prstGeom>
            <a:solidFill>
              <a:srgbClr val="F8FAFC"/>
            </a:solidFill>
            <a:ln w="12700">
              <a:solidFill>
                <a:srgbClr val="CBD5E1"/>
              </a:solidFill>
              <a:prstDash val="solid"/>
            </a:ln>
          </p:spPr>
        </p:sp>
        <p:sp>
          <p:nvSpPr>
            <p:cNvPr id="97" name="Text 91"/>
            <p:cNvSpPr/>
            <p:nvPr/>
          </p:nvSpPr>
          <p:spPr>
            <a:xfrm>
              <a:off x="16603" y="6604"/>
              <a:ext cx="346" cy="144"/>
            </a:xfrm>
            <a:prstGeom prst="rect">
              <a:avLst/>
            </a:prstGeom>
            <a:noFill/>
          </p:spPr>
          <p:txBody>
            <a:bodyPr wrap="square" lIns="0" tIns="0" rIns="0" bIns="0" rtlCol="0" anchor="t">
              <a:normAutofit/>
            </a:bodyPr>
            <a:lstStyle/>
            <a:p>
              <a:pPr marL="0" indent="0" algn="l">
                <a:buNone/>
              </a:pPr>
              <a:r>
                <a:rPr lang="en-US" sz="580" i="1" dirty="0">
                  <a:solidFill>
                    <a:srgbClr val="64748B"/>
                  </a:solidFill>
                  <a:latin typeface="Arial" panose="020B0604020202090204" pitchFamily="34" charset="0"/>
                  <a:ea typeface="Arial" panose="020B0604020202090204" pitchFamily="34" charset="-122"/>
                  <a:cs typeface="Arial" panose="020B0604020202090204" pitchFamily="34" charset="-120"/>
                </a:rPr>
                <a:t>E</a:t>
              </a:r>
              <a:r>
                <a:rPr lang="en-US" sz="580" baseline="-40000" dirty="0">
                  <a:solidFill>
                    <a:srgbClr val="64748B"/>
                  </a:solidFill>
                  <a:latin typeface="Arial" panose="020B0604020202090204" pitchFamily="34" charset="0"/>
                  <a:ea typeface="Arial" panose="020B0604020202090204" pitchFamily="34" charset="-122"/>
                  <a:cs typeface="Arial" panose="020B0604020202090204" pitchFamily="34" charset="-120"/>
                </a:rPr>
                <a:t>g</a:t>
              </a:r>
              <a:endParaRPr lang="en-US" sz="580" dirty="0"/>
            </a:p>
          </p:txBody>
        </p:sp>
        <p:sp>
          <p:nvSpPr>
            <p:cNvPr id="98" name="Text 92"/>
            <p:cNvSpPr/>
            <p:nvPr/>
          </p:nvSpPr>
          <p:spPr>
            <a:xfrm>
              <a:off x="17050" y="6600"/>
              <a:ext cx="662" cy="158"/>
            </a:xfrm>
            <a:prstGeom prst="rect">
              <a:avLst/>
            </a:prstGeom>
            <a:noFill/>
          </p:spPr>
          <p:txBody>
            <a:bodyPr wrap="square" lIns="0" tIns="0" rIns="0" bIns="0" rtlCol="0" anchor="t">
              <a:normAutofit/>
            </a:bodyPr>
            <a:lstStyle/>
            <a:p>
              <a:pPr marL="0" indent="0" algn="r">
                <a:buNone/>
              </a:pPr>
              <a:r>
                <a:rPr lang="en-US" sz="640" b="1" dirty="0">
                  <a:solidFill>
                    <a:srgbClr val="6D28D9"/>
                  </a:solidFill>
                  <a:latin typeface="Arial" panose="020B0604020202090204" pitchFamily="34" charset="0"/>
                  <a:ea typeface="Arial" panose="020B0604020202090204" pitchFamily="34" charset="-122"/>
                  <a:cs typeface="Arial" panose="020B0604020202090204" pitchFamily="34" charset="-120"/>
                </a:rPr>
                <a:t>edge</a:t>
              </a:r>
              <a:endParaRPr lang="en-US" sz="640" dirty="0"/>
            </a:p>
          </p:txBody>
        </p:sp>
        <p:sp>
          <p:nvSpPr>
            <p:cNvPr id="99" name="Shape 93"/>
            <p:cNvSpPr/>
            <p:nvPr/>
          </p:nvSpPr>
          <p:spPr>
            <a:xfrm>
              <a:off x="15062" y="7322"/>
              <a:ext cx="50" cy="50"/>
            </a:xfrm>
            <a:prstGeom prst="rect">
              <a:avLst/>
            </a:prstGeom>
            <a:solidFill>
              <a:srgbClr val="6D28D9"/>
            </a:solidFill>
            <a:ln w="12700">
              <a:solidFill>
                <a:srgbClr val="6D28D9">
                  <a:alpha val="0"/>
                </a:srgbClr>
              </a:solidFill>
              <a:prstDash val="solid"/>
            </a:ln>
          </p:spPr>
        </p:sp>
        <p:sp>
          <p:nvSpPr>
            <p:cNvPr id="100" name="Text 94"/>
            <p:cNvSpPr/>
            <p:nvPr/>
          </p:nvSpPr>
          <p:spPr>
            <a:xfrm>
              <a:off x="15206" y="7258"/>
              <a:ext cx="2938" cy="547"/>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QE is plotted versus wavelength λ or photon energy hν, not electrical frequency.</a:t>
              </a:r>
              <a:endParaRPr lang="en-US" sz="670" dirty="0"/>
            </a:p>
          </p:txBody>
        </p:sp>
        <p:sp>
          <p:nvSpPr>
            <p:cNvPr id="101" name="Shape 95"/>
            <p:cNvSpPr/>
            <p:nvPr/>
          </p:nvSpPr>
          <p:spPr>
            <a:xfrm>
              <a:off x="15062" y="7956"/>
              <a:ext cx="50" cy="50"/>
            </a:xfrm>
            <a:prstGeom prst="rect">
              <a:avLst/>
            </a:prstGeom>
            <a:solidFill>
              <a:srgbClr val="6D28D9"/>
            </a:solidFill>
            <a:ln w="12700">
              <a:solidFill>
                <a:srgbClr val="6D28D9">
                  <a:alpha val="0"/>
                </a:srgbClr>
              </a:solidFill>
              <a:prstDash val="solid"/>
            </a:ln>
          </p:spPr>
        </p:sp>
        <p:sp>
          <p:nvSpPr>
            <p:cNvPr id="102" name="Text 96"/>
            <p:cNvSpPr/>
            <p:nvPr/>
          </p:nvSpPr>
          <p:spPr>
            <a:xfrm>
              <a:off x="15206" y="7891"/>
              <a:ext cx="2938" cy="518"/>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Integrated QE gives a consistency check on </a:t>
              </a:r>
              <a:r>
                <a:rPr lang="en-US" sz="670" i="1" dirty="0">
                  <a:solidFill>
                    <a:srgbClr val="334155"/>
                  </a:solidFill>
                  <a:latin typeface="Arial" panose="020B0604020202090204" pitchFamily="34" charset="0"/>
                  <a:ea typeface="Arial" panose="020B0604020202090204" pitchFamily="34" charset="-122"/>
                  <a:cs typeface="Arial" panose="020B0604020202090204" pitchFamily="34" charset="-120"/>
                </a:rPr>
                <a:t>J</a:t>
              </a:r>
              <a:r>
                <a:rPr lang="en-US" sz="670" baseline="-40000" dirty="0">
                  <a:solidFill>
                    <a:srgbClr val="334155"/>
                  </a:solidFill>
                  <a:latin typeface="Arial" panose="020B0604020202090204" pitchFamily="34" charset="0"/>
                  <a:ea typeface="Arial" panose="020B0604020202090204" pitchFamily="34" charset="-122"/>
                  <a:cs typeface="Arial" panose="020B0604020202090204" pitchFamily="34" charset="-120"/>
                </a:rPr>
                <a:t>sc</a:t>
              </a: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 under AM1.5G illumination.</a:t>
              </a:r>
              <a:endParaRPr lang="en-US" sz="670" dirty="0"/>
            </a:p>
          </p:txBody>
        </p:sp>
        <p:sp>
          <p:nvSpPr>
            <p:cNvPr id="103" name="Shape 97"/>
            <p:cNvSpPr/>
            <p:nvPr/>
          </p:nvSpPr>
          <p:spPr>
            <a:xfrm>
              <a:off x="15062" y="8532"/>
              <a:ext cx="50" cy="50"/>
            </a:xfrm>
            <a:prstGeom prst="rect">
              <a:avLst/>
            </a:prstGeom>
            <a:solidFill>
              <a:srgbClr val="334155"/>
            </a:solidFill>
            <a:ln w="12700">
              <a:solidFill>
                <a:srgbClr val="334155">
                  <a:alpha val="0"/>
                </a:srgbClr>
              </a:solidFill>
              <a:prstDash val="solid"/>
            </a:ln>
          </p:spPr>
        </p:sp>
        <p:sp>
          <p:nvSpPr>
            <p:cNvPr id="104" name="Text 98"/>
            <p:cNvSpPr/>
            <p:nvPr/>
          </p:nvSpPr>
          <p:spPr>
            <a:xfrm>
              <a:off x="15206" y="8467"/>
              <a:ext cx="2938" cy="446"/>
            </a:xfrm>
            <a:prstGeom prst="rect">
              <a:avLst/>
            </a:prstGeom>
            <a:noFill/>
          </p:spPr>
          <p:txBody>
            <a:bodyPr wrap="square" lIns="0" tIns="0" rIns="0" bIns="0" rtlCol="0" anchor="t">
              <a:normAutofit/>
            </a:bodyPr>
            <a:lstStyle/>
            <a:p>
              <a:pPr marL="0" indent="0" algn="l">
                <a:buNone/>
              </a:pPr>
              <a:r>
                <a:rPr lang="en-US" sz="670" dirty="0">
                  <a:solidFill>
                    <a:srgbClr val="334155"/>
                  </a:solidFill>
                  <a:latin typeface="Arial" panose="020B0604020202090204" pitchFamily="34" charset="0"/>
                  <a:ea typeface="Arial" panose="020B0604020202090204" pitchFamily="34" charset="-122"/>
                  <a:cs typeface="Arial" panose="020B0604020202090204" pitchFamily="34" charset="-120"/>
                </a:rPr>
                <a:t>Short- and long-wavelength roll-off locate optical and collection losses.</a:t>
              </a:r>
              <a:endParaRPr lang="en-US" sz="670" dirty="0"/>
            </a:p>
          </p:txBody>
        </p:sp>
      </p:grpSp>
      <p:sp>
        <p:nvSpPr>
          <p:cNvPr id="105" name="Shape 99"/>
          <p:cNvSpPr/>
          <p:nvPr/>
        </p:nvSpPr>
        <p:spPr>
          <a:xfrm>
            <a:off x="0" y="6291072"/>
            <a:ext cx="12191695" cy="566928"/>
          </a:xfrm>
          <a:prstGeom prst="rect">
            <a:avLst/>
          </a:prstGeom>
          <a:solidFill>
            <a:srgbClr val="EAF2FF"/>
          </a:solidFill>
          <a:ln w="12700">
            <a:solidFill>
              <a:srgbClr val="EAF2FF">
                <a:alpha val="0"/>
              </a:srgbClr>
            </a:solidFill>
            <a:prstDash val="solid"/>
          </a:ln>
        </p:spPr>
      </p:sp>
      <p:sp>
        <p:nvSpPr>
          <p:cNvPr id="106" name="Text 100"/>
          <p:cNvSpPr/>
          <p:nvPr/>
        </p:nvSpPr>
        <p:spPr>
          <a:xfrm>
            <a:off x="585216" y="6455664"/>
            <a:ext cx="11018520" cy="182880"/>
          </a:xfrm>
          <a:prstGeom prst="rect">
            <a:avLst/>
          </a:prstGeom>
          <a:noFill/>
        </p:spPr>
        <p:txBody>
          <a:bodyPr wrap="square" lIns="0" tIns="0" rIns="0" bIns="0" rtlCol="0" anchor="t">
            <a:normAutofit/>
          </a:bodyPr>
          <a:lstStyle/>
          <a:p>
            <a:pPr marL="0" indent="0" algn="ctr">
              <a:buNone/>
            </a:pPr>
            <a:r>
              <a:rPr lang="en-US" sz="1010" b="1" dirty="0">
                <a:solidFill>
                  <a:srgbClr val="162033"/>
                </a:solidFill>
                <a:latin typeface="Arial" panose="020B0604020202090204" pitchFamily="34" charset="0"/>
                <a:ea typeface="Arial" panose="020B0604020202090204" pitchFamily="34" charset="-122"/>
                <a:cs typeface="Arial" panose="020B0604020202090204" pitchFamily="34" charset="-120"/>
              </a:rPr>
              <a:t>Note: </a:t>
            </a:r>
            <a:r>
              <a:rPr lang="en-US" sz="1010" dirty="0">
                <a:solidFill>
                  <a:srgbClr val="162033"/>
                </a:solidFill>
                <a:latin typeface="Arial" panose="020B0604020202090204" pitchFamily="34" charset="0"/>
                <a:ea typeface="Arial" panose="020B0604020202090204" pitchFamily="34" charset="-122"/>
                <a:cs typeface="Arial" panose="020B0604020202090204" pitchFamily="34" charset="-120"/>
              </a:rPr>
              <a:t>band diagrams, carrier densities, electric field, current components, generation and recombination are </a:t>
            </a:r>
            <a:r>
              <a:rPr lang="en-US" sz="1010" b="1" dirty="0">
                <a:solidFill>
                  <a:srgbClr val="2563EB"/>
                </a:solidFill>
                <a:latin typeface="Arial" panose="020B0604020202090204" pitchFamily="34" charset="0"/>
                <a:ea typeface="Arial" panose="020B0604020202090204" pitchFamily="34" charset="-122"/>
                <a:cs typeface="Arial" panose="020B0604020202090204" pitchFamily="34" charset="-120"/>
              </a:rPr>
              <a:t>diagnostic working-point profiles</a:t>
            </a:r>
            <a:r>
              <a:rPr lang="en-US" sz="1010" dirty="0">
                <a:solidFill>
                  <a:srgbClr val="162033"/>
                </a:solidFill>
                <a:latin typeface="Arial" panose="020B0604020202090204" pitchFamily="34" charset="0"/>
                <a:ea typeface="Arial" panose="020B0604020202090204" pitchFamily="34" charset="-122"/>
                <a:cs typeface="Arial" panose="020B0604020202090204" pitchFamily="34" charset="-120"/>
              </a:rPr>
              <a:t>, not the four primary SCAPS-1D output modules.</a:t>
            </a:r>
            <a:endParaRPr lang="en-US" sz="10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1499</Words>
  <Application>WPS 演示</Application>
  <PresentationFormat>On-screen Show (16:9)</PresentationFormat>
  <Paragraphs>112</Paragraphs>
  <Slides>1</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vt:i4>
      </vt:variant>
    </vt:vector>
  </HeadingPairs>
  <TitlesOfParts>
    <vt:vector size="18" baseType="lpstr">
      <vt:lpstr>Arial</vt:lpstr>
      <vt:lpstr>宋体</vt:lpstr>
      <vt:lpstr>Wingdings</vt:lpstr>
      <vt:lpstr>Arial</vt:lpstr>
      <vt:lpstr>Arial</vt:lpstr>
      <vt:lpstr>Arial</vt:lpstr>
      <vt:lpstr>宋体-简</vt:lpstr>
      <vt:lpstr>微软雅黑</vt:lpstr>
      <vt:lpstr>汉仪旗黑</vt:lpstr>
      <vt:lpstr>宋体</vt:lpstr>
      <vt:lpstr>Arial Unicode MS</vt:lpstr>
      <vt:lpstr>Calibri</vt:lpstr>
      <vt:lpstr>Helvetica Neue</vt:lpstr>
      <vt:lpstr>汉仪书宋二KW</vt:lpstr>
      <vt:lpstr>等线</vt:lpstr>
      <vt:lpstr>汉仪中等线KW</vt:lpstr>
      <vt:lpstr>Office Theme</vt:lpstr>
      <vt:lpstr>PowerPoint 演示文稿</vt:lpstr>
    </vt:vector>
  </TitlesOfParts>
  <Company>SolarLab</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Output Modules in SCAPS-1D</dc:title>
  <dc:creator>SolarLab</dc:creator>
  <dc:subject>SCAPS-1D main output modules</dc:subject>
  <cp:lastModifiedBy>陈宣言</cp:lastModifiedBy>
  <cp:revision>2</cp:revision>
  <dcterms:created xsi:type="dcterms:W3CDTF">2026-05-20T17:42:02Z</dcterms:created>
  <dcterms:modified xsi:type="dcterms:W3CDTF">2026-05-20T17:42:02Z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2052-12.1.25895.25895</vt:lpwstr>
  </property>
  <property fmtid="{D5CDD505-2E9C-101B-9397-08002B2CF9AE}" pid="3" name="ICV">
    <vt:lpwstr>894E78E86397EA6F6AF20D6AF259F2E6_42</vt:lpwstr>
  </property>
</Properties>
</file>