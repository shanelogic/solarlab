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narration:
This slide should be read as the lateral counterpart to the external contact slide. The lateral boundary condition does not model electrodes. It closes the finite computational window in the x direction. Periodic BC connects the left and right sides with a wrap face, so flux leaving one side enters the other side. Neumann BC instead sets the exterior side flux to zero. The interior Scharfetter-Gummel face fluxes and recombination terms are unchanged; only the side-boundary divergence bookkeeping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201168"/>
            <a:ext cx="11064240" cy="3108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2D Lateral BC: Periodic Window and Zero-Flux Sidewalls</a:t>
            </a:r>
            <a:endParaRPr lang="en-US" sz="2080" dirty="0"/>
          </a:p>
        </p:txBody>
      </p:sp>
      <p:sp>
        <p:nvSpPr>
          <p:cNvPr id="3" name="Text 1"/>
          <p:cNvSpPr/>
          <p:nvPr/>
        </p:nvSpPr>
        <p:spPr>
          <a:xfrm>
            <a:off x="429768" y="603504"/>
            <a:ext cx="1110996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33415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The lateral BC closes the finite x-window of the 2D mesh; it is not an electrode contact condition.</a:t>
            </a:r>
            <a:endParaRPr lang="en-US" sz="117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411480" y="969010"/>
            <a:ext cx="11365230" cy="5193030"/>
            <a:chOff x="648" y="1526"/>
            <a:chExt cx="17898" cy="8178"/>
          </a:xfrm>
        </p:grpSpPr>
        <p:sp>
          <p:nvSpPr>
            <p:cNvPr id="4" name="Shape 2"/>
            <p:cNvSpPr/>
            <p:nvPr/>
          </p:nvSpPr>
          <p:spPr>
            <a:xfrm>
              <a:off x="648" y="1526"/>
              <a:ext cx="17899" cy="8179"/>
            </a:xfrm>
            <a:prstGeom prst="roundRect">
              <a:avLst>
                <a:gd name="adj" fmla="val 1408"/>
              </a:avLst>
            </a:prstGeom>
            <a:solidFill>
              <a:srgbClr val="FFFFFF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5" name="Shape 3"/>
            <p:cNvSpPr/>
            <p:nvPr/>
          </p:nvSpPr>
          <p:spPr>
            <a:xfrm>
              <a:off x="1080" y="1843"/>
              <a:ext cx="8280" cy="5731"/>
            </a:xfrm>
            <a:prstGeom prst="roundRect">
              <a:avLst>
                <a:gd name="adj" fmla="val 201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6" name="Text 4"/>
            <p:cNvSpPr/>
            <p:nvPr/>
          </p:nvSpPr>
          <p:spPr>
            <a:xfrm>
              <a:off x="1426" y="2088"/>
              <a:ext cx="7589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7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A. Periodic Lateral Boundary</a:t>
              </a:r>
              <a:endParaRPr lang="en-US" sz="127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1872" y="2851"/>
              <a:ext cx="6653" cy="3024"/>
            </a:xfrm>
            <a:prstGeom prst="roundRect">
              <a:avLst>
                <a:gd name="adj" fmla="val 1905"/>
              </a:avLst>
            </a:prstGeom>
            <a:solidFill>
              <a:srgbClr val="EDE9FE">
                <a:alpha val="92000"/>
              </a:srgbClr>
            </a:solidFill>
            <a:ln w="12700">
              <a:solidFill>
                <a:srgbClr val="6D28D9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3715" y="3254"/>
              <a:ext cx="0" cy="2218"/>
            </a:xfrm>
            <a:prstGeom prst="line">
              <a:avLst/>
            </a:prstGeom>
            <a:noFill/>
            <a:ln w="12700">
              <a:solidFill>
                <a:srgbClr val="B42318"/>
              </a:solidFill>
              <a:prstDash val="solid"/>
              <a:headEnd type="none"/>
              <a:tailEnd type="none"/>
            </a:ln>
          </p:spPr>
        </p:sp>
        <p:sp>
          <p:nvSpPr>
            <p:cNvPr id="9" name="Text 7"/>
            <p:cNvSpPr/>
            <p:nvPr/>
          </p:nvSpPr>
          <p:spPr>
            <a:xfrm>
              <a:off x="3485" y="4248"/>
              <a:ext cx="49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80" b="1" dirty="0">
                  <a:solidFill>
                    <a:srgbClr val="B42318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GB</a:t>
              </a:r>
              <a:endParaRPr lang="en-US" sz="98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872" y="3744"/>
              <a:ext cx="6653" cy="0"/>
            </a:xfrm>
            <a:prstGeom prst="line">
              <a:avLst/>
            </a:prstGeom>
            <a:noFill/>
            <a:ln w="12700">
              <a:solidFill>
                <a:srgbClr val="2563EB"/>
              </a:solidFill>
              <a:prstDash val="solid"/>
              <a:headEnd type="none"/>
              <a:tailEnd type="triangle"/>
            </a:ln>
          </p:spPr>
        </p:sp>
        <p:sp>
          <p:nvSpPr>
            <p:cNvPr id="11" name="Shape 9"/>
            <p:cNvSpPr/>
            <p:nvPr/>
          </p:nvSpPr>
          <p:spPr>
            <a:xfrm>
              <a:off x="1872" y="4982"/>
              <a:ext cx="6653" cy="0"/>
            </a:xfrm>
            <a:prstGeom prst="line">
              <a:avLst/>
            </a:prstGeom>
            <a:noFill/>
            <a:ln w="12700">
              <a:solidFill>
                <a:srgbClr val="2563EB"/>
              </a:solidFill>
              <a:prstDash val="solid"/>
              <a:headEnd type="none"/>
              <a:tailEnd type="triangle"/>
            </a:ln>
          </p:spPr>
        </p:sp>
        <p:sp>
          <p:nvSpPr>
            <p:cNvPr id="12" name="Text 10"/>
            <p:cNvSpPr/>
            <p:nvPr/>
          </p:nvSpPr>
          <p:spPr>
            <a:xfrm>
              <a:off x="4493" y="3442"/>
              <a:ext cx="1800" cy="23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940" b="1" dirty="0">
                  <a:solidFill>
                    <a:srgbClr val="2563E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wrap face flux</a:t>
              </a:r>
              <a:endParaRPr lang="en-US" sz="94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829" y="6134"/>
              <a:ext cx="792" cy="2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x = 0</a:t>
              </a:r>
              <a:endParaRPr lang="en-US" sz="9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632" y="6134"/>
              <a:ext cx="893" cy="20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x = L</a:t>
              </a:r>
              <a:r>
                <a:rPr lang="en-US" sz="900" baseline="-40000" dirty="0">
                  <a:solidFill>
                    <a:srgbClr val="64748B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x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613" y="6451"/>
              <a:ext cx="7229" cy="835"/>
            </a:xfrm>
            <a:prstGeom prst="roundRect">
              <a:avLst>
                <a:gd name="adj" fmla="val 13793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6" name="Shape 14"/>
            <p:cNvSpPr/>
            <p:nvPr/>
          </p:nvSpPr>
          <p:spPr>
            <a:xfrm>
              <a:off x="1613" y="6451"/>
              <a:ext cx="115" cy="835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901" y="6725"/>
              <a:ext cx="6653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MEANING: Left and right sides are copies of a repeating unit cell.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9835" y="1843"/>
              <a:ext cx="8280" cy="5731"/>
            </a:xfrm>
            <a:prstGeom prst="roundRect">
              <a:avLst>
                <a:gd name="adj" fmla="val 201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0181" y="2088"/>
              <a:ext cx="7589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7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B. Neumann / Zero-Flux Sidewalls</a:t>
              </a:r>
              <a:endParaRPr lang="en-US" sz="127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0656" y="2851"/>
              <a:ext cx="6595" cy="3024"/>
            </a:xfrm>
            <a:prstGeom prst="roundRect">
              <a:avLst>
                <a:gd name="adj" fmla="val 1905"/>
              </a:avLst>
            </a:prstGeom>
            <a:solidFill>
              <a:srgbClr val="E0F2FE">
                <a:alpha val="96000"/>
              </a:srgbClr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1" name="Shape 19"/>
            <p:cNvSpPr/>
            <p:nvPr/>
          </p:nvSpPr>
          <p:spPr>
            <a:xfrm>
              <a:off x="10656" y="2851"/>
              <a:ext cx="0" cy="3024"/>
            </a:xfrm>
            <a:prstGeom prst="line">
              <a:avLst/>
            </a:prstGeom>
            <a:noFill/>
            <a:ln w="12700">
              <a:solidFill>
                <a:srgbClr val="334155"/>
              </a:solidFill>
              <a:prstDash val="solid"/>
              <a:headEnd type="none"/>
              <a:tailEnd type="none"/>
            </a:ln>
          </p:spPr>
        </p:sp>
        <p:sp>
          <p:nvSpPr>
            <p:cNvPr id="22" name="Shape 20"/>
            <p:cNvSpPr/>
            <p:nvPr/>
          </p:nvSpPr>
          <p:spPr>
            <a:xfrm>
              <a:off x="17251" y="2851"/>
              <a:ext cx="0" cy="3024"/>
            </a:xfrm>
            <a:prstGeom prst="line">
              <a:avLst/>
            </a:prstGeom>
            <a:noFill/>
            <a:ln w="12700">
              <a:solidFill>
                <a:srgbClr val="334155"/>
              </a:solidFill>
              <a:prstDash val="solid"/>
              <a:headEnd type="none"/>
              <a:tailEnd type="none"/>
            </a:ln>
          </p:spPr>
        </p:sp>
        <p:sp>
          <p:nvSpPr>
            <p:cNvPr id="23" name="Shape 21"/>
            <p:cNvSpPr/>
            <p:nvPr/>
          </p:nvSpPr>
          <p:spPr>
            <a:xfrm>
              <a:off x="11088" y="3946"/>
              <a:ext cx="864" cy="0"/>
            </a:xfrm>
            <a:prstGeom prst="line">
              <a:avLst/>
            </a:prstGeom>
            <a:noFill/>
            <a:ln w="12700">
              <a:solidFill>
                <a:srgbClr val="B42318"/>
              </a:solidFill>
              <a:prstDash val="solid"/>
              <a:headEnd type="none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5955" y="4781"/>
              <a:ext cx="864" cy="0"/>
            </a:xfrm>
            <a:prstGeom prst="line">
              <a:avLst/>
            </a:prstGeom>
            <a:noFill/>
            <a:ln w="12700">
              <a:solidFill>
                <a:srgbClr val="B42318"/>
              </a:solidFill>
              <a:prstDash val="solid"/>
              <a:headEnd type="none"/>
              <a:tailEnd type="triangle"/>
            </a:ln>
          </p:spPr>
        </p:sp>
        <p:sp>
          <p:nvSpPr>
            <p:cNvPr id="25" name="Text 23"/>
            <p:cNvSpPr/>
            <p:nvPr/>
          </p:nvSpPr>
          <p:spPr>
            <a:xfrm>
              <a:off x="10858" y="3067"/>
              <a:ext cx="169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88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closed sidewall</a:t>
              </a:r>
              <a:endParaRPr lang="en-US" sz="88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5350" y="3067"/>
              <a:ext cx="1699" cy="21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r">
                <a:buNone/>
              </a:pPr>
              <a:r>
                <a:rPr lang="en-US" sz="88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closed sidewall</a:t>
              </a:r>
              <a:endParaRPr lang="en-US" sz="88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2989" y="4205"/>
              <a:ext cx="1930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buNone/>
              </a:pPr>
              <a:r>
                <a:rPr lang="en-US" sz="1580" b="1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Jₓ = 0</a:t>
              </a:r>
              <a:endParaRPr lang="en-US" sz="158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0368" y="6451"/>
              <a:ext cx="7229" cy="835"/>
            </a:xfrm>
            <a:prstGeom prst="roundRect">
              <a:avLst>
                <a:gd name="adj" fmla="val 13793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10368" y="6451"/>
              <a:ext cx="115" cy="835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10656" y="6725"/>
              <a:ext cx="6653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MEANING: Exterior side flux is zero; carriers do not leak out laterally.</a:t>
              </a:r>
              <a:endParaRPr lang="en-US" sz="10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080" y="7733"/>
              <a:ext cx="17035" cy="1699"/>
            </a:xfrm>
            <a:prstGeom prst="roundRect">
              <a:avLst>
                <a:gd name="adj" fmla="val 6780"/>
              </a:avLst>
            </a:prstGeom>
            <a:solidFill>
              <a:srgbClr val="F8FAFC"/>
            </a:solidFill>
            <a:ln w="12700">
              <a:solidFill>
                <a:srgbClr val="CBD5E1"/>
              </a:solidFill>
              <a:prstDash val="solid"/>
            </a:ln>
          </p:spPr>
        </p:sp>
        <p:sp>
          <p:nvSpPr>
            <p:cNvPr id="32" name="Text 30"/>
            <p:cNvSpPr/>
            <p:nvPr/>
          </p:nvSpPr>
          <p:spPr>
            <a:xfrm>
              <a:off x="1426" y="7978"/>
              <a:ext cx="16344" cy="34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70" b="1" dirty="0">
                  <a:solidFill>
                    <a:srgbClr val="334155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C. What Changes in RHS Assembly</a:t>
              </a:r>
              <a:endParaRPr lang="en-US" sz="127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1512" y="8438"/>
              <a:ext cx="4982" cy="778"/>
            </a:xfrm>
            <a:prstGeom prst="roundRect">
              <a:avLst>
                <a:gd name="adj" fmla="val 14815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34" name="Shape 32"/>
            <p:cNvSpPr/>
            <p:nvPr/>
          </p:nvSpPr>
          <p:spPr>
            <a:xfrm>
              <a:off x="1512" y="8438"/>
              <a:ext cx="115" cy="778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1800" y="8683"/>
              <a:ext cx="4406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3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PERIODIC: add SG wrap flux at x sides</a:t>
              </a:r>
              <a:endParaRPr lang="en-US" sz="93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085" y="8438"/>
              <a:ext cx="4608" cy="778"/>
            </a:xfrm>
            <a:prstGeom prst="roundRect">
              <a:avLst>
                <a:gd name="adj" fmla="val 14815"/>
              </a:avLst>
            </a:prstGeom>
            <a:solidFill>
              <a:srgbClr val="DCFCE7"/>
            </a:solidFill>
            <a:ln w="12700">
              <a:solidFill>
                <a:srgbClr val="16803C"/>
              </a:solidFill>
              <a:prstDash val="solid"/>
            </a:ln>
          </p:spPr>
        </p:sp>
        <p:sp>
          <p:nvSpPr>
            <p:cNvPr id="37" name="Shape 35"/>
            <p:cNvSpPr/>
            <p:nvPr/>
          </p:nvSpPr>
          <p:spPr>
            <a:xfrm>
              <a:off x="7085" y="8438"/>
              <a:ext cx="115" cy="778"/>
            </a:xfrm>
            <a:prstGeom prst="rect">
              <a:avLst/>
            </a:prstGeom>
            <a:solidFill>
              <a:srgbClr val="16803C"/>
            </a:solidFill>
            <a:ln w="12700">
              <a:solidFill>
                <a:srgbClr val="16803C">
                  <a:alpha val="0"/>
                </a:srgbClr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7373" y="8683"/>
              <a:ext cx="403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3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NEUMANN: set exterior side flux to zero</a:t>
              </a:r>
              <a:endParaRPr lang="en-US" sz="93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2312" y="8438"/>
              <a:ext cx="5040" cy="778"/>
            </a:xfrm>
            <a:prstGeom prst="roundRect">
              <a:avLst>
                <a:gd name="adj" fmla="val 14815"/>
              </a:avLst>
            </a:prstGeom>
            <a:solidFill>
              <a:srgbClr val="FEF3C7"/>
            </a:solidFill>
            <a:ln w="12700">
              <a:solidFill>
                <a:srgbClr val="A16207"/>
              </a:solidFill>
              <a:prstDash val="solid"/>
            </a:ln>
          </p:spPr>
        </p:sp>
        <p:sp>
          <p:nvSpPr>
            <p:cNvPr id="40" name="Shape 38"/>
            <p:cNvSpPr/>
            <p:nvPr/>
          </p:nvSpPr>
          <p:spPr>
            <a:xfrm>
              <a:off x="12312" y="8438"/>
              <a:ext cx="115" cy="778"/>
            </a:xfrm>
            <a:prstGeom prst="rect">
              <a:avLst/>
            </a:prstGeom>
            <a:solidFill>
              <a:srgbClr val="A16207"/>
            </a:solidFill>
            <a:ln w="12700">
              <a:solidFill>
                <a:srgbClr val="A16207">
                  <a:alpha val="0"/>
                </a:srgbClr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12600" y="8683"/>
              <a:ext cx="4464" cy="2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930" dirty="0">
                  <a:solidFill>
                    <a:srgbClr val="162033"/>
                  </a:solidFill>
                  <a:latin typeface="Arial" panose="020B0604020202090204" pitchFamily="34" charset="0"/>
                  <a:ea typeface="Arial" panose="020B0604020202090204" pitchFamily="34" charset="-122"/>
                  <a:cs typeface="Arial" panose="020B0604020202090204" pitchFamily="34" charset="-120"/>
                </a:rPr>
                <a:t>INTERIOR: interior physics unchanged</a:t>
              </a:r>
              <a:endParaRPr lang="en-US" sz="930" dirty="0"/>
            </a:p>
          </p:txBody>
        </p:sp>
      </p:grpSp>
      <p:sp>
        <p:nvSpPr>
          <p:cNvPr id="42" name="Shape 40"/>
          <p:cNvSpPr/>
          <p:nvPr/>
        </p:nvSpPr>
        <p:spPr>
          <a:xfrm>
            <a:off x="0" y="6336792"/>
            <a:ext cx="12191695" cy="521208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6455664"/>
            <a:ext cx="11155680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Takeaway: periodic BC makes a repeating 2D unit cell; </a:t>
            </a:r>
            <a:r>
              <a:rPr lang="en-US" sz="1180" b="1" dirty="0">
                <a:solidFill>
                  <a:srgbClr val="162033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Neumann BC closes the sidewalls with zero lateral flux.</a:t>
            </a:r>
            <a:endParaRPr lang="en-US" sz="11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WPS 演示</Application>
  <PresentationFormat>On-screen Show (16:9)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Arial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</vt:vector>
  </TitlesOfParts>
  <Company>SolarLab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2D Lateral BC: Periodic Window and Zero-Flux Sidewalls</dc:title>
  <dc:creator>SolarLab</dc:creator>
  <dc:subject>2D lateral boundary conditions</dc:subject>
  <cp:lastModifiedBy>陈宣言</cp:lastModifiedBy>
  <cp:revision>2</cp:revision>
  <dcterms:created xsi:type="dcterms:W3CDTF">2026-05-20T05:47:57Z</dcterms:created>
  <dcterms:modified xsi:type="dcterms:W3CDTF">2026-05-20T05:47:57Z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4752AA8F0E8CDBC90D4B0D6AF282F9A6_42</vt:lpwstr>
  </property>
</Properties>
</file>