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narration:
1. The 2D state Y stores all electron and hole densities on the lateral-stack grid.
2. RHS assembly unpacks Y, computes charge density, and solves Poisson for the electrostatic potential.
3. Generation and recombination provide local source and sink terms.
4. Scharfetter-Gummel fluxes compute drift-diffusion currents on grid faces.
5. Current divergence plus G-R gives dn/dt and dp/dt.
6. Contact boundary conditions are applied before packing the result as dY/dt.
7. Radau calls this operator many times during one transient settle step at a fixed applied voltage.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1031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2D RHS Assembly: From Carrier Fields to Time Derivatives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29768" y="630936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The semi-discrete operator F(Y) evaluated repeatedly inside the Radau transient solver.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64465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67512" y="1161288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Animated RHS pipeline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40680" y="1161288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 stages, 5 s per stage</a:t>
            </a:r>
            <a:endParaRPr lang="en-US" sz="880" dirty="0"/>
          </a:p>
        </p:txBody>
      </p:sp>
      <p:pic>
        <p:nvPicPr>
          <p:cNvPr id="7" name="Image 0" descr="/Users/shane/Library/CloudStorage/OneDrive-HKUST(Guangzhou)/SolarLab/docs/manual/figures/rhs_assembly_2d.g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5961888" cy="33558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" y="5074920"/>
            <a:ext cx="589788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Y -&gt; rho -&gt; phi -&gt; R,G -&gt; SG fluxes -&gt; div J -&gt; dn/dt, dp/dt -&gt; dY/dt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694944" y="5559552"/>
            <a:ext cx="589788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Note: the GIF is a conceptual visualization of the code path, not a literal simulation snapshot.</a:t>
            </a:r>
            <a:endParaRPr lang="en-US" sz="980" dirty="0"/>
          </a:p>
        </p:txBody>
      </p:sp>
      <p:grpSp>
        <p:nvGrpSpPr>
          <p:cNvPr id="31" name="组合 30"/>
          <p:cNvGrpSpPr/>
          <p:nvPr/>
        </p:nvGrpSpPr>
        <p:grpSpPr>
          <a:xfrm>
            <a:off x="7150735" y="1005840"/>
            <a:ext cx="4526280" cy="4983480"/>
            <a:chOff x="11261" y="1584"/>
            <a:chExt cx="7128" cy="7848"/>
          </a:xfrm>
        </p:grpSpPr>
        <p:sp>
          <p:nvSpPr>
            <p:cNvPr id="10" name="Shape 7"/>
            <p:cNvSpPr/>
            <p:nvPr/>
          </p:nvSpPr>
          <p:spPr>
            <a:xfrm>
              <a:off x="11261" y="1584"/>
              <a:ext cx="7128" cy="1325"/>
            </a:xfrm>
            <a:prstGeom prst="roundRect">
              <a:avLst/>
            </a:prstGeom>
            <a:solidFill>
              <a:srgbClr val="DBEAFE"/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11" name="Shape 8"/>
            <p:cNvSpPr/>
            <p:nvPr/>
          </p:nvSpPr>
          <p:spPr>
            <a:xfrm>
              <a:off x="11261" y="1584"/>
              <a:ext cx="101" cy="1325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>
                  <a:alpha val="0"/>
                </a:srgbClr>
              </a:solidFill>
              <a:prstDash val="solid"/>
            </a:ln>
          </p:spPr>
        </p:sp>
        <p:sp>
          <p:nvSpPr>
            <p:cNvPr id="12" name="Text 9"/>
            <p:cNvSpPr/>
            <p:nvPr/>
          </p:nvSpPr>
          <p:spPr>
            <a:xfrm>
              <a:off x="11520" y="1771"/>
              <a:ext cx="6725" cy="33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563E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INPUT STATE</a:t>
              </a:r>
              <a:endParaRPr lang="en-US" sz="105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11520" y="2160"/>
              <a:ext cx="6696" cy="64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Y = [ n(y,x), p(y,x) ]</a:t>
              </a:r>
              <a:endParaRPr lang="en-US" sz="1300" dirty="0"/>
            </a:p>
          </p:txBody>
        </p:sp>
        <p:sp>
          <p:nvSpPr>
            <p:cNvPr id="14" name="Shape 11"/>
            <p:cNvSpPr/>
            <p:nvPr/>
          </p:nvSpPr>
          <p:spPr>
            <a:xfrm>
              <a:off x="14832" y="2952"/>
              <a:ext cx="0" cy="403"/>
            </a:xfrm>
            <a:prstGeom prst="line">
              <a:avLst/>
            </a:prstGeom>
            <a:noFill/>
            <a:ln w="12700">
              <a:solidFill>
                <a:srgbClr val="64748B"/>
              </a:solidFill>
              <a:prstDash val="solid"/>
              <a:headEnd type="none"/>
              <a:tailEnd type="triangle"/>
            </a:ln>
          </p:spPr>
        </p:sp>
        <p:sp>
          <p:nvSpPr>
            <p:cNvPr id="15" name="Shape 12"/>
            <p:cNvSpPr/>
            <p:nvPr/>
          </p:nvSpPr>
          <p:spPr>
            <a:xfrm>
              <a:off x="11261" y="3384"/>
              <a:ext cx="7128" cy="2131"/>
            </a:xfrm>
            <a:prstGeom prst="roundRect">
              <a:avLst/>
            </a:prstGeom>
            <a:solidFill>
              <a:srgbClr val="DCFCE7"/>
            </a:solidFill>
            <a:ln w="12700">
              <a:solidFill>
                <a:srgbClr val="16803C"/>
              </a:solidFill>
              <a:prstDash val="solid"/>
            </a:ln>
          </p:spPr>
        </p:sp>
        <p:sp>
          <p:nvSpPr>
            <p:cNvPr id="16" name="Shape 13"/>
            <p:cNvSpPr/>
            <p:nvPr/>
          </p:nvSpPr>
          <p:spPr>
            <a:xfrm>
              <a:off x="11261" y="3384"/>
              <a:ext cx="101" cy="2131"/>
            </a:xfrm>
            <a:prstGeom prst="rect">
              <a:avLst/>
            </a:prstGeom>
            <a:solidFill>
              <a:srgbClr val="16803C"/>
            </a:solidFill>
            <a:ln w="12700">
              <a:solidFill>
                <a:srgbClr val="16803C">
                  <a:alpha val="0"/>
                </a:srgbClr>
              </a:solidFill>
              <a:prstDash val="solid"/>
            </a:ln>
          </p:spPr>
        </p:sp>
        <p:sp>
          <p:nvSpPr>
            <p:cNvPr id="17" name="Text 14"/>
            <p:cNvSpPr/>
            <p:nvPr/>
          </p:nvSpPr>
          <p:spPr>
            <a:xfrm>
              <a:off x="11520" y="3571"/>
              <a:ext cx="6725" cy="33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16803C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COUPLED PHYSICS</a:t>
              </a:r>
              <a:endParaRPr lang="en-US" sz="105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11520" y="3960"/>
              <a:ext cx="6696" cy="14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rho -&gt; phi by Poisson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G - R source/sink terms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J_n, J_p from Scharfetter-Gummel fluxes</a:t>
              </a:r>
              <a:endParaRPr lang="en-US" sz="130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14832" y="5587"/>
              <a:ext cx="0" cy="403"/>
            </a:xfrm>
            <a:prstGeom prst="line">
              <a:avLst/>
            </a:prstGeom>
            <a:noFill/>
            <a:ln w="12700">
              <a:solidFill>
                <a:srgbClr val="64748B"/>
              </a:solidFill>
              <a:prstDash val="solid"/>
              <a:headEnd type="none"/>
              <a:tailEnd type="triangle"/>
            </a:ln>
          </p:spPr>
        </p:sp>
        <p:sp>
          <p:nvSpPr>
            <p:cNvPr id="20" name="Shape 17"/>
            <p:cNvSpPr/>
            <p:nvPr/>
          </p:nvSpPr>
          <p:spPr>
            <a:xfrm>
              <a:off x="11261" y="6019"/>
              <a:ext cx="7128" cy="1325"/>
            </a:xfrm>
            <a:prstGeom prst="roundRect">
              <a:avLst/>
            </a:prstGeom>
            <a:solidFill>
              <a:srgbClr val="FEF3C7"/>
            </a:solidFill>
            <a:ln w="12700">
              <a:solidFill>
                <a:srgbClr val="A16207"/>
              </a:solidFill>
              <a:prstDash val="solid"/>
            </a:ln>
          </p:spPr>
        </p:sp>
        <p:sp>
          <p:nvSpPr>
            <p:cNvPr id="21" name="Shape 18"/>
            <p:cNvSpPr/>
            <p:nvPr/>
          </p:nvSpPr>
          <p:spPr>
            <a:xfrm>
              <a:off x="11261" y="6019"/>
              <a:ext cx="101" cy="1325"/>
            </a:xfrm>
            <a:prstGeom prst="rect">
              <a:avLst/>
            </a:prstGeom>
            <a:solidFill>
              <a:srgbClr val="A16207"/>
            </a:solidFill>
            <a:ln w="12700">
              <a:solidFill>
                <a:srgbClr val="A16207">
                  <a:alpha val="0"/>
                </a:srgbClr>
              </a:solidFill>
              <a:prstDash val="solid"/>
            </a:ln>
          </p:spPr>
        </p:sp>
        <p:sp>
          <p:nvSpPr>
            <p:cNvPr id="22" name="Text 19"/>
            <p:cNvSpPr/>
            <p:nvPr/>
          </p:nvSpPr>
          <p:spPr>
            <a:xfrm>
              <a:off x="11520" y="6206"/>
              <a:ext cx="6725" cy="33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A16207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OUTPUT RHS</a:t>
              </a:r>
              <a:endParaRPr lang="en-US" sz="105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11520" y="6595"/>
              <a:ext cx="6696" cy="64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dY/dt = [ dn/dt, dp/dt ]</a:t>
              </a:r>
              <a:endParaRPr lang="en-US" sz="1300" dirty="0"/>
            </a:p>
          </p:txBody>
        </p:sp>
        <p:sp>
          <p:nvSpPr>
            <p:cNvPr id="24" name="Shape 21"/>
            <p:cNvSpPr/>
            <p:nvPr/>
          </p:nvSpPr>
          <p:spPr>
            <a:xfrm>
              <a:off x="11261" y="7718"/>
              <a:ext cx="7128" cy="1714"/>
            </a:xfrm>
            <a:prstGeom prst="roundRect">
              <a:avLst/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25" name="Text 22"/>
            <p:cNvSpPr/>
            <p:nvPr/>
          </p:nvSpPr>
          <p:spPr>
            <a:xfrm>
              <a:off x="11592" y="7934"/>
              <a:ext cx="2592" cy="34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80" b="1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Core equations</a:t>
              </a:r>
              <a:endParaRPr lang="en-US" sz="108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11592" y="8395"/>
              <a:ext cx="2592" cy="34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∇·(ε∇φ) = −ρ</a:t>
              </a:r>
              <a:endParaRPr lang="en-US" sz="120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13824" y="8280"/>
              <a:ext cx="4248" cy="34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6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∂n/∂t =  (1/q)∇·Jₙ + G − R</a:t>
              </a:r>
              <a:endParaRPr lang="en-US" sz="1060" dirty="0"/>
            </a:p>
          </p:txBody>
        </p:sp>
        <p:sp>
          <p:nvSpPr>
            <p:cNvPr id="28" name="Text 25"/>
            <p:cNvSpPr/>
            <p:nvPr/>
          </p:nvSpPr>
          <p:spPr>
            <a:xfrm>
              <a:off x="13824" y="8712"/>
              <a:ext cx="4248" cy="34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6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∂p/∂t = −(1/q)∇·Jₚ + G − R</a:t>
              </a:r>
              <a:endParaRPr lang="en-US" sz="1060" dirty="0"/>
            </a:p>
          </p:txBody>
        </p:sp>
      </p:grpSp>
      <p:sp>
        <p:nvSpPr>
          <p:cNvPr id="29" name="Shape 26"/>
          <p:cNvSpPr/>
          <p:nvPr/>
        </p:nvSpPr>
        <p:spPr>
          <a:xfrm>
            <a:off x="0" y="6336792"/>
            <a:ext cx="12191695" cy="52120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6473952"/>
            <a:ext cx="1120140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Takeaway: RHS assembly is the physics-numerics operator F(Y); Radau repeatedly calls it to advance the 2D drift-diffusion-Poisson system in time.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741</Words>
  <Application>WPS 演示</Application>
  <PresentationFormat>On-screen Show (16:9)</PresentationFormat>
  <Paragraphs>36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9" baseType="lpstr">
      <vt:lpstr>Arial</vt:lpstr>
      <vt:lpstr>宋体</vt:lpstr>
      <vt:lpstr>Wingdings</vt:lpstr>
      <vt:lpstr>Arial</vt:lpstr>
      <vt:lpstr>Arial</vt:lpstr>
      <vt:lpstr>MS PGothic</vt:lpstr>
      <vt:lpstr>苹方-简</vt:lpstr>
      <vt:lpstr>Arial Unicode MS</vt:lpstr>
      <vt:lpstr>Arimo for Powerline</vt:lpstr>
      <vt:lpstr>微软雅黑</vt:lpstr>
      <vt:lpstr>汉仪旗黑</vt:lpstr>
      <vt:lpstr>宋体</vt:lpstr>
      <vt:lpstr>Calibri</vt:lpstr>
      <vt:lpstr>Helvetica Neue</vt:lpstr>
      <vt:lpstr>汉仪书宋二KW</vt:lpstr>
      <vt:lpstr>等线</vt:lpstr>
      <vt:lpstr>汉仪中等线KW</vt:lpstr>
      <vt:lpstr>Office Theme</vt:lpstr>
      <vt:lpstr>PowerPoint 演示文稿</vt:lpstr>
    </vt:vector>
  </TitlesOfParts>
  <Company>SolarLab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2D RHS Assembly: From Carrier Fields to Time Derivatives</dc:title>
  <dc:creator>SolarLab</dc:creator>
  <dc:subject>2D RHS Assembly overview</dc:subject>
  <cp:lastModifiedBy>陈宣言</cp:lastModifiedBy>
  <cp:revision>2</cp:revision>
  <dcterms:created xsi:type="dcterms:W3CDTF">2026-05-19T10:01:52Z</dcterms:created>
  <dcterms:modified xsi:type="dcterms:W3CDTF">2026-05-19T10:01:52Z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9F76F0FC94AEB69610350C6AEEF20B91_42</vt:lpwstr>
  </property>
</Properties>
</file>