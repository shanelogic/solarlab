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narration:
This slide compresses the SCAPS-1D input space into the blocks a beginner should recognize first. The cell stack defines the one-dimensional geometry; layer material and transport parameters define band alignment and drift-diffusion behavior; recombination and interface parameters define loss channels; contact and optical inputs define boundary extraction and generation; finally, the simulation setup tells SCAPS which measurement, such as J-V, C-V, C-f, or QE, to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10312"/>
            <a:ext cx="786384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SCAPS-1D Input Parameters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881360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Main editable inputs used to define a one-dimensional thin-film solar-cell simulation</a:t>
            </a:r>
            <a:endParaRPr lang="en-US" sz="1170" dirty="0"/>
          </a:p>
        </p:txBody>
      </p:sp>
      <p:grpSp>
        <p:nvGrpSpPr>
          <p:cNvPr id="58" name="组合 57"/>
          <p:cNvGrpSpPr/>
          <p:nvPr/>
        </p:nvGrpSpPr>
        <p:grpSpPr>
          <a:xfrm>
            <a:off x="511810" y="1097280"/>
            <a:ext cx="11182350" cy="4956175"/>
            <a:chOff x="806" y="1728"/>
            <a:chExt cx="17610" cy="7805"/>
          </a:xfrm>
        </p:grpSpPr>
        <p:sp>
          <p:nvSpPr>
            <p:cNvPr id="4" name="Shape 2"/>
            <p:cNvSpPr/>
            <p:nvPr/>
          </p:nvSpPr>
          <p:spPr>
            <a:xfrm>
              <a:off x="806" y="1728"/>
              <a:ext cx="17611" cy="7805"/>
            </a:xfrm>
            <a:prstGeom prst="roundRect">
              <a:avLst>
                <a:gd name="adj" fmla="val 1292"/>
              </a:avLst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806" y="1728"/>
              <a:ext cx="17611" cy="720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1066" y="1958"/>
              <a:ext cx="2347" cy="25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20" b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Input block</a:t>
              </a:r>
              <a:endParaRPr lang="en-US" sz="122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902" y="1958"/>
              <a:ext cx="6869" cy="25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20" b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Typical parameters</a:t>
              </a:r>
              <a:endParaRPr lang="en-US" sz="122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1318" y="1958"/>
              <a:ext cx="6840" cy="25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20" b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Physical role</a:t>
              </a:r>
              <a:endParaRPr lang="en-US" sz="122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614" y="1728"/>
              <a:ext cx="0" cy="7805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  <a:headEnd type="none"/>
              <a:tailEnd type="none"/>
            </a:ln>
          </p:spPr>
        </p:sp>
        <p:sp>
          <p:nvSpPr>
            <p:cNvPr id="10" name="Shape 8"/>
            <p:cNvSpPr/>
            <p:nvPr/>
          </p:nvSpPr>
          <p:spPr>
            <a:xfrm>
              <a:off x="11030" y="1728"/>
              <a:ext cx="0" cy="7805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  <a:headEnd type="none"/>
              <a:tailEnd type="none"/>
            </a:ln>
          </p:spPr>
        </p:sp>
        <p:sp>
          <p:nvSpPr>
            <p:cNvPr id="11" name="Shape 9"/>
            <p:cNvSpPr/>
            <p:nvPr/>
          </p:nvSpPr>
          <p:spPr>
            <a:xfrm>
              <a:off x="806" y="2448"/>
              <a:ext cx="17611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  <a:headEnd type="none"/>
              <a:tailEnd type="none"/>
            </a:ln>
          </p:spPr>
        </p:sp>
        <p:sp>
          <p:nvSpPr>
            <p:cNvPr id="12" name="Shape 10"/>
            <p:cNvSpPr/>
            <p:nvPr/>
          </p:nvSpPr>
          <p:spPr>
            <a:xfrm>
              <a:off x="806" y="2448"/>
              <a:ext cx="17611" cy="886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F8FAFC">
                  <a:alpha val="0"/>
                </a:srgbClr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806" y="2448"/>
              <a:ext cx="108" cy="886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>
                  <a:alpha val="0"/>
                </a:srgbClr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806" y="3334"/>
              <a:ext cx="17611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  <a:headEnd type="none"/>
              <a:tailEnd type="none"/>
            </a:ln>
          </p:spPr>
        </p:sp>
        <p:sp>
          <p:nvSpPr>
            <p:cNvPr id="15" name="Text 13"/>
            <p:cNvSpPr/>
            <p:nvPr/>
          </p:nvSpPr>
          <p:spPr>
            <a:xfrm>
              <a:off x="1066" y="2732"/>
              <a:ext cx="2347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140" b="1" dirty="0">
                  <a:solidFill>
                    <a:srgbClr val="2563E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Cell / stack</a:t>
              </a:r>
              <a:endParaRPr lang="en-US" sz="114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902" y="2704"/>
              <a:ext cx="6898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layer order, thickness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d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area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A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temperature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</a:t>
              </a:r>
              <a:endParaRPr lang="en-US" sz="1075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1318" y="2732"/>
              <a:ext cx="6840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6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1D geometry and operating temperature</a:t>
              </a:r>
              <a:endParaRPr lang="en-US" sz="106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806" y="3334"/>
              <a:ext cx="108" cy="886"/>
            </a:xfrm>
            <a:prstGeom prst="rect">
              <a:avLst/>
            </a:prstGeom>
            <a:solidFill>
              <a:srgbClr val="6D28D9"/>
            </a:solidFill>
            <a:ln w="12700">
              <a:solidFill>
                <a:srgbClr val="6D28D9">
                  <a:alpha val="0"/>
                </a:srgbClr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806" y="4219"/>
              <a:ext cx="17611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  <a:headEnd type="none"/>
              <a:tailEnd type="none"/>
            </a:ln>
          </p:spPr>
        </p:sp>
        <p:sp>
          <p:nvSpPr>
            <p:cNvPr id="20" name="Text 18"/>
            <p:cNvSpPr/>
            <p:nvPr/>
          </p:nvSpPr>
          <p:spPr>
            <a:xfrm>
              <a:off x="1066" y="3618"/>
              <a:ext cx="2347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140" b="1" dirty="0">
                  <a:solidFill>
                    <a:srgbClr val="6D28D9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Layer material</a:t>
              </a:r>
              <a:endParaRPr lang="en-US" sz="114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902" y="3589"/>
              <a:ext cx="6898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E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g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χ, ε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r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N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N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V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v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th,n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v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th,p</a:t>
              </a:r>
              <a:endParaRPr lang="en-US" sz="1075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1318" y="3618"/>
              <a:ext cx="6840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6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band alignment, electrostatics, carrier statistics</a:t>
              </a:r>
              <a:endParaRPr lang="en-US" sz="106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806" y="4219"/>
              <a:ext cx="17611" cy="886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F8FAFC">
                  <a:alpha val="0"/>
                </a:srgbClr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806" y="4219"/>
              <a:ext cx="108" cy="886"/>
            </a:xfrm>
            <a:prstGeom prst="rect">
              <a:avLst/>
            </a:prstGeom>
            <a:solidFill>
              <a:srgbClr val="0F766E"/>
            </a:solidFill>
            <a:ln w="12700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806" y="5105"/>
              <a:ext cx="17611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  <a:headEnd type="none"/>
              <a:tailEnd type="none"/>
            </a:ln>
          </p:spPr>
        </p:sp>
        <p:sp>
          <p:nvSpPr>
            <p:cNvPr id="26" name="Text 24"/>
            <p:cNvSpPr/>
            <p:nvPr/>
          </p:nvSpPr>
          <p:spPr>
            <a:xfrm>
              <a:off x="1066" y="4504"/>
              <a:ext cx="2347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140" b="1" dirty="0">
                  <a:solidFill>
                    <a:srgbClr val="0F766E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Transport</a:t>
              </a:r>
              <a:endParaRPr lang="en-US" sz="114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3902" y="4475"/>
              <a:ext cx="6898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μ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n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μ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p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N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A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N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D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; grading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P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(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x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) or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P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(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y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)</a:t>
              </a:r>
              <a:endParaRPr lang="en-US" sz="1075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1318" y="4504"/>
              <a:ext cx="6840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6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drift-diffusion mobility and fixed doping</a:t>
              </a:r>
              <a:endParaRPr lang="en-US" sz="106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806" y="5105"/>
              <a:ext cx="108" cy="886"/>
            </a:xfrm>
            <a:prstGeom prst="rect">
              <a:avLst/>
            </a:prstGeom>
            <a:solidFill>
              <a:srgbClr val="16803C"/>
            </a:solidFill>
            <a:ln w="12700">
              <a:solidFill>
                <a:srgbClr val="16803C">
                  <a:alpha val="0"/>
                </a:srgbClr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806" y="5990"/>
              <a:ext cx="17611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  <a:headEnd type="none"/>
              <a:tailEnd type="none"/>
            </a:ln>
          </p:spPr>
        </p:sp>
        <p:sp>
          <p:nvSpPr>
            <p:cNvPr id="31" name="Text 29"/>
            <p:cNvSpPr/>
            <p:nvPr/>
          </p:nvSpPr>
          <p:spPr>
            <a:xfrm>
              <a:off x="1066" y="5389"/>
              <a:ext cx="2347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140" b="1" dirty="0">
                  <a:solidFill>
                    <a:srgbClr val="16803C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Recombination</a:t>
              </a:r>
              <a:endParaRPr lang="en-US" sz="114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3902" y="5360"/>
              <a:ext cx="6898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B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rad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n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/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p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bulk defects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N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E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σ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n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/σ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p</a:t>
              </a:r>
              <a:endParaRPr lang="en-US" sz="1075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11318" y="5389"/>
              <a:ext cx="6840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6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SRH / radiative / Auger loss channels</a:t>
              </a:r>
              <a:endParaRPr lang="en-US" sz="106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806" y="5990"/>
              <a:ext cx="17611" cy="886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F8FAFC">
                  <a:alpha val="0"/>
                </a:srgbClr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806" y="5990"/>
              <a:ext cx="108" cy="886"/>
            </a:xfrm>
            <a:prstGeom prst="rect">
              <a:avLst/>
            </a:prstGeom>
            <a:solidFill>
              <a:srgbClr val="A16207"/>
            </a:solidFill>
            <a:ln w="12700">
              <a:solidFill>
                <a:srgbClr val="A16207">
                  <a:alpha val="0"/>
                </a:srgbClr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806" y="6876"/>
              <a:ext cx="17611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35"/>
            <p:cNvSpPr/>
            <p:nvPr/>
          </p:nvSpPr>
          <p:spPr>
            <a:xfrm>
              <a:off x="1066" y="6275"/>
              <a:ext cx="2347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140" b="1" dirty="0">
                  <a:solidFill>
                    <a:srgbClr val="A16207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Interface</a:t>
              </a:r>
              <a:endParaRPr lang="en-US" sz="114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3902" y="6246"/>
              <a:ext cx="6898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interface defects, tunneling,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m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e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m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h</a:t>
              </a:r>
              <a:endParaRPr lang="en-US" sz="1075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11318" y="6275"/>
              <a:ext cx="6840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6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heterojunction recombination and tunneling</a:t>
              </a:r>
              <a:endParaRPr lang="en-US" sz="106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806" y="6876"/>
              <a:ext cx="108" cy="886"/>
            </a:xfrm>
            <a:prstGeom prst="rect">
              <a:avLst/>
            </a:prstGeom>
            <a:solidFill>
              <a:srgbClr val="B45309"/>
            </a:solidFill>
            <a:ln w="12700">
              <a:solidFill>
                <a:srgbClr val="B45309">
                  <a:alpha val="0"/>
                </a:srgbClr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806" y="7762"/>
              <a:ext cx="17611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  <a:headEnd type="none"/>
              <a:tailEnd type="none"/>
            </a:ln>
          </p:spPr>
        </p:sp>
        <p:sp>
          <p:nvSpPr>
            <p:cNvPr id="42" name="Text 40"/>
            <p:cNvSpPr/>
            <p:nvPr/>
          </p:nvSpPr>
          <p:spPr>
            <a:xfrm>
              <a:off x="1066" y="7160"/>
              <a:ext cx="2347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140" b="1" dirty="0">
                  <a:solidFill>
                    <a:srgbClr val="B45309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Contacts</a:t>
              </a:r>
              <a:endParaRPr lang="en-US" sz="114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3902" y="7132"/>
              <a:ext cx="6898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work function Φ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m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 or flat-band;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S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n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S</a:t>
              </a:r>
              <a:r>
                <a:rPr lang="en-US" sz="1075" baseline="-40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p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; optical filter</a:t>
              </a:r>
              <a:endParaRPr lang="en-US" sz="1075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11318" y="7160"/>
              <a:ext cx="6840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6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boundary carrier extraction and optical loss</a:t>
              </a:r>
              <a:endParaRPr lang="en-US" sz="106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806" y="7762"/>
              <a:ext cx="17611" cy="886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F8FAFC">
                  <a:alpha val="0"/>
                </a:srgbClr>
              </a:solidFill>
              <a:prstDash val="solid"/>
            </a:ln>
          </p:spPr>
        </p:sp>
        <p:sp>
          <p:nvSpPr>
            <p:cNvPr id="46" name="Shape 44"/>
            <p:cNvSpPr/>
            <p:nvPr/>
          </p:nvSpPr>
          <p:spPr>
            <a:xfrm>
              <a:off x="806" y="7762"/>
              <a:ext cx="108" cy="886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>
                  <a:alpha val="0"/>
                </a:srgbClr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806" y="8647"/>
              <a:ext cx="17611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  <a:headEnd type="none"/>
              <a:tailEnd type="none"/>
            </a:ln>
          </p:spPr>
        </p:sp>
        <p:sp>
          <p:nvSpPr>
            <p:cNvPr id="48" name="Text 46"/>
            <p:cNvSpPr/>
            <p:nvPr/>
          </p:nvSpPr>
          <p:spPr>
            <a:xfrm>
              <a:off x="1066" y="8046"/>
              <a:ext cx="2347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140" b="1" dirty="0">
                  <a:solidFill>
                    <a:srgbClr val="DC2626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Optical input</a:t>
              </a:r>
              <a:endParaRPr lang="en-US" sz="114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3902" y="8017"/>
              <a:ext cx="6898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spectrum, illumination side,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R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/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absorption α(λ)</a:t>
              </a:r>
              <a:endParaRPr lang="en-US" sz="1075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11318" y="8046"/>
              <a:ext cx="6840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6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generation profile G(x)</a:t>
              </a:r>
              <a:endParaRPr lang="en-US" sz="106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806" y="8647"/>
              <a:ext cx="108" cy="886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334155">
                  <a:alpha val="0"/>
                </a:srgbClr>
              </a:solidFill>
              <a:prstDash val="solid"/>
            </a:ln>
          </p:spPr>
        </p:sp>
        <p:sp>
          <p:nvSpPr>
            <p:cNvPr id="52" name="Shape 50"/>
            <p:cNvSpPr/>
            <p:nvPr/>
          </p:nvSpPr>
          <p:spPr>
            <a:xfrm>
              <a:off x="806" y="9533"/>
              <a:ext cx="17611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  <a:headEnd type="none"/>
              <a:tailEnd type="none"/>
            </a:ln>
          </p:spPr>
        </p:sp>
        <p:sp>
          <p:nvSpPr>
            <p:cNvPr id="53" name="Text 51"/>
            <p:cNvSpPr/>
            <p:nvPr/>
          </p:nvSpPr>
          <p:spPr>
            <a:xfrm>
              <a:off x="1066" y="8932"/>
              <a:ext cx="2347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140" b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Simulation setup</a:t>
              </a:r>
              <a:endParaRPr lang="en-US" sz="114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3902" y="8903"/>
              <a:ext cx="6898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working point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V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f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, </a:t>
              </a:r>
              <a:r>
                <a:rPr lang="en-US" sz="1075" i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</a:t>
              </a:r>
              <a:r>
                <a:rPr lang="en-US" sz="1075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; J-V / C-V / C-f / QE ranges; mesh settings</a:t>
              </a:r>
              <a:endParaRPr lang="en-US" sz="1075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11318" y="8932"/>
              <a:ext cx="6840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60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defines which measurement is solved</a:t>
              </a:r>
              <a:endParaRPr lang="en-US" sz="1060" dirty="0"/>
            </a:p>
          </p:txBody>
        </p:sp>
      </p:grpSp>
      <p:sp>
        <p:nvSpPr>
          <p:cNvPr id="56" name="Shape 5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" y="649224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SCAPS-1D input = </a:t>
            </a:r>
            <a:r>
              <a:rPr lang="en-US" sz="1120" b="1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device structure</a:t>
            </a:r>
            <a:r>
              <a:rPr lang="en-US" sz="112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 + </a:t>
            </a:r>
            <a:r>
              <a:rPr lang="en-US" sz="1120" b="1" dirty="0">
                <a:solidFill>
                  <a:srgbClr val="16803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material/defect physics</a:t>
            </a:r>
            <a:r>
              <a:rPr lang="en-US" sz="112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 + </a:t>
            </a:r>
            <a:r>
              <a:rPr lang="en-US" sz="112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contact/optical conditions</a:t>
            </a:r>
            <a:r>
              <a:rPr lang="en-US" sz="112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 + </a:t>
            </a:r>
            <a:r>
              <a:rPr lang="en-US" sz="1120" b="1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measurement setup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1019</Words>
  <Application>WPS 演示</Application>
  <PresentationFormat>On-screen Show (16:9)</PresentationFormat>
  <Paragraphs>60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Arial</vt:lpstr>
      <vt:lpstr>Arial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</vt:vector>
  </TitlesOfParts>
  <Company>SolarLab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SCAPS-1D Input Parameters</dc:title>
  <dc:creator>SolarLab</dc:creator>
  <dc:subject>SCAPS-1D input parameter overview</dc:subject>
  <cp:lastModifiedBy>陈宣言</cp:lastModifiedBy>
  <cp:revision>2</cp:revision>
  <dcterms:created xsi:type="dcterms:W3CDTF">2026-05-20T15:16:16Z</dcterms:created>
  <dcterms:modified xsi:type="dcterms:W3CDTF">2026-05-20T15:16:16Z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7BDB6E4AE4C07AAA40D00D6ABA92F974_42</vt:lpwstr>
  </property>
</Properties>
</file>