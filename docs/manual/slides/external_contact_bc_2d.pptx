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narration:
This slide separates the physical location of the contact boundary from the mathematical boundary model. The contacts live at the top and bottom rows of the 2D mesh. In the ohmic Dirichlet limit, the electrode is treated as an ideal reservoir and the boundary carrier densities are pinned to equilibrium values. In the selective Robin formulation, the contact current is proportional to the difference between the boundary carrier density and its equilibrium reservoir value. The parameter S is a surface recombination or exchange velocity: S = 0 is blocking, finite S is selective, and very large S approaches the ohmic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20624" y="201168"/>
            <a:ext cx="11064240" cy="310896"/>
          </a:xfrm>
          <a:prstGeom prst="rect">
            <a:avLst/>
          </a:prstGeom>
          <a:noFill/>
        </p:spPr>
        <p:txBody>
          <a:bodyPr wrap="square" lIns="0" tIns="0" rIns="0" bIns="0" rtlCol="0" anchor="t">
            <a:normAutofit/>
          </a:bodyPr>
          <a:lstStyle/>
          <a:p>
            <a:pPr marL="0" indent="0" algn="l">
              <a:buNone/>
            </a:pPr>
            <a:r>
              <a:rPr lang="en-US" sz="2080" b="1" dirty="0">
                <a:solidFill>
                  <a:srgbClr val="162033"/>
                </a:solidFill>
                <a:latin typeface="Arial" panose="020B0604020202090204" pitchFamily="34" charset="0"/>
                <a:ea typeface="Arial" panose="020B0604020202090204" pitchFamily="34" charset="-122"/>
                <a:cs typeface="Arial" panose="020B0604020202090204" pitchFamily="34" charset="-120"/>
              </a:rPr>
              <a:t>External Contact BC: Ohmic Pinning and Selective Robin Flux</a:t>
            </a:r>
            <a:endParaRPr lang="en-US" sz="2080" dirty="0"/>
          </a:p>
        </p:txBody>
      </p:sp>
      <p:sp>
        <p:nvSpPr>
          <p:cNvPr id="3" name="Text 1"/>
          <p:cNvSpPr/>
          <p:nvPr/>
        </p:nvSpPr>
        <p:spPr>
          <a:xfrm>
            <a:off x="429768" y="603504"/>
            <a:ext cx="11109960" cy="228600"/>
          </a:xfrm>
          <a:prstGeom prst="rect">
            <a:avLst/>
          </a:prstGeom>
          <a:noFill/>
        </p:spPr>
        <p:txBody>
          <a:bodyPr wrap="square" lIns="0" tIns="0" rIns="0" bIns="0" rtlCol="0" anchor="t">
            <a:normAutofit/>
          </a:bodyPr>
          <a:lstStyle/>
          <a:p>
            <a:pPr marL="0" indent="0" algn="l">
              <a:buNone/>
            </a:pPr>
            <a:r>
              <a:rPr lang="en-US" sz="1170" dirty="0">
                <a:solidFill>
                  <a:srgbClr val="334155"/>
                </a:solidFill>
                <a:latin typeface="Arial" panose="020B0604020202090204" pitchFamily="34" charset="0"/>
                <a:ea typeface="Arial" panose="020B0604020202090204" pitchFamily="34" charset="-122"/>
                <a:cs typeface="Arial" panose="020B0604020202090204" pitchFamily="34" charset="-120"/>
              </a:rPr>
              <a:t>External contacts are electrode reservoirs at the top and bottom rows; they set how carriers enter or leave the 2D domain.</a:t>
            </a:r>
            <a:endParaRPr lang="en-US" sz="1170" dirty="0"/>
          </a:p>
        </p:txBody>
      </p:sp>
      <p:grpSp>
        <p:nvGrpSpPr>
          <p:cNvPr id="48" name="组合 47"/>
          <p:cNvGrpSpPr/>
          <p:nvPr/>
        </p:nvGrpSpPr>
        <p:grpSpPr>
          <a:xfrm>
            <a:off x="411480" y="969010"/>
            <a:ext cx="11365230" cy="5193030"/>
            <a:chOff x="648" y="1526"/>
            <a:chExt cx="17898" cy="8178"/>
          </a:xfrm>
        </p:grpSpPr>
        <p:sp>
          <p:nvSpPr>
            <p:cNvPr id="4" name="Shape 2"/>
            <p:cNvSpPr/>
            <p:nvPr/>
          </p:nvSpPr>
          <p:spPr>
            <a:xfrm>
              <a:off x="648" y="1526"/>
              <a:ext cx="17899" cy="8179"/>
            </a:xfrm>
            <a:prstGeom prst="roundRect">
              <a:avLst>
                <a:gd name="adj" fmla="val 1408"/>
              </a:avLst>
            </a:prstGeom>
            <a:solidFill>
              <a:srgbClr val="FFFFFF"/>
            </a:solidFill>
            <a:ln w="12700">
              <a:solidFill>
                <a:srgbClr val="CBD5E1"/>
              </a:solidFill>
              <a:prstDash val="solid"/>
            </a:ln>
          </p:spPr>
        </p:sp>
        <p:sp>
          <p:nvSpPr>
            <p:cNvPr id="5" name="Shape 3"/>
            <p:cNvSpPr/>
            <p:nvPr/>
          </p:nvSpPr>
          <p:spPr>
            <a:xfrm>
              <a:off x="1080" y="1843"/>
              <a:ext cx="7344" cy="7718"/>
            </a:xfrm>
            <a:prstGeom prst="roundRect">
              <a:avLst>
                <a:gd name="adj" fmla="val 1569"/>
              </a:avLst>
            </a:prstGeom>
            <a:solidFill>
              <a:srgbClr val="F8FAFC"/>
            </a:solidFill>
            <a:ln w="12700">
              <a:solidFill>
                <a:srgbClr val="CBD5E1"/>
              </a:solidFill>
              <a:prstDash val="solid"/>
            </a:ln>
          </p:spPr>
        </p:sp>
        <p:sp>
          <p:nvSpPr>
            <p:cNvPr id="6" name="Text 4"/>
            <p:cNvSpPr/>
            <p:nvPr/>
          </p:nvSpPr>
          <p:spPr>
            <a:xfrm>
              <a:off x="1426" y="2088"/>
              <a:ext cx="6653" cy="346"/>
            </a:xfrm>
            <a:prstGeom prst="rect">
              <a:avLst/>
            </a:prstGeom>
            <a:noFill/>
          </p:spPr>
          <p:txBody>
            <a:bodyPr wrap="square" lIns="0" tIns="0" rIns="0" bIns="0" rtlCol="0" anchor="t">
              <a:normAutofit/>
            </a:bodyPr>
            <a:lstStyle/>
            <a:p>
              <a:pPr marL="0" indent="0" algn="l">
                <a:buNone/>
              </a:pPr>
              <a:r>
                <a:rPr lang="en-US" sz="1270" b="1" dirty="0">
                  <a:solidFill>
                    <a:srgbClr val="334155"/>
                  </a:solidFill>
                  <a:latin typeface="Arial" panose="020B0604020202090204" pitchFamily="34" charset="0"/>
                  <a:ea typeface="Arial" panose="020B0604020202090204" pitchFamily="34" charset="-122"/>
                  <a:cs typeface="Arial" panose="020B0604020202090204" pitchFamily="34" charset="-120"/>
                </a:rPr>
                <a:t>A. Contact Rows in the 2D Device</a:t>
              </a:r>
              <a:endParaRPr lang="en-US" sz="1270" dirty="0"/>
            </a:p>
          </p:txBody>
        </p:sp>
        <p:sp>
          <p:nvSpPr>
            <p:cNvPr id="7" name="Shape 5"/>
            <p:cNvSpPr/>
            <p:nvPr/>
          </p:nvSpPr>
          <p:spPr>
            <a:xfrm>
              <a:off x="2045" y="2851"/>
              <a:ext cx="5443" cy="605"/>
            </a:xfrm>
            <a:prstGeom prst="roundRect">
              <a:avLst>
                <a:gd name="adj" fmla="val 7143"/>
              </a:avLst>
            </a:prstGeom>
            <a:solidFill>
              <a:srgbClr val="E2E8F0"/>
            </a:solidFill>
            <a:ln w="12700">
              <a:solidFill>
                <a:srgbClr val="334155"/>
              </a:solidFill>
              <a:prstDash val="solid"/>
            </a:ln>
          </p:spPr>
        </p:sp>
        <p:sp>
          <p:nvSpPr>
            <p:cNvPr id="8" name="Shape 6"/>
            <p:cNvSpPr/>
            <p:nvPr/>
          </p:nvSpPr>
          <p:spPr>
            <a:xfrm>
              <a:off x="2045" y="3456"/>
              <a:ext cx="5443" cy="1238"/>
            </a:xfrm>
            <a:prstGeom prst="rect">
              <a:avLst/>
            </a:prstGeom>
            <a:solidFill>
              <a:srgbClr val="FEE4E2">
                <a:alpha val="95000"/>
              </a:srgbClr>
            </a:solidFill>
            <a:ln w="12700">
              <a:solidFill>
                <a:srgbClr val="B42318"/>
              </a:solidFill>
              <a:prstDash val="solid"/>
            </a:ln>
          </p:spPr>
        </p:sp>
        <p:sp>
          <p:nvSpPr>
            <p:cNvPr id="9" name="Shape 7"/>
            <p:cNvSpPr/>
            <p:nvPr/>
          </p:nvSpPr>
          <p:spPr>
            <a:xfrm>
              <a:off x="2045" y="4694"/>
              <a:ext cx="5443" cy="2333"/>
            </a:xfrm>
            <a:prstGeom prst="rect">
              <a:avLst/>
            </a:prstGeom>
            <a:solidFill>
              <a:srgbClr val="EDE9FE">
                <a:alpha val="92000"/>
              </a:srgbClr>
            </a:solidFill>
            <a:ln w="12700">
              <a:solidFill>
                <a:srgbClr val="6D28D9"/>
              </a:solidFill>
              <a:prstDash val="solid"/>
            </a:ln>
          </p:spPr>
        </p:sp>
        <p:sp>
          <p:nvSpPr>
            <p:cNvPr id="10" name="Shape 8"/>
            <p:cNvSpPr/>
            <p:nvPr/>
          </p:nvSpPr>
          <p:spPr>
            <a:xfrm>
              <a:off x="2045" y="7027"/>
              <a:ext cx="5443" cy="1238"/>
            </a:xfrm>
            <a:prstGeom prst="rect">
              <a:avLst/>
            </a:prstGeom>
            <a:solidFill>
              <a:srgbClr val="E0F2FE">
                <a:alpha val="96000"/>
              </a:srgbClr>
            </a:solidFill>
            <a:ln w="12700">
              <a:solidFill>
                <a:srgbClr val="2563EB"/>
              </a:solidFill>
              <a:prstDash val="solid"/>
            </a:ln>
          </p:spPr>
        </p:sp>
        <p:sp>
          <p:nvSpPr>
            <p:cNvPr id="11" name="Shape 9"/>
            <p:cNvSpPr/>
            <p:nvPr/>
          </p:nvSpPr>
          <p:spPr>
            <a:xfrm>
              <a:off x="2045" y="8266"/>
              <a:ext cx="5443" cy="605"/>
            </a:xfrm>
            <a:prstGeom prst="roundRect">
              <a:avLst>
                <a:gd name="adj" fmla="val 7143"/>
              </a:avLst>
            </a:prstGeom>
            <a:solidFill>
              <a:srgbClr val="E2E8F0"/>
            </a:solidFill>
            <a:ln w="12700">
              <a:solidFill>
                <a:srgbClr val="334155"/>
              </a:solidFill>
              <a:prstDash val="solid"/>
            </a:ln>
          </p:spPr>
        </p:sp>
        <p:sp>
          <p:nvSpPr>
            <p:cNvPr id="12" name="Shape 10"/>
            <p:cNvSpPr/>
            <p:nvPr/>
          </p:nvSpPr>
          <p:spPr>
            <a:xfrm>
              <a:off x="2045" y="3456"/>
              <a:ext cx="5443" cy="0"/>
            </a:xfrm>
            <a:prstGeom prst="line">
              <a:avLst/>
            </a:prstGeom>
            <a:noFill/>
            <a:ln w="12700">
              <a:solidFill>
                <a:srgbClr val="B42318"/>
              </a:solidFill>
              <a:prstDash val="solid"/>
              <a:headEnd type="none"/>
              <a:tailEnd type="none"/>
            </a:ln>
          </p:spPr>
        </p:sp>
        <p:sp>
          <p:nvSpPr>
            <p:cNvPr id="13" name="Shape 11"/>
            <p:cNvSpPr/>
            <p:nvPr/>
          </p:nvSpPr>
          <p:spPr>
            <a:xfrm>
              <a:off x="2045" y="8266"/>
              <a:ext cx="5443" cy="0"/>
            </a:xfrm>
            <a:prstGeom prst="line">
              <a:avLst/>
            </a:prstGeom>
            <a:noFill/>
            <a:ln w="12700">
              <a:solidFill>
                <a:srgbClr val="2563EB"/>
              </a:solidFill>
              <a:prstDash val="solid"/>
              <a:headEnd type="none"/>
              <a:tailEnd type="none"/>
            </a:ln>
          </p:spPr>
        </p:sp>
        <p:sp>
          <p:nvSpPr>
            <p:cNvPr id="14" name="Text 12"/>
            <p:cNvSpPr/>
            <p:nvPr/>
          </p:nvSpPr>
          <p:spPr>
            <a:xfrm>
              <a:off x="3082" y="3053"/>
              <a:ext cx="3312" cy="230"/>
            </a:xfrm>
            <a:prstGeom prst="rect">
              <a:avLst/>
            </a:prstGeom>
            <a:noFill/>
          </p:spPr>
          <p:txBody>
            <a:bodyPr wrap="square" lIns="0" tIns="0" rIns="0" bIns="0" rtlCol="0" anchor="t">
              <a:normAutofit/>
            </a:bodyPr>
            <a:lstStyle/>
            <a:p>
              <a:pPr marL="0" indent="0" algn="ctr">
                <a:buNone/>
              </a:pPr>
              <a:r>
                <a:rPr lang="en-US" sz="920" b="1" dirty="0">
                  <a:solidFill>
                    <a:srgbClr val="334155"/>
                  </a:solidFill>
                  <a:latin typeface="Arial" panose="020B0604020202090204" pitchFamily="34" charset="0"/>
                  <a:ea typeface="Arial" panose="020B0604020202090204" pitchFamily="34" charset="-122"/>
                  <a:cs typeface="Arial" panose="020B0604020202090204" pitchFamily="34" charset="-120"/>
                </a:rPr>
                <a:t>top electrode reservoir</a:t>
              </a:r>
              <a:endParaRPr lang="en-US" sz="920" dirty="0"/>
            </a:p>
          </p:txBody>
        </p:sp>
        <p:sp>
          <p:nvSpPr>
            <p:cNvPr id="15" name="Text 13"/>
            <p:cNvSpPr/>
            <p:nvPr/>
          </p:nvSpPr>
          <p:spPr>
            <a:xfrm>
              <a:off x="3110" y="3974"/>
              <a:ext cx="3312" cy="230"/>
            </a:xfrm>
            <a:prstGeom prst="rect">
              <a:avLst/>
            </a:prstGeom>
            <a:noFill/>
          </p:spPr>
          <p:txBody>
            <a:bodyPr wrap="square" lIns="0" tIns="0" rIns="0" bIns="0" rtlCol="0" anchor="t">
              <a:normAutofit/>
            </a:bodyPr>
            <a:lstStyle/>
            <a:p>
              <a:pPr marL="0" indent="0" algn="ctr">
                <a:buNone/>
              </a:pPr>
              <a:r>
                <a:rPr lang="en-US" sz="940" b="1" dirty="0">
                  <a:solidFill>
                    <a:srgbClr val="B42318"/>
                  </a:solidFill>
                  <a:latin typeface="Arial" panose="020B0604020202090204" pitchFamily="34" charset="0"/>
                  <a:ea typeface="Arial" panose="020B0604020202090204" pitchFamily="34" charset="-122"/>
                  <a:cs typeface="Arial" panose="020B0604020202090204" pitchFamily="34" charset="-120"/>
                </a:rPr>
                <a:t>HTL / contact layer</a:t>
              </a:r>
              <a:endParaRPr lang="en-US" sz="940" dirty="0"/>
            </a:p>
          </p:txBody>
        </p:sp>
        <p:sp>
          <p:nvSpPr>
            <p:cNvPr id="16" name="Text 14"/>
            <p:cNvSpPr/>
            <p:nvPr/>
          </p:nvSpPr>
          <p:spPr>
            <a:xfrm>
              <a:off x="3888" y="5702"/>
              <a:ext cx="1757" cy="230"/>
            </a:xfrm>
            <a:prstGeom prst="rect">
              <a:avLst/>
            </a:prstGeom>
            <a:noFill/>
          </p:spPr>
          <p:txBody>
            <a:bodyPr wrap="square" lIns="0" tIns="0" rIns="0" bIns="0" rtlCol="0" anchor="t">
              <a:normAutofit/>
            </a:bodyPr>
            <a:lstStyle/>
            <a:p>
              <a:pPr marL="0" indent="0" algn="ctr">
                <a:buNone/>
              </a:pPr>
              <a:r>
                <a:rPr lang="en-US" sz="960" b="1" dirty="0">
                  <a:solidFill>
                    <a:srgbClr val="6D28D9"/>
                  </a:solidFill>
                  <a:latin typeface="Arial" panose="020B0604020202090204" pitchFamily="34" charset="0"/>
                  <a:ea typeface="Arial" panose="020B0604020202090204" pitchFamily="34" charset="-122"/>
                  <a:cs typeface="Arial" panose="020B0604020202090204" pitchFamily="34" charset="-120"/>
                </a:rPr>
                <a:t>absorber</a:t>
              </a:r>
              <a:endParaRPr lang="en-US" sz="960" dirty="0"/>
            </a:p>
          </p:txBody>
        </p:sp>
        <p:sp>
          <p:nvSpPr>
            <p:cNvPr id="17" name="Text 15"/>
            <p:cNvSpPr/>
            <p:nvPr/>
          </p:nvSpPr>
          <p:spPr>
            <a:xfrm>
              <a:off x="3110" y="7488"/>
              <a:ext cx="3312" cy="230"/>
            </a:xfrm>
            <a:prstGeom prst="rect">
              <a:avLst/>
            </a:prstGeom>
            <a:noFill/>
          </p:spPr>
          <p:txBody>
            <a:bodyPr wrap="square" lIns="0" tIns="0" rIns="0" bIns="0" rtlCol="0" anchor="t">
              <a:normAutofit/>
            </a:bodyPr>
            <a:lstStyle/>
            <a:p>
              <a:pPr marL="0" indent="0" algn="ctr">
                <a:buNone/>
              </a:pPr>
              <a:r>
                <a:rPr lang="en-US" sz="940" b="1" dirty="0">
                  <a:solidFill>
                    <a:srgbClr val="2563EB"/>
                  </a:solidFill>
                  <a:latin typeface="Arial" panose="020B0604020202090204" pitchFamily="34" charset="0"/>
                  <a:ea typeface="Arial" panose="020B0604020202090204" pitchFamily="34" charset="-122"/>
                  <a:cs typeface="Arial" panose="020B0604020202090204" pitchFamily="34" charset="-120"/>
                </a:rPr>
                <a:t>ETL / contact layer</a:t>
              </a:r>
              <a:endParaRPr lang="en-US" sz="940" dirty="0"/>
            </a:p>
          </p:txBody>
        </p:sp>
        <p:sp>
          <p:nvSpPr>
            <p:cNvPr id="18" name="Text 16"/>
            <p:cNvSpPr/>
            <p:nvPr/>
          </p:nvSpPr>
          <p:spPr>
            <a:xfrm>
              <a:off x="2938" y="8482"/>
              <a:ext cx="3672" cy="230"/>
            </a:xfrm>
            <a:prstGeom prst="rect">
              <a:avLst/>
            </a:prstGeom>
            <a:noFill/>
          </p:spPr>
          <p:txBody>
            <a:bodyPr wrap="square" lIns="0" tIns="0" rIns="0" bIns="0" rtlCol="0" anchor="t">
              <a:normAutofit/>
            </a:bodyPr>
            <a:lstStyle/>
            <a:p>
              <a:pPr marL="0" indent="0" algn="ctr">
                <a:buNone/>
              </a:pPr>
              <a:r>
                <a:rPr lang="en-US" sz="920" b="1" dirty="0">
                  <a:solidFill>
                    <a:srgbClr val="334155"/>
                  </a:solidFill>
                  <a:latin typeface="Arial" panose="020B0604020202090204" pitchFamily="34" charset="0"/>
                  <a:ea typeface="Arial" panose="020B0604020202090204" pitchFamily="34" charset="-122"/>
                  <a:cs typeface="Arial" panose="020B0604020202090204" pitchFamily="34" charset="-120"/>
                </a:rPr>
                <a:t>bottom electrode reservoir</a:t>
              </a:r>
              <a:endParaRPr lang="en-US" sz="920" dirty="0"/>
            </a:p>
          </p:txBody>
        </p:sp>
        <p:sp>
          <p:nvSpPr>
            <p:cNvPr id="19" name="Shape 17"/>
            <p:cNvSpPr/>
            <p:nvPr/>
          </p:nvSpPr>
          <p:spPr>
            <a:xfrm>
              <a:off x="3053" y="3197"/>
              <a:ext cx="0" cy="691"/>
            </a:xfrm>
            <a:prstGeom prst="line">
              <a:avLst/>
            </a:prstGeom>
            <a:noFill/>
            <a:ln w="12700">
              <a:solidFill>
                <a:srgbClr val="B42318"/>
              </a:solidFill>
              <a:prstDash val="solid"/>
              <a:headEnd type="triangle"/>
              <a:tailEnd type="triangle"/>
            </a:ln>
          </p:spPr>
        </p:sp>
        <p:sp>
          <p:nvSpPr>
            <p:cNvPr id="20" name="Shape 18"/>
            <p:cNvSpPr/>
            <p:nvPr/>
          </p:nvSpPr>
          <p:spPr>
            <a:xfrm>
              <a:off x="6480" y="7834"/>
              <a:ext cx="0" cy="691"/>
            </a:xfrm>
            <a:prstGeom prst="line">
              <a:avLst/>
            </a:prstGeom>
            <a:noFill/>
            <a:ln w="12700">
              <a:solidFill>
                <a:srgbClr val="2563EB"/>
              </a:solidFill>
              <a:prstDash val="solid"/>
              <a:headEnd type="triangle"/>
              <a:tailEnd type="triangle"/>
            </a:ln>
          </p:spPr>
        </p:sp>
        <p:sp>
          <p:nvSpPr>
            <p:cNvPr id="21" name="Text 19"/>
            <p:cNvSpPr/>
            <p:nvPr/>
          </p:nvSpPr>
          <p:spPr>
            <a:xfrm>
              <a:off x="3370" y="3456"/>
              <a:ext cx="2045" cy="230"/>
            </a:xfrm>
            <a:prstGeom prst="rect">
              <a:avLst/>
            </a:prstGeom>
            <a:noFill/>
          </p:spPr>
          <p:txBody>
            <a:bodyPr wrap="square" lIns="0" tIns="0" rIns="0" bIns="0" rtlCol="0" anchor="t">
              <a:normAutofit/>
            </a:bodyPr>
            <a:lstStyle/>
            <a:p>
              <a:pPr marL="0" indent="0" algn="l">
                <a:buNone/>
              </a:pPr>
              <a:r>
                <a:rPr lang="en-US" sz="920" b="1" dirty="0">
                  <a:solidFill>
                    <a:srgbClr val="B42318"/>
                  </a:solidFill>
                  <a:latin typeface="Arial" panose="020B0604020202090204" pitchFamily="34" charset="0"/>
                  <a:ea typeface="Arial" panose="020B0604020202090204" pitchFamily="34" charset="-122"/>
                  <a:cs typeface="Arial" panose="020B0604020202090204" pitchFamily="34" charset="-120"/>
                </a:rPr>
                <a:t>carrier exchange</a:t>
              </a:r>
              <a:endParaRPr lang="en-US" sz="920" dirty="0"/>
            </a:p>
          </p:txBody>
        </p:sp>
        <p:sp>
          <p:nvSpPr>
            <p:cNvPr id="22" name="Text 20"/>
            <p:cNvSpPr/>
            <p:nvPr/>
          </p:nvSpPr>
          <p:spPr>
            <a:xfrm>
              <a:off x="4234" y="7834"/>
              <a:ext cx="2045" cy="230"/>
            </a:xfrm>
            <a:prstGeom prst="rect">
              <a:avLst/>
            </a:prstGeom>
            <a:noFill/>
          </p:spPr>
          <p:txBody>
            <a:bodyPr wrap="square" lIns="0" tIns="0" rIns="0" bIns="0" rtlCol="0" anchor="t">
              <a:normAutofit/>
            </a:bodyPr>
            <a:lstStyle/>
            <a:p>
              <a:pPr marL="0" indent="0" algn="l">
                <a:buNone/>
              </a:pPr>
              <a:r>
                <a:rPr lang="en-US" sz="920" b="1" dirty="0">
                  <a:solidFill>
                    <a:srgbClr val="2563EB"/>
                  </a:solidFill>
                  <a:latin typeface="Arial" panose="020B0604020202090204" pitchFamily="34" charset="0"/>
                  <a:ea typeface="Arial" panose="020B0604020202090204" pitchFamily="34" charset="-122"/>
                  <a:cs typeface="Arial" panose="020B0604020202090204" pitchFamily="34" charset="-120"/>
                </a:rPr>
                <a:t>carrier exchange</a:t>
              </a:r>
              <a:endParaRPr lang="en-US" sz="920" dirty="0"/>
            </a:p>
          </p:txBody>
        </p:sp>
        <p:sp>
          <p:nvSpPr>
            <p:cNvPr id="23" name="Text 21"/>
            <p:cNvSpPr/>
            <p:nvPr/>
          </p:nvSpPr>
          <p:spPr>
            <a:xfrm>
              <a:off x="1930" y="8827"/>
              <a:ext cx="5616" cy="259"/>
            </a:xfrm>
            <a:prstGeom prst="rect">
              <a:avLst/>
            </a:prstGeom>
            <a:noFill/>
          </p:spPr>
          <p:txBody>
            <a:bodyPr wrap="square" lIns="0" tIns="0" rIns="0" bIns="0" rtlCol="0" anchor="t">
              <a:normAutofit/>
            </a:bodyPr>
            <a:lstStyle/>
            <a:p>
              <a:pPr marL="0" indent="0" algn="ctr">
                <a:buNone/>
              </a:pPr>
              <a:r>
                <a:rPr lang="en-US" sz="1040" dirty="0">
                  <a:solidFill>
                    <a:srgbClr val="334155"/>
                  </a:solidFill>
                  <a:latin typeface="Arial" panose="020B0604020202090204" pitchFamily="34" charset="0"/>
                  <a:ea typeface="Arial" panose="020B0604020202090204" pitchFamily="34" charset="-122"/>
                  <a:cs typeface="Arial" panose="020B0604020202090204" pitchFamily="34" charset="-120"/>
                </a:rPr>
                <a:t>contact rows: y = 0 and y = L</a:t>
              </a:r>
              <a:r>
                <a:rPr lang="en-US" sz="1040" baseline="-40000" dirty="0">
                  <a:solidFill>
                    <a:srgbClr val="334155"/>
                  </a:solidFill>
                  <a:latin typeface="Arial" panose="020B0604020202090204" pitchFamily="34" charset="0"/>
                  <a:ea typeface="Arial" panose="020B0604020202090204" pitchFamily="34" charset="-122"/>
                  <a:cs typeface="Arial" panose="020B0604020202090204" pitchFamily="34" charset="-120"/>
                </a:rPr>
                <a:t>y</a:t>
              </a:r>
              <a:endParaRPr lang="en-US" sz="1040" dirty="0"/>
            </a:p>
          </p:txBody>
        </p:sp>
        <p:sp>
          <p:nvSpPr>
            <p:cNvPr id="24" name="Shape 22"/>
            <p:cNvSpPr/>
            <p:nvPr/>
          </p:nvSpPr>
          <p:spPr>
            <a:xfrm>
              <a:off x="8755" y="1843"/>
              <a:ext cx="9360" cy="7718"/>
            </a:xfrm>
            <a:prstGeom prst="roundRect">
              <a:avLst>
                <a:gd name="adj" fmla="val 1493"/>
              </a:avLst>
            </a:prstGeom>
            <a:solidFill>
              <a:srgbClr val="F8FAFC"/>
            </a:solidFill>
            <a:ln w="12700">
              <a:solidFill>
                <a:srgbClr val="CBD5E1"/>
              </a:solidFill>
              <a:prstDash val="solid"/>
            </a:ln>
          </p:spPr>
        </p:sp>
        <p:sp>
          <p:nvSpPr>
            <p:cNvPr id="25" name="Text 23"/>
            <p:cNvSpPr/>
            <p:nvPr/>
          </p:nvSpPr>
          <p:spPr>
            <a:xfrm>
              <a:off x="9101" y="2088"/>
              <a:ext cx="8669" cy="346"/>
            </a:xfrm>
            <a:prstGeom prst="rect">
              <a:avLst/>
            </a:prstGeom>
            <a:noFill/>
          </p:spPr>
          <p:txBody>
            <a:bodyPr wrap="square" lIns="0" tIns="0" rIns="0" bIns="0" rtlCol="0" anchor="t">
              <a:normAutofit/>
            </a:bodyPr>
            <a:lstStyle/>
            <a:p>
              <a:pPr marL="0" indent="0" algn="l">
                <a:buNone/>
              </a:pPr>
              <a:r>
                <a:rPr lang="en-US" sz="1270" b="1" dirty="0">
                  <a:solidFill>
                    <a:srgbClr val="334155"/>
                  </a:solidFill>
                  <a:latin typeface="Arial" panose="020B0604020202090204" pitchFamily="34" charset="0"/>
                  <a:ea typeface="Arial" panose="020B0604020202090204" pitchFamily="34" charset="-122"/>
                  <a:cs typeface="Arial" panose="020B0604020202090204" pitchFamily="34" charset="-120"/>
                </a:rPr>
                <a:t>B. Boundary Model Used by the RHS</a:t>
              </a:r>
              <a:endParaRPr lang="en-US" sz="1270" dirty="0"/>
            </a:p>
          </p:txBody>
        </p:sp>
        <p:sp>
          <p:nvSpPr>
            <p:cNvPr id="26" name="Shape 24"/>
            <p:cNvSpPr/>
            <p:nvPr/>
          </p:nvSpPr>
          <p:spPr>
            <a:xfrm>
              <a:off x="9245" y="2765"/>
              <a:ext cx="8352" cy="1944"/>
            </a:xfrm>
            <a:prstGeom prst="roundRect">
              <a:avLst>
                <a:gd name="adj" fmla="val 5926"/>
              </a:avLst>
            </a:prstGeom>
            <a:solidFill>
              <a:srgbClr val="DBEAFE"/>
            </a:solidFill>
            <a:ln w="12700">
              <a:solidFill>
                <a:srgbClr val="2563EB"/>
              </a:solidFill>
              <a:prstDash val="solid"/>
            </a:ln>
          </p:spPr>
        </p:sp>
        <p:sp>
          <p:nvSpPr>
            <p:cNvPr id="27" name="Shape 25"/>
            <p:cNvSpPr/>
            <p:nvPr/>
          </p:nvSpPr>
          <p:spPr>
            <a:xfrm>
              <a:off x="9245" y="2765"/>
              <a:ext cx="115" cy="1944"/>
            </a:xfrm>
            <a:prstGeom prst="rect">
              <a:avLst/>
            </a:prstGeom>
            <a:solidFill>
              <a:srgbClr val="2563EB"/>
            </a:solidFill>
            <a:ln w="12700">
              <a:solidFill>
                <a:srgbClr val="2563EB">
                  <a:alpha val="0"/>
                </a:srgbClr>
              </a:solidFill>
              <a:prstDash val="solid"/>
            </a:ln>
          </p:spPr>
        </p:sp>
        <p:sp>
          <p:nvSpPr>
            <p:cNvPr id="28" name="Text 26"/>
            <p:cNvSpPr/>
            <p:nvPr/>
          </p:nvSpPr>
          <p:spPr>
            <a:xfrm>
              <a:off x="9533" y="2966"/>
              <a:ext cx="7776" cy="317"/>
            </a:xfrm>
            <a:prstGeom prst="rect">
              <a:avLst/>
            </a:prstGeom>
            <a:noFill/>
          </p:spPr>
          <p:txBody>
            <a:bodyPr wrap="square" lIns="0" tIns="0" rIns="0" bIns="0" rtlCol="0" anchor="t">
              <a:normAutofit/>
            </a:bodyPr>
            <a:lstStyle/>
            <a:p>
              <a:pPr marL="0" indent="0" algn="l">
                <a:buNone/>
              </a:pPr>
              <a:r>
                <a:rPr lang="en-US" sz="950" b="1" dirty="0">
                  <a:solidFill>
                    <a:srgbClr val="2563EB"/>
                  </a:solidFill>
                  <a:latin typeface="Arial" panose="020B0604020202090204" pitchFamily="34" charset="0"/>
                  <a:ea typeface="Arial" panose="020B0604020202090204" pitchFamily="34" charset="-122"/>
                  <a:cs typeface="Arial" panose="020B0604020202090204" pitchFamily="34" charset="-120"/>
                </a:rPr>
                <a:t>OHMIC / DIRICHLET LIMIT</a:t>
              </a:r>
              <a:endParaRPr lang="en-US" sz="950" dirty="0"/>
            </a:p>
          </p:txBody>
        </p:sp>
        <p:sp>
          <p:nvSpPr>
            <p:cNvPr id="29" name="Text 27"/>
            <p:cNvSpPr/>
            <p:nvPr/>
          </p:nvSpPr>
          <p:spPr>
            <a:xfrm>
              <a:off x="9605" y="3456"/>
              <a:ext cx="7632" cy="490"/>
            </a:xfrm>
            <a:prstGeom prst="rect">
              <a:avLst/>
            </a:prstGeom>
            <a:noFill/>
          </p:spPr>
          <p:txBody>
            <a:bodyPr wrap="square" lIns="0" tIns="0" rIns="0" bIns="0" rtlCol="0" anchor="t">
              <a:normAutofit/>
            </a:bodyPr>
            <a:lstStyle/>
            <a:p>
              <a:pPr marL="0" indent="0" algn="l">
                <a:buNone/>
              </a:pPr>
              <a:r>
                <a:rPr lang="en-US" sz="1500" b="1" dirty="0">
                  <a:solidFill>
                    <a:srgbClr val="162033"/>
                  </a:solidFill>
                  <a:latin typeface="Arial" panose="020B0604020202090204" pitchFamily="34" charset="0"/>
                  <a:ea typeface="Arial" panose="020B0604020202090204" pitchFamily="34" charset="-122"/>
                  <a:cs typeface="Arial" panose="020B0604020202090204" pitchFamily="34" charset="-120"/>
                </a:rPr>
                <a:t>n = n</a:t>
              </a:r>
              <a:r>
                <a:rPr lang="en-US" sz="1500" b="1" baseline="-40000" dirty="0">
                  <a:solidFill>
                    <a:srgbClr val="162033"/>
                  </a:solidFill>
                  <a:latin typeface="Arial" panose="020B0604020202090204" pitchFamily="34" charset="0"/>
                  <a:ea typeface="Arial" panose="020B0604020202090204" pitchFamily="34" charset="-122"/>
                  <a:cs typeface="Arial" panose="020B0604020202090204" pitchFamily="34" charset="-120"/>
                </a:rPr>
                <a:t>eq</a:t>
              </a:r>
              <a:r>
                <a:rPr lang="en-US" sz="1500" b="1" dirty="0">
                  <a:solidFill>
                    <a:srgbClr val="162033"/>
                  </a:solidFill>
                  <a:latin typeface="Arial" panose="020B0604020202090204" pitchFamily="34" charset="0"/>
                  <a:ea typeface="Arial" panose="020B0604020202090204" pitchFamily="34" charset="-122"/>
                  <a:cs typeface="Arial" panose="020B0604020202090204" pitchFamily="34" charset="-120"/>
                </a:rPr>
                <a:t>      p = p</a:t>
              </a:r>
              <a:r>
                <a:rPr lang="en-US" sz="1500" b="1" baseline="-40000" dirty="0">
                  <a:solidFill>
                    <a:srgbClr val="162033"/>
                  </a:solidFill>
                  <a:latin typeface="Arial" panose="020B0604020202090204" pitchFamily="34" charset="0"/>
                  <a:ea typeface="Arial" panose="020B0604020202090204" pitchFamily="34" charset="-122"/>
                  <a:cs typeface="Arial" panose="020B0604020202090204" pitchFamily="34" charset="-120"/>
                </a:rPr>
                <a:t>eq</a:t>
              </a:r>
              <a:endParaRPr lang="en-US" sz="1500" dirty="0"/>
            </a:p>
          </p:txBody>
        </p:sp>
        <p:sp>
          <p:nvSpPr>
            <p:cNvPr id="30" name="Text 28"/>
            <p:cNvSpPr/>
            <p:nvPr/>
          </p:nvSpPr>
          <p:spPr>
            <a:xfrm>
              <a:off x="9605" y="4061"/>
              <a:ext cx="7632" cy="475"/>
            </a:xfrm>
            <a:prstGeom prst="rect">
              <a:avLst/>
            </a:prstGeom>
            <a:noFill/>
          </p:spPr>
          <p:txBody>
            <a:bodyPr wrap="square" lIns="0" tIns="0" rIns="0" bIns="0" rtlCol="0" anchor="t">
              <a:normAutofit/>
            </a:bodyPr>
            <a:lstStyle/>
            <a:p>
              <a:pPr marL="0" indent="0" algn="l">
                <a:buNone/>
              </a:pPr>
              <a:r>
                <a:rPr lang="en-US" sz="1050" dirty="0">
                  <a:solidFill>
                    <a:srgbClr val="162033"/>
                  </a:solidFill>
                  <a:latin typeface="Arial" panose="020B0604020202090204" pitchFamily="34" charset="0"/>
                  <a:ea typeface="Arial" panose="020B0604020202090204" pitchFamily="34" charset="-122"/>
                  <a:cs typeface="Arial" panose="020B0604020202090204" pitchFamily="34" charset="-120"/>
                </a:rPr>
                <a:t>Ideal reservoir: boundary carrier densities are pinned; the contact rows are not time-evolved.</a:t>
              </a:r>
              <a:endParaRPr lang="en-US" sz="1050" dirty="0"/>
            </a:p>
          </p:txBody>
        </p:sp>
        <p:sp>
          <p:nvSpPr>
            <p:cNvPr id="31" name="Shape 29"/>
            <p:cNvSpPr/>
            <p:nvPr/>
          </p:nvSpPr>
          <p:spPr>
            <a:xfrm>
              <a:off x="9245" y="5069"/>
              <a:ext cx="8352" cy="2117"/>
            </a:xfrm>
            <a:prstGeom prst="roundRect">
              <a:avLst>
                <a:gd name="adj" fmla="val 5442"/>
              </a:avLst>
            </a:prstGeom>
            <a:solidFill>
              <a:srgbClr val="FEF3C7"/>
            </a:solidFill>
            <a:ln w="12700">
              <a:solidFill>
                <a:srgbClr val="A16207"/>
              </a:solidFill>
              <a:prstDash val="solid"/>
            </a:ln>
          </p:spPr>
        </p:sp>
        <p:sp>
          <p:nvSpPr>
            <p:cNvPr id="32" name="Shape 30"/>
            <p:cNvSpPr/>
            <p:nvPr/>
          </p:nvSpPr>
          <p:spPr>
            <a:xfrm>
              <a:off x="9245" y="5069"/>
              <a:ext cx="115" cy="2117"/>
            </a:xfrm>
            <a:prstGeom prst="rect">
              <a:avLst/>
            </a:prstGeom>
            <a:solidFill>
              <a:srgbClr val="A16207"/>
            </a:solidFill>
            <a:ln w="12700">
              <a:solidFill>
                <a:srgbClr val="A16207">
                  <a:alpha val="0"/>
                </a:srgbClr>
              </a:solidFill>
              <a:prstDash val="solid"/>
            </a:ln>
          </p:spPr>
        </p:sp>
        <p:sp>
          <p:nvSpPr>
            <p:cNvPr id="33" name="Text 31"/>
            <p:cNvSpPr/>
            <p:nvPr/>
          </p:nvSpPr>
          <p:spPr>
            <a:xfrm>
              <a:off x="9533" y="5270"/>
              <a:ext cx="7776" cy="317"/>
            </a:xfrm>
            <a:prstGeom prst="rect">
              <a:avLst/>
            </a:prstGeom>
            <a:noFill/>
          </p:spPr>
          <p:txBody>
            <a:bodyPr wrap="square" lIns="0" tIns="0" rIns="0" bIns="0" rtlCol="0" anchor="t">
              <a:normAutofit/>
            </a:bodyPr>
            <a:lstStyle/>
            <a:p>
              <a:pPr marL="0" indent="0" algn="l">
                <a:buNone/>
              </a:pPr>
              <a:r>
                <a:rPr lang="en-US" sz="950" b="1" dirty="0">
                  <a:solidFill>
                    <a:srgbClr val="A16207"/>
                  </a:solidFill>
                  <a:latin typeface="Arial" panose="020B0604020202090204" pitchFamily="34" charset="0"/>
                  <a:ea typeface="Arial" panose="020B0604020202090204" pitchFamily="34" charset="-122"/>
                  <a:cs typeface="Arial" panose="020B0604020202090204" pitchFamily="34" charset="-120"/>
                </a:rPr>
                <a:t>SELECTIVE / ROBIN CONTACT</a:t>
              </a:r>
              <a:endParaRPr lang="en-US" sz="950" dirty="0"/>
            </a:p>
          </p:txBody>
        </p:sp>
        <p:sp>
          <p:nvSpPr>
            <p:cNvPr id="34" name="Text 32"/>
            <p:cNvSpPr/>
            <p:nvPr/>
          </p:nvSpPr>
          <p:spPr>
            <a:xfrm>
              <a:off x="9605" y="5760"/>
              <a:ext cx="7632" cy="490"/>
            </a:xfrm>
            <a:prstGeom prst="rect">
              <a:avLst/>
            </a:prstGeom>
            <a:noFill/>
          </p:spPr>
          <p:txBody>
            <a:bodyPr wrap="square" lIns="0" tIns="0" rIns="0" bIns="0" rtlCol="0" anchor="t">
              <a:normAutofit/>
            </a:bodyPr>
            <a:lstStyle/>
            <a:p>
              <a:pPr marL="0" indent="0" algn="l">
                <a:buNone/>
              </a:pPr>
              <a:r>
                <a:rPr lang="en-US" sz="1340" b="1" dirty="0">
                  <a:solidFill>
                    <a:srgbClr val="162033"/>
                  </a:solidFill>
                  <a:latin typeface="Arial" panose="020B0604020202090204" pitchFamily="34" charset="0"/>
                  <a:ea typeface="Arial" panose="020B0604020202090204" pitchFamily="34" charset="-122"/>
                  <a:cs typeface="Arial" panose="020B0604020202090204" pitchFamily="34" charset="-120"/>
                </a:rPr>
                <a:t>Jₙ = q Sₙ(n - n</a:t>
              </a:r>
              <a:r>
                <a:rPr lang="en-US" sz="1340" b="1" baseline="-40000" dirty="0">
                  <a:solidFill>
                    <a:srgbClr val="162033"/>
                  </a:solidFill>
                  <a:latin typeface="Arial" panose="020B0604020202090204" pitchFamily="34" charset="0"/>
                  <a:ea typeface="Arial" panose="020B0604020202090204" pitchFamily="34" charset="-122"/>
                  <a:cs typeface="Arial" panose="020B0604020202090204" pitchFamily="34" charset="-120"/>
                </a:rPr>
                <a:t>eq</a:t>
              </a:r>
              <a:r>
                <a:rPr lang="en-US" sz="1340" b="1" dirty="0">
                  <a:solidFill>
                    <a:srgbClr val="162033"/>
                  </a:solidFill>
                  <a:latin typeface="Arial" panose="020B0604020202090204" pitchFamily="34" charset="0"/>
                  <a:ea typeface="Arial" panose="020B0604020202090204" pitchFamily="34" charset="-122"/>
                  <a:cs typeface="Arial" panose="020B0604020202090204" pitchFamily="34" charset="-120"/>
                </a:rPr>
                <a:t>)     Jₚ = q Sₚ(p - p</a:t>
              </a:r>
              <a:r>
                <a:rPr lang="en-US" sz="1340" b="1" baseline="-40000" dirty="0">
                  <a:solidFill>
                    <a:srgbClr val="162033"/>
                  </a:solidFill>
                  <a:latin typeface="Arial" panose="020B0604020202090204" pitchFamily="34" charset="0"/>
                  <a:ea typeface="Arial" panose="020B0604020202090204" pitchFamily="34" charset="-122"/>
                  <a:cs typeface="Arial" panose="020B0604020202090204" pitchFamily="34" charset="-120"/>
                </a:rPr>
                <a:t>eq</a:t>
              </a:r>
              <a:r>
                <a:rPr lang="en-US" sz="1340" b="1" dirty="0">
                  <a:solidFill>
                    <a:srgbClr val="162033"/>
                  </a:solidFill>
                  <a:latin typeface="Arial" panose="020B0604020202090204" pitchFamily="34" charset="0"/>
                  <a:ea typeface="Arial" panose="020B0604020202090204" pitchFamily="34" charset="-122"/>
                  <a:cs typeface="Arial" panose="020B0604020202090204" pitchFamily="34" charset="-120"/>
                </a:rPr>
                <a:t>)</a:t>
              </a:r>
              <a:endParaRPr lang="en-US" sz="1340" dirty="0"/>
            </a:p>
          </p:txBody>
        </p:sp>
        <p:sp>
          <p:nvSpPr>
            <p:cNvPr id="35" name="Text 33"/>
            <p:cNvSpPr/>
            <p:nvPr/>
          </p:nvSpPr>
          <p:spPr>
            <a:xfrm>
              <a:off x="9605" y="6365"/>
              <a:ext cx="7632" cy="648"/>
            </a:xfrm>
            <a:prstGeom prst="rect">
              <a:avLst/>
            </a:prstGeom>
            <a:noFill/>
          </p:spPr>
          <p:txBody>
            <a:bodyPr wrap="square" lIns="0" tIns="0" rIns="0" bIns="0" rtlCol="0" anchor="t">
              <a:normAutofit/>
            </a:bodyPr>
            <a:lstStyle/>
            <a:p>
              <a:pPr marL="0" indent="0" algn="l">
                <a:buNone/>
              </a:pPr>
              <a:r>
                <a:rPr lang="en-US" sz="1050" dirty="0">
                  <a:solidFill>
                    <a:srgbClr val="162033"/>
                  </a:solidFill>
                  <a:latin typeface="Arial" panose="020B0604020202090204" pitchFamily="34" charset="0"/>
                  <a:ea typeface="Arial" panose="020B0604020202090204" pitchFamily="34" charset="-122"/>
                  <a:cs typeface="Arial" panose="020B0604020202090204" pitchFamily="34" charset="-120"/>
                </a:rPr>
                <a:t>Finite surface velocity S controls carrier exchange with the electrode reservoir.</a:t>
              </a:r>
              <a:endParaRPr lang="en-US" sz="1050" dirty="0"/>
            </a:p>
          </p:txBody>
        </p:sp>
        <p:sp>
          <p:nvSpPr>
            <p:cNvPr id="36" name="Shape 34"/>
            <p:cNvSpPr/>
            <p:nvPr/>
          </p:nvSpPr>
          <p:spPr>
            <a:xfrm>
              <a:off x="9533" y="7848"/>
              <a:ext cx="7718" cy="0"/>
            </a:xfrm>
            <a:prstGeom prst="line">
              <a:avLst/>
            </a:prstGeom>
            <a:noFill/>
            <a:ln w="12700">
              <a:solidFill>
                <a:srgbClr val="334155"/>
              </a:solidFill>
              <a:prstDash val="solid"/>
              <a:headEnd type="none"/>
              <a:tailEnd type="none"/>
            </a:ln>
          </p:spPr>
        </p:sp>
        <p:sp>
          <p:nvSpPr>
            <p:cNvPr id="37" name="Shape 35"/>
            <p:cNvSpPr/>
            <p:nvPr/>
          </p:nvSpPr>
          <p:spPr>
            <a:xfrm>
              <a:off x="9533" y="7646"/>
              <a:ext cx="0" cy="202"/>
            </a:xfrm>
            <a:prstGeom prst="line">
              <a:avLst/>
            </a:prstGeom>
            <a:noFill/>
            <a:ln w="12700">
              <a:solidFill>
                <a:srgbClr val="334155"/>
              </a:solidFill>
              <a:prstDash val="solid"/>
              <a:headEnd type="none"/>
              <a:tailEnd type="none"/>
            </a:ln>
          </p:spPr>
        </p:sp>
        <p:sp>
          <p:nvSpPr>
            <p:cNvPr id="38" name="Shape 36"/>
            <p:cNvSpPr/>
            <p:nvPr/>
          </p:nvSpPr>
          <p:spPr>
            <a:xfrm>
              <a:off x="13363" y="7646"/>
              <a:ext cx="0" cy="202"/>
            </a:xfrm>
            <a:prstGeom prst="line">
              <a:avLst/>
            </a:prstGeom>
            <a:noFill/>
            <a:ln w="12700">
              <a:solidFill>
                <a:srgbClr val="334155"/>
              </a:solidFill>
              <a:prstDash val="solid"/>
              <a:headEnd type="none"/>
              <a:tailEnd type="none"/>
            </a:ln>
          </p:spPr>
        </p:sp>
        <p:sp>
          <p:nvSpPr>
            <p:cNvPr id="39" name="Shape 37"/>
            <p:cNvSpPr/>
            <p:nvPr/>
          </p:nvSpPr>
          <p:spPr>
            <a:xfrm>
              <a:off x="17251" y="7646"/>
              <a:ext cx="0" cy="202"/>
            </a:xfrm>
            <a:prstGeom prst="line">
              <a:avLst/>
            </a:prstGeom>
            <a:noFill/>
            <a:ln w="12700">
              <a:solidFill>
                <a:srgbClr val="334155"/>
              </a:solidFill>
              <a:prstDash val="solid"/>
              <a:headEnd type="none"/>
              <a:tailEnd type="none"/>
            </a:ln>
          </p:spPr>
        </p:sp>
        <p:sp>
          <p:nvSpPr>
            <p:cNvPr id="40" name="Text 38"/>
            <p:cNvSpPr/>
            <p:nvPr/>
          </p:nvSpPr>
          <p:spPr>
            <a:xfrm>
              <a:off x="9130" y="8122"/>
              <a:ext cx="950" cy="202"/>
            </a:xfrm>
            <a:prstGeom prst="rect">
              <a:avLst/>
            </a:prstGeom>
            <a:noFill/>
          </p:spPr>
          <p:txBody>
            <a:bodyPr wrap="square" lIns="0" tIns="0" rIns="0" bIns="0" rtlCol="0" anchor="t">
              <a:normAutofit/>
            </a:bodyPr>
            <a:lstStyle/>
            <a:p>
              <a:pPr marL="0" indent="0" algn="ctr">
                <a:buNone/>
              </a:pPr>
              <a:r>
                <a:rPr lang="en-US" sz="900" b="1" dirty="0">
                  <a:solidFill>
                    <a:srgbClr val="334155"/>
                  </a:solidFill>
                  <a:latin typeface="Arial" panose="020B0604020202090204" pitchFamily="34" charset="0"/>
                  <a:ea typeface="Arial" panose="020B0604020202090204" pitchFamily="34" charset="-122"/>
                  <a:cs typeface="Arial" panose="020B0604020202090204" pitchFamily="34" charset="-120"/>
                </a:rPr>
                <a:t>S = 0</a:t>
              </a:r>
              <a:endParaRPr lang="en-US" sz="900" dirty="0"/>
            </a:p>
          </p:txBody>
        </p:sp>
        <p:sp>
          <p:nvSpPr>
            <p:cNvPr id="41" name="Text 39"/>
            <p:cNvSpPr/>
            <p:nvPr/>
          </p:nvSpPr>
          <p:spPr>
            <a:xfrm>
              <a:off x="12816" y="8122"/>
              <a:ext cx="1181" cy="202"/>
            </a:xfrm>
            <a:prstGeom prst="rect">
              <a:avLst/>
            </a:prstGeom>
            <a:noFill/>
          </p:spPr>
          <p:txBody>
            <a:bodyPr wrap="square" lIns="0" tIns="0" rIns="0" bIns="0" rtlCol="0" anchor="t">
              <a:normAutofit/>
            </a:bodyPr>
            <a:lstStyle/>
            <a:p>
              <a:pPr marL="0" indent="0" algn="ctr">
                <a:buNone/>
              </a:pPr>
              <a:r>
                <a:rPr lang="en-US" sz="900" b="1" dirty="0">
                  <a:solidFill>
                    <a:srgbClr val="6D28D9"/>
                  </a:solidFill>
                  <a:latin typeface="Arial" panose="020B0604020202090204" pitchFamily="34" charset="0"/>
                  <a:ea typeface="Arial" panose="020B0604020202090204" pitchFamily="34" charset="-122"/>
                  <a:cs typeface="Arial" panose="020B0604020202090204" pitchFamily="34" charset="-120"/>
                </a:rPr>
                <a:t>finite S</a:t>
              </a:r>
              <a:endParaRPr lang="en-US" sz="900" dirty="0"/>
            </a:p>
          </p:txBody>
        </p:sp>
        <p:sp>
          <p:nvSpPr>
            <p:cNvPr id="42" name="Text 40"/>
            <p:cNvSpPr/>
            <p:nvPr/>
          </p:nvSpPr>
          <p:spPr>
            <a:xfrm>
              <a:off x="16402" y="8122"/>
              <a:ext cx="1613" cy="202"/>
            </a:xfrm>
            <a:prstGeom prst="rect">
              <a:avLst/>
            </a:prstGeom>
            <a:noFill/>
          </p:spPr>
          <p:txBody>
            <a:bodyPr wrap="square" lIns="0" tIns="0" rIns="0" bIns="0" rtlCol="0" anchor="t">
              <a:normAutofit/>
            </a:bodyPr>
            <a:lstStyle/>
            <a:p>
              <a:pPr marL="0" indent="0" algn="ctr">
                <a:buNone/>
              </a:pPr>
              <a:r>
                <a:rPr lang="en-US" sz="900" b="1" dirty="0">
                  <a:solidFill>
                    <a:srgbClr val="16803C"/>
                  </a:solidFill>
                  <a:latin typeface="Arial" panose="020B0604020202090204" pitchFamily="34" charset="0"/>
                  <a:ea typeface="Arial" panose="020B0604020202090204" pitchFamily="34" charset="-122"/>
                  <a:cs typeface="Arial" panose="020B0604020202090204" pitchFamily="34" charset="-120"/>
                </a:rPr>
                <a:t>S -&gt; infinity</a:t>
              </a:r>
              <a:endParaRPr lang="en-US" sz="900" dirty="0"/>
            </a:p>
          </p:txBody>
        </p:sp>
        <p:sp>
          <p:nvSpPr>
            <p:cNvPr id="43" name="Text 41"/>
            <p:cNvSpPr/>
            <p:nvPr/>
          </p:nvSpPr>
          <p:spPr>
            <a:xfrm>
              <a:off x="9043" y="8510"/>
              <a:ext cx="1123" cy="187"/>
            </a:xfrm>
            <a:prstGeom prst="rect">
              <a:avLst/>
            </a:prstGeom>
            <a:noFill/>
          </p:spPr>
          <p:txBody>
            <a:bodyPr wrap="square" lIns="0" tIns="0" rIns="0" bIns="0" rtlCol="0" anchor="t">
              <a:normAutofit/>
            </a:bodyPr>
            <a:lstStyle/>
            <a:p>
              <a:pPr marL="0" indent="0" algn="ctr">
                <a:buNone/>
              </a:pPr>
              <a:r>
                <a:rPr lang="en-US" sz="840" dirty="0">
                  <a:solidFill>
                    <a:srgbClr val="64748B"/>
                  </a:solidFill>
                  <a:latin typeface="Arial" panose="020B0604020202090204" pitchFamily="34" charset="0"/>
                  <a:ea typeface="Arial" panose="020B0604020202090204" pitchFamily="34" charset="-122"/>
                  <a:cs typeface="Arial" panose="020B0604020202090204" pitchFamily="34" charset="-120"/>
                </a:rPr>
                <a:t>blocking</a:t>
              </a:r>
              <a:endParaRPr lang="en-US" sz="840" dirty="0"/>
            </a:p>
          </p:txBody>
        </p:sp>
        <p:sp>
          <p:nvSpPr>
            <p:cNvPr id="44" name="Text 42"/>
            <p:cNvSpPr/>
            <p:nvPr/>
          </p:nvSpPr>
          <p:spPr>
            <a:xfrm>
              <a:off x="12902" y="8510"/>
              <a:ext cx="1008" cy="187"/>
            </a:xfrm>
            <a:prstGeom prst="rect">
              <a:avLst/>
            </a:prstGeom>
            <a:noFill/>
          </p:spPr>
          <p:txBody>
            <a:bodyPr wrap="square" lIns="0" tIns="0" rIns="0" bIns="0" rtlCol="0" anchor="t">
              <a:normAutofit/>
            </a:bodyPr>
            <a:lstStyle/>
            <a:p>
              <a:pPr marL="0" indent="0" algn="ctr">
                <a:buNone/>
              </a:pPr>
              <a:r>
                <a:rPr lang="en-US" sz="840" dirty="0">
                  <a:solidFill>
                    <a:srgbClr val="64748B"/>
                  </a:solidFill>
                  <a:latin typeface="Arial" panose="020B0604020202090204" pitchFamily="34" charset="0"/>
                  <a:ea typeface="Arial" panose="020B0604020202090204" pitchFamily="34" charset="-122"/>
                  <a:cs typeface="Arial" panose="020B0604020202090204" pitchFamily="34" charset="-120"/>
                </a:rPr>
                <a:t>selective</a:t>
              </a:r>
              <a:endParaRPr lang="en-US" sz="840" dirty="0"/>
            </a:p>
          </p:txBody>
        </p:sp>
        <p:sp>
          <p:nvSpPr>
            <p:cNvPr id="45" name="Text 43"/>
            <p:cNvSpPr/>
            <p:nvPr/>
          </p:nvSpPr>
          <p:spPr>
            <a:xfrm>
              <a:off x="16661" y="8510"/>
              <a:ext cx="1008" cy="187"/>
            </a:xfrm>
            <a:prstGeom prst="rect">
              <a:avLst/>
            </a:prstGeom>
            <a:noFill/>
          </p:spPr>
          <p:txBody>
            <a:bodyPr wrap="square" lIns="0" tIns="0" rIns="0" bIns="0" rtlCol="0" anchor="t">
              <a:normAutofit/>
            </a:bodyPr>
            <a:lstStyle/>
            <a:p>
              <a:pPr marL="0" indent="0" algn="ctr">
                <a:buNone/>
              </a:pPr>
              <a:r>
                <a:rPr lang="en-US" sz="840" dirty="0">
                  <a:solidFill>
                    <a:srgbClr val="64748B"/>
                  </a:solidFill>
                  <a:latin typeface="Arial" panose="020B0604020202090204" pitchFamily="34" charset="0"/>
                  <a:ea typeface="Arial" panose="020B0604020202090204" pitchFamily="34" charset="-122"/>
                  <a:cs typeface="Arial" panose="020B0604020202090204" pitchFamily="34" charset="-120"/>
                </a:rPr>
                <a:t>ohmic</a:t>
              </a:r>
              <a:endParaRPr lang="en-US" sz="840" dirty="0"/>
            </a:p>
          </p:txBody>
        </p:sp>
      </p:grpSp>
      <p:sp>
        <p:nvSpPr>
          <p:cNvPr id="46" name="Shape 44"/>
          <p:cNvSpPr/>
          <p:nvPr/>
        </p:nvSpPr>
        <p:spPr>
          <a:xfrm>
            <a:off x="0" y="6336792"/>
            <a:ext cx="12191695" cy="521208"/>
          </a:xfrm>
          <a:prstGeom prst="rect">
            <a:avLst/>
          </a:prstGeom>
          <a:solidFill>
            <a:srgbClr val="EAF2FF"/>
          </a:solidFill>
          <a:ln w="12700">
            <a:solidFill>
              <a:srgbClr val="EAF2FF">
                <a:alpha val="0"/>
              </a:srgbClr>
            </a:solidFill>
            <a:prstDash val="solid"/>
          </a:ln>
        </p:spPr>
      </p:sp>
      <p:sp>
        <p:nvSpPr>
          <p:cNvPr id="47" name="Text 45"/>
          <p:cNvSpPr/>
          <p:nvPr/>
        </p:nvSpPr>
        <p:spPr>
          <a:xfrm>
            <a:off x="493776" y="6455664"/>
            <a:ext cx="11155680" cy="219456"/>
          </a:xfrm>
          <a:prstGeom prst="rect">
            <a:avLst/>
          </a:prstGeom>
          <a:noFill/>
        </p:spPr>
        <p:txBody>
          <a:bodyPr wrap="square" lIns="0" tIns="0" rIns="0" bIns="0" rtlCol="0" anchor="t">
            <a:normAutofit/>
          </a:bodyPr>
          <a:lstStyle/>
          <a:p>
            <a:pPr marL="0" indent="0" algn="ctr">
              <a:buNone/>
            </a:pPr>
            <a:r>
              <a:rPr lang="en-US" sz="1180" b="1" dirty="0">
                <a:solidFill>
                  <a:srgbClr val="162033"/>
                </a:solidFill>
                <a:latin typeface="Arial" panose="020B0604020202090204" pitchFamily="34" charset="0"/>
                <a:ea typeface="Arial" panose="020B0604020202090204" pitchFamily="34" charset="-122"/>
                <a:cs typeface="Arial" panose="020B0604020202090204" pitchFamily="34" charset="-120"/>
              </a:rPr>
              <a:t>Takeaway: external contact BCs model carrier exchange with electrodes; </a:t>
            </a:r>
            <a:r>
              <a:rPr lang="en-US" sz="1180" b="1" dirty="0">
                <a:solidFill>
                  <a:srgbClr val="162033"/>
                </a:solidFill>
                <a:latin typeface="Arial" panose="020B0604020202090204" pitchFamily="34" charset="0"/>
                <a:ea typeface="Arial" panose="020B0604020202090204" pitchFamily="34" charset="-122"/>
                <a:cs typeface="Arial" panose="020B0604020202090204" pitchFamily="34" charset="-120"/>
              </a:rPr>
              <a:t>Dirichlet pins densities, Robin uses finite surface velocity S.</a:t>
            </a:r>
            <a:endParaRPr lang="en-US" sz="11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Words>
  <Application>WPS 演示</Application>
  <PresentationFormat>On-screen Show (16:9)</PresentationFormat>
  <Paragraphs>50</Paragraphs>
  <Slides>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vt:i4>
      </vt:variant>
    </vt:vector>
  </HeadingPairs>
  <TitlesOfParts>
    <vt:vector size="15" baseType="lpstr">
      <vt:lpstr>Arial</vt:lpstr>
      <vt:lpstr>宋体</vt:lpstr>
      <vt:lpstr>Wingdings</vt:lpstr>
      <vt:lpstr>Arial</vt:lpstr>
      <vt:lpstr>Arial</vt:lpstr>
      <vt:lpstr>Arimo for Powerline</vt:lpstr>
      <vt:lpstr>微软雅黑</vt:lpstr>
      <vt:lpstr>汉仪旗黑</vt:lpstr>
      <vt:lpstr>宋体</vt:lpstr>
      <vt:lpstr>Arial Unicode MS</vt:lpstr>
      <vt:lpstr>Calibri</vt:lpstr>
      <vt:lpstr>Helvetica Neue</vt:lpstr>
      <vt:lpstr>汉仪书宋二KW</vt:lpstr>
      <vt:lpstr>Office Theme</vt:lpstr>
      <vt:lpstr>PowerPoint 演示文稿</vt:lpstr>
    </vt:vector>
  </TitlesOfParts>
  <Company>SolarLab</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External Contact BC: Ohmic Pinning and Selective Robin Flux</dc:title>
  <dc:creator>SolarLab</dc:creator>
  <dc:subject>2D external contact boundary conditions</dc:subject>
  <cp:lastModifiedBy>陈宣言</cp:lastModifiedBy>
  <cp:revision>2</cp:revision>
  <dcterms:created xsi:type="dcterms:W3CDTF">2026-05-20T05:47:58Z</dcterms:created>
  <dcterms:modified xsi:type="dcterms:W3CDTF">2026-05-20T05:47:58Z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65D5216216C79EC20E4B0D6A6D9FCEA9_42</vt:lpwstr>
  </property>
</Properties>
</file>