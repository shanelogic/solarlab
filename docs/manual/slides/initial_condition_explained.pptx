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Initial condition means the state given to the transient solver at t=0. In SolarLab this state is not arbitrary. The code prepares a dark quasi-neutral state first. For illuminated simulations it then allows carriers to settle under light before the actual J-V sweep starts. This avoids mixing an artificial dark-to-light transient into the intended voltage-sweep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For the 1D system the state contains electrons, holes, and ions. The dark initializer solves a local analytic balance: mass action np=ni^2 and quasi-neutrality n-p=ND-NA. The ion density is initialized from the configured P_ion,0 profile. For illuminated J-V the code integrates from this dark state under light for a short time, producing a light-soaked carrier state before the voltage sweep. The sweep itself is warm-started point by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The 2D solver does not invent a separate arbitrary 2D initial state. It first solves the corresponding 1D problem on the same vertical y-grid. The electron and hole profiles are copied across the lateral x direction, producing a laterally uniform initial state. The ion profile is not dynamic in the current 2D Stage-A/B solver; it is frozen into the Poisson background as P_static. Grain boundaries and lateral boundary conditions affect the subsequent transient evolution, not the initial copy operation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Initial Condition: A Physically Prepared Starting State</a:t>
            </a:r>
            <a:endParaRPr lang="en-US" sz="208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109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SolarLab does not start from arbitrary carrier values; it first constructs a stable device state before transient solving.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3749040" cy="470916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344168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A. What the Solver Needs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87552" y="1755648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755648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883664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STATE VECTOR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1170432" y="2176272"/>
            <a:ext cx="2788920" cy="4297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transient solver needs carrier and ion densities at t = 0.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1143000" y="3044952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1D:  Y = [n, p, P]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547872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2D:  Y = [n(y,x), p(y,x)]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" y="4315968"/>
            <a:ext cx="3154680" cy="804672"/>
          </a:xfrm>
          <a:prstGeom prst="roundRect">
            <a:avLst>
              <a:gd name="adj" fmla="val 9091"/>
            </a:avLst>
          </a:prstGeom>
          <a:solidFill>
            <a:srgbClr val="FEE4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4315968"/>
            <a:ext cx="73152" cy="80467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443984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 IT MATTERS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1170432" y="473659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 poor initial state creates artificial transients or stiff solver failure.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6446520" cy="4709160"/>
          </a:xfrm>
          <a:prstGeom prst="roundRect">
            <a:avLst>
              <a:gd name="adj" fmla="val 1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344168"/>
            <a:ext cx="600760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B. Preparation Logic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2148840"/>
            <a:ext cx="1417320" cy="932688"/>
          </a:xfrm>
          <a:prstGeom prst="roundRect">
            <a:avLst>
              <a:gd name="adj" fmla="val 784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2677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102352" y="2578608"/>
            <a:ext cx="1088136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dark quasi-neutral state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355080" y="2615184"/>
            <a:ext cx="4663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39712" y="2148840"/>
            <a:ext cx="1417320" cy="932688"/>
          </a:xfrm>
          <a:prstGeom prst="roundRect">
            <a:avLst>
              <a:gd name="adj" fmla="val 7843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22677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A1620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004304" y="2578608"/>
            <a:ext cx="1088136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optional light-soaked state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57032" y="2615184"/>
            <a:ext cx="4663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41664" y="2148840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8824" y="226771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8906256" y="2578608"/>
            <a:ext cx="1243584" cy="402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transient J-V solve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956048" y="3675888"/>
            <a:ext cx="2084832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3675888"/>
            <a:ext cx="73152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3803904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DARK RUN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138928" y="4096512"/>
            <a:ext cx="1719072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 the dark equilibrium directly.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51776" y="3675888"/>
            <a:ext cx="2670048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51776" y="3675888"/>
            <a:ext cx="73152" cy="77724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3803904"/>
            <a:ext cx="2304288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A1620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ILLUMINATED RUN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7534656" y="4096512"/>
            <a:ext cx="2304288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First settle carriers under light, then start the voltage sweep.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4864608"/>
            <a:ext cx="1261872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0408" y="4951476"/>
            <a:ext cx="1133856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less artificial transient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86600" y="486460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50608" y="4951476"/>
            <a:ext cx="1060704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better Radau start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613648" y="4864608"/>
            <a:ext cx="1170432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77656" y="4951476"/>
            <a:ext cx="1042416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D28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physical memory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6455664"/>
            <a:ext cx="11155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Takeaway: initial condition is a pre-conditioned physical state, </a:t>
            </a: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not a random numerical guess.</a:t>
            </a:r>
            <a:endParaRPr lang="en-US" sz="1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1D Initial Condition: Dark Equilibrium and Light-Soaked State</a:t>
            </a:r>
            <a:endParaRPr lang="en-US" sz="208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109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1D solver prepares n(x), p(x), and the initial ion profile before running the voltage sweep.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344168"/>
            <a:ext cx="472744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A. Dark Quasi-Neutral Equilibrium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87552" y="178308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78308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911096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CARRIER BALANCE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1207008" y="2267712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 p = nᵢ²        n - p = Nᴰ - Nᴬ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207008" y="2651760"/>
            <a:ext cx="406908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Local mass action plus approximate charge neutrality.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87552" y="3236976"/>
            <a:ext cx="4526280" cy="932688"/>
          </a:xfrm>
          <a:prstGeom prst="roundRect">
            <a:avLst>
              <a:gd name="adj" fmla="val 7843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3236976"/>
            <a:ext cx="73152" cy="932688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364992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ION BACKGROUND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207008" y="3621024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 = initial ion profile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11880" y="364845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configured from the device stack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207008" y="3904488"/>
            <a:ext cx="2148840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used as the initial ionic background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87552" y="446227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4462272"/>
            <a:ext cx="73152" cy="7863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590288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6D28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CONTACT PINNING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207008" y="4864608"/>
            <a:ext cx="388620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n, p at contacts → equilibrium values</a:t>
            </a:r>
            <a:endParaRPr lang="en-US" sz="118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6080760" y="1188720"/>
            <a:ext cx="5074920" cy="4709160"/>
            <a:chOff x="9576" y="1872"/>
            <a:chExt cx="7992" cy="7416"/>
          </a:xfrm>
        </p:grpSpPr>
        <p:sp>
          <p:nvSpPr>
            <p:cNvPr id="22" name="Shape 20"/>
            <p:cNvSpPr/>
            <p:nvPr/>
          </p:nvSpPr>
          <p:spPr>
            <a:xfrm>
              <a:off x="9576" y="1872"/>
              <a:ext cx="7992" cy="7416"/>
            </a:xfrm>
            <a:prstGeom prst="roundRect">
              <a:avLst>
                <a:gd name="adj" fmla="val 1553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9922" y="2117"/>
              <a:ext cx="7301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B. Illuminated Pre-Settle</a:t>
              </a:r>
              <a:endParaRPr lang="en-US" sz="12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10152" y="2909"/>
              <a:ext cx="2102" cy="1267"/>
            </a:xfrm>
            <a:prstGeom prst="roundRect">
              <a:avLst>
                <a:gd name="adj" fmla="val 9091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0368" y="3096"/>
              <a:ext cx="167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6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dark state</a:t>
              </a:r>
              <a:endParaRPr lang="en-US" sz="96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0411" y="3586"/>
              <a:ext cx="158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Ydark</a:t>
              </a:r>
              <a:endParaRPr lang="en-US" sz="11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12254" y="3542"/>
              <a:ext cx="734" cy="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  <a:headEnd type="none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3018" y="2909"/>
              <a:ext cx="2362" cy="1267"/>
            </a:xfrm>
            <a:prstGeom prst="roundRect">
              <a:avLst>
                <a:gd name="adj" fmla="val 9091"/>
              </a:avLst>
            </a:prstGeom>
            <a:solidFill>
              <a:srgbClr val="FEF3C7"/>
            </a:solidFill>
            <a:ln w="12700">
              <a:solidFill>
                <a:srgbClr val="A16207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234" y="3096"/>
              <a:ext cx="193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60" b="1" dirty="0">
                  <a:solidFill>
                    <a:srgbClr val="A1620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turn on light</a:t>
              </a:r>
              <a:endParaRPr lang="en-US" sz="96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3277" y="3586"/>
              <a:ext cx="184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 &gt; 0</a:t>
              </a:r>
              <a:endParaRPr lang="en-US" sz="11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5379" y="3542"/>
              <a:ext cx="720" cy="0"/>
            </a:xfrm>
            <a:prstGeom prst="line">
              <a:avLst/>
            </a:prstGeom>
            <a:noFill/>
            <a:ln w="12700">
              <a:solidFill>
                <a:srgbClr val="64748B"/>
              </a:solidFill>
              <a:prstDash val="solid"/>
              <a:headEnd type="none"/>
              <a:tailEnd type="triangle"/>
            </a:ln>
          </p:spPr>
        </p:sp>
        <p:sp>
          <p:nvSpPr>
            <p:cNvPr id="32" name="Shape 30"/>
            <p:cNvSpPr/>
            <p:nvPr/>
          </p:nvSpPr>
          <p:spPr>
            <a:xfrm>
              <a:off x="15869" y="2909"/>
              <a:ext cx="1382" cy="1267"/>
            </a:xfrm>
            <a:prstGeom prst="roundRect">
              <a:avLst>
                <a:gd name="adj" fmla="val 9091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6085" y="3096"/>
              <a:ext cx="950" cy="3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6803C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steady state</a:t>
              </a:r>
              <a:endParaRPr lang="en-US" sz="8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6128" y="3586"/>
              <a:ext cx="86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08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Ylight</a:t>
              </a:r>
              <a:endParaRPr lang="en-US" sz="108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0152" y="5040"/>
              <a:ext cx="115" cy="1670"/>
            </a:xfrm>
            <a:prstGeom prst="rect">
              <a:avLst/>
            </a:prstGeom>
            <a:solidFill>
              <a:srgbClr val="A16207"/>
            </a:solidFill>
            <a:ln w="12700">
              <a:solidFill>
                <a:srgbClr val="A16207">
                  <a:alpha val="0"/>
                </a:srgbClr>
              </a:solidFill>
              <a:prstDash val="solid"/>
            </a:ln>
          </p:spPr>
        </p:sp>
        <p:grpSp>
          <p:nvGrpSpPr>
            <p:cNvPr id="46" name="组合 45"/>
            <p:cNvGrpSpPr/>
            <p:nvPr/>
          </p:nvGrpSpPr>
          <p:grpSpPr>
            <a:xfrm>
              <a:off x="10152" y="5040"/>
              <a:ext cx="6984" cy="1670"/>
              <a:chOff x="10152" y="5040"/>
              <a:chExt cx="6984" cy="1670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10152" y="5040"/>
                <a:ext cx="6984" cy="1670"/>
              </a:xfrm>
              <a:prstGeom prst="roundRect">
                <a:avLst>
                  <a:gd name="adj" fmla="val 6897"/>
                </a:avLst>
              </a:prstGeom>
              <a:solidFill>
                <a:srgbClr val="FEF3C7"/>
              </a:solidFill>
              <a:ln w="12700">
                <a:solidFill>
                  <a:srgbClr val="A16207"/>
                </a:solidFill>
                <a:prstDash val="solid"/>
              </a:ln>
            </p:spPr>
          </p:sp>
          <p:sp>
            <p:nvSpPr>
              <p:cNvPr id="37" name="Text 35"/>
              <p:cNvSpPr/>
              <p:nvPr/>
            </p:nvSpPr>
            <p:spPr>
              <a:xfrm>
                <a:off x="10440" y="5242"/>
                <a:ext cx="6408" cy="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940" b="1" dirty="0">
                    <a:solidFill>
                      <a:srgbClr val="A16207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SHORT TRANSIENT SETTLE</a:t>
                </a:r>
                <a:endParaRPr lang="en-US" sz="94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10512" y="5760"/>
                <a:ext cx="6192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00" b="1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Y</a:t>
                </a:r>
                <a:r>
                  <a:rPr lang="en-US" sz="1300" b="1" baseline="-25000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light</a:t>
                </a:r>
                <a:r>
                  <a:rPr lang="en-US" sz="1300" b="1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 = Radau(Y</a:t>
                </a:r>
                <a:r>
                  <a:rPr lang="en-US" sz="1300" b="1" baseline="-25000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dark</a:t>
                </a:r>
                <a:r>
                  <a:rPr lang="en-US" sz="1300" b="1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, 10⁻³ s)</a:t>
                </a:r>
                <a:endParaRPr lang="en-US" sz="130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10512" y="6322"/>
                <a:ext cx="6192" cy="23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62033"/>
                    </a:solidFill>
                    <a:latin typeface="Arial" panose="020B0604020202090204" pitchFamily="34" charset="0"/>
                    <a:ea typeface="Arial" panose="020B0604020202090204" pitchFamily="34" charset="-122"/>
                    <a:cs typeface="Arial" panose="020B0604020202090204" pitchFamily="34" charset="-120"/>
                  </a:rPr>
                  <a:t>Carriers relax quickly; ions move little.</a:t>
                </a:r>
                <a:endParaRPr lang="en-US" sz="1000" dirty="0"/>
              </a:p>
            </p:txBody>
          </p:sp>
        </p:grpSp>
        <p:sp>
          <p:nvSpPr>
            <p:cNvPr id="40" name="Shape 38"/>
            <p:cNvSpPr/>
            <p:nvPr/>
          </p:nvSpPr>
          <p:spPr>
            <a:xfrm>
              <a:off x="10152" y="6955"/>
              <a:ext cx="6984" cy="1224"/>
            </a:xfrm>
            <a:prstGeom prst="roundRect">
              <a:avLst>
                <a:gd name="adj" fmla="val 9412"/>
              </a:avLst>
            </a:prstGeom>
            <a:solidFill>
              <a:srgbClr val="F8FAFC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10152" y="6955"/>
              <a:ext cx="115" cy="1224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>
                  <a:alpha val="0"/>
                </a:srgbClr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10440" y="7157"/>
              <a:ext cx="6408" cy="31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4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J-V WARM START</a:t>
              </a:r>
              <a:endParaRPr lang="en-US" sz="94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0440" y="7618"/>
              <a:ext cx="6408" cy="38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7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Each voltage point starts from the previous settled state, so device memory is preserved.</a:t>
              </a:r>
              <a:endParaRPr lang="en-US" sz="970" dirty="0"/>
            </a:p>
          </p:txBody>
        </p:sp>
      </p:grpSp>
      <p:sp>
        <p:nvSpPr>
          <p:cNvPr id="44" name="Shape 42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" y="6455664"/>
            <a:ext cx="11155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Takeaway: 1D starts from quasi-neutral dark equilibrium; </a:t>
            </a: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illuminated runs first settle carriers under light.</a:t>
            </a:r>
            <a:endParaRPr lang="en-US" sz="11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2D Initial Condition: Extrude the 1D State into a 2D Mesh</a:t>
            </a:r>
            <a:endParaRPr lang="en-US" sz="208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109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2D solver starts laterally uniform, then lets grain boundaries and lateral BCs shape the transient solution.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88720"/>
            <a:ext cx="4617720" cy="4709160"/>
          </a:xfrm>
          <a:prstGeom prst="roundRect">
            <a:avLst>
              <a:gd name="adj" fmla="val 158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344168"/>
            <a:ext cx="417880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A. 1D Seed on the y Grid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89888" y="1920240"/>
            <a:ext cx="0" cy="24688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316736" y="4389120"/>
            <a:ext cx="14630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316736" y="1920240"/>
            <a:ext cx="14630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01368" y="1965960"/>
            <a:ext cx="2697480" cy="548640"/>
          </a:xfrm>
          <a:prstGeom prst="rect">
            <a:avLst/>
          </a:prstGeom>
          <a:solidFill>
            <a:srgbClr val="FEE4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1368" y="2514600"/>
            <a:ext cx="269748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1368" y="3794760"/>
            <a:ext cx="269748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157984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HTL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79776" y="304495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D28D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absorber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944368" y="3986784"/>
            <a:ext cx="402336" cy="1280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ETL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005840" y="479145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known 1D profiles: n(y), p(y), P(y)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32120" y="118872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51576" y="1344168"/>
            <a:ext cx="5184648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B. Broadcast into 2D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4389120" cy="2450592"/>
          </a:xfrm>
          <a:prstGeom prst="roundRect">
            <a:avLst>
              <a:gd name="adj" fmla="val 1493"/>
            </a:avLst>
          </a:prstGeom>
          <a:solidFill>
            <a:srgbClr val="F8FAF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1874520"/>
            <a:ext cx="0" cy="2450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589520" y="1874520"/>
            <a:ext cx="0" cy="2450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321040" y="1874520"/>
            <a:ext cx="0" cy="2450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052560" y="1874520"/>
            <a:ext cx="0" cy="2450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784080" y="1874520"/>
            <a:ext cx="0" cy="245059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126480" y="2487168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126480" y="3099816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126480" y="3712464"/>
            <a:ext cx="4389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858000" y="2130552"/>
            <a:ext cx="0" cy="1938528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6620256" y="2971800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231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optional GB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469880" y="4489704"/>
            <a:ext cx="164592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1801368"/>
            <a:ext cx="164592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53328" y="461772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53328" y="4617720"/>
            <a:ext cx="7315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745736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563E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CARRIERS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6272784" y="497433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copy n(y) across x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272784" y="519379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copy p(y) across x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759952" y="461772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59952" y="4617720"/>
            <a:ext cx="73152" cy="804672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42832" y="4745736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1680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IONS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979408" y="4974336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freeze P(y)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979408" y="5193792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into Poisson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6455664"/>
            <a:ext cx="11155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Takeaway: 2D begins as a laterally uniform extrusion of the 1D prepared state; </a:t>
            </a:r>
            <a:r>
              <a:rPr lang="en-US" sz="116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2D physics then creates lateral variation.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2066</Words>
  <Application>WPS 演示</Application>
  <PresentationFormat>On-screen Show (16:9)</PresentationFormat>
  <Paragraphs>134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Arial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Arimo for Powerline</vt:lpstr>
      <vt:lpstr>Office Theme</vt:lpstr>
      <vt:lpstr>PowerPoint 演示文稿</vt:lpstr>
      <vt:lpstr>PowerPoint 演示文稿</vt:lpstr>
      <vt:lpstr>PowerPoint 演示文稿</vt:lpstr>
    </vt:vector>
  </TitlesOfParts>
  <Company>SolarLab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Condition in SolarLab</dc:title>
  <dc:creator>SolarLab</dc:creator>
  <dc:subject>SolarLab initial condition explanation</dc:subject>
  <cp:lastModifiedBy>陈宣言</cp:lastModifiedBy>
  <cp:revision>2</cp:revision>
  <dcterms:created xsi:type="dcterms:W3CDTF">2026-05-20T06:43:52Z</dcterms:created>
  <dcterms:modified xsi:type="dcterms:W3CDTF">2026-05-20T06:43:52Z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8543C65EEC92781028580D6A7940AEB0_42</vt:lpwstr>
  </property>
  <property fmtid="{D5CDD505-2E9C-101B-9397-08002B2CF9AE}" pid="3" name="KSOProductBuildVer">
    <vt:lpwstr>2052-12.1.25895.25895</vt:lpwstr>
  </property>
</Properties>
</file>