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narration:
This slide explains the outer time-integration layer of the 2D solver. After spatial discretization, the coupled drift-diffusion-Poisson PDE system becomes a stiff semi-discrete initial-value problem, dY/dt = F(Y; V_app), where Y contains all electron and hole densities on the 2D grid.
The previous RHS assembly slide explains how F(Y) is constructed from Poisson, recombination, generation, Scharfetter-Gummel fluxes, and boundary conditions. Here, Radau uses that F(Y) inside an implicit time-stepping scheme. At each time step, Radau solves coupled nonlinear stage equations K_i, and each stage evaluation calls the RHS operator.
For one fixed applied voltage V_app, the transient solver advances Y from the initial state Y0 to a settled or quasi-steady state Y(t_end). The terminal current J(V_app) is then extracted from the final spatial snapshot. This is why the RHS assembly is the inner kernel, while Radau is the outer solver that actually advances the system in time.
In the current frontend J-V sweep, this fixed-voltage transient solve is chained across voltage samples rather than solved as a continuous voltage ramp. The backend holds V_k fixed for one Radau interval, computes dt = |V_{k+1} - V_k| / scan_rate, carries the final state Y_k forward to Y_{k+1}, and then repeats this from 0 to V_max and back from V_max to 0. Therefore the scan rate changes the physical dwell time per voltage step and can affect hysteresis.
Academic phrasing:
The spatially discretized 2D drift-diffusion-Poisson equations form a stiff semi-discrete ODE system. The RHS operator F(Y) is assembled at each nonlinear stage evaluation, and the initial-value problem is advanced using an implicit Radau IIA time integrator.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20624" y="210312"/>
            <a:ext cx="11247120" cy="347472"/>
          </a:xfrm>
          <a:prstGeom prst="rect">
            <a:avLst/>
          </a:prstGeom>
          <a:noFill/>
          <a:ln/>
        </p:spPr>
        <p:txBody>
          <a:bodyPr wrap="square" lIns="0" tIns="0" rIns="0" bIns="0" rtlCol="0" anchor="t">
            <a:normAutofit/>
          </a:bodyPr>
          <a:lstStyle/>
          <a:p>
            <a:pPr algn="l" indent="0" marL="0">
              <a:buNone/>
            </a:pPr>
            <a:r>
              <a:rPr lang="en-US" sz="2200" b="1" dirty="0">
                <a:solidFill>
                  <a:srgbClr val="162033"/>
                </a:solidFill>
                <a:latin typeface="Arial" pitchFamily="34" charset="0"/>
                <a:ea typeface="Arial" pitchFamily="34" charset="-122"/>
                <a:cs typeface="Arial" pitchFamily="34" charset="-120"/>
              </a:rPr>
              <a:t>Implicit Radau Time Integration of the Semi-Discrete 2D Drift-Diffusion System</a:t>
            </a:r>
            <a:endParaRPr lang="en-US" sz="2200" dirty="0"/>
          </a:p>
        </p:txBody>
      </p:sp>
      <p:sp>
        <p:nvSpPr>
          <p:cNvPr id="3" name="Text 1"/>
          <p:cNvSpPr/>
          <p:nvPr/>
        </p:nvSpPr>
        <p:spPr>
          <a:xfrm>
            <a:off x="429768" y="630936"/>
            <a:ext cx="10972800" cy="237744"/>
          </a:xfrm>
          <a:prstGeom prst="rect">
            <a:avLst/>
          </a:prstGeom>
          <a:noFill/>
          <a:ln/>
        </p:spPr>
        <p:txBody>
          <a:bodyPr wrap="square" lIns="0" tIns="0" rIns="0" bIns="0" rtlCol="0" anchor="t">
            <a:normAutofit/>
          </a:bodyPr>
          <a:lstStyle/>
          <a:p>
            <a:pPr algn="l" indent="0" marL="0">
              <a:buNone/>
            </a:pPr>
            <a:r>
              <a:rPr lang="en-US" sz="1180" dirty="0">
                <a:solidFill>
                  <a:srgbClr val="334155"/>
                </a:solidFill>
                <a:latin typeface="Arial" pitchFamily="34" charset="0"/>
                <a:ea typeface="Arial" pitchFamily="34" charset="-122"/>
                <a:cs typeface="Arial" pitchFamily="34" charset="-120"/>
              </a:rPr>
              <a:t>Outer solver at fixed </a:t>
            </a:r>
            <a:pPr algn="l" indent="0" marL="0">
              <a:buNone/>
            </a:pPr>
            <a:r>
              <a:rPr lang="en-US" sz="1180" dirty="0">
                <a:solidFill>
                  <a:srgbClr val="334155"/>
                </a:solidFill>
                <a:latin typeface="Arial" pitchFamily="34" charset="0"/>
                <a:ea typeface="Arial" pitchFamily="34" charset="-122"/>
                <a:cs typeface="Arial" pitchFamily="34" charset="-120"/>
              </a:rPr>
              <a:t>V</a:t>
            </a:r>
            <a:pPr algn="l" indent="0" marL="0">
              <a:buNone/>
            </a:pPr>
            <a:r>
              <a:rPr lang="en-US" sz="1180" baseline="-40000" dirty="0">
                <a:solidFill>
                  <a:srgbClr val="334155"/>
                </a:solidFill>
                <a:latin typeface="Arial" pitchFamily="34" charset="0"/>
                <a:ea typeface="Arial" pitchFamily="34" charset="-122"/>
                <a:cs typeface="Arial" pitchFamily="34" charset="-120"/>
              </a:rPr>
              <a:t>app</a:t>
            </a:r>
            <a:pPr algn="l" indent="0" marL="0">
              <a:buNone/>
            </a:pPr>
            <a:r>
              <a:rPr lang="en-US" sz="1180" dirty="0">
                <a:solidFill>
                  <a:srgbClr val="334155"/>
                </a:solidFill>
                <a:latin typeface="Arial" pitchFamily="34" charset="0"/>
                <a:ea typeface="Arial" pitchFamily="34" charset="-122"/>
                <a:cs typeface="Arial" pitchFamily="34" charset="-120"/>
              </a:rPr>
              <a:t>; repeatedly evaluates the RHS operator F(Y) until a quasi-steady carrier state is reached.</a:t>
            </a:r>
            <a:endParaRPr lang="en-US" sz="1180" dirty="0"/>
          </a:p>
        </p:txBody>
      </p:sp>
      <p:sp>
        <p:nvSpPr>
          <p:cNvPr id="4" name="Shape 2"/>
          <p:cNvSpPr/>
          <p:nvPr/>
        </p:nvSpPr>
        <p:spPr>
          <a:xfrm>
            <a:off x="411480" y="987552"/>
            <a:ext cx="5742432" cy="5065776"/>
          </a:xfrm>
          <a:prstGeom prst="roundRect">
            <a:avLst>
              <a:gd name="adj" fmla="val 1444"/>
            </a:avLst>
          </a:prstGeom>
          <a:solidFill>
            <a:srgbClr val="FFFFFF"/>
          </a:solidFill>
          <a:ln w="12700">
            <a:solidFill>
              <a:srgbClr val="CBD5E1"/>
            </a:solidFill>
            <a:prstDash val="solid"/>
          </a:ln>
        </p:spPr>
      </p:sp>
      <p:sp>
        <p:nvSpPr>
          <p:cNvPr id="5" name="Text 3"/>
          <p:cNvSpPr/>
          <p:nvPr/>
        </p:nvSpPr>
        <p:spPr>
          <a:xfrm>
            <a:off x="667512" y="1143000"/>
            <a:ext cx="5120640" cy="219456"/>
          </a:xfrm>
          <a:prstGeom prst="rect">
            <a:avLst/>
          </a:prstGeom>
          <a:noFill/>
          <a:ln/>
        </p:spPr>
        <p:txBody>
          <a:bodyPr wrap="square" lIns="0" tIns="0" rIns="0" bIns="0" rtlCol="0" anchor="t">
            <a:normAutofit/>
          </a:bodyPr>
          <a:lstStyle/>
          <a:p>
            <a:pPr algn="l" indent="0" marL="0">
              <a:buNone/>
            </a:pPr>
            <a:r>
              <a:rPr lang="en-US" sz="1220" b="1" dirty="0">
                <a:solidFill>
                  <a:srgbClr val="334155"/>
                </a:solidFill>
                <a:latin typeface="Arial" pitchFamily="34" charset="0"/>
                <a:ea typeface="Arial" pitchFamily="34" charset="-122"/>
                <a:cs typeface="Arial" pitchFamily="34" charset="-120"/>
              </a:rPr>
              <a:t>Outer Solver: Voltage-Specific Transient Settle</a:t>
            </a:r>
            <a:endParaRPr lang="en-US" sz="1220" dirty="0"/>
          </a:p>
        </p:txBody>
      </p:sp>
      <p:sp>
        <p:nvSpPr>
          <p:cNvPr id="6" name="Shape 4"/>
          <p:cNvSpPr/>
          <p:nvPr/>
        </p:nvSpPr>
        <p:spPr>
          <a:xfrm>
            <a:off x="749808" y="1536192"/>
            <a:ext cx="2029968" cy="822960"/>
          </a:xfrm>
          <a:prstGeom prst="roundRect">
            <a:avLst>
              <a:gd name="adj" fmla="val 8889"/>
            </a:avLst>
          </a:prstGeom>
          <a:solidFill>
            <a:srgbClr val="DBEAFE"/>
          </a:solidFill>
          <a:ln w="12700">
            <a:solidFill>
              <a:srgbClr val="2563EB"/>
            </a:solidFill>
            <a:prstDash val="solid"/>
          </a:ln>
        </p:spPr>
      </p:sp>
      <p:sp>
        <p:nvSpPr>
          <p:cNvPr id="7" name="Shape 5"/>
          <p:cNvSpPr/>
          <p:nvPr/>
        </p:nvSpPr>
        <p:spPr>
          <a:xfrm>
            <a:off x="749808" y="1536192"/>
            <a:ext cx="73152" cy="822960"/>
          </a:xfrm>
          <a:prstGeom prst="rect">
            <a:avLst/>
          </a:prstGeom>
          <a:solidFill>
            <a:srgbClr val="2563EB"/>
          </a:solidFill>
          <a:ln w="12700">
            <a:solidFill>
              <a:srgbClr val="2563EB">
                <a:alpha val="0"/>
              </a:srgbClr>
            </a:solidFill>
            <a:prstDash val="solid"/>
          </a:ln>
        </p:spPr>
      </p:sp>
      <p:sp>
        <p:nvSpPr>
          <p:cNvPr id="8" name="Text 6"/>
          <p:cNvSpPr/>
          <p:nvPr/>
        </p:nvSpPr>
        <p:spPr>
          <a:xfrm>
            <a:off x="914400" y="1655064"/>
            <a:ext cx="1737360" cy="228600"/>
          </a:xfrm>
          <a:prstGeom prst="rect">
            <a:avLst/>
          </a:prstGeom>
          <a:noFill/>
          <a:ln/>
        </p:spPr>
        <p:txBody>
          <a:bodyPr wrap="square" lIns="0" tIns="0" rIns="0" bIns="0" rtlCol="0" anchor="t">
            <a:normAutofit/>
          </a:bodyPr>
          <a:lstStyle/>
          <a:p>
            <a:pPr algn="l" indent="0" marL="0">
              <a:buNone/>
            </a:pPr>
            <a:r>
              <a:rPr lang="en-US" sz="940" b="1" dirty="0">
                <a:solidFill>
                  <a:srgbClr val="2563EB"/>
                </a:solidFill>
                <a:latin typeface="Arial" pitchFamily="34" charset="0"/>
                <a:ea typeface="Arial" pitchFamily="34" charset="-122"/>
                <a:cs typeface="Arial" pitchFamily="34" charset="-120"/>
              </a:rPr>
              <a:t>INPUT</a:t>
            </a:r>
            <a:endParaRPr lang="en-US" sz="940" dirty="0"/>
          </a:p>
        </p:txBody>
      </p:sp>
      <p:sp>
        <p:nvSpPr>
          <p:cNvPr id="9" name="Text 7"/>
          <p:cNvSpPr/>
          <p:nvPr/>
        </p:nvSpPr>
        <p:spPr>
          <a:xfrm>
            <a:off x="914400" y="1965960"/>
            <a:ext cx="1719072" cy="301752"/>
          </a:xfrm>
          <a:prstGeom prst="rect">
            <a:avLst/>
          </a:prstGeom>
          <a:noFill/>
          <a:ln/>
        </p:spPr>
        <p:txBody>
          <a:bodyPr wrap="square" lIns="0" tIns="0" rIns="0" bIns="0" rtlCol="0" anchor="t">
            <a:normAutofit/>
          </a:bodyPr>
          <a:lstStyle/>
          <a:p>
            <a:pPr algn="l" indent="0" marL="0">
              <a:buNone/>
            </a:pPr>
            <a:r>
              <a:rPr lang="en-US" sz="1300" dirty="0">
                <a:solidFill>
                  <a:srgbClr val="162033"/>
                </a:solidFill>
                <a:latin typeface="Arial" pitchFamily="34" charset="0"/>
                <a:ea typeface="Arial" pitchFamily="34" charset="-122"/>
                <a:cs typeface="Arial" pitchFamily="34" charset="-120"/>
              </a:rPr>
              <a:t>Y</a:t>
            </a:r>
            <a:pPr algn="l" indent="0" marL="0">
              <a:buNone/>
            </a:pPr>
            <a:r>
              <a:rPr lang="en-US" sz="1300" baseline="-40000" dirty="0">
                <a:solidFill>
                  <a:srgbClr val="162033"/>
                </a:solidFill>
                <a:latin typeface="Arial" pitchFamily="34" charset="0"/>
                <a:ea typeface="Arial" pitchFamily="34" charset="-122"/>
                <a:cs typeface="Arial" pitchFamily="34" charset="-120"/>
              </a:rPr>
              <a:t>0</a:t>
            </a:r>
            <a:pPr algn="l" indent="0" marL="0">
              <a:buNone/>
            </a:pPr>
            <a:r>
              <a:rPr lang="en-US" sz="1300" dirty="0">
                <a:solidFill>
                  <a:srgbClr val="162033"/>
                </a:solidFill>
                <a:latin typeface="Arial" pitchFamily="34" charset="0"/>
                <a:ea typeface="Arial" pitchFamily="34" charset="-122"/>
                <a:cs typeface="Arial" pitchFamily="34" charset="-120"/>
              </a:rPr>
              <a:t>, </a:t>
            </a:r>
            <a:pPr algn="l" indent="0" marL="0">
              <a:buNone/>
            </a:pPr>
            <a:r>
              <a:rPr lang="en-US" sz="1300" dirty="0">
                <a:solidFill>
                  <a:srgbClr val="162033"/>
                </a:solidFill>
                <a:latin typeface="Arial" pitchFamily="34" charset="0"/>
                <a:ea typeface="Arial" pitchFamily="34" charset="-122"/>
                <a:cs typeface="Arial" pitchFamily="34" charset="-120"/>
              </a:rPr>
              <a:t>V</a:t>
            </a:r>
            <a:pPr algn="l" indent="0" marL="0">
              <a:buNone/>
            </a:pPr>
            <a:r>
              <a:rPr lang="en-US" sz="1300" baseline="-40000" dirty="0">
                <a:solidFill>
                  <a:srgbClr val="162033"/>
                </a:solidFill>
                <a:latin typeface="Arial" pitchFamily="34" charset="0"/>
                <a:ea typeface="Arial" pitchFamily="34" charset="-122"/>
                <a:cs typeface="Arial" pitchFamily="34" charset="-120"/>
              </a:rPr>
              <a:t>app</a:t>
            </a:r>
            <a:endParaRPr lang="en-US" sz="1300" dirty="0"/>
          </a:p>
        </p:txBody>
      </p:sp>
      <p:sp>
        <p:nvSpPr>
          <p:cNvPr id="10" name="Shape 8"/>
          <p:cNvSpPr/>
          <p:nvPr/>
        </p:nvSpPr>
        <p:spPr>
          <a:xfrm>
            <a:off x="2834640" y="1947672"/>
            <a:ext cx="411480" cy="0"/>
          </a:xfrm>
          <a:prstGeom prst="line">
            <a:avLst/>
          </a:prstGeom>
          <a:noFill/>
          <a:ln w="12700">
            <a:solidFill>
              <a:srgbClr val="64748B"/>
            </a:solidFill>
            <a:prstDash val="solid"/>
            <a:headEnd type="none"/>
            <a:tailEnd type="triangle"/>
          </a:ln>
        </p:spPr>
      </p:sp>
      <p:sp>
        <p:nvSpPr>
          <p:cNvPr id="11" name="Shape 9"/>
          <p:cNvSpPr/>
          <p:nvPr/>
        </p:nvSpPr>
        <p:spPr>
          <a:xfrm>
            <a:off x="3310128" y="1536192"/>
            <a:ext cx="2359152" cy="822960"/>
          </a:xfrm>
          <a:prstGeom prst="roundRect">
            <a:avLst>
              <a:gd name="adj" fmla="val 8889"/>
            </a:avLst>
          </a:prstGeom>
          <a:solidFill>
            <a:srgbClr val="EDE9FE"/>
          </a:solidFill>
          <a:ln w="12700">
            <a:solidFill>
              <a:srgbClr val="6D28D9"/>
            </a:solidFill>
            <a:prstDash val="solid"/>
          </a:ln>
        </p:spPr>
      </p:sp>
      <p:sp>
        <p:nvSpPr>
          <p:cNvPr id="12" name="Shape 10"/>
          <p:cNvSpPr/>
          <p:nvPr/>
        </p:nvSpPr>
        <p:spPr>
          <a:xfrm>
            <a:off x="3310128" y="1536192"/>
            <a:ext cx="73152" cy="822960"/>
          </a:xfrm>
          <a:prstGeom prst="rect">
            <a:avLst/>
          </a:prstGeom>
          <a:solidFill>
            <a:srgbClr val="6D28D9"/>
          </a:solidFill>
          <a:ln w="12700">
            <a:solidFill>
              <a:srgbClr val="6D28D9">
                <a:alpha val="0"/>
              </a:srgbClr>
            </a:solidFill>
            <a:prstDash val="solid"/>
          </a:ln>
        </p:spPr>
      </p:sp>
      <p:sp>
        <p:nvSpPr>
          <p:cNvPr id="13" name="Text 11"/>
          <p:cNvSpPr/>
          <p:nvPr/>
        </p:nvSpPr>
        <p:spPr>
          <a:xfrm>
            <a:off x="3474720" y="1655064"/>
            <a:ext cx="2066544" cy="228600"/>
          </a:xfrm>
          <a:prstGeom prst="rect">
            <a:avLst/>
          </a:prstGeom>
          <a:noFill/>
          <a:ln/>
        </p:spPr>
        <p:txBody>
          <a:bodyPr wrap="square" lIns="0" tIns="0" rIns="0" bIns="0" rtlCol="0" anchor="t">
            <a:normAutofit/>
          </a:bodyPr>
          <a:lstStyle/>
          <a:p>
            <a:pPr algn="l" indent="0" marL="0">
              <a:buNone/>
            </a:pPr>
            <a:r>
              <a:rPr lang="en-US" sz="880" b="1" dirty="0">
                <a:solidFill>
                  <a:srgbClr val="6D28D9"/>
                </a:solidFill>
                <a:latin typeface="Arial" pitchFamily="34" charset="0"/>
                <a:ea typeface="Arial" pitchFamily="34" charset="-122"/>
                <a:cs typeface="Arial" pitchFamily="34" charset="-120"/>
              </a:rPr>
              <a:t>INITIAL-VALUE PROBLEM</a:t>
            </a:r>
            <a:endParaRPr lang="en-US" sz="880" dirty="0"/>
          </a:p>
        </p:txBody>
      </p:sp>
      <p:sp>
        <p:nvSpPr>
          <p:cNvPr id="14" name="Text 12"/>
          <p:cNvSpPr/>
          <p:nvPr/>
        </p:nvSpPr>
        <p:spPr>
          <a:xfrm>
            <a:off x="3474720" y="1965960"/>
            <a:ext cx="2048256" cy="301752"/>
          </a:xfrm>
          <a:prstGeom prst="rect">
            <a:avLst/>
          </a:prstGeom>
          <a:noFill/>
          <a:ln/>
        </p:spPr>
        <p:txBody>
          <a:bodyPr wrap="square" lIns="0" tIns="0" rIns="0" bIns="0" rtlCol="0" anchor="t">
            <a:normAutofit/>
          </a:bodyPr>
          <a:lstStyle/>
          <a:p>
            <a:pPr algn="l" indent="0" marL="0">
              <a:buNone/>
            </a:pPr>
            <a:r>
              <a:rPr lang="en-US" sz="1220" dirty="0">
                <a:solidFill>
                  <a:srgbClr val="162033"/>
                </a:solidFill>
                <a:latin typeface="Arial" pitchFamily="34" charset="0"/>
                <a:ea typeface="Arial" pitchFamily="34" charset="-122"/>
                <a:cs typeface="Arial" pitchFamily="34" charset="-120"/>
              </a:rPr>
              <a:t>dY/dt = F(Y; </a:t>
            </a:r>
            <a:pPr algn="l" indent="0" marL="0">
              <a:buNone/>
            </a:pPr>
            <a:r>
              <a:rPr lang="en-US" sz="1220" dirty="0">
                <a:solidFill>
                  <a:srgbClr val="162033"/>
                </a:solidFill>
                <a:latin typeface="Arial" pitchFamily="34" charset="0"/>
                <a:ea typeface="Arial" pitchFamily="34" charset="-122"/>
                <a:cs typeface="Arial" pitchFamily="34" charset="-120"/>
              </a:rPr>
              <a:t>V</a:t>
            </a:r>
            <a:pPr algn="l" indent="0" marL="0">
              <a:buNone/>
            </a:pPr>
            <a:r>
              <a:rPr lang="en-US" sz="1220" baseline="-40000" dirty="0">
                <a:solidFill>
                  <a:srgbClr val="162033"/>
                </a:solidFill>
                <a:latin typeface="Arial" pitchFamily="34" charset="0"/>
                <a:ea typeface="Arial" pitchFamily="34" charset="-122"/>
                <a:cs typeface="Arial" pitchFamily="34" charset="-120"/>
              </a:rPr>
              <a:t>app</a:t>
            </a:r>
            <a:pPr algn="l" indent="0" marL="0">
              <a:buNone/>
            </a:pPr>
            <a:r>
              <a:rPr lang="en-US" sz="1220" dirty="0">
                <a:solidFill>
                  <a:srgbClr val="162033"/>
                </a:solidFill>
                <a:latin typeface="Arial" pitchFamily="34" charset="0"/>
                <a:ea typeface="Arial" pitchFamily="34" charset="-122"/>
                <a:cs typeface="Arial" pitchFamily="34" charset="-120"/>
              </a:rPr>
              <a:t>)</a:t>
            </a:r>
            <a:endParaRPr lang="en-US" sz="1220" dirty="0"/>
          </a:p>
        </p:txBody>
      </p:sp>
      <p:sp>
        <p:nvSpPr>
          <p:cNvPr id="15" name="Shape 13"/>
          <p:cNvSpPr/>
          <p:nvPr/>
        </p:nvSpPr>
        <p:spPr>
          <a:xfrm>
            <a:off x="4489704" y="2404872"/>
            <a:ext cx="0" cy="338328"/>
          </a:xfrm>
          <a:prstGeom prst="line">
            <a:avLst/>
          </a:prstGeom>
          <a:noFill/>
          <a:ln w="12700">
            <a:solidFill>
              <a:srgbClr val="64748B"/>
            </a:solidFill>
            <a:prstDash val="solid"/>
            <a:headEnd type="none"/>
            <a:tailEnd type="triangle"/>
          </a:ln>
        </p:spPr>
      </p:sp>
      <p:sp>
        <p:nvSpPr>
          <p:cNvPr id="16" name="Shape 14"/>
          <p:cNvSpPr/>
          <p:nvPr/>
        </p:nvSpPr>
        <p:spPr>
          <a:xfrm>
            <a:off x="2834640" y="2788920"/>
            <a:ext cx="3310128" cy="1005840"/>
          </a:xfrm>
          <a:prstGeom prst="roundRect">
            <a:avLst>
              <a:gd name="adj" fmla="val 7273"/>
            </a:avLst>
          </a:prstGeom>
          <a:solidFill>
            <a:srgbClr val="F8FAFC"/>
          </a:solidFill>
          <a:ln w="12700">
            <a:solidFill>
              <a:srgbClr val="334155"/>
            </a:solidFill>
            <a:prstDash val="solid"/>
          </a:ln>
        </p:spPr>
      </p:sp>
      <p:sp>
        <p:nvSpPr>
          <p:cNvPr id="17" name="Shape 15"/>
          <p:cNvSpPr/>
          <p:nvPr/>
        </p:nvSpPr>
        <p:spPr>
          <a:xfrm>
            <a:off x="2834640" y="2788920"/>
            <a:ext cx="73152" cy="1005840"/>
          </a:xfrm>
          <a:prstGeom prst="rect">
            <a:avLst/>
          </a:prstGeom>
          <a:solidFill>
            <a:srgbClr val="334155"/>
          </a:solidFill>
          <a:ln w="12700">
            <a:solidFill>
              <a:srgbClr val="334155">
                <a:alpha val="0"/>
              </a:srgbClr>
            </a:solidFill>
            <a:prstDash val="solid"/>
          </a:ln>
        </p:spPr>
      </p:sp>
      <p:sp>
        <p:nvSpPr>
          <p:cNvPr id="18" name="Text 16"/>
          <p:cNvSpPr/>
          <p:nvPr/>
        </p:nvSpPr>
        <p:spPr>
          <a:xfrm>
            <a:off x="2999232" y="2907792"/>
            <a:ext cx="3017520" cy="228600"/>
          </a:xfrm>
          <a:prstGeom prst="rect">
            <a:avLst/>
          </a:prstGeom>
          <a:noFill/>
          <a:ln/>
        </p:spPr>
        <p:txBody>
          <a:bodyPr wrap="square" lIns="0" tIns="0" rIns="0" bIns="0" rtlCol="0" anchor="t">
            <a:normAutofit/>
          </a:bodyPr>
          <a:lstStyle/>
          <a:p>
            <a:pPr algn="l" indent="0" marL="0">
              <a:buNone/>
            </a:pPr>
            <a:r>
              <a:rPr lang="en-US" sz="940" b="1" dirty="0">
                <a:solidFill>
                  <a:srgbClr val="334155"/>
                </a:solidFill>
                <a:latin typeface="Arial" pitchFamily="34" charset="0"/>
                <a:ea typeface="Arial" pitchFamily="34" charset="-122"/>
                <a:cs typeface="Arial" pitchFamily="34" charset="-120"/>
              </a:rPr>
              <a:t>RADAU TRANSIENT SOLVE</a:t>
            </a:r>
            <a:endParaRPr lang="en-US" sz="940" dirty="0"/>
          </a:p>
        </p:txBody>
      </p:sp>
      <p:sp>
        <p:nvSpPr>
          <p:cNvPr id="19" name="Text 17"/>
          <p:cNvSpPr/>
          <p:nvPr/>
        </p:nvSpPr>
        <p:spPr>
          <a:xfrm>
            <a:off x="2999232" y="3218688"/>
            <a:ext cx="2999232" cy="484632"/>
          </a:xfrm>
          <a:prstGeom prst="rect">
            <a:avLst/>
          </a:prstGeom>
          <a:noFill/>
          <a:ln/>
        </p:spPr>
        <p:txBody>
          <a:bodyPr wrap="square" lIns="0" tIns="0" rIns="0" bIns="0" rtlCol="0" anchor="t">
            <a:normAutofit/>
          </a:bodyPr>
          <a:lstStyle/>
          <a:p>
            <a:pPr algn="l" indent="0" marL="0">
              <a:buNone/>
            </a:pPr>
            <a:r>
              <a:rPr lang="en-US" sz="1220" dirty="0">
                <a:solidFill>
                  <a:srgbClr val="162033"/>
                </a:solidFill>
                <a:latin typeface="Arial" pitchFamily="34" charset="0"/>
                <a:ea typeface="Arial" pitchFamily="34" charset="-122"/>
                <a:cs typeface="Arial" pitchFamily="34" charset="-120"/>
              </a:rPr>
              <a:t>implicit time stepping
</a:t>
            </a:r>
            <a:pPr algn="l" indent="0" marL="0">
              <a:buNone/>
            </a:pPr>
            <a:r>
              <a:rPr lang="en-US" sz="1220" dirty="0">
                <a:solidFill>
                  <a:srgbClr val="162033"/>
                </a:solidFill>
                <a:latin typeface="Arial" pitchFamily="34" charset="0"/>
                <a:ea typeface="Arial" pitchFamily="34" charset="-122"/>
                <a:cs typeface="Arial" pitchFamily="34" charset="-120"/>
              </a:rPr>
              <a:t>Y</a:t>
            </a:r>
            <a:pPr algn="l" indent="0" marL="0">
              <a:buNone/>
            </a:pPr>
            <a:r>
              <a:rPr lang="en-US" sz="1220" baseline="-40000" dirty="0">
                <a:solidFill>
                  <a:srgbClr val="162033"/>
                </a:solidFill>
                <a:latin typeface="Arial" pitchFamily="34" charset="0"/>
                <a:ea typeface="Arial" pitchFamily="34" charset="-122"/>
                <a:cs typeface="Arial" pitchFamily="34" charset="-120"/>
              </a:rPr>
              <a:t>0</a:t>
            </a:r>
            <a:pPr algn="l" indent="0" marL="0">
              <a:buNone/>
            </a:pPr>
            <a:r>
              <a:rPr lang="en-US" sz="1220" dirty="0">
                <a:solidFill>
                  <a:srgbClr val="162033"/>
                </a:solidFill>
                <a:latin typeface="Arial" pitchFamily="34" charset="0"/>
                <a:ea typeface="Arial" pitchFamily="34" charset="-122"/>
                <a:cs typeface="Arial" pitchFamily="34" charset="-120"/>
              </a:rPr>
              <a:t>  -&gt;  Y(</a:t>
            </a:r>
            <a:pPr algn="l" indent="0" marL="0">
              <a:buNone/>
            </a:pPr>
            <a:r>
              <a:rPr lang="en-US" sz="1220" dirty="0">
                <a:solidFill>
                  <a:srgbClr val="162033"/>
                </a:solidFill>
                <a:latin typeface="Arial" pitchFamily="34" charset="0"/>
                <a:ea typeface="Arial" pitchFamily="34" charset="-122"/>
                <a:cs typeface="Arial" pitchFamily="34" charset="-120"/>
              </a:rPr>
              <a:t>t</a:t>
            </a:r>
            <a:pPr algn="l" indent="0" marL="0">
              <a:buNone/>
            </a:pPr>
            <a:r>
              <a:rPr lang="en-US" sz="1220" baseline="-40000" dirty="0">
                <a:solidFill>
                  <a:srgbClr val="162033"/>
                </a:solidFill>
                <a:latin typeface="Arial" pitchFamily="34" charset="0"/>
                <a:ea typeface="Arial" pitchFamily="34" charset="-122"/>
                <a:cs typeface="Arial" pitchFamily="34" charset="-120"/>
              </a:rPr>
              <a:t>end</a:t>
            </a:r>
            <a:pPr algn="l" indent="0" marL="0">
              <a:buNone/>
            </a:pPr>
            <a:r>
              <a:rPr lang="en-US" sz="1220" dirty="0">
                <a:solidFill>
                  <a:srgbClr val="162033"/>
                </a:solidFill>
                <a:latin typeface="Arial" pitchFamily="34" charset="0"/>
                <a:ea typeface="Arial" pitchFamily="34" charset="-122"/>
                <a:cs typeface="Arial" pitchFamily="34" charset="-120"/>
              </a:rPr>
              <a:t>)</a:t>
            </a:r>
            <a:endParaRPr lang="en-US" sz="1220" dirty="0"/>
          </a:p>
        </p:txBody>
      </p:sp>
      <p:sp>
        <p:nvSpPr>
          <p:cNvPr id="20" name="Shape 18"/>
          <p:cNvSpPr/>
          <p:nvPr/>
        </p:nvSpPr>
        <p:spPr>
          <a:xfrm>
            <a:off x="4489704" y="3840480"/>
            <a:ext cx="0" cy="329184"/>
          </a:xfrm>
          <a:prstGeom prst="line">
            <a:avLst/>
          </a:prstGeom>
          <a:noFill/>
          <a:ln w="12700">
            <a:solidFill>
              <a:srgbClr val="64748B"/>
            </a:solidFill>
            <a:prstDash val="solid"/>
            <a:headEnd type="none"/>
            <a:tailEnd type="triangle"/>
          </a:ln>
        </p:spPr>
      </p:sp>
      <p:sp>
        <p:nvSpPr>
          <p:cNvPr id="21" name="Shape 19"/>
          <p:cNvSpPr/>
          <p:nvPr/>
        </p:nvSpPr>
        <p:spPr>
          <a:xfrm>
            <a:off x="749808" y="4224528"/>
            <a:ext cx="2304288" cy="868680"/>
          </a:xfrm>
          <a:prstGeom prst="roundRect">
            <a:avLst>
              <a:gd name="adj" fmla="val 8421"/>
            </a:avLst>
          </a:prstGeom>
          <a:solidFill>
            <a:srgbClr val="DCFCE7"/>
          </a:solidFill>
          <a:ln w="12700">
            <a:solidFill>
              <a:srgbClr val="16803C"/>
            </a:solidFill>
            <a:prstDash val="solid"/>
          </a:ln>
        </p:spPr>
      </p:sp>
      <p:sp>
        <p:nvSpPr>
          <p:cNvPr id="22" name="Shape 20"/>
          <p:cNvSpPr/>
          <p:nvPr/>
        </p:nvSpPr>
        <p:spPr>
          <a:xfrm>
            <a:off x="749808" y="4224528"/>
            <a:ext cx="73152" cy="868680"/>
          </a:xfrm>
          <a:prstGeom prst="rect">
            <a:avLst/>
          </a:prstGeom>
          <a:solidFill>
            <a:srgbClr val="16803C"/>
          </a:solidFill>
          <a:ln w="12700">
            <a:solidFill>
              <a:srgbClr val="16803C">
                <a:alpha val="0"/>
              </a:srgbClr>
            </a:solidFill>
            <a:prstDash val="solid"/>
          </a:ln>
        </p:spPr>
      </p:sp>
      <p:sp>
        <p:nvSpPr>
          <p:cNvPr id="23" name="Text 21"/>
          <p:cNvSpPr/>
          <p:nvPr/>
        </p:nvSpPr>
        <p:spPr>
          <a:xfrm>
            <a:off x="914400" y="4343400"/>
            <a:ext cx="2011680" cy="228600"/>
          </a:xfrm>
          <a:prstGeom prst="rect">
            <a:avLst/>
          </a:prstGeom>
          <a:noFill/>
          <a:ln/>
        </p:spPr>
        <p:txBody>
          <a:bodyPr wrap="square" lIns="0" tIns="0" rIns="0" bIns="0" rtlCol="0" anchor="t">
            <a:normAutofit/>
          </a:bodyPr>
          <a:lstStyle/>
          <a:p>
            <a:pPr algn="l" indent="0" marL="0">
              <a:buNone/>
            </a:pPr>
            <a:r>
              <a:rPr lang="en-US" sz="920" b="1" dirty="0">
                <a:solidFill>
                  <a:srgbClr val="16803C"/>
                </a:solidFill>
                <a:latin typeface="Arial" pitchFamily="34" charset="0"/>
                <a:ea typeface="Arial" pitchFamily="34" charset="-122"/>
                <a:cs typeface="Arial" pitchFamily="34" charset="-120"/>
              </a:rPr>
              <a:t>SETTLED STATE</a:t>
            </a:r>
            <a:endParaRPr lang="en-US" sz="920" dirty="0"/>
          </a:p>
        </p:txBody>
      </p:sp>
      <p:sp>
        <p:nvSpPr>
          <p:cNvPr id="24" name="Text 22"/>
          <p:cNvSpPr/>
          <p:nvPr/>
        </p:nvSpPr>
        <p:spPr>
          <a:xfrm>
            <a:off x="914400" y="4654296"/>
            <a:ext cx="1993392" cy="347472"/>
          </a:xfrm>
          <a:prstGeom prst="rect">
            <a:avLst/>
          </a:prstGeom>
          <a:noFill/>
          <a:ln/>
        </p:spPr>
        <p:txBody>
          <a:bodyPr wrap="square" lIns="0" tIns="0" rIns="0" bIns="0" rtlCol="0" anchor="t">
            <a:normAutofit/>
          </a:bodyPr>
          <a:lstStyle/>
          <a:p>
            <a:pPr algn="l" indent="0" marL="0">
              <a:buNone/>
            </a:pPr>
            <a:r>
              <a:rPr lang="en-US" sz="1110" dirty="0">
                <a:solidFill>
                  <a:srgbClr val="162033"/>
                </a:solidFill>
                <a:latin typeface="Arial" pitchFamily="34" charset="0"/>
                <a:ea typeface="Arial" pitchFamily="34" charset="-122"/>
                <a:cs typeface="Arial" pitchFamily="34" charset="-120"/>
              </a:rPr>
              <a:t>Y(</a:t>
            </a:r>
            <a:pPr algn="l" indent="0" marL="0">
              <a:buNone/>
            </a:pPr>
            <a:r>
              <a:rPr lang="en-US" sz="1110" dirty="0">
                <a:solidFill>
                  <a:srgbClr val="162033"/>
                </a:solidFill>
                <a:latin typeface="Arial" pitchFamily="34" charset="0"/>
                <a:ea typeface="Arial" pitchFamily="34" charset="-122"/>
                <a:cs typeface="Arial" pitchFamily="34" charset="-120"/>
              </a:rPr>
              <a:t>t</a:t>
            </a:r>
            <a:pPr algn="l" indent="0" marL="0">
              <a:buNone/>
            </a:pPr>
            <a:r>
              <a:rPr lang="en-US" sz="1110" baseline="-40000" dirty="0">
                <a:solidFill>
                  <a:srgbClr val="162033"/>
                </a:solidFill>
                <a:latin typeface="Arial" pitchFamily="34" charset="0"/>
                <a:ea typeface="Arial" pitchFamily="34" charset="-122"/>
                <a:cs typeface="Arial" pitchFamily="34" charset="-120"/>
              </a:rPr>
              <a:t>end</a:t>
            </a:r>
            <a:pPr algn="l" indent="0" marL="0">
              <a:buNone/>
            </a:pPr>
            <a:r>
              <a:rPr lang="en-US" sz="1110" dirty="0">
                <a:solidFill>
                  <a:srgbClr val="162033"/>
                </a:solidFill>
                <a:latin typeface="Arial" pitchFamily="34" charset="0"/>
                <a:ea typeface="Arial" pitchFamily="34" charset="-122"/>
                <a:cs typeface="Arial" pitchFamily="34" charset="-120"/>
              </a:rPr>
              <a:t>)</a:t>
            </a:r>
            <a:endParaRPr lang="en-US" sz="1110" dirty="0"/>
          </a:p>
          <a:p>
            <a:pPr algn="l" indent="0" marL="0">
              <a:buNone/>
            </a:pPr>
            <a:r>
              <a:rPr lang="en-US" sz="1110" dirty="0">
                <a:solidFill>
                  <a:srgbClr val="162033"/>
                </a:solidFill>
                <a:latin typeface="Arial" pitchFamily="34" charset="0"/>
                <a:ea typeface="Arial" pitchFamily="34" charset="-122"/>
                <a:cs typeface="Arial" pitchFamily="34" charset="-120"/>
              </a:rPr>
              <a:t>quasi-steady n, p</a:t>
            </a:r>
            <a:endParaRPr lang="en-US" sz="1110" dirty="0"/>
          </a:p>
        </p:txBody>
      </p:sp>
      <p:sp>
        <p:nvSpPr>
          <p:cNvPr id="25" name="Shape 23"/>
          <p:cNvSpPr/>
          <p:nvPr/>
        </p:nvSpPr>
        <p:spPr>
          <a:xfrm>
            <a:off x="3127248" y="4663440"/>
            <a:ext cx="420624" cy="0"/>
          </a:xfrm>
          <a:prstGeom prst="line">
            <a:avLst/>
          </a:prstGeom>
          <a:noFill/>
          <a:ln w="12700">
            <a:solidFill>
              <a:srgbClr val="64748B"/>
            </a:solidFill>
            <a:prstDash val="solid"/>
            <a:headEnd type="none"/>
            <a:tailEnd type="triangle"/>
          </a:ln>
        </p:spPr>
      </p:sp>
      <p:sp>
        <p:nvSpPr>
          <p:cNvPr id="26" name="Shape 24"/>
          <p:cNvSpPr/>
          <p:nvPr/>
        </p:nvSpPr>
        <p:spPr>
          <a:xfrm>
            <a:off x="3639312" y="4224528"/>
            <a:ext cx="2029968" cy="868680"/>
          </a:xfrm>
          <a:prstGeom prst="roundRect">
            <a:avLst>
              <a:gd name="adj" fmla="val 8421"/>
            </a:avLst>
          </a:prstGeom>
          <a:solidFill>
            <a:srgbClr val="FEF3C7"/>
          </a:solidFill>
          <a:ln w="12700">
            <a:solidFill>
              <a:srgbClr val="A16207"/>
            </a:solidFill>
            <a:prstDash val="solid"/>
          </a:ln>
        </p:spPr>
      </p:sp>
      <p:sp>
        <p:nvSpPr>
          <p:cNvPr id="27" name="Shape 25"/>
          <p:cNvSpPr/>
          <p:nvPr/>
        </p:nvSpPr>
        <p:spPr>
          <a:xfrm>
            <a:off x="3639312" y="4224528"/>
            <a:ext cx="73152" cy="868680"/>
          </a:xfrm>
          <a:prstGeom prst="rect">
            <a:avLst/>
          </a:prstGeom>
          <a:solidFill>
            <a:srgbClr val="A16207"/>
          </a:solidFill>
          <a:ln w="12700">
            <a:solidFill>
              <a:srgbClr val="A16207">
                <a:alpha val="0"/>
              </a:srgbClr>
            </a:solidFill>
            <a:prstDash val="solid"/>
          </a:ln>
        </p:spPr>
      </p:sp>
      <p:sp>
        <p:nvSpPr>
          <p:cNvPr id="28" name="Text 26"/>
          <p:cNvSpPr/>
          <p:nvPr/>
        </p:nvSpPr>
        <p:spPr>
          <a:xfrm>
            <a:off x="3803904" y="4343400"/>
            <a:ext cx="1737360" cy="228600"/>
          </a:xfrm>
          <a:prstGeom prst="rect">
            <a:avLst/>
          </a:prstGeom>
          <a:noFill/>
          <a:ln/>
        </p:spPr>
        <p:txBody>
          <a:bodyPr wrap="square" lIns="0" tIns="0" rIns="0" bIns="0" rtlCol="0" anchor="t">
            <a:normAutofit/>
          </a:bodyPr>
          <a:lstStyle/>
          <a:p>
            <a:pPr algn="l" indent="0" marL="0">
              <a:buNone/>
            </a:pPr>
            <a:r>
              <a:rPr lang="en-US" sz="920" b="1" dirty="0">
                <a:solidFill>
                  <a:srgbClr val="A16207"/>
                </a:solidFill>
                <a:latin typeface="Arial" pitchFamily="34" charset="0"/>
                <a:ea typeface="Arial" pitchFamily="34" charset="-122"/>
                <a:cs typeface="Arial" pitchFamily="34" charset="-120"/>
              </a:rPr>
              <a:t>OUTPUT</a:t>
            </a:r>
            <a:endParaRPr lang="en-US" sz="920" dirty="0"/>
          </a:p>
        </p:txBody>
      </p:sp>
      <p:sp>
        <p:nvSpPr>
          <p:cNvPr id="29" name="Text 27"/>
          <p:cNvSpPr/>
          <p:nvPr/>
        </p:nvSpPr>
        <p:spPr>
          <a:xfrm>
            <a:off x="3803904" y="4654296"/>
            <a:ext cx="1719072" cy="347472"/>
          </a:xfrm>
          <a:prstGeom prst="rect">
            <a:avLst/>
          </a:prstGeom>
          <a:noFill/>
          <a:ln/>
        </p:spPr>
        <p:txBody>
          <a:bodyPr wrap="square" lIns="0" tIns="0" rIns="0" bIns="0" rtlCol="0" anchor="t">
            <a:normAutofit/>
          </a:bodyPr>
          <a:lstStyle/>
          <a:p>
            <a:pPr algn="l" indent="0" marL="0">
              <a:buNone/>
            </a:pPr>
            <a:r>
              <a:rPr lang="en-US" sz="1060" dirty="0">
                <a:solidFill>
                  <a:srgbClr val="162033"/>
                </a:solidFill>
                <a:latin typeface="Arial" pitchFamily="34" charset="0"/>
                <a:ea typeface="Arial" pitchFamily="34" charset="-122"/>
                <a:cs typeface="Arial" pitchFamily="34" charset="-120"/>
              </a:rPr>
              <a:t>J(</a:t>
            </a:r>
            <a:pPr algn="l" indent="0" marL="0">
              <a:buNone/>
            </a:pPr>
            <a:r>
              <a:rPr lang="en-US" sz="1060" dirty="0">
                <a:solidFill>
                  <a:srgbClr val="162033"/>
                </a:solidFill>
                <a:latin typeface="Arial" pitchFamily="34" charset="0"/>
                <a:ea typeface="Arial" pitchFamily="34" charset="-122"/>
                <a:cs typeface="Arial" pitchFamily="34" charset="-120"/>
              </a:rPr>
              <a:t>V</a:t>
            </a:r>
            <a:pPr algn="l" indent="0" marL="0">
              <a:buNone/>
            </a:pPr>
            <a:r>
              <a:rPr lang="en-US" sz="1060" baseline="-40000" dirty="0">
                <a:solidFill>
                  <a:srgbClr val="162033"/>
                </a:solidFill>
                <a:latin typeface="Arial" pitchFamily="34" charset="0"/>
                <a:ea typeface="Arial" pitchFamily="34" charset="-122"/>
                <a:cs typeface="Arial" pitchFamily="34" charset="-120"/>
              </a:rPr>
              <a:t>app</a:t>
            </a:r>
            <a:pPr algn="l" indent="0" marL="0">
              <a:buNone/>
            </a:pPr>
            <a:r>
              <a:rPr lang="en-US" sz="1060" dirty="0">
                <a:solidFill>
                  <a:srgbClr val="162033"/>
                </a:solidFill>
                <a:latin typeface="Arial" pitchFamily="34" charset="0"/>
                <a:ea typeface="Arial" pitchFamily="34" charset="-122"/>
                <a:cs typeface="Arial" pitchFamily="34" charset="-120"/>
              </a:rPr>
              <a:t>)</a:t>
            </a:r>
            <a:endParaRPr lang="en-US" sz="1060" dirty="0"/>
          </a:p>
          <a:p>
            <a:pPr algn="l" indent="0" marL="0">
              <a:buNone/>
            </a:pPr>
            <a:r>
              <a:rPr lang="en-US" sz="1060" dirty="0">
                <a:solidFill>
                  <a:srgbClr val="162033"/>
                </a:solidFill>
                <a:latin typeface="Arial" pitchFamily="34" charset="0"/>
                <a:ea typeface="Arial" pitchFamily="34" charset="-122"/>
                <a:cs typeface="Arial" pitchFamily="34" charset="-120"/>
              </a:rPr>
              <a:t>terminal current</a:t>
            </a:r>
            <a:endParaRPr lang="en-US" sz="1060" dirty="0"/>
          </a:p>
        </p:txBody>
      </p:sp>
      <p:sp>
        <p:nvSpPr>
          <p:cNvPr id="30" name="Shape 28"/>
          <p:cNvSpPr/>
          <p:nvPr/>
        </p:nvSpPr>
        <p:spPr>
          <a:xfrm>
            <a:off x="841248" y="5559552"/>
            <a:ext cx="4681728" cy="0"/>
          </a:xfrm>
          <a:prstGeom prst="line">
            <a:avLst/>
          </a:prstGeom>
          <a:noFill/>
          <a:ln w="12700">
            <a:solidFill>
              <a:srgbClr val="CBD5E1"/>
            </a:solidFill>
            <a:prstDash val="solid"/>
            <a:headEnd type="none"/>
            <a:tailEnd type="none"/>
          </a:ln>
        </p:spPr>
      </p:sp>
      <p:sp>
        <p:nvSpPr>
          <p:cNvPr id="31" name="Shape 29"/>
          <p:cNvSpPr/>
          <p:nvPr/>
        </p:nvSpPr>
        <p:spPr>
          <a:xfrm>
            <a:off x="1005840" y="5449824"/>
            <a:ext cx="0" cy="219456"/>
          </a:xfrm>
          <a:prstGeom prst="line">
            <a:avLst/>
          </a:prstGeom>
          <a:noFill/>
          <a:ln w="12700">
            <a:solidFill>
              <a:srgbClr val="334155"/>
            </a:solidFill>
            <a:prstDash val="solid"/>
            <a:headEnd type="none"/>
            <a:tailEnd type="none"/>
          </a:ln>
        </p:spPr>
      </p:sp>
      <p:sp>
        <p:nvSpPr>
          <p:cNvPr id="32" name="Text 30"/>
          <p:cNvSpPr/>
          <p:nvPr/>
        </p:nvSpPr>
        <p:spPr>
          <a:xfrm>
            <a:off x="804672" y="5742432"/>
            <a:ext cx="402336" cy="109728"/>
          </a:xfrm>
          <a:prstGeom prst="rect">
            <a:avLst/>
          </a:prstGeom>
          <a:noFill/>
          <a:ln/>
        </p:spPr>
        <p:txBody>
          <a:bodyPr wrap="square" lIns="0" tIns="0" rIns="0" bIns="0" rtlCol="0" anchor="t">
            <a:normAutofit/>
          </a:bodyPr>
          <a:lstStyle/>
          <a:p>
            <a:pPr algn="ctr" indent="0" marL="0">
              <a:buNone/>
            </a:pPr>
            <a:r>
              <a:rPr lang="en-US" sz="860" dirty="0">
                <a:solidFill>
                  <a:srgbClr val="334155"/>
                </a:solidFill>
                <a:latin typeface="Arial" pitchFamily="34" charset="0"/>
                <a:ea typeface="Arial" pitchFamily="34" charset="-122"/>
                <a:cs typeface="Arial" pitchFamily="34" charset="-120"/>
              </a:rPr>
              <a:t>t</a:t>
            </a:r>
            <a:pPr algn="ctr" indent="0" marL="0">
              <a:buNone/>
            </a:pPr>
            <a:r>
              <a:rPr lang="en-US" sz="860" baseline="-40000" dirty="0">
                <a:solidFill>
                  <a:srgbClr val="334155"/>
                </a:solidFill>
                <a:latin typeface="Arial" pitchFamily="34" charset="0"/>
                <a:ea typeface="Arial" pitchFamily="34" charset="-122"/>
                <a:cs typeface="Arial" pitchFamily="34" charset="-120"/>
              </a:rPr>
              <a:t>0</a:t>
            </a:r>
            <a:endParaRPr lang="en-US" sz="860" dirty="0"/>
          </a:p>
        </p:txBody>
      </p:sp>
      <p:sp>
        <p:nvSpPr>
          <p:cNvPr id="33" name="Shape 31"/>
          <p:cNvSpPr/>
          <p:nvPr/>
        </p:nvSpPr>
        <p:spPr>
          <a:xfrm>
            <a:off x="2240280" y="5449824"/>
            <a:ext cx="0" cy="219456"/>
          </a:xfrm>
          <a:prstGeom prst="line">
            <a:avLst/>
          </a:prstGeom>
          <a:noFill/>
          <a:ln w="12700">
            <a:solidFill>
              <a:srgbClr val="334155"/>
            </a:solidFill>
            <a:prstDash val="solid"/>
            <a:headEnd type="none"/>
            <a:tailEnd type="none"/>
          </a:ln>
        </p:spPr>
      </p:sp>
      <p:sp>
        <p:nvSpPr>
          <p:cNvPr id="34" name="Text 32"/>
          <p:cNvSpPr/>
          <p:nvPr/>
        </p:nvSpPr>
        <p:spPr>
          <a:xfrm>
            <a:off x="2039112" y="5742432"/>
            <a:ext cx="402336" cy="109728"/>
          </a:xfrm>
          <a:prstGeom prst="rect">
            <a:avLst/>
          </a:prstGeom>
          <a:noFill/>
          <a:ln/>
        </p:spPr>
        <p:txBody>
          <a:bodyPr wrap="square" lIns="0" tIns="0" rIns="0" bIns="0" rtlCol="0" anchor="t">
            <a:normAutofit/>
          </a:bodyPr>
          <a:lstStyle/>
          <a:p>
            <a:pPr algn="ctr" indent="0" marL="0">
              <a:buNone/>
            </a:pPr>
            <a:r>
              <a:rPr lang="en-US" sz="860" dirty="0">
                <a:solidFill>
                  <a:srgbClr val="334155"/>
                </a:solidFill>
                <a:latin typeface="Arial" pitchFamily="34" charset="0"/>
                <a:ea typeface="Arial" pitchFamily="34" charset="-122"/>
                <a:cs typeface="Arial" pitchFamily="34" charset="-120"/>
              </a:rPr>
              <a:t>t</a:t>
            </a:r>
            <a:pPr algn="ctr" indent="0" marL="0">
              <a:buNone/>
            </a:pPr>
            <a:r>
              <a:rPr lang="en-US" sz="860" baseline="-40000" dirty="0">
                <a:solidFill>
                  <a:srgbClr val="334155"/>
                </a:solidFill>
                <a:latin typeface="Arial" pitchFamily="34" charset="0"/>
                <a:ea typeface="Arial" pitchFamily="34" charset="-122"/>
                <a:cs typeface="Arial" pitchFamily="34" charset="-120"/>
              </a:rPr>
              <a:t>1</a:t>
            </a:r>
            <a:endParaRPr lang="en-US" sz="860" dirty="0"/>
          </a:p>
        </p:txBody>
      </p:sp>
      <p:sp>
        <p:nvSpPr>
          <p:cNvPr id="35" name="Shape 33"/>
          <p:cNvSpPr/>
          <p:nvPr/>
        </p:nvSpPr>
        <p:spPr>
          <a:xfrm>
            <a:off x="3474720" y="5449824"/>
            <a:ext cx="0" cy="219456"/>
          </a:xfrm>
          <a:prstGeom prst="line">
            <a:avLst/>
          </a:prstGeom>
          <a:noFill/>
          <a:ln w="12700">
            <a:solidFill>
              <a:srgbClr val="334155"/>
            </a:solidFill>
            <a:prstDash val="solid"/>
            <a:headEnd type="none"/>
            <a:tailEnd type="none"/>
          </a:ln>
        </p:spPr>
      </p:sp>
      <p:sp>
        <p:nvSpPr>
          <p:cNvPr id="36" name="Text 34"/>
          <p:cNvSpPr/>
          <p:nvPr/>
        </p:nvSpPr>
        <p:spPr>
          <a:xfrm>
            <a:off x="3273552" y="5742432"/>
            <a:ext cx="402336" cy="109728"/>
          </a:xfrm>
          <a:prstGeom prst="rect">
            <a:avLst/>
          </a:prstGeom>
          <a:noFill/>
          <a:ln/>
        </p:spPr>
        <p:txBody>
          <a:bodyPr wrap="square" lIns="0" tIns="0" rIns="0" bIns="0" rtlCol="0" anchor="t">
            <a:normAutofit/>
          </a:bodyPr>
          <a:lstStyle/>
          <a:p>
            <a:pPr algn="ctr" indent="0" marL="0">
              <a:buNone/>
            </a:pPr>
            <a:r>
              <a:rPr lang="en-US" sz="860" dirty="0">
                <a:solidFill>
                  <a:srgbClr val="334155"/>
                </a:solidFill>
                <a:latin typeface="Arial" pitchFamily="34" charset="0"/>
                <a:ea typeface="Arial" pitchFamily="34" charset="-122"/>
                <a:cs typeface="Arial" pitchFamily="34" charset="-120"/>
              </a:rPr>
              <a:t>...</a:t>
            </a:r>
            <a:endParaRPr lang="en-US" sz="860" dirty="0"/>
          </a:p>
        </p:txBody>
      </p:sp>
      <p:sp>
        <p:nvSpPr>
          <p:cNvPr id="37" name="Shape 35"/>
          <p:cNvSpPr/>
          <p:nvPr/>
        </p:nvSpPr>
        <p:spPr>
          <a:xfrm>
            <a:off x="4709160" y="5449824"/>
            <a:ext cx="0" cy="219456"/>
          </a:xfrm>
          <a:prstGeom prst="line">
            <a:avLst/>
          </a:prstGeom>
          <a:noFill/>
          <a:ln w="12700">
            <a:solidFill>
              <a:srgbClr val="334155"/>
            </a:solidFill>
            <a:prstDash val="solid"/>
            <a:headEnd type="none"/>
            <a:tailEnd type="none"/>
          </a:ln>
        </p:spPr>
      </p:sp>
      <p:sp>
        <p:nvSpPr>
          <p:cNvPr id="38" name="Text 36"/>
          <p:cNvSpPr/>
          <p:nvPr/>
        </p:nvSpPr>
        <p:spPr>
          <a:xfrm>
            <a:off x="4507992" y="5742432"/>
            <a:ext cx="402336" cy="109728"/>
          </a:xfrm>
          <a:prstGeom prst="rect">
            <a:avLst/>
          </a:prstGeom>
          <a:noFill/>
          <a:ln/>
        </p:spPr>
        <p:txBody>
          <a:bodyPr wrap="square" lIns="0" tIns="0" rIns="0" bIns="0" rtlCol="0" anchor="t">
            <a:normAutofit/>
          </a:bodyPr>
          <a:lstStyle/>
          <a:p>
            <a:pPr algn="ctr" indent="0" marL="0">
              <a:buNone/>
            </a:pPr>
            <a:r>
              <a:rPr lang="en-US" sz="860" dirty="0">
                <a:solidFill>
                  <a:srgbClr val="334155"/>
                </a:solidFill>
                <a:latin typeface="Arial" pitchFamily="34" charset="0"/>
                <a:ea typeface="Arial" pitchFamily="34" charset="-122"/>
                <a:cs typeface="Arial" pitchFamily="34" charset="-120"/>
              </a:rPr>
              <a:t>t</a:t>
            </a:r>
            <a:pPr algn="ctr" indent="0" marL="0">
              <a:buNone/>
            </a:pPr>
            <a:r>
              <a:rPr lang="en-US" sz="860" baseline="-40000" dirty="0">
                <a:solidFill>
                  <a:srgbClr val="334155"/>
                </a:solidFill>
                <a:latin typeface="Arial" pitchFamily="34" charset="0"/>
                <a:ea typeface="Arial" pitchFamily="34" charset="-122"/>
                <a:cs typeface="Arial" pitchFamily="34" charset="-120"/>
              </a:rPr>
              <a:t>N</a:t>
            </a:r>
            <a:endParaRPr lang="en-US" sz="860" dirty="0"/>
          </a:p>
        </p:txBody>
      </p:sp>
      <p:sp>
        <p:nvSpPr>
          <p:cNvPr id="39" name="Shape 37"/>
          <p:cNvSpPr/>
          <p:nvPr/>
        </p:nvSpPr>
        <p:spPr>
          <a:xfrm>
            <a:off x="5376672" y="5449824"/>
            <a:ext cx="0" cy="219456"/>
          </a:xfrm>
          <a:prstGeom prst="line">
            <a:avLst/>
          </a:prstGeom>
          <a:noFill/>
          <a:ln w="12700">
            <a:solidFill>
              <a:srgbClr val="334155"/>
            </a:solidFill>
            <a:prstDash val="solid"/>
            <a:headEnd type="none"/>
            <a:tailEnd type="none"/>
          </a:ln>
        </p:spPr>
      </p:sp>
      <p:sp>
        <p:nvSpPr>
          <p:cNvPr id="40" name="Text 38"/>
          <p:cNvSpPr/>
          <p:nvPr/>
        </p:nvSpPr>
        <p:spPr>
          <a:xfrm>
            <a:off x="5175504" y="5742432"/>
            <a:ext cx="402336" cy="109728"/>
          </a:xfrm>
          <a:prstGeom prst="rect">
            <a:avLst/>
          </a:prstGeom>
          <a:noFill/>
          <a:ln/>
        </p:spPr>
        <p:txBody>
          <a:bodyPr wrap="square" lIns="0" tIns="0" rIns="0" bIns="0" rtlCol="0" anchor="t">
            <a:normAutofit/>
          </a:bodyPr>
          <a:lstStyle/>
          <a:p>
            <a:pPr algn="ctr" indent="0" marL="0">
              <a:buNone/>
            </a:pPr>
            <a:r>
              <a:rPr lang="en-US" sz="860" dirty="0">
                <a:solidFill>
                  <a:srgbClr val="334155"/>
                </a:solidFill>
                <a:latin typeface="Arial" pitchFamily="34" charset="0"/>
                <a:ea typeface="Arial" pitchFamily="34" charset="-122"/>
                <a:cs typeface="Arial" pitchFamily="34" charset="-120"/>
              </a:rPr>
              <a:t>t</a:t>
            </a:r>
            <a:pPr algn="ctr" indent="0" marL="0">
              <a:buNone/>
            </a:pPr>
            <a:r>
              <a:rPr lang="en-US" sz="860" baseline="-40000" dirty="0">
                <a:solidFill>
                  <a:srgbClr val="334155"/>
                </a:solidFill>
                <a:latin typeface="Arial" pitchFamily="34" charset="0"/>
                <a:ea typeface="Arial" pitchFamily="34" charset="-122"/>
                <a:cs typeface="Arial" pitchFamily="34" charset="-120"/>
              </a:rPr>
              <a:t>end</a:t>
            </a:r>
            <a:endParaRPr lang="en-US" sz="860" dirty="0"/>
          </a:p>
        </p:txBody>
      </p:sp>
      <p:sp>
        <p:nvSpPr>
          <p:cNvPr id="41" name="Shape 39"/>
          <p:cNvSpPr/>
          <p:nvPr/>
        </p:nvSpPr>
        <p:spPr>
          <a:xfrm>
            <a:off x="6382512" y="987552"/>
            <a:ext cx="5394960" cy="5065776"/>
          </a:xfrm>
          <a:prstGeom prst="roundRect">
            <a:avLst>
              <a:gd name="adj" fmla="val 1444"/>
            </a:avLst>
          </a:prstGeom>
          <a:solidFill>
            <a:srgbClr val="FFFFFF"/>
          </a:solidFill>
          <a:ln w="12700">
            <a:solidFill>
              <a:srgbClr val="CBD5E1"/>
            </a:solidFill>
            <a:prstDash val="solid"/>
          </a:ln>
        </p:spPr>
      </p:sp>
      <p:sp>
        <p:nvSpPr>
          <p:cNvPr id="42" name="Text 40"/>
          <p:cNvSpPr/>
          <p:nvPr/>
        </p:nvSpPr>
        <p:spPr>
          <a:xfrm>
            <a:off x="6638544" y="1143000"/>
            <a:ext cx="2148840" cy="219456"/>
          </a:xfrm>
          <a:prstGeom prst="rect">
            <a:avLst/>
          </a:prstGeom>
          <a:noFill/>
          <a:ln/>
        </p:spPr>
        <p:txBody>
          <a:bodyPr wrap="square" lIns="0" tIns="0" rIns="0" bIns="0" rtlCol="0" anchor="t">
            <a:normAutofit/>
          </a:bodyPr>
          <a:lstStyle/>
          <a:p>
            <a:pPr algn="l" indent="0" marL="0">
              <a:buNone/>
            </a:pPr>
            <a:r>
              <a:rPr lang="en-US" sz="1220" b="1" dirty="0">
                <a:solidFill>
                  <a:srgbClr val="334155"/>
                </a:solidFill>
                <a:latin typeface="Arial" pitchFamily="34" charset="0"/>
                <a:ea typeface="Arial" pitchFamily="34" charset="-122"/>
                <a:cs typeface="Arial" pitchFamily="34" charset="-120"/>
              </a:rPr>
              <a:t>Inside One Radau Step</a:t>
            </a:r>
            <a:endParaRPr lang="en-US" sz="1220" dirty="0"/>
          </a:p>
        </p:txBody>
      </p:sp>
      <p:sp>
        <p:nvSpPr>
          <p:cNvPr id="43" name="Text 41"/>
          <p:cNvSpPr/>
          <p:nvPr/>
        </p:nvSpPr>
        <p:spPr>
          <a:xfrm>
            <a:off x="9180576" y="1161288"/>
            <a:ext cx="2240280" cy="164592"/>
          </a:xfrm>
          <a:prstGeom prst="rect">
            <a:avLst/>
          </a:prstGeom>
          <a:noFill/>
          <a:ln/>
        </p:spPr>
        <p:txBody>
          <a:bodyPr wrap="square" lIns="0" tIns="0" rIns="0" bIns="0" rtlCol="0" anchor="t">
            <a:normAutofit/>
          </a:bodyPr>
          <a:lstStyle/>
          <a:p>
            <a:pPr algn="r" indent="0" marL="0">
              <a:buNone/>
            </a:pPr>
            <a:r>
              <a:rPr lang="en-US" sz="880" dirty="0">
                <a:solidFill>
                  <a:srgbClr val="64748B"/>
                </a:solidFill>
                <a:latin typeface="Arial" pitchFamily="34" charset="0"/>
                <a:ea typeface="Arial" pitchFamily="34" charset="-122"/>
                <a:cs typeface="Arial" pitchFamily="34" charset="-120"/>
              </a:rPr>
              <a:t>Radau is an implicit Runge-Kutta method.</a:t>
            </a:r>
            <a:endParaRPr lang="en-US" sz="880" dirty="0"/>
          </a:p>
        </p:txBody>
      </p:sp>
      <p:sp>
        <p:nvSpPr>
          <p:cNvPr id="44" name="Shape 42"/>
          <p:cNvSpPr/>
          <p:nvPr/>
        </p:nvSpPr>
        <p:spPr>
          <a:xfrm>
            <a:off x="6693408" y="1499616"/>
            <a:ext cx="4736592" cy="1033272"/>
          </a:xfrm>
          <a:prstGeom prst="roundRect">
            <a:avLst>
              <a:gd name="adj" fmla="val 7080"/>
            </a:avLst>
          </a:prstGeom>
          <a:solidFill>
            <a:srgbClr val="EDE9FE"/>
          </a:solidFill>
          <a:ln w="12700">
            <a:solidFill>
              <a:srgbClr val="6D28D9"/>
            </a:solidFill>
            <a:prstDash val="solid"/>
          </a:ln>
        </p:spPr>
      </p:sp>
      <p:sp>
        <p:nvSpPr>
          <p:cNvPr id="45" name="Text 43"/>
          <p:cNvSpPr/>
          <p:nvPr/>
        </p:nvSpPr>
        <p:spPr>
          <a:xfrm>
            <a:off x="6903720" y="1636776"/>
            <a:ext cx="1920240" cy="164592"/>
          </a:xfrm>
          <a:prstGeom prst="rect">
            <a:avLst/>
          </a:prstGeom>
          <a:noFill/>
          <a:ln/>
        </p:spPr>
        <p:txBody>
          <a:bodyPr wrap="square" lIns="0" tIns="0" rIns="0" bIns="0" rtlCol="0" anchor="t">
            <a:normAutofit/>
          </a:bodyPr>
          <a:lstStyle/>
          <a:p>
            <a:pPr algn="l" indent="0" marL="0">
              <a:buNone/>
            </a:pPr>
            <a:r>
              <a:rPr lang="en-US" sz="940" b="1" dirty="0">
                <a:solidFill>
                  <a:srgbClr val="6D28D9"/>
                </a:solidFill>
                <a:latin typeface="Arial" pitchFamily="34" charset="0"/>
                <a:ea typeface="Arial" pitchFamily="34" charset="-122"/>
                <a:cs typeface="Arial" pitchFamily="34" charset="-120"/>
              </a:rPr>
              <a:t>implicit stage equations</a:t>
            </a:r>
            <a:endParaRPr lang="en-US" sz="940" dirty="0"/>
          </a:p>
        </p:txBody>
      </p:sp>
      <p:sp>
        <p:nvSpPr>
          <p:cNvPr id="46" name="Text 44"/>
          <p:cNvSpPr/>
          <p:nvPr/>
        </p:nvSpPr>
        <p:spPr>
          <a:xfrm>
            <a:off x="6903720" y="1920240"/>
            <a:ext cx="4334256" cy="201168"/>
          </a:xfrm>
          <a:prstGeom prst="rect">
            <a:avLst/>
          </a:prstGeom>
          <a:noFill/>
          <a:ln/>
        </p:spPr>
        <p:txBody>
          <a:bodyPr wrap="square" lIns="0" tIns="0" rIns="0" bIns="0" rtlCol="0" anchor="t">
            <a:normAutofit/>
          </a:bodyPr>
          <a:lstStyle/>
          <a:p>
            <a:pPr algn="l" indent="0" marL="0">
              <a:buNone/>
            </a:pPr>
            <a:r>
              <a:rPr lang="en-US" sz="1060" dirty="0">
                <a:solidFill>
                  <a:srgbClr val="162033"/>
                </a:solidFill>
                <a:latin typeface="Arial" pitchFamily="34" charset="0"/>
                <a:ea typeface="Arial" pitchFamily="34" charset="-122"/>
                <a:cs typeface="Arial" pitchFamily="34" charset="-120"/>
              </a:rPr>
              <a:t>K</a:t>
            </a:r>
            <a:pPr algn="l" indent="0" marL="0">
              <a:buNone/>
            </a:pPr>
            <a:r>
              <a:rPr lang="en-US" sz="1060" baseline="-40000" dirty="0">
                <a:solidFill>
                  <a:srgbClr val="162033"/>
                </a:solidFill>
                <a:latin typeface="Arial" pitchFamily="34" charset="0"/>
                <a:ea typeface="Arial" pitchFamily="34" charset="-122"/>
                <a:cs typeface="Arial" pitchFamily="34" charset="-120"/>
              </a:rPr>
              <a:t>i</a:t>
            </a:r>
            <a:pPr algn="l" indent="0" marL="0">
              <a:buNone/>
            </a:pPr>
            <a:r>
              <a:rPr lang="en-US" sz="1060" dirty="0">
                <a:solidFill>
                  <a:srgbClr val="162033"/>
                </a:solidFill>
                <a:latin typeface="Arial" pitchFamily="34" charset="0"/>
                <a:ea typeface="Arial" pitchFamily="34" charset="-122"/>
                <a:cs typeface="Arial" pitchFamily="34" charset="-120"/>
              </a:rPr>
              <a:t> = F(</a:t>
            </a:r>
            <a:pPr algn="l" indent="0" marL="0">
              <a:buNone/>
            </a:pPr>
            <a:r>
              <a:rPr lang="en-US" sz="1060" dirty="0">
                <a:solidFill>
                  <a:srgbClr val="162033"/>
                </a:solidFill>
                <a:latin typeface="Arial" pitchFamily="34" charset="0"/>
                <a:ea typeface="Arial" pitchFamily="34" charset="-122"/>
                <a:cs typeface="Arial" pitchFamily="34" charset="-120"/>
              </a:rPr>
              <a:t>t</a:t>
            </a:r>
            <a:pPr algn="l" indent="0" marL="0">
              <a:buNone/>
            </a:pPr>
            <a:r>
              <a:rPr lang="en-US" sz="1060" baseline="-40000" dirty="0">
                <a:solidFill>
                  <a:srgbClr val="162033"/>
                </a:solidFill>
                <a:latin typeface="Arial" pitchFamily="34" charset="0"/>
                <a:ea typeface="Arial" pitchFamily="34" charset="-122"/>
                <a:cs typeface="Arial" pitchFamily="34" charset="-120"/>
              </a:rPr>
              <a:t>n</a:t>
            </a:r>
            <a:pPr algn="l" indent="0" marL="0">
              <a:buNone/>
            </a:pPr>
            <a:r>
              <a:rPr lang="en-US" sz="1060" dirty="0">
                <a:solidFill>
                  <a:srgbClr val="162033"/>
                </a:solidFill>
                <a:latin typeface="Arial" pitchFamily="34" charset="0"/>
                <a:ea typeface="Arial" pitchFamily="34" charset="-122"/>
                <a:cs typeface="Arial" pitchFamily="34" charset="-120"/>
              </a:rPr>
              <a:t> + </a:t>
            </a:r>
            <a:pPr algn="l" indent="0" marL="0">
              <a:buNone/>
            </a:pPr>
            <a:r>
              <a:rPr lang="en-US" sz="1060" dirty="0">
                <a:solidFill>
                  <a:srgbClr val="162033"/>
                </a:solidFill>
                <a:latin typeface="Arial" pitchFamily="34" charset="0"/>
                <a:ea typeface="Arial" pitchFamily="34" charset="-122"/>
                <a:cs typeface="Arial" pitchFamily="34" charset="-120"/>
              </a:rPr>
              <a:t>c</a:t>
            </a:r>
            <a:pPr algn="l" indent="0" marL="0">
              <a:buNone/>
            </a:pPr>
            <a:r>
              <a:rPr lang="en-US" sz="1060" baseline="-40000" dirty="0">
                <a:solidFill>
                  <a:srgbClr val="162033"/>
                </a:solidFill>
                <a:latin typeface="Arial" pitchFamily="34" charset="0"/>
                <a:ea typeface="Arial" pitchFamily="34" charset="-122"/>
                <a:cs typeface="Arial" pitchFamily="34" charset="-120"/>
              </a:rPr>
              <a:t>i</a:t>
            </a:r>
            <a:pPr algn="l" indent="0" marL="0">
              <a:buNone/>
            </a:pPr>
            <a:r>
              <a:rPr lang="en-US" sz="1060" dirty="0">
                <a:solidFill>
                  <a:srgbClr val="162033"/>
                </a:solidFill>
                <a:latin typeface="Arial" pitchFamily="34" charset="0"/>
                <a:ea typeface="Arial" pitchFamily="34" charset="-122"/>
                <a:cs typeface="Arial" pitchFamily="34" charset="-120"/>
              </a:rPr>
              <a:t> h,  </a:t>
            </a:r>
            <a:pPr algn="l" indent="0" marL="0">
              <a:buNone/>
            </a:pPr>
            <a:r>
              <a:rPr lang="en-US" sz="1060" dirty="0">
                <a:solidFill>
                  <a:srgbClr val="162033"/>
                </a:solidFill>
                <a:latin typeface="Arial" pitchFamily="34" charset="0"/>
                <a:ea typeface="Arial" pitchFamily="34" charset="-122"/>
                <a:cs typeface="Arial" pitchFamily="34" charset="-120"/>
              </a:rPr>
              <a:t>Y</a:t>
            </a:r>
            <a:pPr algn="l" indent="0" marL="0">
              <a:buNone/>
            </a:pPr>
            <a:r>
              <a:rPr lang="en-US" sz="1060" baseline="-40000" dirty="0">
                <a:solidFill>
                  <a:srgbClr val="162033"/>
                </a:solidFill>
                <a:latin typeface="Arial" pitchFamily="34" charset="0"/>
                <a:ea typeface="Arial" pitchFamily="34" charset="-122"/>
                <a:cs typeface="Arial" pitchFamily="34" charset="-120"/>
              </a:rPr>
              <a:t>n</a:t>
            </a:r>
            <a:pPr algn="l" indent="0" marL="0">
              <a:buNone/>
            </a:pPr>
            <a:r>
              <a:rPr lang="en-US" sz="1060" dirty="0">
                <a:solidFill>
                  <a:srgbClr val="162033"/>
                </a:solidFill>
                <a:latin typeface="Arial" pitchFamily="34" charset="0"/>
                <a:ea typeface="Arial" pitchFamily="34" charset="-122"/>
                <a:cs typeface="Arial" pitchFamily="34" charset="-120"/>
              </a:rPr>
              <a:t> + h Σ</a:t>
            </a:r>
            <a:pPr algn="l" indent="0" marL="0">
              <a:buNone/>
            </a:pPr>
            <a:r>
              <a:rPr lang="en-US" sz="1060" baseline="-40000" dirty="0">
                <a:solidFill>
                  <a:srgbClr val="162033"/>
                </a:solidFill>
                <a:latin typeface="Arial" pitchFamily="34" charset="0"/>
                <a:ea typeface="Arial" pitchFamily="34" charset="-122"/>
                <a:cs typeface="Arial" pitchFamily="34" charset="-120"/>
              </a:rPr>
              <a:t>j</a:t>
            </a:r>
            <a:pPr algn="l" indent="0" marL="0">
              <a:buNone/>
            </a:pPr>
            <a:r>
              <a:rPr lang="en-US" sz="1060" dirty="0">
                <a:solidFill>
                  <a:srgbClr val="162033"/>
                </a:solidFill>
                <a:latin typeface="Arial" pitchFamily="34" charset="0"/>
                <a:ea typeface="Arial" pitchFamily="34" charset="-122"/>
                <a:cs typeface="Arial" pitchFamily="34" charset="-120"/>
              </a:rPr>
              <a:t> </a:t>
            </a:r>
            <a:pPr algn="l" indent="0" marL="0">
              <a:buNone/>
            </a:pPr>
            <a:r>
              <a:rPr lang="en-US" sz="1060" dirty="0">
                <a:solidFill>
                  <a:srgbClr val="162033"/>
                </a:solidFill>
                <a:latin typeface="Arial" pitchFamily="34" charset="0"/>
                <a:ea typeface="Arial" pitchFamily="34" charset="-122"/>
                <a:cs typeface="Arial" pitchFamily="34" charset="-120"/>
              </a:rPr>
              <a:t>a</a:t>
            </a:r>
            <a:pPr algn="l" indent="0" marL="0">
              <a:buNone/>
            </a:pPr>
            <a:r>
              <a:rPr lang="en-US" sz="1060" baseline="-40000" dirty="0">
                <a:solidFill>
                  <a:srgbClr val="162033"/>
                </a:solidFill>
                <a:latin typeface="Arial" pitchFamily="34" charset="0"/>
                <a:ea typeface="Arial" pitchFamily="34" charset="-122"/>
                <a:cs typeface="Arial" pitchFamily="34" charset="-120"/>
              </a:rPr>
              <a:t>ij</a:t>
            </a:r>
            <a:pPr algn="l" indent="0" marL="0">
              <a:buNone/>
            </a:pPr>
            <a:r>
              <a:rPr lang="en-US" sz="1060" dirty="0">
                <a:solidFill>
                  <a:srgbClr val="162033"/>
                </a:solidFill>
                <a:latin typeface="Arial" pitchFamily="34" charset="0"/>
                <a:ea typeface="Arial" pitchFamily="34" charset="-122"/>
                <a:cs typeface="Arial" pitchFamily="34" charset="-120"/>
              </a:rPr>
              <a:t> </a:t>
            </a:r>
            <a:pPr algn="l" indent="0" marL="0">
              <a:buNone/>
            </a:pPr>
            <a:r>
              <a:rPr lang="en-US" sz="1060" dirty="0">
                <a:solidFill>
                  <a:srgbClr val="162033"/>
                </a:solidFill>
                <a:latin typeface="Arial" pitchFamily="34" charset="0"/>
                <a:ea typeface="Arial" pitchFamily="34" charset="-122"/>
                <a:cs typeface="Arial" pitchFamily="34" charset="-120"/>
              </a:rPr>
              <a:t>K</a:t>
            </a:r>
            <a:pPr algn="l" indent="0" marL="0">
              <a:buNone/>
            </a:pPr>
            <a:r>
              <a:rPr lang="en-US" sz="1060" baseline="-40000" dirty="0">
                <a:solidFill>
                  <a:srgbClr val="162033"/>
                </a:solidFill>
                <a:latin typeface="Arial" pitchFamily="34" charset="0"/>
                <a:ea typeface="Arial" pitchFamily="34" charset="-122"/>
                <a:cs typeface="Arial" pitchFamily="34" charset="-120"/>
              </a:rPr>
              <a:t>j</a:t>
            </a:r>
            <a:pPr algn="l" indent="0" marL="0">
              <a:buNone/>
            </a:pPr>
            <a:r>
              <a:rPr lang="en-US" sz="1060" dirty="0">
                <a:solidFill>
                  <a:srgbClr val="162033"/>
                </a:solidFill>
                <a:latin typeface="Arial" pitchFamily="34" charset="0"/>
                <a:ea typeface="Arial" pitchFamily="34" charset="-122"/>
                <a:cs typeface="Arial" pitchFamily="34" charset="-120"/>
              </a:rPr>
              <a:t>)</a:t>
            </a:r>
            <a:endParaRPr lang="en-US" sz="1060" dirty="0"/>
          </a:p>
        </p:txBody>
      </p:sp>
      <p:sp>
        <p:nvSpPr>
          <p:cNvPr id="47" name="Text 45"/>
          <p:cNvSpPr/>
          <p:nvPr/>
        </p:nvSpPr>
        <p:spPr>
          <a:xfrm>
            <a:off x="6903720" y="2212848"/>
            <a:ext cx="4334256" cy="182880"/>
          </a:xfrm>
          <a:prstGeom prst="rect">
            <a:avLst/>
          </a:prstGeom>
          <a:noFill/>
          <a:ln/>
        </p:spPr>
        <p:txBody>
          <a:bodyPr wrap="square" lIns="0" tIns="0" rIns="0" bIns="0" rtlCol="0" anchor="t">
            <a:normAutofit/>
          </a:bodyPr>
          <a:lstStyle/>
          <a:p>
            <a:pPr algn="l" indent="0" marL="0">
              <a:buNone/>
            </a:pPr>
            <a:r>
              <a:rPr lang="en-US" sz="1060" dirty="0">
                <a:solidFill>
                  <a:srgbClr val="162033"/>
                </a:solidFill>
                <a:latin typeface="Arial" pitchFamily="34" charset="0"/>
                <a:ea typeface="Arial" pitchFamily="34" charset="-122"/>
                <a:cs typeface="Arial" pitchFamily="34" charset="-120"/>
              </a:rPr>
              <a:t>Y</a:t>
            </a:r>
            <a:pPr algn="l" indent="0" marL="0">
              <a:buNone/>
            </a:pPr>
            <a:r>
              <a:rPr lang="en-US" sz="1060" baseline="-40000" dirty="0">
                <a:solidFill>
                  <a:srgbClr val="162033"/>
                </a:solidFill>
                <a:latin typeface="Arial" pitchFamily="34" charset="0"/>
                <a:ea typeface="Arial" pitchFamily="34" charset="-122"/>
                <a:cs typeface="Arial" pitchFamily="34" charset="-120"/>
              </a:rPr>
              <a:t>n+1</a:t>
            </a:r>
            <a:pPr algn="l" indent="0" marL="0">
              <a:buNone/>
            </a:pPr>
            <a:r>
              <a:rPr lang="en-US" sz="1060" dirty="0">
                <a:solidFill>
                  <a:srgbClr val="162033"/>
                </a:solidFill>
                <a:latin typeface="Arial" pitchFamily="34" charset="0"/>
                <a:ea typeface="Arial" pitchFamily="34" charset="-122"/>
                <a:cs typeface="Arial" pitchFamily="34" charset="-120"/>
              </a:rPr>
              <a:t> = </a:t>
            </a:r>
            <a:pPr algn="l" indent="0" marL="0">
              <a:buNone/>
            </a:pPr>
            <a:r>
              <a:rPr lang="en-US" sz="1060" dirty="0">
                <a:solidFill>
                  <a:srgbClr val="162033"/>
                </a:solidFill>
                <a:latin typeface="Arial" pitchFamily="34" charset="0"/>
                <a:ea typeface="Arial" pitchFamily="34" charset="-122"/>
                <a:cs typeface="Arial" pitchFamily="34" charset="-120"/>
              </a:rPr>
              <a:t>Y</a:t>
            </a:r>
            <a:pPr algn="l" indent="0" marL="0">
              <a:buNone/>
            </a:pPr>
            <a:r>
              <a:rPr lang="en-US" sz="1060" baseline="-40000" dirty="0">
                <a:solidFill>
                  <a:srgbClr val="162033"/>
                </a:solidFill>
                <a:latin typeface="Arial" pitchFamily="34" charset="0"/>
                <a:ea typeface="Arial" pitchFamily="34" charset="-122"/>
                <a:cs typeface="Arial" pitchFamily="34" charset="-120"/>
              </a:rPr>
              <a:t>n</a:t>
            </a:r>
            <a:pPr algn="l" indent="0" marL="0">
              <a:buNone/>
            </a:pPr>
            <a:r>
              <a:rPr lang="en-US" sz="1060" dirty="0">
                <a:solidFill>
                  <a:srgbClr val="162033"/>
                </a:solidFill>
                <a:latin typeface="Arial" pitchFamily="34" charset="0"/>
                <a:ea typeface="Arial" pitchFamily="34" charset="-122"/>
                <a:cs typeface="Arial" pitchFamily="34" charset="-120"/>
              </a:rPr>
              <a:t> + h Σ</a:t>
            </a:r>
            <a:pPr algn="l" indent="0" marL="0">
              <a:buNone/>
            </a:pPr>
            <a:r>
              <a:rPr lang="en-US" sz="1060" baseline="-40000" dirty="0">
                <a:solidFill>
                  <a:srgbClr val="162033"/>
                </a:solidFill>
                <a:latin typeface="Arial" pitchFamily="34" charset="0"/>
                <a:ea typeface="Arial" pitchFamily="34" charset="-122"/>
                <a:cs typeface="Arial" pitchFamily="34" charset="-120"/>
              </a:rPr>
              <a:t>i</a:t>
            </a:r>
            <a:pPr algn="l" indent="0" marL="0">
              <a:buNone/>
            </a:pPr>
            <a:r>
              <a:rPr lang="en-US" sz="1060" dirty="0">
                <a:solidFill>
                  <a:srgbClr val="162033"/>
                </a:solidFill>
                <a:latin typeface="Arial" pitchFamily="34" charset="0"/>
                <a:ea typeface="Arial" pitchFamily="34" charset="-122"/>
                <a:cs typeface="Arial" pitchFamily="34" charset="-120"/>
              </a:rPr>
              <a:t> </a:t>
            </a:r>
            <a:pPr algn="l" indent="0" marL="0">
              <a:buNone/>
            </a:pPr>
            <a:r>
              <a:rPr lang="en-US" sz="1060" dirty="0">
                <a:solidFill>
                  <a:srgbClr val="162033"/>
                </a:solidFill>
                <a:latin typeface="Arial" pitchFamily="34" charset="0"/>
                <a:ea typeface="Arial" pitchFamily="34" charset="-122"/>
                <a:cs typeface="Arial" pitchFamily="34" charset="-120"/>
              </a:rPr>
              <a:t>b</a:t>
            </a:r>
            <a:pPr algn="l" indent="0" marL="0">
              <a:buNone/>
            </a:pPr>
            <a:r>
              <a:rPr lang="en-US" sz="1060" baseline="-40000" dirty="0">
                <a:solidFill>
                  <a:srgbClr val="162033"/>
                </a:solidFill>
                <a:latin typeface="Arial" pitchFamily="34" charset="0"/>
                <a:ea typeface="Arial" pitchFamily="34" charset="-122"/>
                <a:cs typeface="Arial" pitchFamily="34" charset="-120"/>
              </a:rPr>
              <a:t>i</a:t>
            </a:r>
            <a:pPr algn="l" indent="0" marL="0">
              <a:buNone/>
            </a:pPr>
            <a:r>
              <a:rPr lang="en-US" sz="1060" dirty="0">
                <a:solidFill>
                  <a:srgbClr val="162033"/>
                </a:solidFill>
                <a:latin typeface="Arial" pitchFamily="34" charset="0"/>
                <a:ea typeface="Arial" pitchFamily="34" charset="-122"/>
                <a:cs typeface="Arial" pitchFamily="34" charset="-120"/>
              </a:rPr>
              <a:t> </a:t>
            </a:r>
            <a:pPr algn="l" indent="0" marL="0">
              <a:buNone/>
            </a:pPr>
            <a:r>
              <a:rPr lang="en-US" sz="1060" dirty="0">
                <a:solidFill>
                  <a:srgbClr val="162033"/>
                </a:solidFill>
                <a:latin typeface="Arial" pitchFamily="34" charset="0"/>
                <a:ea typeface="Arial" pitchFamily="34" charset="-122"/>
                <a:cs typeface="Arial" pitchFamily="34" charset="-120"/>
              </a:rPr>
              <a:t>K</a:t>
            </a:r>
            <a:pPr algn="l" indent="0" marL="0">
              <a:buNone/>
            </a:pPr>
            <a:r>
              <a:rPr lang="en-US" sz="1060" baseline="-40000" dirty="0">
                <a:solidFill>
                  <a:srgbClr val="162033"/>
                </a:solidFill>
                <a:latin typeface="Arial" pitchFamily="34" charset="0"/>
                <a:ea typeface="Arial" pitchFamily="34" charset="-122"/>
                <a:cs typeface="Arial" pitchFamily="34" charset="-120"/>
              </a:rPr>
              <a:t>i</a:t>
            </a:r>
            <a:endParaRPr lang="en-US" sz="1060" dirty="0"/>
          </a:p>
        </p:txBody>
      </p:sp>
      <p:sp>
        <p:nvSpPr>
          <p:cNvPr id="48" name="Shape 46"/>
          <p:cNvSpPr/>
          <p:nvPr/>
        </p:nvSpPr>
        <p:spPr>
          <a:xfrm>
            <a:off x="6693408" y="2770632"/>
            <a:ext cx="4736592" cy="1133856"/>
          </a:xfrm>
          <a:prstGeom prst="roundRect">
            <a:avLst>
              <a:gd name="adj" fmla="val 6452"/>
            </a:avLst>
          </a:prstGeom>
          <a:solidFill>
            <a:srgbClr val="F8FAFC"/>
          </a:solidFill>
          <a:ln w="12700">
            <a:solidFill>
              <a:srgbClr val="CBD5E1"/>
            </a:solidFill>
            <a:prstDash val="solid"/>
          </a:ln>
        </p:spPr>
      </p:sp>
      <p:sp>
        <p:nvSpPr>
          <p:cNvPr id="49" name="Text 47"/>
          <p:cNvSpPr/>
          <p:nvPr/>
        </p:nvSpPr>
        <p:spPr>
          <a:xfrm>
            <a:off x="6903720" y="2898648"/>
            <a:ext cx="2103120" cy="164592"/>
          </a:xfrm>
          <a:prstGeom prst="rect">
            <a:avLst/>
          </a:prstGeom>
          <a:noFill/>
          <a:ln/>
        </p:spPr>
        <p:txBody>
          <a:bodyPr wrap="square" lIns="0" tIns="0" rIns="0" bIns="0" rtlCol="0" anchor="t">
            <a:normAutofit/>
          </a:bodyPr>
          <a:lstStyle/>
          <a:p>
            <a:pPr algn="l" indent="0" marL="0">
              <a:buNone/>
            </a:pPr>
            <a:r>
              <a:rPr lang="en-US" sz="940" b="1" dirty="0">
                <a:solidFill>
                  <a:srgbClr val="2563EB"/>
                </a:solidFill>
                <a:latin typeface="Arial" pitchFamily="34" charset="0"/>
                <a:ea typeface="Arial" pitchFamily="34" charset="-122"/>
                <a:cs typeface="Arial" pitchFamily="34" charset="-120"/>
              </a:rPr>
              <a:t>stage evaluations call F(Y)</a:t>
            </a:r>
            <a:endParaRPr lang="en-US" sz="940" dirty="0"/>
          </a:p>
        </p:txBody>
      </p:sp>
      <p:sp>
        <p:nvSpPr>
          <p:cNvPr id="50" name="Shape 48"/>
          <p:cNvSpPr/>
          <p:nvPr/>
        </p:nvSpPr>
        <p:spPr>
          <a:xfrm>
            <a:off x="7059168" y="3401568"/>
            <a:ext cx="3867912" cy="0"/>
          </a:xfrm>
          <a:prstGeom prst="line">
            <a:avLst/>
          </a:prstGeom>
          <a:noFill/>
          <a:ln w="12700">
            <a:solidFill>
              <a:srgbClr val="6D28D9"/>
            </a:solidFill>
            <a:prstDash val="solid"/>
            <a:headEnd type="none"/>
            <a:tailEnd type="none"/>
          </a:ln>
        </p:spPr>
      </p:sp>
      <p:sp>
        <p:nvSpPr>
          <p:cNvPr id="51" name="Shape 49"/>
          <p:cNvSpPr/>
          <p:nvPr/>
        </p:nvSpPr>
        <p:spPr>
          <a:xfrm>
            <a:off x="7424928" y="3246120"/>
            <a:ext cx="292608" cy="292608"/>
          </a:xfrm>
          <a:prstGeom prst="ellipse">
            <a:avLst/>
          </a:prstGeom>
          <a:solidFill>
            <a:srgbClr val="EDE9FE"/>
          </a:solidFill>
          <a:ln w="12700">
            <a:solidFill>
              <a:srgbClr val="6D28D9"/>
            </a:solidFill>
            <a:prstDash val="solid"/>
          </a:ln>
        </p:spPr>
      </p:sp>
      <p:sp>
        <p:nvSpPr>
          <p:cNvPr id="52" name="Text 50"/>
          <p:cNvSpPr/>
          <p:nvPr/>
        </p:nvSpPr>
        <p:spPr>
          <a:xfrm>
            <a:off x="7452360" y="3328416"/>
            <a:ext cx="237744" cy="73152"/>
          </a:xfrm>
          <a:prstGeom prst="rect">
            <a:avLst/>
          </a:prstGeom>
          <a:noFill/>
          <a:ln/>
        </p:spPr>
        <p:txBody>
          <a:bodyPr wrap="square" lIns="0" tIns="0" rIns="0" bIns="0" rtlCol="0" anchor="t">
            <a:normAutofit/>
          </a:bodyPr>
          <a:lstStyle/>
          <a:p>
            <a:pPr algn="ctr" indent="0" marL="0">
              <a:buNone/>
            </a:pPr>
            <a:r>
              <a:rPr lang="en-US" sz="860" dirty="0">
                <a:solidFill>
                  <a:srgbClr val="6D28D9"/>
                </a:solidFill>
                <a:latin typeface="Arial" pitchFamily="34" charset="0"/>
                <a:ea typeface="Arial" pitchFamily="34" charset="-122"/>
                <a:cs typeface="Arial" pitchFamily="34" charset="-120"/>
              </a:rPr>
              <a:t>K</a:t>
            </a:r>
            <a:pPr algn="ctr" indent="0" marL="0">
              <a:buNone/>
            </a:pPr>
            <a:r>
              <a:rPr lang="en-US" sz="860" baseline="-40000" dirty="0">
                <a:solidFill>
                  <a:srgbClr val="6D28D9"/>
                </a:solidFill>
                <a:latin typeface="Arial" pitchFamily="34" charset="0"/>
                <a:ea typeface="Arial" pitchFamily="34" charset="-122"/>
                <a:cs typeface="Arial" pitchFamily="34" charset="-120"/>
              </a:rPr>
              <a:t>1</a:t>
            </a:r>
            <a:endParaRPr lang="en-US" sz="860" dirty="0"/>
          </a:p>
        </p:txBody>
      </p:sp>
      <p:sp>
        <p:nvSpPr>
          <p:cNvPr id="53" name="Shape 51"/>
          <p:cNvSpPr/>
          <p:nvPr/>
        </p:nvSpPr>
        <p:spPr>
          <a:xfrm>
            <a:off x="8842248" y="3246120"/>
            <a:ext cx="292608" cy="292608"/>
          </a:xfrm>
          <a:prstGeom prst="ellipse">
            <a:avLst/>
          </a:prstGeom>
          <a:solidFill>
            <a:srgbClr val="EDE9FE"/>
          </a:solidFill>
          <a:ln w="12700">
            <a:solidFill>
              <a:srgbClr val="6D28D9"/>
            </a:solidFill>
            <a:prstDash val="solid"/>
          </a:ln>
        </p:spPr>
      </p:sp>
      <p:sp>
        <p:nvSpPr>
          <p:cNvPr id="54" name="Text 52"/>
          <p:cNvSpPr/>
          <p:nvPr/>
        </p:nvSpPr>
        <p:spPr>
          <a:xfrm>
            <a:off x="8869680" y="3328416"/>
            <a:ext cx="237744" cy="73152"/>
          </a:xfrm>
          <a:prstGeom prst="rect">
            <a:avLst/>
          </a:prstGeom>
          <a:noFill/>
          <a:ln/>
        </p:spPr>
        <p:txBody>
          <a:bodyPr wrap="square" lIns="0" tIns="0" rIns="0" bIns="0" rtlCol="0" anchor="t">
            <a:normAutofit/>
          </a:bodyPr>
          <a:lstStyle/>
          <a:p>
            <a:pPr algn="ctr" indent="0" marL="0">
              <a:buNone/>
            </a:pPr>
            <a:r>
              <a:rPr lang="en-US" sz="860" dirty="0">
                <a:solidFill>
                  <a:srgbClr val="6D28D9"/>
                </a:solidFill>
                <a:latin typeface="Arial" pitchFamily="34" charset="0"/>
                <a:ea typeface="Arial" pitchFamily="34" charset="-122"/>
                <a:cs typeface="Arial" pitchFamily="34" charset="-120"/>
              </a:rPr>
              <a:t>K</a:t>
            </a:r>
            <a:pPr algn="ctr" indent="0" marL="0">
              <a:buNone/>
            </a:pPr>
            <a:r>
              <a:rPr lang="en-US" sz="860" baseline="-40000" dirty="0">
                <a:solidFill>
                  <a:srgbClr val="6D28D9"/>
                </a:solidFill>
                <a:latin typeface="Arial" pitchFamily="34" charset="0"/>
                <a:ea typeface="Arial" pitchFamily="34" charset="-122"/>
                <a:cs typeface="Arial" pitchFamily="34" charset="-120"/>
              </a:rPr>
              <a:t>2</a:t>
            </a:r>
            <a:endParaRPr lang="en-US" sz="860" dirty="0"/>
          </a:p>
        </p:txBody>
      </p:sp>
      <p:sp>
        <p:nvSpPr>
          <p:cNvPr id="55" name="Shape 53"/>
          <p:cNvSpPr/>
          <p:nvPr/>
        </p:nvSpPr>
        <p:spPr>
          <a:xfrm>
            <a:off x="10259568" y="3246120"/>
            <a:ext cx="292608" cy="292608"/>
          </a:xfrm>
          <a:prstGeom prst="ellipse">
            <a:avLst/>
          </a:prstGeom>
          <a:solidFill>
            <a:srgbClr val="EDE9FE"/>
          </a:solidFill>
          <a:ln w="12700">
            <a:solidFill>
              <a:srgbClr val="6D28D9"/>
            </a:solidFill>
            <a:prstDash val="solid"/>
          </a:ln>
        </p:spPr>
      </p:sp>
      <p:sp>
        <p:nvSpPr>
          <p:cNvPr id="56" name="Text 54"/>
          <p:cNvSpPr/>
          <p:nvPr/>
        </p:nvSpPr>
        <p:spPr>
          <a:xfrm>
            <a:off x="10287000" y="3328416"/>
            <a:ext cx="237744" cy="73152"/>
          </a:xfrm>
          <a:prstGeom prst="rect">
            <a:avLst/>
          </a:prstGeom>
          <a:noFill/>
          <a:ln/>
        </p:spPr>
        <p:txBody>
          <a:bodyPr wrap="square" lIns="0" tIns="0" rIns="0" bIns="0" rtlCol="0" anchor="t">
            <a:normAutofit/>
          </a:bodyPr>
          <a:lstStyle/>
          <a:p>
            <a:pPr algn="ctr" indent="0" marL="0">
              <a:buNone/>
            </a:pPr>
            <a:r>
              <a:rPr lang="en-US" sz="860" dirty="0">
                <a:solidFill>
                  <a:srgbClr val="6D28D9"/>
                </a:solidFill>
                <a:latin typeface="Arial" pitchFamily="34" charset="0"/>
                <a:ea typeface="Arial" pitchFamily="34" charset="-122"/>
                <a:cs typeface="Arial" pitchFamily="34" charset="-120"/>
              </a:rPr>
              <a:t>K</a:t>
            </a:r>
            <a:pPr algn="ctr" indent="0" marL="0">
              <a:buNone/>
            </a:pPr>
            <a:r>
              <a:rPr lang="en-US" sz="860" baseline="-40000" dirty="0">
                <a:solidFill>
                  <a:srgbClr val="6D28D9"/>
                </a:solidFill>
                <a:latin typeface="Arial" pitchFamily="34" charset="0"/>
                <a:ea typeface="Arial" pitchFamily="34" charset="-122"/>
                <a:cs typeface="Arial" pitchFamily="34" charset="-120"/>
              </a:rPr>
              <a:t>3</a:t>
            </a:r>
            <a:endParaRPr lang="en-US" sz="860" dirty="0"/>
          </a:p>
        </p:txBody>
      </p:sp>
      <p:sp>
        <p:nvSpPr>
          <p:cNvPr id="57" name="Shape 55"/>
          <p:cNvSpPr/>
          <p:nvPr/>
        </p:nvSpPr>
        <p:spPr>
          <a:xfrm>
            <a:off x="6693408" y="4169664"/>
            <a:ext cx="2359152" cy="932688"/>
          </a:xfrm>
          <a:prstGeom prst="roundRect">
            <a:avLst>
              <a:gd name="adj" fmla="val 7843"/>
            </a:avLst>
          </a:prstGeom>
          <a:solidFill>
            <a:srgbClr val="DBEAFE"/>
          </a:solidFill>
          <a:ln w="12700">
            <a:solidFill>
              <a:srgbClr val="2563EB"/>
            </a:solidFill>
            <a:prstDash val="solid"/>
          </a:ln>
        </p:spPr>
      </p:sp>
      <p:sp>
        <p:nvSpPr>
          <p:cNvPr id="58" name="Shape 56"/>
          <p:cNvSpPr/>
          <p:nvPr/>
        </p:nvSpPr>
        <p:spPr>
          <a:xfrm>
            <a:off x="6693408" y="4169664"/>
            <a:ext cx="73152" cy="932688"/>
          </a:xfrm>
          <a:prstGeom prst="rect">
            <a:avLst/>
          </a:prstGeom>
          <a:solidFill>
            <a:srgbClr val="2563EB"/>
          </a:solidFill>
          <a:ln w="12700">
            <a:solidFill>
              <a:srgbClr val="2563EB">
                <a:alpha val="0"/>
              </a:srgbClr>
            </a:solidFill>
            <a:prstDash val="solid"/>
          </a:ln>
        </p:spPr>
      </p:sp>
      <p:sp>
        <p:nvSpPr>
          <p:cNvPr id="59" name="Text 57"/>
          <p:cNvSpPr/>
          <p:nvPr/>
        </p:nvSpPr>
        <p:spPr>
          <a:xfrm>
            <a:off x="6858000" y="4288536"/>
            <a:ext cx="2066544" cy="228600"/>
          </a:xfrm>
          <a:prstGeom prst="rect">
            <a:avLst/>
          </a:prstGeom>
          <a:noFill/>
          <a:ln/>
        </p:spPr>
        <p:txBody>
          <a:bodyPr wrap="square" lIns="0" tIns="0" rIns="0" bIns="0" rtlCol="0" anchor="t">
            <a:normAutofit/>
          </a:bodyPr>
          <a:lstStyle/>
          <a:p>
            <a:pPr algn="l" indent="0" marL="0">
              <a:buNone/>
            </a:pPr>
            <a:r>
              <a:rPr lang="en-US" sz="880" b="1" dirty="0">
                <a:solidFill>
                  <a:srgbClr val="2563EB"/>
                </a:solidFill>
                <a:latin typeface="Arial" pitchFamily="34" charset="0"/>
                <a:ea typeface="Arial" pitchFamily="34" charset="-122"/>
                <a:cs typeface="Arial" pitchFamily="34" charset="-120"/>
              </a:rPr>
              <a:t>INNER RHS OPERATOR</a:t>
            </a:r>
            <a:endParaRPr lang="en-US" sz="880" dirty="0"/>
          </a:p>
        </p:txBody>
      </p:sp>
      <p:sp>
        <p:nvSpPr>
          <p:cNvPr id="60" name="Text 58"/>
          <p:cNvSpPr/>
          <p:nvPr/>
        </p:nvSpPr>
        <p:spPr>
          <a:xfrm>
            <a:off x="6858000" y="4553712"/>
            <a:ext cx="2048256" cy="457200"/>
          </a:xfrm>
          <a:prstGeom prst="rect">
            <a:avLst/>
          </a:prstGeom>
          <a:noFill/>
          <a:ln/>
        </p:spPr>
        <p:txBody>
          <a:bodyPr wrap="square" lIns="0" tIns="0" rIns="0" bIns="0" rtlCol="0" anchor="t">
            <a:normAutofit/>
          </a:bodyPr>
          <a:lstStyle/>
          <a:p>
            <a:pPr algn="l" indent="0" marL="0">
              <a:buNone/>
            </a:pPr>
            <a:r>
              <a:rPr lang="en-US" sz="940" dirty="0">
                <a:solidFill>
                  <a:srgbClr val="162033"/>
                </a:solidFill>
                <a:latin typeface="Arial" pitchFamily="34" charset="0"/>
                <a:ea typeface="Arial" pitchFamily="34" charset="-122"/>
                <a:cs typeface="Arial" pitchFamily="34" charset="-120"/>
              </a:rPr>
              <a:t>F(Y): Poisson + R/G</a:t>
            </a:r>
            <a:endParaRPr lang="en-US" sz="940" dirty="0"/>
          </a:p>
          <a:p>
            <a:pPr algn="l" indent="0" marL="0">
              <a:buNone/>
            </a:pPr>
            <a:r>
              <a:rPr lang="en-US" sz="940" dirty="0">
                <a:solidFill>
                  <a:srgbClr val="162033"/>
                </a:solidFill>
                <a:latin typeface="Arial" pitchFamily="34" charset="0"/>
                <a:ea typeface="Arial" pitchFamily="34" charset="-122"/>
                <a:cs typeface="Arial" pitchFamily="34" charset="-120"/>
              </a:rPr>
              <a:t>+ SG flux divergence</a:t>
            </a:r>
            <a:endParaRPr lang="en-US" sz="940" dirty="0"/>
          </a:p>
          <a:p>
            <a:pPr algn="l" indent="0" marL="0">
              <a:buNone/>
            </a:pPr>
            <a:r>
              <a:rPr lang="en-US" sz="940" dirty="0">
                <a:solidFill>
                  <a:srgbClr val="162033"/>
                </a:solidFill>
                <a:latin typeface="Arial" pitchFamily="34" charset="0"/>
                <a:ea typeface="Arial" pitchFamily="34" charset="-122"/>
                <a:cs typeface="Arial" pitchFamily="34" charset="-120"/>
              </a:rPr>
              <a:t>+ contact BCs</a:t>
            </a:r>
            <a:endParaRPr lang="en-US" sz="940" dirty="0"/>
          </a:p>
        </p:txBody>
      </p:sp>
      <p:sp>
        <p:nvSpPr>
          <p:cNvPr id="61" name="Shape 59"/>
          <p:cNvSpPr/>
          <p:nvPr/>
        </p:nvSpPr>
        <p:spPr>
          <a:xfrm>
            <a:off x="9125712" y="4626864"/>
            <a:ext cx="384048" cy="0"/>
          </a:xfrm>
          <a:prstGeom prst="line">
            <a:avLst/>
          </a:prstGeom>
          <a:noFill/>
          <a:ln w="12700">
            <a:solidFill>
              <a:srgbClr val="64748B"/>
            </a:solidFill>
            <a:prstDash val="solid"/>
            <a:headEnd type="none"/>
            <a:tailEnd type="triangle"/>
          </a:ln>
        </p:spPr>
      </p:sp>
      <p:sp>
        <p:nvSpPr>
          <p:cNvPr id="62" name="Shape 60"/>
          <p:cNvSpPr/>
          <p:nvPr/>
        </p:nvSpPr>
        <p:spPr>
          <a:xfrm>
            <a:off x="9582912" y="4169664"/>
            <a:ext cx="1847088" cy="932688"/>
          </a:xfrm>
          <a:prstGeom prst="roundRect">
            <a:avLst>
              <a:gd name="adj" fmla="val 7843"/>
            </a:avLst>
          </a:prstGeom>
          <a:solidFill>
            <a:srgbClr val="FEE4E2"/>
          </a:solidFill>
          <a:ln w="12700">
            <a:solidFill>
              <a:srgbClr val="B42318"/>
            </a:solidFill>
            <a:prstDash val="solid"/>
          </a:ln>
        </p:spPr>
      </p:sp>
      <p:sp>
        <p:nvSpPr>
          <p:cNvPr id="63" name="Shape 61"/>
          <p:cNvSpPr/>
          <p:nvPr/>
        </p:nvSpPr>
        <p:spPr>
          <a:xfrm>
            <a:off x="9582912" y="4169664"/>
            <a:ext cx="73152" cy="932688"/>
          </a:xfrm>
          <a:prstGeom prst="rect">
            <a:avLst/>
          </a:prstGeom>
          <a:solidFill>
            <a:srgbClr val="B42318"/>
          </a:solidFill>
          <a:ln w="12700">
            <a:solidFill>
              <a:srgbClr val="B42318">
                <a:alpha val="0"/>
              </a:srgbClr>
            </a:solidFill>
            <a:prstDash val="solid"/>
          </a:ln>
        </p:spPr>
      </p:sp>
      <p:sp>
        <p:nvSpPr>
          <p:cNvPr id="64" name="Text 62"/>
          <p:cNvSpPr/>
          <p:nvPr/>
        </p:nvSpPr>
        <p:spPr>
          <a:xfrm>
            <a:off x="9747504" y="4288536"/>
            <a:ext cx="1554480" cy="228600"/>
          </a:xfrm>
          <a:prstGeom prst="rect">
            <a:avLst/>
          </a:prstGeom>
          <a:noFill/>
          <a:ln/>
        </p:spPr>
        <p:txBody>
          <a:bodyPr wrap="square" lIns="0" tIns="0" rIns="0" bIns="0" rtlCol="0" anchor="t">
            <a:normAutofit/>
          </a:bodyPr>
          <a:lstStyle/>
          <a:p>
            <a:pPr algn="l" indent="0" marL="0">
              <a:buNone/>
            </a:pPr>
            <a:r>
              <a:rPr lang="en-US" sz="880" b="1" dirty="0">
                <a:solidFill>
                  <a:srgbClr val="B42318"/>
                </a:solidFill>
                <a:latin typeface="Arial" pitchFamily="34" charset="0"/>
                <a:ea typeface="Arial" pitchFamily="34" charset="-122"/>
                <a:cs typeface="Arial" pitchFamily="34" charset="-120"/>
              </a:rPr>
              <a:t>WHY IMPLICIT?</a:t>
            </a:r>
            <a:endParaRPr lang="en-US" sz="880" dirty="0"/>
          </a:p>
        </p:txBody>
      </p:sp>
      <p:sp>
        <p:nvSpPr>
          <p:cNvPr id="65" name="Text 63"/>
          <p:cNvSpPr/>
          <p:nvPr/>
        </p:nvSpPr>
        <p:spPr>
          <a:xfrm>
            <a:off x="9747504" y="4553712"/>
            <a:ext cx="1536192" cy="457200"/>
          </a:xfrm>
          <a:prstGeom prst="rect">
            <a:avLst/>
          </a:prstGeom>
          <a:noFill/>
          <a:ln/>
        </p:spPr>
        <p:txBody>
          <a:bodyPr wrap="square" lIns="0" tIns="0" rIns="0" bIns="0" rtlCol="0" anchor="t">
            <a:normAutofit/>
          </a:bodyPr>
          <a:lstStyle/>
          <a:p>
            <a:pPr algn="l" indent="0" marL="0">
              <a:buNone/>
            </a:pPr>
            <a:r>
              <a:rPr lang="en-US" sz="940" dirty="0">
                <a:solidFill>
                  <a:srgbClr val="162033"/>
                </a:solidFill>
                <a:latin typeface="Arial" pitchFamily="34" charset="0"/>
                <a:ea typeface="Arial" pitchFamily="34" charset="-122"/>
                <a:cs typeface="Arial" pitchFamily="34" charset="-120"/>
              </a:rPr>
              <a:t>stiff transport</a:t>
            </a:r>
            <a:endParaRPr lang="en-US" sz="940" dirty="0"/>
          </a:p>
          <a:p>
            <a:pPr algn="l" indent="0" marL="0">
              <a:buNone/>
            </a:pPr>
            <a:r>
              <a:rPr lang="en-US" sz="940" dirty="0">
                <a:solidFill>
                  <a:srgbClr val="162033"/>
                </a:solidFill>
                <a:latin typeface="Arial" pitchFamily="34" charset="0"/>
                <a:ea typeface="Arial" pitchFamily="34" charset="-122"/>
                <a:cs typeface="Arial" pitchFamily="34" charset="-120"/>
              </a:rPr>
              <a:t>strong coupling</a:t>
            </a:r>
            <a:endParaRPr lang="en-US" sz="940" dirty="0"/>
          </a:p>
          <a:p>
            <a:pPr algn="l" indent="0" marL="0">
              <a:buNone/>
            </a:pPr>
            <a:r>
              <a:rPr lang="en-US" sz="940" dirty="0">
                <a:solidFill>
                  <a:srgbClr val="162033"/>
                </a:solidFill>
                <a:latin typeface="Arial" pitchFamily="34" charset="0"/>
                <a:ea typeface="Arial" pitchFamily="34" charset="-122"/>
                <a:cs typeface="Arial" pitchFamily="34" charset="-120"/>
              </a:rPr>
              <a:t>stable larger steps</a:t>
            </a:r>
            <a:endParaRPr lang="en-US" sz="940" dirty="0"/>
          </a:p>
        </p:txBody>
      </p:sp>
      <p:sp>
        <p:nvSpPr>
          <p:cNvPr id="66" name="Shape 64"/>
          <p:cNvSpPr/>
          <p:nvPr/>
        </p:nvSpPr>
        <p:spPr>
          <a:xfrm>
            <a:off x="6858000" y="5404104"/>
            <a:ext cx="1993392" cy="256032"/>
          </a:xfrm>
          <a:prstGeom prst="roundRect">
            <a:avLst>
              <a:gd name="adj" fmla="val 42857"/>
            </a:avLst>
          </a:prstGeom>
          <a:solidFill>
            <a:srgbClr val="DCFCE7"/>
          </a:solidFill>
          <a:ln w="12700">
            <a:solidFill>
              <a:srgbClr val="16803C"/>
            </a:solidFill>
            <a:prstDash val="solid"/>
          </a:ln>
        </p:spPr>
      </p:sp>
      <p:sp>
        <p:nvSpPr>
          <p:cNvPr id="67" name="Text 65"/>
          <p:cNvSpPr/>
          <p:nvPr/>
        </p:nvSpPr>
        <p:spPr>
          <a:xfrm>
            <a:off x="6903720" y="5468112"/>
            <a:ext cx="1901952" cy="91440"/>
          </a:xfrm>
          <a:prstGeom prst="rect">
            <a:avLst/>
          </a:prstGeom>
          <a:noFill/>
          <a:ln/>
        </p:spPr>
        <p:txBody>
          <a:bodyPr wrap="square" lIns="0" tIns="0" rIns="0" bIns="0" rtlCol="0" anchor="t">
            <a:normAutofit/>
          </a:bodyPr>
          <a:lstStyle/>
          <a:p>
            <a:pPr algn="ctr" indent="0" marL="0">
              <a:buNone/>
            </a:pPr>
            <a:r>
              <a:rPr lang="en-US" sz="840" b="1" dirty="0">
                <a:solidFill>
                  <a:srgbClr val="16803C"/>
                </a:solidFill>
                <a:latin typeface="Arial" pitchFamily="34" charset="0"/>
                <a:ea typeface="Arial" pitchFamily="34" charset="-122"/>
                <a:cs typeface="Arial" pitchFamily="34" charset="-120"/>
              </a:rPr>
              <a:t>run_transient_2d(...)</a:t>
            </a:r>
            <a:endParaRPr lang="en-US" sz="840" dirty="0"/>
          </a:p>
        </p:txBody>
      </p:sp>
      <p:sp>
        <p:nvSpPr>
          <p:cNvPr id="68" name="Shape 66"/>
          <p:cNvSpPr/>
          <p:nvPr/>
        </p:nvSpPr>
        <p:spPr>
          <a:xfrm>
            <a:off x="9079992" y="5404104"/>
            <a:ext cx="1993392" cy="256032"/>
          </a:xfrm>
          <a:prstGeom prst="roundRect">
            <a:avLst>
              <a:gd name="adj" fmla="val 42857"/>
            </a:avLst>
          </a:prstGeom>
          <a:solidFill>
            <a:srgbClr val="DCFCE7"/>
          </a:solidFill>
          <a:ln w="12700">
            <a:solidFill>
              <a:srgbClr val="16803C"/>
            </a:solidFill>
            <a:prstDash val="solid"/>
          </a:ln>
        </p:spPr>
      </p:sp>
      <p:sp>
        <p:nvSpPr>
          <p:cNvPr id="69" name="Text 67"/>
          <p:cNvSpPr/>
          <p:nvPr/>
        </p:nvSpPr>
        <p:spPr>
          <a:xfrm>
            <a:off x="9125712" y="5468112"/>
            <a:ext cx="1901952" cy="91440"/>
          </a:xfrm>
          <a:prstGeom prst="rect">
            <a:avLst/>
          </a:prstGeom>
          <a:noFill/>
          <a:ln/>
        </p:spPr>
        <p:txBody>
          <a:bodyPr wrap="square" lIns="0" tIns="0" rIns="0" bIns="0" rtlCol="0" anchor="t">
            <a:normAutofit/>
          </a:bodyPr>
          <a:lstStyle/>
          <a:p>
            <a:pPr algn="ctr" indent="0" marL="0">
              <a:buNone/>
            </a:pPr>
            <a:r>
              <a:rPr lang="en-US" sz="840" b="1" dirty="0">
                <a:solidFill>
                  <a:srgbClr val="16803C"/>
                </a:solidFill>
                <a:latin typeface="Arial" pitchFamily="34" charset="0"/>
                <a:ea typeface="Arial" pitchFamily="34" charset="-122"/>
                <a:cs typeface="Arial" pitchFamily="34" charset="-120"/>
              </a:rPr>
              <a:t>solve_ivp(method='Radau')</a:t>
            </a:r>
            <a:endParaRPr lang="en-US" sz="840" dirty="0"/>
          </a:p>
        </p:txBody>
      </p:sp>
      <p:sp>
        <p:nvSpPr>
          <p:cNvPr id="70" name="Shape 68"/>
          <p:cNvSpPr/>
          <p:nvPr/>
        </p:nvSpPr>
        <p:spPr>
          <a:xfrm>
            <a:off x="0" y="6153912"/>
            <a:ext cx="12191695" cy="704088"/>
          </a:xfrm>
          <a:prstGeom prst="rect">
            <a:avLst/>
          </a:prstGeom>
          <a:solidFill>
            <a:srgbClr val="EAF2FF"/>
          </a:solidFill>
          <a:ln w="12700">
            <a:solidFill>
              <a:srgbClr val="EAF2FF">
                <a:alpha val="0"/>
              </a:srgbClr>
            </a:solidFill>
            <a:prstDash val="solid"/>
          </a:ln>
        </p:spPr>
      </p:sp>
      <p:sp>
        <p:nvSpPr>
          <p:cNvPr id="71" name="Text 69"/>
          <p:cNvSpPr/>
          <p:nvPr/>
        </p:nvSpPr>
        <p:spPr>
          <a:xfrm>
            <a:off x="457200" y="6281928"/>
            <a:ext cx="11201400" cy="164592"/>
          </a:xfrm>
          <a:prstGeom prst="rect">
            <a:avLst/>
          </a:prstGeom>
          <a:noFill/>
          <a:ln/>
        </p:spPr>
        <p:txBody>
          <a:bodyPr wrap="square" lIns="0" tIns="0" rIns="0" bIns="0" rtlCol="0" anchor="t">
            <a:normAutofit/>
          </a:bodyPr>
          <a:lstStyle/>
          <a:p>
            <a:pPr algn="ctr" indent="0" marL="0">
              <a:buNone/>
            </a:pPr>
            <a:r>
              <a:rPr lang="en-US" sz="920" b="1" dirty="0">
                <a:solidFill>
                  <a:srgbClr val="162033"/>
                </a:solidFill>
                <a:latin typeface="Arial" pitchFamily="34" charset="0"/>
                <a:ea typeface="Arial" pitchFamily="34" charset="-122"/>
                <a:cs typeface="Arial" pitchFamily="34" charset="-120"/>
              </a:rPr>
              <a:t>Takeaway: RHS assembly defines F(Y); Radau repeatedly evaluates F(Y) to advance the stiff 2D carrier-transport system toward a </a:t>
            </a:r>
            <a:pPr algn="ctr" indent="0" marL="0">
              <a:buNone/>
            </a:pPr>
            <a:r>
              <a:rPr lang="en-US" sz="920" b="1" dirty="0">
                <a:solidFill>
                  <a:srgbClr val="162033"/>
                </a:solidFill>
                <a:latin typeface="Arial" pitchFamily="34" charset="0"/>
                <a:ea typeface="Arial" pitchFamily="34" charset="-122"/>
                <a:cs typeface="Arial" pitchFamily="34" charset="-120"/>
              </a:rPr>
              <a:t>V</a:t>
            </a:r>
            <a:pPr algn="ctr" indent="0" marL="0">
              <a:buNone/>
            </a:pPr>
            <a:r>
              <a:rPr lang="en-US" sz="920" b="1" baseline="-40000" dirty="0">
                <a:solidFill>
                  <a:srgbClr val="162033"/>
                </a:solidFill>
                <a:latin typeface="Arial" pitchFamily="34" charset="0"/>
                <a:ea typeface="Arial" pitchFamily="34" charset="-122"/>
                <a:cs typeface="Arial" pitchFamily="34" charset="-120"/>
              </a:rPr>
              <a:t>app</a:t>
            </a:r>
            <a:pPr algn="ctr" indent="0" marL="0">
              <a:buNone/>
            </a:pPr>
            <a:r>
              <a:rPr lang="en-US" sz="920" b="1" dirty="0">
                <a:solidFill>
                  <a:srgbClr val="162033"/>
                </a:solidFill>
                <a:latin typeface="Arial" pitchFamily="34" charset="0"/>
                <a:ea typeface="Arial" pitchFamily="34" charset="-122"/>
                <a:cs typeface="Arial" pitchFamily="34" charset="-120"/>
              </a:rPr>
              <a:t>-specific quasi-steady state.</a:t>
            </a:r>
            <a:endParaRPr lang="en-US" sz="920" dirty="0"/>
          </a:p>
        </p:txBody>
      </p:sp>
      <p:sp>
        <p:nvSpPr>
          <p:cNvPr id="72" name="Text 70"/>
          <p:cNvSpPr/>
          <p:nvPr/>
        </p:nvSpPr>
        <p:spPr>
          <a:xfrm>
            <a:off x="566928" y="6537960"/>
            <a:ext cx="11018520" cy="164592"/>
          </a:xfrm>
          <a:prstGeom prst="rect">
            <a:avLst/>
          </a:prstGeom>
          <a:noFill/>
          <a:ln/>
        </p:spPr>
        <p:txBody>
          <a:bodyPr wrap="square" lIns="0" tIns="0" rIns="0" bIns="0" rtlCol="0" anchor="t">
            <a:normAutofit/>
          </a:bodyPr>
          <a:lstStyle/>
          <a:p>
            <a:pPr algn="ctr" indent="0" marL="0">
              <a:buNone/>
            </a:pPr>
            <a:r>
              <a:rPr lang="en-US" sz="860" b="1" dirty="0">
                <a:solidFill>
                  <a:srgbClr val="A16207"/>
                </a:solidFill>
                <a:latin typeface="Arial" pitchFamily="34" charset="0"/>
                <a:ea typeface="Arial" pitchFamily="34" charset="-122"/>
                <a:cs typeface="Arial" pitchFamily="34" charset="-120"/>
              </a:rPr>
              <a:t>Actual J-V sweep mode: </a:t>
            </a:r>
            <a:pPr algn="ctr" indent="0" marL="0">
              <a:buNone/>
            </a:pPr>
            <a:r>
              <a:rPr lang="en-US" sz="860" dirty="0">
                <a:solidFill>
                  <a:srgbClr val="334155"/>
                </a:solidFill>
                <a:latin typeface="Arial" pitchFamily="34" charset="0"/>
                <a:ea typeface="Arial" pitchFamily="34" charset="-122"/>
                <a:cs typeface="Arial" pitchFamily="34" charset="-120"/>
              </a:rPr>
              <a:t>stepwise transient sweep. Hold </a:t>
            </a:r>
            <a:pPr algn="ctr" indent="0" marL="0">
              <a:buNone/>
            </a:pPr>
            <a:r>
              <a:rPr lang="en-US" sz="860" dirty="0">
                <a:solidFill>
                  <a:srgbClr val="334155"/>
                </a:solidFill>
                <a:latin typeface="Arial" pitchFamily="34" charset="0"/>
                <a:ea typeface="Arial" pitchFamily="34" charset="-122"/>
                <a:cs typeface="Arial" pitchFamily="34" charset="-120"/>
              </a:rPr>
              <a:t>V</a:t>
            </a:r>
            <a:pPr algn="ctr" indent="0" marL="0">
              <a:buNone/>
            </a:pPr>
            <a:r>
              <a:rPr lang="en-US" sz="860" baseline="-40000" dirty="0">
                <a:solidFill>
                  <a:srgbClr val="334155"/>
                </a:solidFill>
                <a:latin typeface="Arial" pitchFamily="34" charset="0"/>
                <a:ea typeface="Arial" pitchFamily="34" charset="-122"/>
                <a:cs typeface="Arial" pitchFamily="34" charset="-120"/>
              </a:rPr>
              <a:t>k</a:t>
            </a:r>
            <a:pPr algn="ctr" indent="0" marL="0">
              <a:buNone/>
            </a:pPr>
            <a:r>
              <a:rPr lang="en-US" sz="860" dirty="0">
                <a:solidFill>
                  <a:srgbClr val="334155"/>
                </a:solidFill>
                <a:latin typeface="Arial" pitchFamily="34" charset="0"/>
                <a:ea typeface="Arial" pitchFamily="34" charset="-122"/>
                <a:cs typeface="Arial" pitchFamily="34" charset="-120"/>
              </a:rPr>
              <a:t> fixed on [</a:t>
            </a:r>
            <a:pPr algn="ctr" indent="0" marL="0">
              <a:buNone/>
            </a:pPr>
            <a:r>
              <a:rPr lang="en-US" sz="860" dirty="0">
                <a:solidFill>
                  <a:srgbClr val="334155"/>
                </a:solidFill>
                <a:latin typeface="Arial" pitchFamily="34" charset="0"/>
                <a:ea typeface="Arial" pitchFamily="34" charset="-122"/>
                <a:cs typeface="Arial" pitchFamily="34" charset="-120"/>
              </a:rPr>
              <a:t>t</a:t>
            </a:r>
            <a:pPr algn="ctr" indent="0" marL="0">
              <a:buNone/>
            </a:pPr>
            <a:r>
              <a:rPr lang="en-US" sz="860" baseline="-40000" dirty="0">
                <a:solidFill>
                  <a:srgbClr val="334155"/>
                </a:solidFill>
                <a:latin typeface="Arial" pitchFamily="34" charset="0"/>
                <a:ea typeface="Arial" pitchFamily="34" charset="-122"/>
                <a:cs typeface="Arial" pitchFamily="34" charset="-120"/>
              </a:rPr>
              <a:t>k</a:t>
            </a:r>
            <a:pPr algn="ctr" indent="0" marL="0">
              <a:buNone/>
            </a:pPr>
            <a:r>
              <a:rPr lang="en-US" sz="860" dirty="0">
                <a:solidFill>
                  <a:srgbClr val="334155"/>
                </a:solidFill>
                <a:latin typeface="Arial" pitchFamily="34" charset="0"/>
                <a:ea typeface="Arial" pitchFamily="34" charset="-122"/>
                <a:cs typeface="Arial" pitchFamily="34" charset="-120"/>
              </a:rPr>
              <a:t>, </a:t>
            </a:r>
            <a:pPr algn="ctr" indent="0" marL="0">
              <a:buNone/>
            </a:pPr>
            <a:r>
              <a:rPr lang="en-US" sz="860" dirty="0">
                <a:solidFill>
                  <a:srgbClr val="334155"/>
                </a:solidFill>
                <a:latin typeface="Arial" pitchFamily="34" charset="0"/>
                <a:ea typeface="Arial" pitchFamily="34" charset="-122"/>
                <a:cs typeface="Arial" pitchFamily="34" charset="-120"/>
              </a:rPr>
              <a:t>t</a:t>
            </a:r>
            <a:pPr algn="ctr" indent="0" marL="0">
              <a:buNone/>
            </a:pPr>
            <a:r>
              <a:rPr lang="en-US" sz="860" baseline="-40000" dirty="0">
                <a:solidFill>
                  <a:srgbClr val="334155"/>
                </a:solidFill>
                <a:latin typeface="Arial" pitchFamily="34" charset="0"/>
                <a:ea typeface="Arial" pitchFamily="34" charset="-122"/>
                <a:cs typeface="Arial" pitchFamily="34" charset="-120"/>
              </a:rPr>
              <a:t>k+1</a:t>
            </a:r>
            <a:pPr algn="ctr" indent="0" marL="0">
              <a:buNone/>
            </a:pPr>
            <a:r>
              <a:rPr lang="en-US" sz="860" dirty="0">
                <a:solidFill>
                  <a:srgbClr val="334155"/>
                </a:solidFill>
                <a:latin typeface="Arial" pitchFamily="34" charset="0"/>
                <a:ea typeface="Arial" pitchFamily="34" charset="-122"/>
                <a:cs typeface="Arial" pitchFamily="34" charset="-120"/>
              </a:rPr>
              <a:t>]; Radau advances </a:t>
            </a:r>
            <a:pPr algn="ctr" indent="0" marL="0">
              <a:buNone/>
            </a:pPr>
            <a:r>
              <a:rPr lang="en-US" sz="860" dirty="0">
                <a:solidFill>
                  <a:srgbClr val="334155"/>
                </a:solidFill>
                <a:latin typeface="Arial" pitchFamily="34" charset="0"/>
                <a:ea typeface="Arial" pitchFamily="34" charset="-122"/>
                <a:cs typeface="Arial" pitchFamily="34" charset="-120"/>
              </a:rPr>
              <a:t>Y</a:t>
            </a:r>
            <a:pPr algn="ctr" indent="0" marL="0">
              <a:buNone/>
            </a:pPr>
            <a:r>
              <a:rPr lang="en-US" sz="860" baseline="-40000" dirty="0">
                <a:solidFill>
                  <a:srgbClr val="334155"/>
                </a:solidFill>
                <a:latin typeface="Arial" pitchFamily="34" charset="0"/>
                <a:ea typeface="Arial" pitchFamily="34" charset="-122"/>
                <a:cs typeface="Arial" pitchFamily="34" charset="-120"/>
              </a:rPr>
              <a:t>k</a:t>
            </a:r>
            <a:pPr algn="ctr" indent="0" marL="0">
              <a:buNone/>
            </a:pPr>
            <a:r>
              <a:rPr lang="en-US" sz="860" dirty="0">
                <a:solidFill>
                  <a:srgbClr val="334155"/>
                </a:solidFill>
                <a:latin typeface="Arial" pitchFamily="34" charset="0"/>
                <a:ea typeface="Arial" pitchFamily="34" charset="-122"/>
                <a:cs typeface="Arial" pitchFamily="34" charset="-120"/>
              </a:rPr>
              <a:t> -&gt; </a:t>
            </a:r>
            <a:pPr algn="ctr" indent="0" marL="0">
              <a:buNone/>
            </a:pPr>
            <a:r>
              <a:rPr lang="en-US" sz="860" dirty="0">
                <a:solidFill>
                  <a:srgbClr val="334155"/>
                </a:solidFill>
                <a:latin typeface="Arial" pitchFamily="34" charset="0"/>
                <a:ea typeface="Arial" pitchFamily="34" charset="-122"/>
                <a:cs typeface="Arial" pitchFamily="34" charset="-120"/>
              </a:rPr>
              <a:t>Y</a:t>
            </a:r>
            <a:pPr algn="ctr" indent="0" marL="0">
              <a:buNone/>
            </a:pPr>
            <a:r>
              <a:rPr lang="en-US" sz="860" baseline="-40000" dirty="0">
                <a:solidFill>
                  <a:srgbClr val="334155"/>
                </a:solidFill>
                <a:latin typeface="Arial" pitchFamily="34" charset="0"/>
                <a:ea typeface="Arial" pitchFamily="34" charset="-122"/>
                <a:cs typeface="Arial" pitchFamily="34" charset="-120"/>
              </a:rPr>
              <a:t>k+1</a:t>
            </a:r>
            <a:pPr algn="ctr" indent="0" marL="0">
              <a:buNone/>
            </a:pPr>
            <a:r>
              <a:rPr lang="en-US" sz="860" dirty="0">
                <a:solidFill>
                  <a:srgbClr val="334155"/>
                </a:solidFill>
                <a:latin typeface="Arial" pitchFamily="34" charset="0"/>
                <a:ea typeface="Arial" pitchFamily="34" charset="-122"/>
                <a:cs typeface="Arial" pitchFamily="34" charset="-120"/>
              </a:rPr>
              <a:t>.  Δt = |</a:t>
            </a:r>
            <a:pPr algn="ctr" indent="0" marL="0">
              <a:buNone/>
            </a:pPr>
            <a:r>
              <a:rPr lang="en-US" sz="860" dirty="0">
                <a:solidFill>
                  <a:srgbClr val="334155"/>
                </a:solidFill>
                <a:latin typeface="Arial" pitchFamily="34" charset="0"/>
                <a:ea typeface="Arial" pitchFamily="34" charset="-122"/>
                <a:cs typeface="Arial" pitchFamily="34" charset="-120"/>
              </a:rPr>
              <a:t>V</a:t>
            </a:r>
            <a:pPr algn="ctr" indent="0" marL="0">
              <a:buNone/>
            </a:pPr>
            <a:r>
              <a:rPr lang="en-US" sz="860" baseline="-40000" dirty="0">
                <a:solidFill>
                  <a:srgbClr val="334155"/>
                </a:solidFill>
                <a:latin typeface="Arial" pitchFamily="34" charset="0"/>
                <a:ea typeface="Arial" pitchFamily="34" charset="-122"/>
                <a:cs typeface="Arial" pitchFamily="34" charset="-120"/>
              </a:rPr>
              <a:t>k+1</a:t>
            </a:r>
            <a:pPr algn="ctr" indent="0" marL="0">
              <a:buNone/>
            </a:pPr>
            <a:r>
              <a:rPr lang="en-US" sz="860" dirty="0">
                <a:solidFill>
                  <a:srgbClr val="334155"/>
                </a:solidFill>
                <a:latin typeface="Arial" pitchFamily="34" charset="0"/>
                <a:ea typeface="Arial" pitchFamily="34" charset="-122"/>
                <a:cs typeface="Arial" pitchFamily="34" charset="-120"/>
              </a:rPr>
              <a:t> - </a:t>
            </a:r>
            <a:pPr algn="ctr" indent="0" marL="0">
              <a:buNone/>
            </a:pPr>
            <a:r>
              <a:rPr lang="en-US" sz="860" dirty="0">
                <a:solidFill>
                  <a:srgbClr val="334155"/>
                </a:solidFill>
                <a:latin typeface="Arial" pitchFamily="34" charset="0"/>
                <a:ea typeface="Arial" pitchFamily="34" charset="-122"/>
                <a:cs typeface="Arial" pitchFamily="34" charset="-120"/>
              </a:rPr>
              <a:t>V</a:t>
            </a:r>
            <a:pPr algn="ctr" indent="0" marL="0">
              <a:buNone/>
            </a:pPr>
            <a:r>
              <a:rPr lang="en-US" sz="860" baseline="-40000" dirty="0">
                <a:solidFill>
                  <a:srgbClr val="334155"/>
                </a:solidFill>
                <a:latin typeface="Arial" pitchFamily="34" charset="0"/>
                <a:ea typeface="Arial" pitchFamily="34" charset="-122"/>
                <a:cs typeface="Arial" pitchFamily="34" charset="-120"/>
              </a:rPr>
              <a:t>k</a:t>
            </a:r>
            <a:pPr algn="ctr" indent="0" marL="0">
              <a:buNone/>
            </a:pPr>
            <a:r>
              <a:rPr lang="en-US" sz="860" dirty="0">
                <a:solidFill>
                  <a:srgbClr val="334155"/>
                </a:solidFill>
                <a:latin typeface="Arial" pitchFamily="34" charset="0"/>
                <a:ea typeface="Arial" pitchFamily="34" charset="-122"/>
                <a:cs typeface="Arial" pitchFamily="34" charset="-120"/>
              </a:rPr>
              <a:t>| / scan rate; forward 0 -&gt; </a:t>
            </a:r>
            <a:pPr algn="ctr" indent="0" marL="0">
              <a:buNone/>
            </a:pPr>
            <a:r>
              <a:rPr lang="en-US" sz="860" dirty="0">
                <a:solidFill>
                  <a:srgbClr val="334155"/>
                </a:solidFill>
                <a:latin typeface="Arial" pitchFamily="34" charset="0"/>
                <a:ea typeface="Arial" pitchFamily="34" charset="-122"/>
                <a:cs typeface="Arial" pitchFamily="34" charset="-120"/>
              </a:rPr>
              <a:t>V</a:t>
            </a:r>
            <a:pPr algn="ctr" indent="0" marL="0">
              <a:buNone/>
            </a:pPr>
            <a:r>
              <a:rPr lang="en-US" sz="860" baseline="-40000" dirty="0">
                <a:solidFill>
                  <a:srgbClr val="334155"/>
                </a:solidFill>
                <a:latin typeface="Arial" pitchFamily="34" charset="0"/>
                <a:ea typeface="Arial" pitchFamily="34" charset="-122"/>
                <a:cs typeface="Arial" pitchFamily="34" charset="-120"/>
              </a:rPr>
              <a:t>max</a:t>
            </a:r>
            <a:pPr algn="ctr" indent="0" marL="0">
              <a:buNone/>
            </a:pPr>
            <a:r>
              <a:rPr lang="en-US" sz="860" dirty="0">
                <a:solidFill>
                  <a:srgbClr val="334155"/>
                </a:solidFill>
                <a:latin typeface="Arial" pitchFamily="34" charset="0"/>
                <a:ea typeface="Arial" pitchFamily="34" charset="-122"/>
                <a:cs typeface="Arial" pitchFamily="34" charset="-120"/>
              </a:rPr>
              <a:t>, then reverse </a:t>
            </a:r>
            <a:pPr algn="ctr" indent="0" marL="0">
              <a:buNone/>
            </a:pPr>
            <a:r>
              <a:rPr lang="en-US" sz="860" dirty="0">
                <a:solidFill>
                  <a:srgbClr val="334155"/>
                </a:solidFill>
                <a:latin typeface="Arial" pitchFamily="34" charset="0"/>
                <a:ea typeface="Arial" pitchFamily="34" charset="-122"/>
                <a:cs typeface="Arial" pitchFamily="34" charset="-120"/>
              </a:rPr>
              <a:t>V</a:t>
            </a:r>
            <a:pPr algn="ctr" indent="0" marL="0">
              <a:buNone/>
            </a:pPr>
            <a:r>
              <a:rPr lang="en-US" sz="860" baseline="-40000" dirty="0">
                <a:solidFill>
                  <a:srgbClr val="334155"/>
                </a:solidFill>
                <a:latin typeface="Arial" pitchFamily="34" charset="0"/>
                <a:ea typeface="Arial" pitchFamily="34" charset="-122"/>
                <a:cs typeface="Arial" pitchFamily="34" charset="-120"/>
              </a:rPr>
              <a:t>max</a:t>
            </a:r>
            <a:pPr algn="ctr" indent="0" marL="0">
              <a:buNone/>
            </a:pPr>
            <a:r>
              <a:rPr lang="en-US" sz="860" dirty="0">
                <a:solidFill>
                  <a:srgbClr val="334155"/>
                </a:solidFill>
                <a:latin typeface="Arial" pitchFamily="34" charset="0"/>
                <a:ea typeface="Arial" pitchFamily="34" charset="-122"/>
                <a:cs typeface="Arial" pitchFamily="34" charset="-120"/>
              </a:rPr>
              <a:t> -&gt; 0.</a:t>
            </a:r>
            <a:endParaRPr lang="en-US" sz="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SolarLab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Implicit Radau Time Integration of the Semi-Discrete 2D Drift-Diffusion System</dc:title>
  <dc:subject>Radau transient solve overview</dc:subject>
  <dc:creator>SolarLab</dc:creator>
  <cp:lastModifiedBy>SolarLab</cp:lastModifiedBy>
  <cp:revision>1</cp:revision>
  <dcterms:created xsi:type="dcterms:W3CDTF">2026-05-21T11:12:09Z</dcterms:created>
  <dcterms:modified xsi:type="dcterms:W3CDTF">2026-05-21T11:12:09Z</dcterms:modified>
</cp:coreProperties>
</file>