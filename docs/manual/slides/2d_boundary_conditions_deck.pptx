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opening slide is a location map. It deliberately avoids detailed formulas. The audience should first learn that SolarLab has three different BC-related concepts: contact boundary conditions at the electrodes, lateral boundary conditions at x edges, and internal interface treatment between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contact BC slide. Explain that the figure is a local magnification of the electrode-device boundary, not the entire device. In SolarLab 2D, the same concept is applied along the full top and bottom boundary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very simple. The audience only needs to know that lateral_bc is a domain-edge choice. It is not the electrode contact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responds to the reference figure. The reference figure is best interpreted as an internal interface transport model, not as SolarLab's outer contact BC. Use it after the contact and lateral BC slides to avoid mixing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20624" y="201168"/>
            <a:ext cx="1129284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Boundary Condition Map: Where BCs Enter the 2D Solver</a:t>
            </a:r>
            <a:endParaRPr lang="en-US" sz="2100" dirty="0"/>
          </a:p>
        </p:txBody>
      </p:sp>
      <p:sp>
        <p:nvSpPr>
          <p:cNvPr id="3" name="Text 1"/>
          <p:cNvSpPr/>
          <p:nvPr/>
        </p:nvSpPr>
        <p:spPr>
          <a:xfrm>
            <a:off x="429768" y="621792"/>
            <a:ext cx="11018520" cy="237744"/>
          </a:xfrm>
          <a:prstGeom prst="rect">
            <a:avLst/>
          </a:prstGeom>
          <a:noFill/>
          <a:ln/>
        </p:spPr>
        <p:txBody>
          <a:bodyPr wrap="square" lIns="0" tIns="0" rIns="0" bIns="0" rtlCol="0" anchor="t">
            <a:normAutofit/>
          </a:bodyPr>
          <a:lstStyle/>
          <a:p>
            <a:pPr algn="l" indent="0" marL="0">
              <a:buNone/>
            </a:pPr>
            <a:r>
              <a:rPr lang="en-US" sz="1120" dirty="0">
                <a:solidFill>
                  <a:srgbClr val="334155"/>
                </a:solidFill>
                <a:latin typeface="Arial" pitchFamily="34" charset="0"/>
                <a:ea typeface="Arial" pitchFamily="34" charset="-122"/>
                <a:cs typeface="Arial" pitchFamily="34" charset="-120"/>
              </a:rPr>
              <a:t>First separate boundary conditions by physical location: electrode contacts, lateral domain edges, and internal material interfaces.</a:t>
            </a:r>
            <a:endParaRPr lang="en-US" sz="1120" dirty="0"/>
          </a:p>
        </p:txBody>
      </p:sp>
      <p:sp>
        <p:nvSpPr>
          <p:cNvPr id="4" name="Shape 2"/>
          <p:cNvSpPr/>
          <p:nvPr/>
        </p:nvSpPr>
        <p:spPr>
          <a:xfrm>
            <a:off x="0" y="6336792"/>
            <a:ext cx="12191695" cy="521208"/>
          </a:xfrm>
          <a:prstGeom prst="rect">
            <a:avLst/>
          </a:prstGeom>
          <a:solidFill>
            <a:srgbClr val="EAF2FF"/>
          </a:solidFill>
          <a:ln w="12700">
            <a:solidFill>
              <a:srgbClr val="EAF2FF">
                <a:alpha val="0"/>
              </a:srgbClr>
            </a:solidFill>
            <a:prstDash val="solid"/>
          </a:ln>
        </p:spPr>
      </p:sp>
      <p:sp>
        <p:nvSpPr>
          <p:cNvPr id="5" name="Text 3"/>
          <p:cNvSpPr/>
          <p:nvPr/>
        </p:nvSpPr>
        <p:spPr>
          <a:xfrm>
            <a:off x="457200" y="6473952"/>
            <a:ext cx="11201400" cy="182880"/>
          </a:xfrm>
          <a:prstGeom prst="rect">
            <a:avLst/>
          </a:prstGeom>
          <a:noFill/>
          <a:ln/>
        </p:spPr>
        <p:txBody>
          <a:bodyPr wrap="square" lIns="0" tIns="0" rIns="0" bIns="0" rtlCol="0" anchor="t">
            <a:normAutofit/>
          </a:bodyPr>
          <a:lstStyle/>
          <a:p>
            <a:pPr algn="ctr" indent="0" marL="0">
              <a:buNone/>
            </a:pPr>
            <a:r>
              <a:rPr lang="en-US" sz="1060" b="1" dirty="0">
                <a:solidFill>
                  <a:srgbClr val="162033"/>
                </a:solidFill>
                <a:latin typeface="Arial" pitchFamily="34" charset="0"/>
                <a:ea typeface="Arial" pitchFamily="34" charset="-122"/>
                <a:cs typeface="Arial" pitchFamily="34" charset="-120"/>
              </a:rPr>
              <a:t>Takeaway: contact BC, lateral BC, and internal interface treatment are different objects and should not be explained in one crowded diagram.</a:t>
            </a:r>
            <a:endParaRPr lang="en-US" sz="1060" dirty="0"/>
          </a:p>
        </p:txBody>
      </p:sp>
      <p:sp>
        <p:nvSpPr>
          <p:cNvPr id="6" name="Shape 4"/>
          <p:cNvSpPr/>
          <p:nvPr/>
        </p:nvSpPr>
        <p:spPr>
          <a:xfrm>
            <a:off x="438912" y="1005840"/>
            <a:ext cx="11301984" cy="5010912"/>
          </a:xfrm>
          <a:prstGeom prst="roundRect">
            <a:avLst>
              <a:gd name="adj" fmla="val 1460"/>
            </a:avLst>
          </a:prstGeom>
          <a:solidFill>
            <a:srgbClr val="FFFFFF"/>
          </a:solidFill>
          <a:ln w="12700">
            <a:solidFill>
              <a:srgbClr val="CBD5E1"/>
            </a:solidFill>
            <a:prstDash val="solid"/>
          </a:ln>
        </p:spPr>
      </p:sp>
      <p:sp>
        <p:nvSpPr>
          <p:cNvPr id="7" name="Shape 5"/>
          <p:cNvSpPr/>
          <p:nvPr/>
        </p:nvSpPr>
        <p:spPr>
          <a:xfrm>
            <a:off x="3986784" y="1536192"/>
            <a:ext cx="4224528" cy="3438144"/>
          </a:xfrm>
          <a:prstGeom prst="roundRect">
            <a:avLst>
              <a:gd name="adj" fmla="val 1596"/>
            </a:avLst>
          </a:prstGeom>
          <a:solidFill>
            <a:srgbClr val="FFFFFF"/>
          </a:solidFill>
          <a:ln w="12700">
            <a:solidFill>
              <a:srgbClr val="CBD5E1"/>
            </a:solidFill>
            <a:prstDash val="solid"/>
          </a:ln>
        </p:spPr>
      </p:sp>
      <p:sp>
        <p:nvSpPr>
          <p:cNvPr id="8" name="Shape 6"/>
          <p:cNvSpPr/>
          <p:nvPr/>
        </p:nvSpPr>
        <p:spPr>
          <a:xfrm>
            <a:off x="3986784" y="1536192"/>
            <a:ext cx="4224528" cy="756392"/>
          </a:xfrm>
          <a:prstGeom prst="rect">
            <a:avLst/>
          </a:prstGeom>
          <a:solidFill>
            <a:srgbClr val="DCFCE7"/>
          </a:solidFill>
          <a:ln w="12700">
            <a:solidFill>
              <a:srgbClr val="CBD5E1"/>
            </a:solidFill>
            <a:prstDash val="solid"/>
          </a:ln>
        </p:spPr>
      </p:sp>
      <p:sp>
        <p:nvSpPr>
          <p:cNvPr id="9" name="Shape 7"/>
          <p:cNvSpPr/>
          <p:nvPr/>
        </p:nvSpPr>
        <p:spPr>
          <a:xfrm>
            <a:off x="3986784" y="2292584"/>
            <a:ext cx="4224528" cy="1925361"/>
          </a:xfrm>
          <a:prstGeom prst="rect">
            <a:avLst/>
          </a:prstGeom>
          <a:solidFill>
            <a:srgbClr val="DBEAFE"/>
          </a:solidFill>
          <a:ln w="12700">
            <a:solidFill>
              <a:srgbClr val="CBD5E1"/>
            </a:solidFill>
            <a:prstDash val="solid"/>
          </a:ln>
        </p:spPr>
      </p:sp>
      <p:sp>
        <p:nvSpPr>
          <p:cNvPr id="10" name="Shape 8"/>
          <p:cNvSpPr/>
          <p:nvPr/>
        </p:nvSpPr>
        <p:spPr>
          <a:xfrm>
            <a:off x="3986784" y="4217944"/>
            <a:ext cx="4224528" cy="756392"/>
          </a:xfrm>
          <a:prstGeom prst="rect">
            <a:avLst/>
          </a:prstGeom>
          <a:solidFill>
            <a:srgbClr val="FEF3C7"/>
          </a:solidFill>
          <a:ln w="12700">
            <a:solidFill>
              <a:srgbClr val="CBD5E1"/>
            </a:solidFill>
            <a:prstDash val="solid"/>
          </a:ln>
        </p:spPr>
      </p:sp>
      <p:sp>
        <p:nvSpPr>
          <p:cNvPr id="11" name="Text 9"/>
          <p:cNvSpPr/>
          <p:nvPr/>
        </p:nvSpPr>
        <p:spPr>
          <a:xfrm>
            <a:off x="4151376" y="1841236"/>
            <a:ext cx="658368" cy="146304"/>
          </a:xfrm>
          <a:prstGeom prst="rect">
            <a:avLst/>
          </a:prstGeom>
          <a:noFill/>
          <a:ln/>
        </p:spPr>
        <p:txBody>
          <a:bodyPr wrap="square" lIns="0" tIns="0" rIns="0" bIns="0" rtlCol="0" anchor="t">
            <a:normAutofit/>
          </a:bodyPr>
          <a:lstStyle/>
          <a:p>
            <a:pPr algn="l" indent="0" marL="0">
              <a:buNone/>
            </a:pPr>
            <a:r>
              <a:rPr lang="en-US" sz="840" b="1" dirty="0">
                <a:solidFill>
                  <a:srgbClr val="16803C"/>
                </a:solidFill>
                <a:latin typeface="Arial" pitchFamily="34" charset="0"/>
                <a:ea typeface="Arial" pitchFamily="34" charset="-122"/>
                <a:cs typeface="Arial" pitchFamily="34" charset="-120"/>
              </a:rPr>
              <a:t>HTL</a:t>
            </a:r>
            <a:endParaRPr lang="en-US" sz="840" dirty="0"/>
          </a:p>
        </p:txBody>
      </p:sp>
      <p:sp>
        <p:nvSpPr>
          <p:cNvPr id="12" name="Text 10"/>
          <p:cNvSpPr/>
          <p:nvPr/>
        </p:nvSpPr>
        <p:spPr>
          <a:xfrm>
            <a:off x="4151376" y="3182112"/>
            <a:ext cx="960120" cy="146304"/>
          </a:xfrm>
          <a:prstGeom prst="rect">
            <a:avLst/>
          </a:prstGeom>
          <a:noFill/>
          <a:ln/>
        </p:spPr>
        <p:txBody>
          <a:bodyPr wrap="square" lIns="0" tIns="0" rIns="0" bIns="0" rtlCol="0" anchor="t">
            <a:normAutofit/>
          </a:bodyPr>
          <a:lstStyle/>
          <a:p>
            <a:pPr algn="l" indent="0" marL="0">
              <a:buNone/>
            </a:pPr>
            <a:r>
              <a:rPr lang="en-US" sz="840" b="1" dirty="0">
                <a:solidFill>
                  <a:srgbClr val="2563EB"/>
                </a:solidFill>
                <a:latin typeface="Arial" pitchFamily="34" charset="0"/>
                <a:ea typeface="Arial" pitchFamily="34" charset="-122"/>
                <a:cs typeface="Arial" pitchFamily="34" charset="-120"/>
              </a:rPr>
              <a:t>absorber</a:t>
            </a:r>
            <a:endParaRPr lang="en-US" sz="840" dirty="0"/>
          </a:p>
        </p:txBody>
      </p:sp>
      <p:sp>
        <p:nvSpPr>
          <p:cNvPr id="13" name="Text 11"/>
          <p:cNvSpPr/>
          <p:nvPr/>
        </p:nvSpPr>
        <p:spPr>
          <a:xfrm>
            <a:off x="4151376" y="4522988"/>
            <a:ext cx="658368" cy="146304"/>
          </a:xfrm>
          <a:prstGeom prst="rect">
            <a:avLst/>
          </a:prstGeom>
          <a:noFill/>
          <a:ln/>
        </p:spPr>
        <p:txBody>
          <a:bodyPr wrap="square" lIns="0" tIns="0" rIns="0" bIns="0" rtlCol="0" anchor="t">
            <a:normAutofit/>
          </a:bodyPr>
          <a:lstStyle/>
          <a:p>
            <a:pPr algn="l" indent="0" marL="0">
              <a:buNone/>
            </a:pPr>
            <a:r>
              <a:rPr lang="en-US" sz="840" b="1" dirty="0">
                <a:solidFill>
                  <a:srgbClr val="A16207"/>
                </a:solidFill>
                <a:latin typeface="Arial" pitchFamily="34" charset="0"/>
                <a:ea typeface="Arial" pitchFamily="34" charset="-122"/>
                <a:cs typeface="Arial" pitchFamily="34" charset="-120"/>
              </a:rPr>
              <a:t>ETL</a:t>
            </a:r>
            <a:endParaRPr lang="en-US" sz="840" dirty="0"/>
          </a:p>
        </p:txBody>
      </p:sp>
      <p:sp>
        <p:nvSpPr>
          <p:cNvPr id="14" name="Shape 12"/>
          <p:cNvSpPr/>
          <p:nvPr/>
        </p:nvSpPr>
        <p:spPr>
          <a:xfrm>
            <a:off x="4690872" y="1536192"/>
            <a:ext cx="0" cy="3438144"/>
          </a:xfrm>
          <a:prstGeom prst="line">
            <a:avLst/>
          </a:prstGeom>
          <a:noFill/>
          <a:ln w="12700">
            <a:solidFill>
              <a:srgbClr val="CBD5E1"/>
            </a:solidFill>
            <a:prstDash val="solid"/>
            <a:headEnd type="none"/>
            <a:tailEnd type="none"/>
          </a:ln>
        </p:spPr>
      </p:sp>
      <p:sp>
        <p:nvSpPr>
          <p:cNvPr id="15" name="Shape 13"/>
          <p:cNvSpPr/>
          <p:nvPr/>
        </p:nvSpPr>
        <p:spPr>
          <a:xfrm>
            <a:off x="5394960" y="1536192"/>
            <a:ext cx="0" cy="3438144"/>
          </a:xfrm>
          <a:prstGeom prst="line">
            <a:avLst/>
          </a:prstGeom>
          <a:noFill/>
          <a:ln w="12700">
            <a:solidFill>
              <a:srgbClr val="CBD5E1"/>
            </a:solidFill>
            <a:prstDash val="solid"/>
            <a:headEnd type="none"/>
            <a:tailEnd type="none"/>
          </a:ln>
        </p:spPr>
      </p:sp>
      <p:sp>
        <p:nvSpPr>
          <p:cNvPr id="16" name="Shape 14"/>
          <p:cNvSpPr/>
          <p:nvPr/>
        </p:nvSpPr>
        <p:spPr>
          <a:xfrm>
            <a:off x="6099048" y="1536192"/>
            <a:ext cx="0" cy="3438144"/>
          </a:xfrm>
          <a:prstGeom prst="line">
            <a:avLst/>
          </a:prstGeom>
          <a:noFill/>
          <a:ln w="12700">
            <a:solidFill>
              <a:srgbClr val="CBD5E1"/>
            </a:solidFill>
            <a:prstDash val="solid"/>
            <a:headEnd type="none"/>
            <a:tailEnd type="none"/>
          </a:ln>
        </p:spPr>
      </p:sp>
      <p:sp>
        <p:nvSpPr>
          <p:cNvPr id="17" name="Shape 15"/>
          <p:cNvSpPr/>
          <p:nvPr/>
        </p:nvSpPr>
        <p:spPr>
          <a:xfrm>
            <a:off x="6803136" y="1536192"/>
            <a:ext cx="0" cy="3438144"/>
          </a:xfrm>
          <a:prstGeom prst="line">
            <a:avLst/>
          </a:prstGeom>
          <a:noFill/>
          <a:ln w="12700">
            <a:solidFill>
              <a:srgbClr val="CBD5E1"/>
            </a:solidFill>
            <a:prstDash val="solid"/>
            <a:headEnd type="none"/>
            <a:tailEnd type="none"/>
          </a:ln>
        </p:spPr>
      </p:sp>
      <p:sp>
        <p:nvSpPr>
          <p:cNvPr id="18" name="Shape 16"/>
          <p:cNvSpPr/>
          <p:nvPr/>
        </p:nvSpPr>
        <p:spPr>
          <a:xfrm>
            <a:off x="7507224" y="1536192"/>
            <a:ext cx="0" cy="3438144"/>
          </a:xfrm>
          <a:prstGeom prst="line">
            <a:avLst/>
          </a:prstGeom>
          <a:noFill/>
          <a:ln w="12700">
            <a:solidFill>
              <a:srgbClr val="CBD5E1"/>
            </a:solidFill>
            <a:prstDash val="solid"/>
            <a:headEnd type="none"/>
            <a:tailEnd type="none"/>
          </a:ln>
        </p:spPr>
      </p:sp>
      <p:sp>
        <p:nvSpPr>
          <p:cNvPr id="19" name="Shape 17"/>
          <p:cNvSpPr/>
          <p:nvPr/>
        </p:nvSpPr>
        <p:spPr>
          <a:xfrm>
            <a:off x="3986784" y="2395728"/>
            <a:ext cx="4224528" cy="0"/>
          </a:xfrm>
          <a:prstGeom prst="line">
            <a:avLst/>
          </a:prstGeom>
          <a:noFill/>
          <a:ln w="12700">
            <a:solidFill>
              <a:srgbClr val="CBD5E1"/>
            </a:solidFill>
            <a:prstDash val="solid"/>
            <a:headEnd type="none"/>
            <a:tailEnd type="none"/>
          </a:ln>
        </p:spPr>
      </p:sp>
      <p:sp>
        <p:nvSpPr>
          <p:cNvPr id="20" name="Shape 18"/>
          <p:cNvSpPr/>
          <p:nvPr/>
        </p:nvSpPr>
        <p:spPr>
          <a:xfrm>
            <a:off x="3986784" y="3255264"/>
            <a:ext cx="4224528" cy="0"/>
          </a:xfrm>
          <a:prstGeom prst="line">
            <a:avLst/>
          </a:prstGeom>
          <a:noFill/>
          <a:ln w="12700">
            <a:solidFill>
              <a:srgbClr val="CBD5E1"/>
            </a:solidFill>
            <a:prstDash val="solid"/>
            <a:headEnd type="none"/>
            <a:tailEnd type="none"/>
          </a:ln>
        </p:spPr>
      </p:sp>
      <p:sp>
        <p:nvSpPr>
          <p:cNvPr id="21" name="Shape 19"/>
          <p:cNvSpPr/>
          <p:nvPr/>
        </p:nvSpPr>
        <p:spPr>
          <a:xfrm>
            <a:off x="3986784" y="4114800"/>
            <a:ext cx="4224528" cy="0"/>
          </a:xfrm>
          <a:prstGeom prst="line">
            <a:avLst/>
          </a:prstGeom>
          <a:noFill/>
          <a:ln w="12700">
            <a:solidFill>
              <a:srgbClr val="CBD5E1"/>
            </a:solidFill>
            <a:prstDash val="solid"/>
            <a:headEnd type="none"/>
            <a:tailEnd type="none"/>
          </a:ln>
        </p:spPr>
      </p:sp>
      <p:sp>
        <p:nvSpPr>
          <p:cNvPr id="22" name="Text 20"/>
          <p:cNvSpPr/>
          <p:nvPr/>
        </p:nvSpPr>
        <p:spPr>
          <a:xfrm>
            <a:off x="5010912" y="1243584"/>
            <a:ext cx="2176272" cy="201168"/>
          </a:xfrm>
          <a:prstGeom prst="rect">
            <a:avLst/>
          </a:prstGeom>
          <a:noFill/>
          <a:ln/>
        </p:spPr>
        <p:txBody>
          <a:bodyPr wrap="square" lIns="0" tIns="0" rIns="0" bIns="0" rtlCol="0" anchor="t">
            <a:normAutofit/>
          </a:bodyPr>
          <a:lstStyle/>
          <a:p>
            <a:pPr algn="ctr" indent="0" marL="0">
              <a:buNone/>
            </a:pPr>
            <a:r>
              <a:rPr lang="en-US" sz="1100" b="1" dirty="0">
                <a:solidFill>
                  <a:srgbClr val="334155"/>
                </a:solidFill>
                <a:latin typeface="Arial" pitchFamily="34" charset="0"/>
                <a:ea typeface="Arial" pitchFamily="34" charset="-122"/>
                <a:cs typeface="Arial" pitchFamily="34" charset="-120"/>
              </a:rPr>
              <a:t>2D drift-diffusion domain</a:t>
            </a:r>
            <a:endParaRPr lang="en-US" sz="1100" dirty="0"/>
          </a:p>
        </p:txBody>
      </p:sp>
      <p:sp>
        <p:nvSpPr>
          <p:cNvPr id="23" name="Shape 21"/>
          <p:cNvSpPr/>
          <p:nvPr/>
        </p:nvSpPr>
        <p:spPr>
          <a:xfrm>
            <a:off x="4279392" y="1115568"/>
            <a:ext cx="3639312" cy="274320"/>
          </a:xfrm>
          <a:prstGeom prst="roundRect">
            <a:avLst>
              <a:gd name="adj" fmla="val 40000"/>
            </a:avLst>
          </a:prstGeom>
          <a:solidFill>
            <a:srgbClr val="DCFCE7"/>
          </a:solidFill>
          <a:ln w="12700">
            <a:solidFill>
              <a:srgbClr val="16803C"/>
            </a:solidFill>
            <a:prstDash val="solid"/>
          </a:ln>
        </p:spPr>
      </p:sp>
      <p:sp>
        <p:nvSpPr>
          <p:cNvPr id="24" name="Text 22"/>
          <p:cNvSpPr/>
          <p:nvPr/>
        </p:nvSpPr>
        <p:spPr>
          <a:xfrm>
            <a:off x="4325112" y="1188720"/>
            <a:ext cx="3547872" cy="109728"/>
          </a:xfrm>
          <a:prstGeom prst="rect">
            <a:avLst/>
          </a:prstGeom>
          <a:noFill/>
          <a:ln/>
        </p:spPr>
        <p:txBody>
          <a:bodyPr wrap="square" lIns="0" tIns="0" rIns="0" bIns="0" rtlCol="0" anchor="t">
            <a:normAutofit/>
          </a:bodyPr>
          <a:lstStyle/>
          <a:p>
            <a:pPr algn="ctr" indent="0" marL="0">
              <a:buNone/>
            </a:pPr>
            <a:r>
              <a:rPr lang="en-US" sz="720" b="1" dirty="0">
                <a:solidFill>
                  <a:srgbClr val="16803C"/>
                </a:solidFill>
                <a:latin typeface="Arial" pitchFamily="34" charset="0"/>
                <a:ea typeface="Arial" pitchFamily="34" charset="-122"/>
                <a:cs typeface="Arial" pitchFamily="34" charset="-120"/>
              </a:rPr>
              <a:t>Poisson: φ(0,x)=0, φ(Lᵧ,x)=Vᵦᵢ-Vₐₚₚ</a:t>
            </a:r>
            <a:endParaRPr lang="en-US" sz="720" dirty="0"/>
          </a:p>
        </p:txBody>
      </p:sp>
      <p:sp>
        <p:nvSpPr>
          <p:cNvPr id="25" name="Shape 23"/>
          <p:cNvSpPr/>
          <p:nvPr/>
        </p:nvSpPr>
        <p:spPr>
          <a:xfrm>
            <a:off x="4370832" y="5193792"/>
            <a:ext cx="3456432" cy="274320"/>
          </a:xfrm>
          <a:prstGeom prst="roundRect">
            <a:avLst>
              <a:gd name="adj" fmla="val 40000"/>
            </a:avLst>
          </a:prstGeom>
          <a:solidFill>
            <a:srgbClr val="EDE9FE"/>
          </a:solidFill>
          <a:ln w="12700">
            <a:solidFill>
              <a:srgbClr val="6D28D9"/>
            </a:solidFill>
            <a:prstDash val="solid"/>
          </a:ln>
        </p:spPr>
      </p:sp>
      <p:sp>
        <p:nvSpPr>
          <p:cNvPr id="26" name="Text 24"/>
          <p:cNvSpPr/>
          <p:nvPr/>
        </p:nvSpPr>
        <p:spPr>
          <a:xfrm>
            <a:off x="4416552" y="5266944"/>
            <a:ext cx="3364992" cy="109728"/>
          </a:xfrm>
          <a:prstGeom prst="rect">
            <a:avLst/>
          </a:prstGeom>
          <a:noFill/>
          <a:ln/>
        </p:spPr>
        <p:txBody>
          <a:bodyPr wrap="square" lIns="0" tIns="0" rIns="0" bIns="0" rtlCol="0" anchor="t">
            <a:normAutofit/>
          </a:bodyPr>
          <a:lstStyle/>
          <a:p>
            <a:pPr algn="ctr" indent="0" marL="0">
              <a:buNone/>
            </a:pPr>
            <a:r>
              <a:rPr lang="en-US" sz="760" b="1" dirty="0">
                <a:solidFill>
                  <a:srgbClr val="6D28D9"/>
                </a:solidFill>
                <a:latin typeface="Arial" pitchFamily="34" charset="0"/>
                <a:ea typeface="Arial" pitchFamily="34" charset="-122"/>
                <a:cs typeface="Arial" pitchFamily="34" charset="-120"/>
              </a:rPr>
              <a:t>carrier contacts: ohmic Dirichlet or Robin S</a:t>
            </a:r>
            <a:endParaRPr lang="en-US" sz="760" dirty="0"/>
          </a:p>
        </p:txBody>
      </p:sp>
      <p:sp>
        <p:nvSpPr>
          <p:cNvPr id="27" name="Shape 25"/>
          <p:cNvSpPr/>
          <p:nvPr/>
        </p:nvSpPr>
        <p:spPr>
          <a:xfrm>
            <a:off x="3803904" y="2788920"/>
            <a:ext cx="-694944" cy="0"/>
          </a:xfrm>
          <a:prstGeom prst="line">
            <a:avLst/>
          </a:prstGeom>
          <a:noFill/>
          <a:ln w="12700">
            <a:solidFill>
              <a:srgbClr val="2563EB"/>
            </a:solidFill>
            <a:prstDash val="solid"/>
            <a:headEnd type="triangle"/>
            <a:tailEnd type="triangle"/>
          </a:ln>
        </p:spPr>
      </p:sp>
      <p:sp>
        <p:nvSpPr>
          <p:cNvPr id="28" name="Shape 26"/>
          <p:cNvSpPr/>
          <p:nvPr/>
        </p:nvSpPr>
        <p:spPr>
          <a:xfrm>
            <a:off x="8394192" y="2788920"/>
            <a:ext cx="694944" cy="0"/>
          </a:xfrm>
          <a:prstGeom prst="line">
            <a:avLst/>
          </a:prstGeom>
          <a:noFill/>
          <a:ln w="12700">
            <a:solidFill>
              <a:srgbClr val="2563EB"/>
            </a:solidFill>
            <a:prstDash val="solid"/>
            <a:headEnd type="none"/>
            <a:tailEnd type="triangle"/>
          </a:ln>
        </p:spPr>
      </p:sp>
      <p:sp>
        <p:nvSpPr>
          <p:cNvPr id="29" name="Text 27"/>
          <p:cNvSpPr/>
          <p:nvPr/>
        </p:nvSpPr>
        <p:spPr>
          <a:xfrm>
            <a:off x="3447288" y="2907792"/>
            <a:ext cx="347472" cy="128016"/>
          </a:xfrm>
          <a:prstGeom prst="rect">
            <a:avLst/>
          </a:prstGeom>
          <a:noFill/>
          <a:ln/>
        </p:spPr>
        <p:txBody>
          <a:bodyPr wrap="square" lIns="0" tIns="0" rIns="0" bIns="0" rtlCol="0" anchor="t">
            <a:normAutofit/>
          </a:bodyPr>
          <a:lstStyle/>
          <a:p>
            <a:pPr algn="r" indent="0" marL="0">
              <a:buNone/>
            </a:pPr>
            <a:r>
              <a:rPr lang="en-US" sz="750" dirty="0">
                <a:solidFill>
                  <a:srgbClr val="64748B"/>
                </a:solidFill>
                <a:latin typeface="Arial" pitchFamily="34" charset="0"/>
                <a:ea typeface="Arial" pitchFamily="34" charset="-122"/>
                <a:cs typeface="Arial" pitchFamily="34" charset="-120"/>
              </a:rPr>
              <a:t>x=0</a:t>
            </a:r>
            <a:endParaRPr lang="en-US" sz="750" dirty="0"/>
          </a:p>
        </p:txBody>
      </p:sp>
      <p:sp>
        <p:nvSpPr>
          <p:cNvPr id="30" name="Text 28"/>
          <p:cNvSpPr/>
          <p:nvPr/>
        </p:nvSpPr>
        <p:spPr>
          <a:xfrm>
            <a:off x="8412480" y="2907792"/>
            <a:ext cx="502920" cy="128016"/>
          </a:xfrm>
          <a:prstGeom prst="rect">
            <a:avLst/>
          </a:prstGeom>
          <a:noFill/>
          <a:ln/>
        </p:spPr>
        <p:txBody>
          <a:bodyPr wrap="square" lIns="0" tIns="0" rIns="0" bIns="0" rtlCol="0" anchor="t">
            <a:normAutofit/>
          </a:bodyPr>
          <a:lstStyle/>
          <a:p>
            <a:pPr algn="l" indent="0" marL="0">
              <a:buNone/>
            </a:pPr>
            <a:r>
              <a:rPr lang="en-US" sz="750" dirty="0">
                <a:solidFill>
                  <a:srgbClr val="64748B"/>
                </a:solidFill>
                <a:latin typeface="Arial" pitchFamily="34" charset="0"/>
                <a:ea typeface="Arial" pitchFamily="34" charset="-122"/>
                <a:cs typeface="Arial" pitchFamily="34" charset="-120"/>
              </a:rPr>
              <a:t>x=Lₓ</a:t>
            </a:r>
            <a:endParaRPr lang="en-US" sz="750" dirty="0"/>
          </a:p>
        </p:txBody>
      </p:sp>
      <p:sp>
        <p:nvSpPr>
          <p:cNvPr id="31" name="Shape 29"/>
          <p:cNvSpPr/>
          <p:nvPr/>
        </p:nvSpPr>
        <p:spPr>
          <a:xfrm>
            <a:off x="3858768" y="1783080"/>
            <a:ext cx="0" cy="3063240"/>
          </a:xfrm>
          <a:prstGeom prst="line">
            <a:avLst/>
          </a:prstGeom>
          <a:noFill/>
          <a:ln w="12700">
            <a:solidFill>
              <a:srgbClr val="334155"/>
            </a:solidFill>
            <a:prstDash val="solid"/>
            <a:headEnd type="none"/>
            <a:tailEnd type="none"/>
          </a:ln>
        </p:spPr>
      </p:sp>
      <p:sp>
        <p:nvSpPr>
          <p:cNvPr id="32" name="Text 30"/>
          <p:cNvSpPr/>
          <p:nvPr/>
        </p:nvSpPr>
        <p:spPr>
          <a:xfrm>
            <a:off x="2907792" y="1901952"/>
            <a:ext cx="731520" cy="292608"/>
          </a:xfrm>
          <a:prstGeom prst="rect">
            <a:avLst/>
          </a:prstGeom>
          <a:noFill/>
          <a:ln/>
        </p:spPr>
        <p:txBody>
          <a:bodyPr wrap="square" lIns="0" tIns="0" rIns="0" bIns="0" rtlCol="0" anchor="t">
            <a:normAutofit/>
          </a:bodyPr>
          <a:lstStyle/>
          <a:p>
            <a:pPr algn="r" indent="0" marL="0">
              <a:buNone/>
            </a:pPr>
            <a:r>
              <a:rPr lang="en-US" sz="750" dirty="0">
                <a:solidFill>
                  <a:srgbClr val="334155"/>
                </a:solidFill>
                <a:latin typeface="Arial" pitchFamily="34" charset="0"/>
                <a:ea typeface="Arial" pitchFamily="34" charset="-122"/>
                <a:cs typeface="Arial" pitchFamily="34" charset="-120"/>
              </a:rPr>
              <a:t>y transport direction</a:t>
            </a:r>
            <a:endParaRPr lang="en-US" sz="750" dirty="0"/>
          </a:p>
        </p:txBody>
      </p:sp>
      <p:sp>
        <p:nvSpPr>
          <p:cNvPr id="33" name="Shape 31"/>
          <p:cNvSpPr/>
          <p:nvPr/>
        </p:nvSpPr>
        <p:spPr>
          <a:xfrm>
            <a:off x="3986784" y="2267712"/>
            <a:ext cx="4224528" cy="0"/>
          </a:xfrm>
          <a:prstGeom prst="line">
            <a:avLst/>
          </a:prstGeom>
          <a:noFill/>
          <a:ln w="12700">
            <a:solidFill>
              <a:srgbClr val="B42318"/>
            </a:solidFill>
            <a:prstDash val="solid"/>
            <a:headEnd type="none"/>
            <a:tailEnd type="none"/>
          </a:ln>
        </p:spPr>
      </p:sp>
      <p:sp>
        <p:nvSpPr>
          <p:cNvPr id="34" name="Shape 32"/>
          <p:cNvSpPr/>
          <p:nvPr/>
        </p:nvSpPr>
        <p:spPr>
          <a:xfrm>
            <a:off x="3986784" y="4096512"/>
            <a:ext cx="4224528" cy="0"/>
          </a:xfrm>
          <a:prstGeom prst="line">
            <a:avLst/>
          </a:prstGeom>
          <a:noFill/>
          <a:ln w="12700">
            <a:solidFill>
              <a:srgbClr val="B42318"/>
            </a:solidFill>
            <a:prstDash val="solid"/>
            <a:headEnd type="none"/>
            <a:tailEnd type="none"/>
          </a:ln>
        </p:spPr>
      </p:sp>
      <p:sp>
        <p:nvSpPr>
          <p:cNvPr id="35" name="Text 33"/>
          <p:cNvSpPr/>
          <p:nvPr/>
        </p:nvSpPr>
        <p:spPr>
          <a:xfrm>
            <a:off x="5486400" y="4206240"/>
            <a:ext cx="1463040" cy="128016"/>
          </a:xfrm>
          <a:prstGeom prst="rect">
            <a:avLst/>
          </a:prstGeom>
          <a:noFill/>
          <a:ln/>
        </p:spPr>
        <p:txBody>
          <a:bodyPr wrap="square" lIns="0" tIns="0" rIns="0" bIns="0" rtlCol="0" anchor="t">
            <a:normAutofit/>
          </a:bodyPr>
          <a:lstStyle/>
          <a:p>
            <a:pPr algn="ctr" indent="0" marL="0">
              <a:buNone/>
            </a:pPr>
            <a:r>
              <a:rPr lang="en-US" sz="720" dirty="0">
                <a:solidFill>
                  <a:srgbClr val="B42318"/>
                </a:solidFill>
                <a:latin typeface="Arial" pitchFamily="34" charset="0"/>
                <a:ea typeface="Arial" pitchFamily="34" charset="-122"/>
                <a:cs typeface="Arial" pitchFamily="34" charset="-120"/>
              </a:rPr>
              <a:t>internal material interfaces</a:t>
            </a:r>
            <a:endParaRPr lang="en-US" sz="720" dirty="0"/>
          </a:p>
        </p:txBody>
      </p:sp>
      <p:sp>
        <p:nvSpPr>
          <p:cNvPr id="36" name="Shape 34"/>
          <p:cNvSpPr/>
          <p:nvPr/>
        </p:nvSpPr>
        <p:spPr>
          <a:xfrm>
            <a:off x="768096" y="1499616"/>
            <a:ext cx="2468880" cy="969264"/>
          </a:xfrm>
          <a:prstGeom prst="roundRect">
            <a:avLst>
              <a:gd name="adj" fmla="val 7547"/>
            </a:avLst>
          </a:prstGeom>
          <a:solidFill>
            <a:srgbClr val="EDE9FE"/>
          </a:solidFill>
          <a:ln w="12700">
            <a:solidFill>
              <a:srgbClr val="6D28D9"/>
            </a:solidFill>
            <a:prstDash val="solid"/>
          </a:ln>
        </p:spPr>
      </p:sp>
      <p:sp>
        <p:nvSpPr>
          <p:cNvPr id="37" name="Shape 35"/>
          <p:cNvSpPr/>
          <p:nvPr/>
        </p:nvSpPr>
        <p:spPr>
          <a:xfrm>
            <a:off x="768096" y="1499616"/>
            <a:ext cx="73152" cy="969264"/>
          </a:xfrm>
          <a:prstGeom prst="rect">
            <a:avLst/>
          </a:prstGeom>
          <a:solidFill>
            <a:srgbClr val="6D28D9"/>
          </a:solidFill>
          <a:ln w="12700">
            <a:solidFill>
              <a:srgbClr val="6D28D9">
                <a:alpha val="0"/>
              </a:srgbClr>
            </a:solidFill>
            <a:prstDash val="solid"/>
          </a:ln>
        </p:spPr>
      </p:sp>
      <p:sp>
        <p:nvSpPr>
          <p:cNvPr id="38" name="Text 36"/>
          <p:cNvSpPr/>
          <p:nvPr/>
        </p:nvSpPr>
        <p:spPr>
          <a:xfrm>
            <a:off x="932688" y="1609344"/>
            <a:ext cx="2176272" cy="201168"/>
          </a:xfrm>
          <a:prstGeom prst="rect">
            <a:avLst/>
          </a:prstGeom>
          <a:noFill/>
          <a:ln/>
        </p:spPr>
        <p:txBody>
          <a:bodyPr wrap="square" lIns="0" tIns="0" rIns="0" bIns="0" rtlCol="0" anchor="t">
            <a:normAutofit/>
          </a:bodyPr>
          <a:lstStyle/>
          <a:p>
            <a:pPr algn="l" indent="0" marL="0">
              <a:buNone/>
            </a:pPr>
            <a:r>
              <a:rPr lang="en-US" sz="900" b="1" dirty="0">
                <a:solidFill>
                  <a:srgbClr val="6D28D9"/>
                </a:solidFill>
                <a:latin typeface="Arial" pitchFamily="34" charset="0"/>
                <a:ea typeface="Arial" pitchFamily="34" charset="-122"/>
                <a:cs typeface="Arial" pitchFamily="34" charset="-120"/>
              </a:rPr>
              <a:t>1. Contact BC</a:t>
            </a:r>
            <a:endParaRPr lang="en-US" sz="900" dirty="0"/>
          </a:p>
        </p:txBody>
      </p:sp>
      <p:sp>
        <p:nvSpPr>
          <p:cNvPr id="39" name="Text 37"/>
          <p:cNvSpPr/>
          <p:nvPr/>
        </p:nvSpPr>
        <p:spPr>
          <a:xfrm>
            <a:off x="932688" y="1883664"/>
            <a:ext cx="2157984" cy="512064"/>
          </a:xfrm>
          <a:prstGeom prst="rect">
            <a:avLst/>
          </a:prstGeom>
          <a:noFill/>
          <a:ln/>
        </p:spPr>
        <p:txBody>
          <a:bodyPr wrap="square" lIns="0" tIns="0" rIns="0" bIns="0" rtlCol="0" anchor="t">
            <a:normAutofit/>
          </a:bodyPr>
          <a:lstStyle/>
          <a:p>
            <a:pPr algn="l" indent="0" marL="0">
              <a:buNone/>
            </a:pPr>
            <a:r>
              <a:rPr lang="en-US" sz="830" dirty="0">
                <a:solidFill>
                  <a:srgbClr val="162033"/>
                </a:solidFill>
                <a:latin typeface="Arial" pitchFamily="34" charset="0"/>
                <a:ea typeface="Arial" pitchFamily="34" charset="-122"/>
                <a:cs typeface="Arial" pitchFamily="34" charset="-120"/>
              </a:rPr>
              <a:t>outer electrode rows</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y=0 and y=Ly</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controls carrier exchange</a:t>
            </a:r>
            <a:endParaRPr lang="en-US" sz="830" dirty="0"/>
          </a:p>
        </p:txBody>
      </p:sp>
      <p:sp>
        <p:nvSpPr>
          <p:cNvPr id="40" name="Shape 38"/>
          <p:cNvSpPr/>
          <p:nvPr/>
        </p:nvSpPr>
        <p:spPr>
          <a:xfrm>
            <a:off x="3273552" y="1984248"/>
            <a:ext cx="713232" cy="-502920"/>
          </a:xfrm>
          <a:prstGeom prst="line">
            <a:avLst/>
          </a:prstGeom>
          <a:noFill/>
          <a:ln w="12700">
            <a:solidFill>
              <a:srgbClr val="6D28D9"/>
            </a:solidFill>
            <a:prstDash val="solid"/>
            <a:headEnd type="none"/>
            <a:tailEnd type="triangle"/>
          </a:ln>
        </p:spPr>
      </p:sp>
      <p:sp>
        <p:nvSpPr>
          <p:cNvPr id="41" name="Shape 39"/>
          <p:cNvSpPr/>
          <p:nvPr/>
        </p:nvSpPr>
        <p:spPr>
          <a:xfrm>
            <a:off x="3273552" y="1984248"/>
            <a:ext cx="713232" cy="3008376"/>
          </a:xfrm>
          <a:prstGeom prst="line">
            <a:avLst/>
          </a:prstGeom>
          <a:noFill/>
          <a:ln w="12700">
            <a:solidFill>
              <a:srgbClr val="6D28D9"/>
            </a:solidFill>
            <a:prstDash val="solid"/>
            <a:headEnd type="none"/>
            <a:tailEnd type="triangle"/>
          </a:ln>
        </p:spPr>
      </p:sp>
      <p:sp>
        <p:nvSpPr>
          <p:cNvPr id="42" name="Shape 40"/>
          <p:cNvSpPr/>
          <p:nvPr/>
        </p:nvSpPr>
        <p:spPr>
          <a:xfrm>
            <a:off x="768096" y="2761488"/>
            <a:ext cx="2468880" cy="969264"/>
          </a:xfrm>
          <a:prstGeom prst="roundRect">
            <a:avLst>
              <a:gd name="adj" fmla="val 7547"/>
            </a:avLst>
          </a:prstGeom>
          <a:solidFill>
            <a:srgbClr val="DBEAFE"/>
          </a:solidFill>
          <a:ln w="12700">
            <a:solidFill>
              <a:srgbClr val="2563EB"/>
            </a:solidFill>
            <a:prstDash val="solid"/>
          </a:ln>
        </p:spPr>
      </p:sp>
      <p:sp>
        <p:nvSpPr>
          <p:cNvPr id="43" name="Shape 41"/>
          <p:cNvSpPr/>
          <p:nvPr/>
        </p:nvSpPr>
        <p:spPr>
          <a:xfrm>
            <a:off x="768096" y="2761488"/>
            <a:ext cx="73152" cy="969264"/>
          </a:xfrm>
          <a:prstGeom prst="rect">
            <a:avLst/>
          </a:prstGeom>
          <a:solidFill>
            <a:srgbClr val="2563EB"/>
          </a:solidFill>
          <a:ln w="12700">
            <a:solidFill>
              <a:srgbClr val="2563EB">
                <a:alpha val="0"/>
              </a:srgbClr>
            </a:solidFill>
            <a:prstDash val="solid"/>
          </a:ln>
        </p:spPr>
      </p:sp>
      <p:sp>
        <p:nvSpPr>
          <p:cNvPr id="44" name="Text 42"/>
          <p:cNvSpPr/>
          <p:nvPr/>
        </p:nvSpPr>
        <p:spPr>
          <a:xfrm>
            <a:off x="932688" y="2871216"/>
            <a:ext cx="2176272" cy="201168"/>
          </a:xfrm>
          <a:prstGeom prst="rect">
            <a:avLst/>
          </a:prstGeom>
          <a:noFill/>
          <a:ln/>
        </p:spPr>
        <p:txBody>
          <a:bodyPr wrap="square" lIns="0" tIns="0" rIns="0" bIns="0" rtlCol="0" anchor="t">
            <a:normAutofit/>
          </a:bodyPr>
          <a:lstStyle/>
          <a:p>
            <a:pPr algn="l" indent="0" marL="0">
              <a:buNone/>
            </a:pPr>
            <a:r>
              <a:rPr lang="en-US" sz="900" b="1" dirty="0">
                <a:solidFill>
                  <a:srgbClr val="2563EB"/>
                </a:solidFill>
                <a:latin typeface="Arial" pitchFamily="34" charset="0"/>
                <a:ea typeface="Arial" pitchFamily="34" charset="-122"/>
                <a:cs typeface="Arial" pitchFamily="34" charset="-120"/>
              </a:rPr>
              <a:t>2. Lateral BC</a:t>
            </a:r>
            <a:endParaRPr lang="en-US" sz="900" dirty="0"/>
          </a:p>
        </p:txBody>
      </p:sp>
      <p:sp>
        <p:nvSpPr>
          <p:cNvPr id="45" name="Text 43"/>
          <p:cNvSpPr/>
          <p:nvPr/>
        </p:nvSpPr>
        <p:spPr>
          <a:xfrm>
            <a:off x="932688" y="3145536"/>
            <a:ext cx="2157984" cy="512064"/>
          </a:xfrm>
          <a:prstGeom prst="rect">
            <a:avLst/>
          </a:prstGeom>
          <a:noFill/>
          <a:ln/>
        </p:spPr>
        <p:txBody>
          <a:bodyPr wrap="square" lIns="0" tIns="0" rIns="0" bIns="0" rtlCol="0" anchor="t">
            <a:normAutofit/>
          </a:bodyPr>
          <a:lstStyle/>
          <a:p>
            <a:pPr algn="l" indent="0" marL="0">
              <a:buNone/>
            </a:pPr>
            <a:r>
              <a:rPr lang="en-US" sz="830" dirty="0">
                <a:solidFill>
                  <a:srgbClr val="162033"/>
                </a:solidFill>
                <a:latin typeface="Arial" pitchFamily="34" charset="0"/>
                <a:ea typeface="Arial" pitchFamily="34" charset="-122"/>
                <a:cs typeface="Arial" pitchFamily="34" charset="-120"/>
              </a:rPr>
              <a:t>left and right domain edges</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periodic or Neumann</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selected by lateral_bc</a:t>
            </a:r>
            <a:endParaRPr lang="en-US" sz="830" dirty="0"/>
          </a:p>
        </p:txBody>
      </p:sp>
      <p:sp>
        <p:nvSpPr>
          <p:cNvPr id="46" name="Shape 44"/>
          <p:cNvSpPr/>
          <p:nvPr/>
        </p:nvSpPr>
        <p:spPr>
          <a:xfrm>
            <a:off x="3273552" y="3246120"/>
            <a:ext cx="713232" cy="-457200"/>
          </a:xfrm>
          <a:prstGeom prst="line">
            <a:avLst/>
          </a:prstGeom>
          <a:noFill/>
          <a:ln w="12700">
            <a:solidFill>
              <a:srgbClr val="2563EB"/>
            </a:solidFill>
            <a:prstDash val="solid"/>
            <a:headEnd type="none"/>
            <a:tailEnd type="triangle"/>
          </a:ln>
        </p:spPr>
      </p:sp>
      <p:sp>
        <p:nvSpPr>
          <p:cNvPr id="47" name="Shape 45"/>
          <p:cNvSpPr/>
          <p:nvPr/>
        </p:nvSpPr>
        <p:spPr>
          <a:xfrm>
            <a:off x="768096" y="4023360"/>
            <a:ext cx="2468880" cy="969264"/>
          </a:xfrm>
          <a:prstGeom prst="roundRect">
            <a:avLst>
              <a:gd name="adj" fmla="val 7547"/>
            </a:avLst>
          </a:prstGeom>
          <a:solidFill>
            <a:srgbClr val="FEE4E2"/>
          </a:solidFill>
          <a:ln w="12700">
            <a:solidFill>
              <a:srgbClr val="B42318"/>
            </a:solidFill>
            <a:prstDash val="solid"/>
          </a:ln>
        </p:spPr>
      </p:sp>
      <p:sp>
        <p:nvSpPr>
          <p:cNvPr id="48" name="Shape 46"/>
          <p:cNvSpPr/>
          <p:nvPr/>
        </p:nvSpPr>
        <p:spPr>
          <a:xfrm>
            <a:off x="768096" y="4023360"/>
            <a:ext cx="73152" cy="969264"/>
          </a:xfrm>
          <a:prstGeom prst="rect">
            <a:avLst/>
          </a:prstGeom>
          <a:solidFill>
            <a:srgbClr val="B42318"/>
          </a:solidFill>
          <a:ln w="12700">
            <a:solidFill>
              <a:srgbClr val="B42318">
                <a:alpha val="0"/>
              </a:srgbClr>
            </a:solidFill>
            <a:prstDash val="solid"/>
          </a:ln>
        </p:spPr>
      </p:sp>
      <p:sp>
        <p:nvSpPr>
          <p:cNvPr id="49" name="Text 47"/>
          <p:cNvSpPr/>
          <p:nvPr/>
        </p:nvSpPr>
        <p:spPr>
          <a:xfrm>
            <a:off x="932688" y="4133088"/>
            <a:ext cx="2176272" cy="201168"/>
          </a:xfrm>
          <a:prstGeom prst="rect">
            <a:avLst/>
          </a:prstGeom>
          <a:noFill/>
          <a:ln/>
        </p:spPr>
        <p:txBody>
          <a:bodyPr wrap="square" lIns="0" tIns="0" rIns="0" bIns="0" rtlCol="0" anchor="t">
            <a:normAutofit/>
          </a:bodyPr>
          <a:lstStyle/>
          <a:p>
            <a:pPr algn="l" indent="0" marL="0">
              <a:buNone/>
            </a:pPr>
            <a:r>
              <a:rPr lang="en-US" sz="900" b="1" dirty="0">
                <a:solidFill>
                  <a:srgbClr val="B42318"/>
                </a:solidFill>
                <a:latin typeface="Arial" pitchFamily="34" charset="0"/>
                <a:ea typeface="Arial" pitchFamily="34" charset="-122"/>
                <a:cs typeface="Arial" pitchFamily="34" charset="-120"/>
              </a:rPr>
              <a:t>3. Interface Treatment</a:t>
            </a:r>
            <a:endParaRPr lang="en-US" sz="900" dirty="0"/>
          </a:p>
        </p:txBody>
      </p:sp>
      <p:sp>
        <p:nvSpPr>
          <p:cNvPr id="50" name="Text 48"/>
          <p:cNvSpPr/>
          <p:nvPr/>
        </p:nvSpPr>
        <p:spPr>
          <a:xfrm>
            <a:off x="932688" y="4407408"/>
            <a:ext cx="2157984" cy="512064"/>
          </a:xfrm>
          <a:prstGeom prst="rect">
            <a:avLst/>
          </a:prstGeom>
          <a:noFill/>
          <a:ln/>
        </p:spPr>
        <p:txBody>
          <a:bodyPr wrap="square" lIns="0" tIns="0" rIns="0" bIns="0" rtlCol="0" anchor="t">
            <a:normAutofit/>
          </a:bodyPr>
          <a:lstStyle/>
          <a:p>
            <a:pPr algn="l" indent="0" marL="0">
              <a:buNone/>
            </a:pPr>
            <a:r>
              <a:rPr lang="en-US" sz="800" dirty="0">
                <a:solidFill>
                  <a:srgbClr val="162033"/>
                </a:solidFill>
                <a:latin typeface="Arial" pitchFamily="34" charset="0"/>
                <a:ea typeface="Arial" pitchFamily="34" charset="-122"/>
                <a:cs typeface="Arial" pitchFamily="34" charset="-120"/>
              </a:rPr>
              <a:t>inside the stack</a:t>
            </a:r>
            <a:endParaRPr lang="en-US" sz="800" dirty="0"/>
          </a:p>
          <a:p>
            <a:pPr algn="l" indent="0" marL="0">
              <a:buNone/>
            </a:pPr>
            <a:r>
              <a:rPr lang="en-US" sz="800" dirty="0">
                <a:solidFill>
                  <a:srgbClr val="162033"/>
                </a:solidFill>
                <a:latin typeface="Arial" pitchFamily="34" charset="0"/>
                <a:ea typeface="Arial" pitchFamily="34" charset="-122"/>
                <a:cs typeface="Arial" pitchFamily="34" charset="-120"/>
              </a:rPr>
              <a:t>band offsets and recombination</a:t>
            </a:r>
            <a:endParaRPr lang="en-US" sz="800" dirty="0"/>
          </a:p>
          <a:p>
            <a:pPr algn="l" indent="0" marL="0">
              <a:buNone/>
            </a:pPr>
            <a:r>
              <a:rPr lang="en-US" sz="800" dirty="0">
                <a:solidFill>
                  <a:srgbClr val="162033"/>
                </a:solidFill>
                <a:latin typeface="Arial" pitchFamily="34" charset="0"/>
                <a:ea typeface="Arial" pitchFamily="34" charset="-122"/>
                <a:cs typeface="Arial" pitchFamily="34" charset="-120"/>
              </a:rPr>
              <a:t>not the same as contact BC</a:t>
            </a:r>
            <a:endParaRPr lang="en-US" sz="800" dirty="0"/>
          </a:p>
        </p:txBody>
      </p:sp>
      <p:sp>
        <p:nvSpPr>
          <p:cNvPr id="51" name="Shape 49"/>
          <p:cNvSpPr/>
          <p:nvPr/>
        </p:nvSpPr>
        <p:spPr>
          <a:xfrm>
            <a:off x="3273552" y="4498848"/>
            <a:ext cx="713232" cy="-402336"/>
          </a:xfrm>
          <a:prstGeom prst="line">
            <a:avLst/>
          </a:prstGeom>
          <a:noFill/>
          <a:ln w="12700">
            <a:solidFill>
              <a:srgbClr val="B42318"/>
            </a:solidFill>
            <a:prstDash val="solid"/>
            <a:headEnd type="none"/>
            <a:tailEnd type="triangle"/>
          </a:ln>
        </p:spPr>
      </p:sp>
      <p:sp>
        <p:nvSpPr>
          <p:cNvPr id="52" name="Shape 50"/>
          <p:cNvSpPr/>
          <p:nvPr/>
        </p:nvSpPr>
        <p:spPr>
          <a:xfrm>
            <a:off x="8942832" y="1499616"/>
            <a:ext cx="2487168" cy="987552"/>
          </a:xfrm>
          <a:prstGeom prst="roundRect">
            <a:avLst>
              <a:gd name="adj" fmla="val 7407"/>
            </a:avLst>
          </a:prstGeom>
          <a:solidFill>
            <a:srgbClr val="DCFCE7"/>
          </a:solidFill>
          <a:ln w="12700">
            <a:solidFill>
              <a:srgbClr val="16803C"/>
            </a:solidFill>
            <a:prstDash val="solid"/>
          </a:ln>
        </p:spPr>
      </p:sp>
      <p:sp>
        <p:nvSpPr>
          <p:cNvPr id="53" name="Shape 51"/>
          <p:cNvSpPr/>
          <p:nvPr/>
        </p:nvSpPr>
        <p:spPr>
          <a:xfrm>
            <a:off x="8942832" y="1499616"/>
            <a:ext cx="73152" cy="987552"/>
          </a:xfrm>
          <a:prstGeom prst="rect">
            <a:avLst/>
          </a:prstGeom>
          <a:solidFill>
            <a:srgbClr val="16803C"/>
          </a:solidFill>
          <a:ln w="12700">
            <a:solidFill>
              <a:srgbClr val="16803C">
                <a:alpha val="0"/>
              </a:srgbClr>
            </a:solidFill>
            <a:prstDash val="solid"/>
          </a:ln>
        </p:spPr>
      </p:sp>
      <p:sp>
        <p:nvSpPr>
          <p:cNvPr id="54" name="Text 52"/>
          <p:cNvSpPr/>
          <p:nvPr/>
        </p:nvSpPr>
        <p:spPr>
          <a:xfrm>
            <a:off x="9107424" y="1609344"/>
            <a:ext cx="2194560" cy="201168"/>
          </a:xfrm>
          <a:prstGeom prst="rect">
            <a:avLst/>
          </a:prstGeom>
          <a:noFill/>
          <a:ln/>
        </p:spPr>
        <p:txBody>
          <a:bodyPr wrap="square" lIns="0" tIns="0" rIns="0" bIns="0" rtlCol="0" anchor="t">
            <a:normAutofit/>
          </a:bodyPr>
          <a:lstStyle/>
          <a:p>
            <a:pPr algn="l" indent="0" marL="0">
              <a:buNone/>
            </a:pPr>
            <a:r>
              <a:rPr lang="en-US" sz="900" b="1" dirty="0">
                <a:solidFill>
                  <a:srgbClr val="16803C"/>
                </a:solidFill>
                <a:latin typeface="Arial" pitchFamily="34" charset="0"/>
                <a:ea typeface="Arial" pitchFamily="34" charset="-122"/>
                <a:cs typeface="Arial" pitchFamily="34" charset="-120"/>
              </a:rPr>
              <a:t>Fixed in 2D Poisson</a:t>
            </a:r>
            <a:endParaRPr lang="en-US" sz="900" dirty="0"/>
          </a:p>
        </p:txBody>
      </p:sp>
      <p:sp>
        <p:nvSpPr>
          <p:cNvPr id="55" name="Text 53"/>
          <p:cNvSpPr/>
          <p:nvPr/>
        </p:nvSpPr>
        <p:spPr>
          <a:xfrm>
            <a:off x="9107424" y="1883664"/>
            <a:ext cx="2176272" cy="530352"/>
          </a:xfrm>
          <a:prstGeom prst="rect">
            <a:avLst/>
          </a:prstGeom>
          <a:noFill/>
          <a:ln/>
        </p:spPr>
        <p:txBody>
          <a:bodyPr wrap="square" lIns="0" tIns="0" rIns="0" bIns="0" rtlCol="0" anchor="t">
            <a:normAutofit/>
          </a:bodyPr>
          <a:lstStyle/>
          <a:p>
            <a:pPr algn="l" indent="0" marL="0">
              <a:buNone/>
            </a:pPr>
            <a:r>
              <a:rPr lang="en-US" sz="820" dirty="0">
                <a:solidFill>
                  <a:srgbClr val="162033"/>
                </a:solidFill>
                <a:latin typeface="Arial" pitchFamily="34" charset="0"/>
                <a:ea typeface="Arial" pitchFamily="34" charset="-122"/>
                <a:cs typeface="Arial" pitchFamily="34" charset="-120"/>
              </a:rPr>
              <a:t>φ=0 and φ=Vᵦᵢ-Vₐₚₚ</a:t>
            </a:r>
            <a:endParaRPr lang="en-US" sz="820" dirty="0"/>
          </a:p>
          <a:p>
            <a:pPr algn="l" indent="0" marL="0">
              <a:buNone/>
            </a:pPr>
            <a:r>
              <a:rPr lang="en-US" sz="820" dirty="0">
                <a:solidFill>
                  <a:srgbClr val="162033"/>
                </a:solidFill>
                <a:latin typeface="Arial" pitchFamily="34" charset="0"/>
                <a:ea typeface="Arial" pitchFamily="34" charset="-122"/>
                <a:cs typeface="Arial" pitchFamily="34" charset="-120"/>
              </a:rPr>
              <a:t>Dirichlet electrode potentials</a:t>
            </a:r>
            <a:endParaRPr lang="en-US" sz="820" dirty="0"/>
          </a:p>
        </p:txBody>
      </p:sp>
      <p:sp>
        <p:nvSpPr>
          <p:cNvPr id="56" name="Shape 54"/>
          <p:cNvSpPr/>
          <p:nvPr/>
        </p:nvSpPr>
        <p:spPr>
          <a:xfrm>
            <a:off x="8796528" y="1993392"/>
            <a:ext cx="-585216" cy="-512064"/>
          </a:xfrm>
          <a:prstGeom prst="line">
            <a:avLst/>
          </a:prstGeom>
          <a:noFill/>
          <a:ln w="12700">
            <a:solidFill>
              <a:srgbClr val="16803C"/>
            </a:solidFill>
            <a:prstDash val="solid"/>
            <a:headEnd type="none"/>
            <a:tailEnd type="triangle"/>
          </a:ln>
        </p:spPr>
      </p:sp>
      <p:sp>
        <p:nvSpPr>
          <p:cNvPr id="57" name="Shape 55"/>
          <p:cNvSpPr/>
          <p:nvPr/>
        </p:nvSpPr>
        <p:spPr>
          <a:xfrm>
            <a:off x="8796528" y="1993392"/>
            <a:ext cx="-585216" cy="2999232"/>
          </a:xfrm>
          <a:prstGeom prst="line">
            <a:avLst/>
          </a:prstGeom>
          <a:noFill/>
          <a:ln w="12700">
            <a:solidFill>
              <a:srgbClr val="16803C"/>
            </a:solidFill>
            <a:prstDash val="solid"/>
            <a:headEnd type="none"/>
            <a:tailEnd type="triangle"/>
          </a:ln>
        </p:spPr>
      </p:sp>
      <p:sp>
        <p:nvSpPr>
          <p:cNvPr id="58" name="Shape 56"/>
          <p:cNvSpPr/>
          <p:nvPr/>
        </p:nvSpPr>
        <p:spPr>
          <a:xfrm>
            <a:off x="8942832" y="2761488"/>
            <a:ext cx="2487168" cy="987552"/>
          </a:xfrm>
          <a:prstGeom prst="roundRect">
            <a:avLst>
              <a:gd name="adj" fmla="val 7407"/>
            </a:avLst>
          </a:prstGeom>
          <a:solidFill>
            <a:srgbClr val="DBEAFE"/>
          </a:solidFill>
          <a:ln w="12700">
            <a:solidFill>
              <a:srgbClr val="2563EB"/>
            </a:solidFill>
            <a:prstDash val="solid"/>
          </a:ln>
        </p:spPr>
      </p:sp>
      <p:sp>
        <p:nvSpPr>
          <p:cNvPr id="59" name="Shape 57"/>
          <p:cNvSpPr/>
          <p:nvPr/>
        </p:nvSpPr>
        <p:spPr>
          <a:xfrm>
            <a:off x="8942832" y="2761488"/>
            <a:ext cx="73152" cy="987552"/>
          </a:xfrm>
          <a:prstGeom prst="rect">
            <a:avLst/>
          </a:prstGeom>
          <a:solidFill>
            <a:srgbClr val="2563EB"/>
          </a:solidFill>
          <a:ln w="12700">
            <a:solidFill>
              <a:srgbClr val="2563EB">
                <a:alpha val="0"/>
              </a:srgbClr>
            </a:solidFill>
            <a:prstDash val="solid"/>
          </a:ln>
        </p:spPr>
      </p:sp>
      <p:sp>
        <p:nvSpPr>
          <p:cNvPr id="60" name="Text 58"/>
          <p:cNvSpPr/>
          <p:nvPr/>
        </p:nvSpPr>
        <p:spPr>
          <a:xfrm>
            <a:off x="9107424" y="2871216"/>
            <a:ext cx="2194560" cy="201168"/>
          </a:xfrm>
          <a:prstGeom prst="rect">
            <a:avLst/>
          </a:prstGeom>
          <a:noFill/>
          <a:ln/>
        </p:spPr>
        <p:txBody>
          <a:bodyPr wrap="square" lIns="0" tIns="0" rIns="0" bIns="0" rtlCol="0" anchor="t">
            <a:normAutofit/>
          </a:bodyPr>
          <a:lstStyle/>
          <a:p>
            <a:pPr algn="l" indent="0" marL="0">
              <a:buNone/>
            </a:pPr>
            <a:r>
              <a:rPr lang="en-US" sz="900" b="1" dirty="0">
                <a:solidFill>
                  <a:srgbClr val="2563EB"/>
                </a:solidFill>
                <a:latin typeface="Arial" pitchFamily="34" charset="0"/>
                <a:ea typeface="Arial" pitchFamily="34" charset="-122"/>
                <a:cs typeface="Arial" pitchFamily="34" charset="-120"/>
              </a:rPr>
              <a:t>Configurable in 2D Run</a:t>
            </a:r>
            <a:endParaRPr lang="en-US" sz="900" dirty="0"/>
          </a:p>
        </p:txBody>
      </p:sp>
      <p:sp>
        <p:nvSpPr>
          <p:cNvPr id="61" name="Text 59"/>
          <p:cNvSpPr/>
          <p:nvPr/>
        </p:nvSpPr>
        <p:spPr>
          <a:xfrm>
            <a:off x="9107424" y="3145536"/>
            <a:ext cx="2176272" cy="530352"/>
          </a:xfrm>
          <a:prstGeom prst="rect">
            <a:avLst/>
          </a:prstGeom>
          <a:noFill/>
          <a:ln/>
        </p:spPr>
        <p:txBody>
          <a:bodyPr wrap="square" lIns="0" tIns="0" rIns="0" bIns="0" rtlCol="0" anchor="t">
            <a:normAutofit/>
          </a:bodyPr>
          <a:lstStyle/>
          <a:p>
            <a:pPr algn="l" indent="0" marL="0">
              <a:buNone/>
            </a:pPr>
            <a:r>
              <a:rPr lang="en-US" sz="820" dirty="0">
                <a:solidFill>
                  <a:srgbClr val="162033"/>
                </a:solidFill>
                <a:latin typeface="Arial" pitchFamily="34" charset="0"/>
                <a:ea typeface="Arial" pitchFamily="34" charset="-122"/>
                <a:cs typeface="Arial" pitchFamily="34" charset="-120"/>
              </a:rPr>
              <a:t>`lateral_bc`</a:t>
            </a:r>
            <a:endParaRPr lang="en-US" sz="820" dirty="0"/>
          </a:p>
          <a:p>
            <a:pPr algn="l" indent="0" marL="0">
              <a:buNone/>
            </a:pPr>
            <a:r>
              <a:rPr lang="en-US" sz="820" dirty="0">
                <a:solidFill>
                  <a:srgbClr val="162033"/>
                </a:solidFill>
                <a:latin typeface="Arial" pitchFamily="34" charset="0"/>
                <a:ea typeface="Arial" pitchFamily="34" charset="-122"/>
                <a:cs typeface="Arial" pitchFamily="34" charset="-120"/>
              </a:rPr>
              <a:t>periodic or neumann</a:t>
            </a:r>
            <a:endParaRPr lang="en-US" sz="820" dirty="0"/>
          </a:p>
          <a:p>
            <a:pPr algn="l" indent="0" marL="0">
              <a:buNone/>
            </a:pPr>
            <a:r>
              <a:rPr lang="en-US" sz="820" dirty="0">
                <a:solidFill>
                  <a:srgbClr val="162033"/>
                </a:solidFill>
                <a:latin typeface="Arial" pitchFamily="34" charset="0"/>
                <a:ea typeface="Arial" pitchFamily="34" charset="-122"/>
                <a:cs typeface="Arial" pitchFamily="34" charset="-120"/>
              </a:rPr>
              <a:t>used by Poisson + continuity</a:t>
            </a:r>
            <a:endParaRPr lang="en-US" sz="820" dirty="0"/>
          </a:p>
        </p:txBody>
      </p:sp>
      <p:sp>
        <p:nvSpPr>
          <p:cNvPr id="62" name="Shape 60"/>
          <p:cNvSpPr/>
          <p:nvPr/>
        </p:nvSpPr>
        <p:spPr>
          <a:xfrm>
            <a:off x="8796528" y="3246120"/>
            <a:ext cx="-585216" cy="-457200"/>
          </a:xfrm>
          <a:prstGeom prst="line">
            <a:avLst/>
          </a:prstGeom>
          <a:noFill/>
          <a:ln w="12700">
            <a:solidFill>
              <a:srgbClr val="2563EB"/>
            </a:solidFill>
            <a:prstDash val="solid"/>
            <a:headEnd type="none"/>
            <a:tailEnd type="triangle"/>
          </a:ln>
        </p:spPr>
      </p:sp>
      <p:sp>
        <p:nvSpPr>
          <p:cNvPr id="63" name="Shape 61"/>
          <p:cNvSpPr/>
          <p:nvPr/>
        </p:nvSpPr>
        <p:spPr>
          <a:xfrm>
            <a:off x="8942832" y="4023360"/>
            <a:ext cx="2487168" cy="987552"/>
          </a:xfrm>
          <a:prstGeom prst="roundRect">
            <a:avLst>
              <a:gd name="adj" fmla="val 7407"/>
            </a:avLst>
          </a:prstGeom>
          <a:solidFill>
            <a:srgbClr val="EDE9FE"/>
          </a:solidFill>
          <a:ln w="12700">
            <a:solidFill>
              <a:srgbClr val="6D28D9"/>
            </a:solidFill>
            <a:prstDash val="solid"/>
          </a:ln>
        </p:spPr>
      </p:sp>
      <p:sp>
        <p:nvSpPr>
          <p:cNvPr id="64" name="Shape 62"/>
          <p:cNvSpPr/>
          <p:nvPr/>
        </p:nvSpPr>
        <p:spPr>
          <a:xfrm>
            <a:off x="8942832" y="4023360"/>
            <a:ext cx="73152" cy="987552"/>
          </a:xfrm>
          <a:prstGeom prst="rect">
            <a:avLst/>
          </a:prstGeom>
          <a:solidFill>
            <a:srgbClr val="6D28D9"/>
          </a:solidFill>
          <a:ln w="12700">
            <a:solidFill>
              <a:srgbClr val="6D28D9">
                <a:alpha val="0"/>
              </a:srgbClr>
            </a:solidFill>
            <a:prstDash val="solid"/>
          </a:ln>
        </p:spPr>
      </p:sp>
      <p:sp>
        <p:nvSpPr>
          <p:cNvPr id="65" name="Text 63"/>
          <p:cNvSpPr/>
          <p:nvPr/>
        </p:nvSpPr>
        <p:spPr>
          <a:xfrm>
            <a:off x="9107424" y="4133088"/>
            <a:ext cx="2194560" cy="201168"/>
          </a:xfrm>
          <a:prstGeom prst="rect">
            <a:avLst/>
          </a:prstGeom>
          <a:noFill/>
          <a:ln/>
        </p:spPr>
        <p:txBody>
          <a:bodyPr wrap="square" lIns="0" tIns="0" rIns="0" bIns="0" rtlCol="0" anchor="t">
            <a:normAutofit/>
          </a:bodyPr>
          <a:lstStyle/>
          <a:p>
            <a:pPr algn="l" indent="0" marL="0">
              <a:buNone/>
            </a:pPr>
            <a:r>
              <a:rPr lang="en-US" sz="900" b="1" dirty="0">
                <a:solidFill>
                  <a:srgbClr val="6D28D9"/>
                </a:solidFill>
                <a:latin typeface="Arial" pitchFamily="34" charset="0"/>
                <a:ea typeface="Arial" pitchFamily="34" charset="-122"/>
                <a:cs typeface="Arial" pitchFamily="34" charset="-120"/>
              </a:rPr>
              <a:t>Configurable by S</a:t>
            </a:r>
            <a:endParaRPr lang="en-US" sz="900" dirty="0"/>
          </a:p>
        </p:txBody>
      </p:sp>
      <p:sp>
        <p:nvSpPr>
          <p:cNvPr id="66" name="Text 64"/>
          <p:cNvSpPr/>
          <p:nvPr/>
        </p:nvSpPr>
        <p:spPr>
          <a:xfrm>
            <a:off x="9107424" y="4407408"/>
            <a:ext cx="2176272" cy="530352"/>
          </a:xfrm>
          <a:prstGeom prst="rect">
            <a:avLst/>
          </a:prstGeom>
          <a:noFill/>
          <a:ln/>
        </p:spPr>
        <p:txBody>
          <a:bodyPr wrap="square" lIns="0" tIns="0" rIns="0" bIns="0" rtlCol="0" anchor="t">
            <a:normAutofit/>
          </a:bodyPr>
          <a:lstStyle/>
          <a:p>
            <a:pPr algn="l" indent="0" marL="0">
              <a:buNone/>
            </a:pPr>
            <a:r>
              <a:rPr lang="en-US" sz="820" dirty="0">
                <a:solidFill>
                  <a:srgbClr val="162033"/>
                </a:solidFill>
                <a:latin typeface="Arial" pitchFamily="34" charset="0"/>
                <a:ea typeface="Arial" pitchFamily="34" charset="-122"/>
                <a:cs typeface="Arial" pitchFamily="34" charset="-120"/>
              </a:rPr>
              <a:t>Sₙ, Sₚ fields</a:t>
            </a:r>
            <a:endParaRPr lang="en-US" sz="820" dirty="0"/>
          </a:p>
          <a:p>
            <a:pPr algn="l" indent="0" marL="0">
              <a:buNone/>
            </a:pPr>
            <a:r>
              <a:rPr lang="en-US" sz="820" dirty="0">
                <a:solidFill>
                  <a:srgbClr val="162033"/>
                </a:solidFill>
                <a:latin typeface="Arial" pitchFamily="34" charset="0"/>
                <a:ea typeface="Arial" pitchFamily="34" charset="-122"/>
                <a:cs typeface="Arial" pitchFamily="34" charset="-120"/>
              </a:rPr>
              <a:t>missing: ohmic pin</a:t>
            </a:r>
            <a:endParaRPr lang="en-US" sz="820" dirty="0"/>
          </a:p>
          <a:p>
            <a:pPr algn="l" indent="0" marL="0">
              <a:buNone/>
            </a:pPr>
            <a:r>
              <a:rPr lang="en-US" sz="820" dirty="0">
                <a:solidFill>
                  <a:srgbClr val="162033"/>
                </a:solidFill>
                <a:latin typeface="Arial" pitchFamily="34" charset="0"/>
                <a:ea typeface="Arial" pitchFamily="34" charset="-122"/>
                <a:cs typeface="Arial" pitchFamily="34" charset="-120"/>
              </a:rPr>
              <a:t>finite: Robin contact</a:t>
            </a:r>
            <a:endParaRPr lang="en-US" sz="820" dirty="0"/>
          </a:p>
        </p:txBody>
      </p:sp>
      <p:sp>
        <p:nvSpPr>
          <p:cNvPr id="67" name="Shape 65"/>
          <p:cNvSpPr/>
          <p:nvPr/>
        </p:nvSpPr>
        <p:spPr>
          <a:xfrm>
            <a:off x="8796528" y="4517136"/>
            <a:ext cx="-585216" cy="457200"/>
          </a:xfrm>
          <a:prstGeom prst="line">
            <a:avLst/>
          </a:prstGeom>
          <a:noFill/>
          <a:ln w="12700">
            <a:solidFill>
              <a:srgbClr val="6D28D9"/>
            </a:solidFill>
            <a:prstDash val="solid"/>
            <a:headEnd type="none"/>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20624" y="201168"/>
            <a:ext cx="1129284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Contact Boundary Conditions: Ohmic, Blocking, and Robin</a:t>
            </a:r>
            <a:endParaRPr lang="en-US" sz="2100" dirty="0"/>
          </a:p>
        </p:txBody>
      </p:sp>
      <p:sp>
        <p:nvSpPr>
          <p:cNvPr id="3" name="Text 1"/>
          <p:cNvSpPr/>
          <p:nvPr/>
        </p:nvSpPr>
        <p:spPr>
          <a:xfrm>
            <a:off x="429768" y="621792"/>
            <a:ext cx="11018520" cy="237744"/>
          </a:xfrm>
          <a:prstGeom prst="rect">
            <a:avLst/>
          </a:prstGeom>
          <a:noFill/>
          <a:ln/>
        </p:spPr>
        <p:txBody>
          <a:bodyPr wrap="square" lIns="0" tIns="0" rIns="0" bIns="0" rtlCol="0" anchor="t">
            <a:normAutofit/>
          </a:bodyPr>
          <a:lstStyle/>
          <a:p>
            <a:pPr algn="l" indent="0" marL="0">
              <a:buNone/>
            </a:pPr>
            <a:r>
              <a:rPr lang="en-US" sz="1120" dirty="0">
                <a:solidFill>
                  <a:srgbClr val="334155"/>
                </a:solidFill>
                <a:latin typeface="Arial" pitchFamily="34" charset="0"/>
                <a:ea typeface="Arial" pitchFamily="34" charset="-122"/>
                <a:cs typeface="Arial" pitchFamily="34" charset="-120"/>
              </a:rPr>
              <a:t>Contact BCs describe how the external electrodes exchange electrons and holes with the simulated device boundary rows.</a:t>
            </a:r>
            <a:endParaRPr lang="en-US" sz="1120" dirty="0"/>
          </a:p>
        </p:txBody>
      </p:sp>
      <p:sp>
        <p:nvSpPr>
          <p:cNvPr id="4" name="Shape 2"/>
          <p:cNvSpPr/>
          <p:nvPr/>
        </p:nvSpPr>
        <p:spPr>
          <a:xfrm>
            <a:off x="0" y="6336792"/>
            <a:ext cx="12191695" cy="521208"/>
          </a:xfrm>
          <a:prstGeom prst="rect">
            <a:avLst/>
          </a:prstGeom>
          <a:solidFill>
            <a:srgbClr val="EAF2FF"/>
          </a:solidFill>
          <a:ln w="12700">
            <a:solidFill>
              <a:srgbClr val="EAF2FF">
                <a:alpha val="0"/>
              </a:srgbClr>
            </a:solidFill>
            <a:prstDash val="solid"/>
          </a:ln>
        </p:spPr>
      </p:sp>
      <p:sp>
        <p:nvSpPr>
          <p:cNvPr id="5" name="Text 3"/>
          <p:cNvSpPr/>
          <p:nvPr/>
        </p:nvSpPr>
        <p:spPr>
          <a:xfrm>
            <a:off x="457200" y="6473952"/>
            <a:ext cx="11201400" cy="182880"/>
          </a:xfrm>
          <a:prstGeom prst="rect">
            <a:avLst/>
          </a:prstGeom>
          <a:noFill/>
          <a:ln/>
        </p:spPr>
        <p:txBody>
          <a:bodyPr wrap="square" lIns="0" tIns="0" rIns="0" bIns="0" rtlCol="0" anchor="t">
            <a:normAutofit/>
          </a:bodyPr>
          <a:lstStyle/>
          <a:p>
            <a:pPr algn="ctr" indent="0" marL="0">
              <a:buNone/>
            </a:pPr>
            <a:r>
              <a:rPr lang="en-US" sz="1060" b="1" dirty="0">
                <a:solidFill>
                  <a:srgbClr val="162033"/>
                </a:solidFill>
                <a:latin typeface="Arial" pitchFamily="34" charset="0"/>
                <a:ea typeface="Arial" pitchFamily="34" charset="-122"/>
                <a:cs typeface="Arial" pitchFamily="34" charset="-120"/>
              </a:rPr>
              <a:t>Takeaway: SolarLab switches contact behavior through the S fields; missing S gives the ohmic Dirichlet pin, S=0 blocks flux, and finite S gives Robin selective contact.</a:t>
            </a:r>
            <a:endParaRPr lang="en-US" sz="1060" dirty="0"/>
          </a:p>
        </p:txBody>
      </p:sp>
      <p:sp>
        <p:nvSpPr>
          <p:cNvPr id="6" name="Shape 4"/>
          <p:cNvSpPr/>
          <p:nvPr/>
        </p:nvSpPr>
        <p:spPr>
          <a:xfrm>
            <a:off x="438912" y="1005840"/>
            <a:ext cx="11301984" cy="5010912"/>
          </a:xfrm>
          <a:prstGeom prst="roundRect">
            <a:avLst>
              <a:gd name="adj" fmla="val 1460"/>
            </a:avLst>
          </a:prstGeom>
          <a:solidFill>
            <a:srgbClr val="FFFFFF"/>
          </a:solidFill>
          <a:ln w="12700">
            <a:solidFill>
              <a:srgbClr val="CBD5E1"/>
            </a:solidFill>
            <a:prstDash val="solid"/>
          </a:ln>
        </p:spPr>
      </p:sp>
      <p:sp>
        <p:nvSpPr>
          <p:cNvPr id="7" name="Shape 5"/>
          <p:cNvSpPr/>
          <p:nvPr/>
        </p:nvSpPr>
        <p:spPr>
          <a:xfrm>
            <a:off x="713232" y="1298448"/>
            <a:ext cx="2907792" cy="4389120"/>
          </a:xfrm>
          <a:prstGeom prst="roundRect">
            <a:avLst>
              <a:gd name="adj" fmla="val 2516"/>
            </a:avLst>
          </a:prstGeom>
          <a:solidFill>
            <a:srgbClr val="F8FAFC"/>
          </a:solidFill>
          <a:ln w="12700">
            <a:solidFill>
              <a:srgbClr val="CBD5E1"/>
            </a:solidFill>
            <a:prstDash val="solid"/>
          </a:ln>
        </p:spPr>
      </p:sp>
      <p:sp>
        <p:nvSpPr>
          <p:cNvPr id="8" name="Text 6"/>
          <p:cNvSpPr/>
          <p:nvPr/>
        </p:nvSpPr>
        <p:spPr>
          <a:xfrm>
            <a:off x="914400" y="1463040"/>
            <a:ext cx="2468880" cy="228600"/>
          </a:xfrm>
          <a:prstGeom prst="rect">
            <a:avLst/>
          </a:prstGeom>
          <a:noFill/>
          <a:ln/>
        </p:spPr>
        <p:txBody>
          <a:bodyPr wrap="square" lIns="0" tIns="0" rIns="0" bIns="0" rtlCol="0" anchor="t">
            <a:normAutofit/>
          </a:bodyPr>
          <a:lstStyle/>
          <a:p>
            <a:pPr algn="ctr" indent="0" marL="0">
              <a:buNone/>
            </a:pPr>
            <a:r>
              <a:rPr lang="en-US" sz="1200" b="1" dirty="0">
                <a:solidFill>
                  <a:srgbClr val="16803C"/>
                </a:solidFill>
                <a:latin typeface="Arial" pitchFamily="34" charset="0"/>
                <a:ea typeface="Arial" pitchFamily="34" charset="-122"/>
                <a:cs typeface="Arial" pitchFamily="34" charset="-120"/>
              </a:rPr>
              <a:t>Ohmic Dirichlet</a:t>
            </a:r>
            <a:endParaRPr lang="en-US" sz="1200" dirty="0"/>
          </a:p>
        </p:txBody>
      </p:sp>
      <p:sp>
        <p:nvSpPr>
          <p:cNvPr id="9" name="Shape 7"/>
          <p:cNvSpPr/>
          <p:nvPr/>
        </p:nvSpPr>
        <p:spPr>
          <a:xfrm>
            <a:off x="1225296" y="1792224"/>
            <a:ext cx="1883664" cy="292608"/>
          </a:xfrm>
          <a:prstGeom prst="roundRect">
            <a:avLst>
              <a:gd name="adj" fmla="val 37500"/>
            </a:avLst>
          </a:prstGeom>
          <a:solidFill>
            <a:srgbClr val="DCFCE7"/>
          </a:solidFill>
          <a:ln w="12700">
            <a:solidFill>
              <a:srgbClr val="16803C"/>
            </a:solidFill>
            <a:prstDash val="solid"/>
          </a:ln>
        </p:spPr>
      </p:sp>
      <p:sp>
        <p:nvSpPr>
          <p:cNvPr id="10" name="Text 8"/>
          <p:cNvSpPr/>
          <p:nvPr/>
        </p:nvSpPr>
        <p:spPr>
          <a:xfrm>
            <a:off x="1271016" y="1865376"/>
            <a:ext cx="1792224" cy="109728"/>
          </a:xfrm>
          <a:prstGeom prst="rect">
            <a:avLst/>
          </a:prstGeom>
          <a:noFill/>
          <a:ln/>
        </p:spPr>
        <p:txBody>
          <a:bodyPr wrap="square" lIns="0" tIns="0" rIns="0" bIns="0" rtlCol="0" anchor="t">
            <a:normAutofit/>
          </a:bodyPr>
          <a:lstStyle/>
          <a:p>
            <a:pPr algn="ctr" indent="0" marL="0">
              <a:buNone/>
            </a:pPr>
            <a:r>
              <a:rPr lang="en-US" sz="720" b="1" dirty="0">
                <a:solidFill>
                  <a:srgbClr val="16803C"/>
                </a:solidFill>
                <a:latin typeface="Arial" pitchFamily="34" charset="0"/>
                <a:ea typeface="Arial" pitchFamily="34" charset="-122"/>
                <a:cs typeface="Arial" pitchFamily="34" charset="-120"/>
              </a:rPr>
              <a:t>missing or null S</a:t>
            </a:r>
            <a:endParaRPr lang="en-US" sz="720" dirty="0"/>
          </a:p>
        </p:txBody>
      </p:sp>
      <p:sp>
        <p:nvSpPr>
          <p:cNvPr id="11" name="Shape 9"/>
          <p:cNvSpPr/>
          <p:nvPr/>
        </p:nvSpPr>
        <p:spPr>
          <a:xfrm>
            <a:off x="1024128" y="2267712"/>
            <a:ext cx="530352" cy="1600200"/>
          </a:xfrm>
          <a:prstGeom prst="rect">
            <a:avLst/>
          </a:prstGeom>
          <a:solidFill>
            <a:srgbClr val="E2E8F0"/>
          </a:solidFill>
          <a:ln w="12700">
            <a:solidFill>
              <a:srgbClr val="334155"/>
            </a:solidFill>
            <a:prstDash val="solid"/>
          </a:ln>
        </p:spPr>
      </p:sp>
      <p:sp>
        <p:nvSpPr>
          <p:cNvPr id="12" name="Shape 10"/>
          <p:cNvSpPr/>
          <p:nvPr/>
        </p:nvSpPr>
        <p:spPr>
          <a:xfrm>
            <a:off x="1554480" y="2267712"/>
            <a:ext cx="1719072" cy="1600200"/>
          </a:xfrm>
          <a:prstGeom prst="rect">
            <a:avLst/>
          </a:prstGeom>
          <a:solidFill>
            <a:srgbClr val="DBEAFE"/>
          </a:solidFill>
          <a:ln w="12700">
            <a:solidFill>
              <a:srgbClr val="2563EB"/>
            </a:solidFill>
            <a:prstDash val="solid"/>
          </a:ln>
        </p:spPr>
      </p:sp>
      <p:sp>
        <p:nvSpPr>
          <p:cNvPr id="13" name="Text 11"/>
          <p:cNvSpPr/>
          <p:nvPr/>
        </p:nvSpPr>
        <p:spPr>
          <a:xfrm>
            <a:off x="1033272" y="3968496"/>
            <a:ext cx="594360" cy="128016"/>
          </a:xfrm>
          <a:prstGeom prst="rect">
            <a:avLst/>
          </a:prstGeom>
          <a:noFill/>
          <a:ln/>
        </p:spPr>
        <p:txBody>
          <a:bodyPr wrap="square" lIns="0" tIns="0" rIns="0" bIns="0" rtlCol="0" anchor="t">
            <a:normAutofit/>
          </a:bodyPr>
          <a:lstStyle/>
          <a:p>
            <a:pPr algn="ctr" indent="0" marL="0">
              <a:buNone/>
            </a:pPr>
            <a:r>
              <a:rPr lang="en-US" sz="700" dirty="0">
                <a:solidFill>
                  <a:srgbClr val="334155"/>
                </a:solidFill>
                <a:latin typeface="Arial" pitchFamily="34" charset="0"/>
                <a:ea typeface="Arial" pitchFamily="34" charset="-122"/>
                <a:cs typeface="Arial" pitchFamily="34" charset="-120"/>
              </a:rPr>
              <a:t>electrode</a:t>
            </a:r>
            <a:endParaRPr lang="en-US" sz="700" dirty="0"/>
          </a:p>
        </p:txBody>
      </p:sp>
      <p:sp>
        <p:nvSpPr>
          <p:cNvPr id="14" name="Text 12"/>
          <p:cNvSpPr/>
          <p:nvPr/>
        </p:nvSpPr>
        <p:spPr>
          <a:xfrm>
            <a:off x="1792224" y="3968496"/>
            <a:ext cx="1243584" cy="128016"/>
          </a:xfrm>
          <a:prstGeom prst="rect">
            <a:avLst/>
          </a:prstGeom>
          <a:noFill/>
          <a:ln/>
        </p:spPr>
        <p:txBody>
          <a:bodyPr wrap="square" lIns="0" tIns="0" rIns="0" bIns="0" rtlCol="0" anchor="t">
            <a:normAutofit/>
          </a:bodyPr>
          <a:lstStyle/>
          <a:p>
            <a:pPr algn="ctr" indent="0" marL="0">
              <a:buNone/>
            </a:pPr>
            <a:r>
              <a:rPr lang="en-US" sz="700" dirty="0">
                <a:solidFill>
                  <a:srgbClr val="2563EB"/>
                </a:solidFill>
                <a:latin typeface="Arial" pitchFamily="34" charset="0"/>
                <a:ea typeface="Arial" pitchFamily="34" charset="-122"/>
                <a:cs typeface="Arial" pitchFamily="34" charset="-120"/>
              </a:rPr>
              <a:t>semiconductor</a:t>
            </a:r>
            <a:endParaRPr lang="en-US" sz="700" dirty="0"/>
          </a:p>
        </p:txBody>
      </p:sp>
      <p:sp>
        <p:nvSpPr>
          <p:cNvPr id="15" name="Shape 13"/>
          <p:cNvSpPr/>
          <p:nvPr/>
        </p:nvSpPr>
        <p:spPr>
          <a:xfrm>
            <a:off x="1554480" y="2267712"/>
            <a:ext cx="0" cy="1600200"/>
          </a:xfrm>
          <a:prstGeom prst="line">
            <a:avLst/>
          </a:prstGeom>
          <a:noFill/>
          <a:ln w="12700">
            <a:solidFill>
              <a:srgbClr val="16803C"/>
            </a:solidFill>
            <a:prstDash val="solid"/>
            <a:headEnd type="none"/>
            <a:tailEnd type="none"/>
          </a:ln>
        </p:spPr>
      </p:sp>
      <p:sp>
        <p:nvSpPr>
          <p:cNvPr id="16" name="Shape 14"/>
          <p:cNvSpPr/>
          <p:nvPr/>
        </p:nvSpPr>
        <p:spPr>
          <a:xfrm>
            <a:off x="1737360" y="2852928"/>
            <a:ext cx="1307592" cy="0"/>
          </a:xfrm>
          <a:prstGeom prst="line">
            <a:avLst/>
          </a:prstGeom>
          <a:noFill/>
          <a:ln w="12700">
            <a:solidFill>
              <a:srgbClr val="16803C"/>
            </a:solidFill>
            <a:prstDash val="solid"/>
            <a:headEnd type="none"/>
            <a:tailEnd type="none"/>
          </a:ln>
        </p:spPr>
      </p:sp>
      <p:sp>
        <p:nvSpPr>
          <p:cNvPr id="17" name="Shape 15"/>
          <p:cNvSpPr/>
          <p:nvPr/>
        </p:nvSpPr>
        <p:spPr>
          <a:xfrm>
            <a:off x="1737360" y="3246120"/>
            <a:ext cx="1307592" cy="0"/>
          </a:xfrm>
          <a:prstGeom prst="line">
            <a:avLst/>
          </a:prstGeom>
          <a:noFill/>
          <a:ln w="12700">
            <a:solidFill>
              <a:srgbClr val="16803C"/>
            </a:solidFill>
            <a:prstDash val="solid"/>
            <a:headEnd type="none"/>
            <a:tailEnd type="none"/>
          </a:ln>
        </p:spPr>
      </p:sp>
      <p:sp>
        <p:nvSpPr>
          <p:cNvPr id="18" name="Text 16"/>
          <p:cNvSpPr/>
          <p:nvPr/>
        </p:nvSpPr>
        <p:spPr>
          <a:xfrm>
            <a:off x="1700784" y="2487168"/>
            <a:ext cx="1463040" cy="128016"/>
          </a:xfrm>
          <a:prstGeom prst="rect">
            <a:avLst/>
          </a:prstGeom>
          <a:noFill/>
          <a:ln/>
        </p:spPr>
        <p:txBody>
          <a:bodyPr wrap="square" lIns="0" tIns="0" rIns="0" bIns="0" rtlCol="0" anchor="t">
            <a:normAutofit/>
          </a:bodyPr>
          <a:lstStyle/>
          <a:p>
            <a:pPr algn="ctr" indent="0" marL="0">
              <a:buNone/>
            </a:pPr>
            <a:r>
              <a:rPr lang="en-US" sz="720" dirty="0">
                <a:solidFill>
                  <a:srgbClr val="16803C"/>
                </a:solidFill>
                <a:latin typeface="Arial" pitchFamily="34" charset="0"/>
                <a:ea typeface="Arial" pitchFamily="34" charset="-122"/>
                <a:cs typeface="Arial" pitchFamily="34" charset="-120"/>
              </a:rPr>
              <a:t>fixed boundary value</a:t>
            </a:r>
            <a:endParaRPr lang="en-US" sz="720" dirty="0"/>
          </a:p>
        </p:txBody>
      </p:sp>
      <p:sp>
        <p:nvSpPr>
          <p:cNvPr id="19" name="Shape 17"/>
          <p:cNvSpPr/>
          <p:nvPr/>
        </p:nvSpPr>
        <p:spPr>
          <a:xfrm>
            <a:off x="1042416" y="4315968"/>
            <a:ext cx="2249424" cy="841248"/>
          </a:xfrm>
          <a:prstGeom prst="roundRect">
            <a:avLst>
              <a:gd name="adj" fmla="val 8696"/>
            </a:avLst>
          </a:prstGeom>
          <a:solidFill>
            <a:srgbClr val="FFFFFF"/>
          </a:solidFill>
          <a:ln w="12700">
            <a:solidFill>
              <a:srgbClr val="16803C"/>
            </a:solidFill>
            <a:prstDash val="solid"/>
          </a:ln>
        </p:spPr>
      </p:sp>
      <p:sp>
        <p:nvSpPr>
          <p:cNvPr id="20" name="Shape 18"/>
          <p:cNvSpPr/>
          <p:nvPr/>
        </p:nvSpPr>
        <p:spPr>
          <a:xfrm>
            <a:off x="1042416" y="4315968"/>
            <a:ext cx="73152" cy="841248"/>
          </a:xfrm>
          <a:prstGeom prst="rect">
            <a:avLst/>
          </a:prstGeom>
          <a:solidFill>
            <a:srgbClr val="16803C"/>
          </a:solidFill>
          <a:ln w="12700">
            <a:solidFill>
              <a:srgbClr val="16803C">
                <a:alpha val="0"/>
              </a:srgbClr>
            </a:solidFill>
            <a:prstDash val="solid"/>
          </a:ln>
        </p:spPr>
      </p:sp>
      <p:sp>
        <p:nvSpPr>
          <p:cNvPr id="21" name="Text 19"/>
          <p:cNvSpPr/>
          <p:nvPr/>
        </p:nvSpPr>
        <p:spPr>
          <a:xfrm>
            <a:off x="1207008" y="4425696"/>
            <a:ext cx="1956816" cy="201168"/>
          </a:xfrm>
          <a:prstGeom prst="rect">
            <a:avLst/>
          </a:prstGeom>
          <a:noFill/>
          <a:ln/>
        </p:spPr>
        <p:txBody>
          <a:bodyPr wrap="square" lIns="0" tIns="0" rIns="0" bIns="0" rtlCol="0" anchor="t">
            <a:normAutofit/>
          </a:bodyPr>
          <a:lstStyle/>
          <a:p>
            <a:pPr algn="l" indent="0" marL="0">
              <a:buNone/>
            </a:pPr>
            <a:r>
              <a:rPr lang="en-US" sz="720" b="1" dirty="0">
                <a:solidFill>
                  <a:srgbClr val="16803C"/>
                </a:solidFill>
                <a:latin typeface="Arial" pitchFamily="34" charset="0"/>
                <a:ea typeface="Arial" pitchFamily="34" charset="-122"/>
                <a:cs typeface="Arial" pitchFamily="34" charset="-120"/>
              </a:rPr>
              <a:t>BC equation</a:t>
            </a:r>
            <a:endParaRPr lang="en-US" sz="720" dirty="0"/>
          </a:p>
        </p:txBody>
      </p:sp>
      <p:sp>
        <p:nvSpPr>
          <p:cNvPr id="22" name="Text 20"/>
          <p:cNvSpPr/>
          <p:nvPr/>
        </p:nvSpPr>
        <p:spPr>
          <a:xfrm>
            <a:off x="1207008" y="4617720"/>
            <a:ext cx="1938528" cy="466344"/>
          </a:xfrm>
          <a:prstGeom prst="rect">
            <a:avLst/>
          </a:prstGeom>
          <a:noFill/>
          <a:ln/>
        </p:spPr>
        <p:txBody>
          <a:bodyPr wrap="square" lIns="0" tIns="0" rIns="0" bIns="0" rtlCol="0" anchor="t">
            <a:normAutofit/>
          </a:bodyPr>
          <a:lstStyle/>
          <a:p>
            <a:pPr algn="l" indent="0" marL="0">
              <a:buNone/>
            </a:pPr>
            <a:r>
              <a:rPr lang="en-US" sz="750" dirty="0">
                <a:solidFill>
                  <a:srgbClr val="162033"/>
                </a:solidFill>
                <a:latin typeface="Arial" pitchFamily="34" charset="0"/>
                <a:ea typeface="Arial" pitchFamily="34" charset="-122"/>
                <a:cs typeface="Arial" pitchFamily="34" charset="-120"/>
              </a:rPr>
              <a:t>n=nₑq,  p=pₑq</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ideal carrier reservoir</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boundary rows are pinned</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RHS sets dn/dt and dp/dt to zero</a:t>
            </a:r>
            <a:endParaRPr lang="en-US" sz="750" dirty="0"/>
          </a:p>
        </p:txBody>
      </p:sp>
      <p:sp>
        <p:nvSpPr>
          <p:cNvPr id="23" name="Shape 21"/>
          <p:cNvSpPr/>
          <p:nvPr/>
        </p:nvSpPr>
        <p:spPr>
          <a:xfrm>
            <a:off x="4178808" y="1298448"/>
            <a:ext cx="2907792" cy="4389120"/>
          </a:xfrm>
          <a:prstGeom prst="roundRect">
            <a:avLst>
              <a:gd name="adj" fmla="val 2516"/>
            </a:avLst>
          </a:prstGeom>
          <a:solidFill>
            <a:srgbClr val="F8FAFC"/>
          </a:solidFill>
          <a:ln w="12700">
            <a:solidFill>
              <a:srgbClr val="CBD5E1"/>
            </a:solidFill>
            <a:prstDash val="solid"/>
          </a:ln>
        </p:spPr>
      </p:sp>
      <p:sp>
        <p:nvSpPr>
          <p:cNvPr id="24" name="Text 22"/>
          <p:cNvSpPr/>
          <p:nvPr/>
        </p:nvSpPr>
        <p:spPr>
          <a:xfrm>
            <a:off x="4379976" y="1463040"/>
            <a:ext cx="2468880" cy="228600"/>
          </a:xfrm>
          <a:prstGeom prst="rect">
            <a:avLst/>
          </a:prstGeom>
          <a:noFill/>
          <a:ln/>
        </p:spPr>
        <p:txBody>
          <a:bodyPr wrap="square" lIns="0" tIns="0" rIns="0" bIns="0" rtlCol="0" anchor="t">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Blocking Neumann</a:t>
            </a:r>
            <a:endParaRPr lang="en-US" sz="1200" dirty="0"/>
          </a:p>
        </p:txBody>
      </p:sp>
      <p:sp>
        <p:nvSpPr>
          <p:cNvPr id="25" name="Shape 23"/>
          <p:cNvSpPr/>
          <p:nvPr/>
        </p:nvSpPr>
        <p:spPr>
          <a:xfrm>
            <a:off x="4690872" y="1792224"/>
            <a:ext cx="1883664" cy="292608"/>
          </a:xfrm>
          <a:prstGeom prst="roundRect">
            <a:avLst>
              <a:gd name="adj" fmla="val 37500"/>
            </a:avLst>
          </a:prstGeom>
          <a:solidFill>
            <a:srgbClr val="FEE4E2"/>
          </a:solidFill>
          <a:ln w="12700">
            <a:solidFill>
              <a:srgbClr val="B42318"/>
            </a:solidFill>
            <a:prstDash val="solid"/>
          </a:ln>
        </p:spPr>
      </p:sp>
      <p:sp>
        <p:nvSpPr>
          <p:cNvPr id="26" name="Text 24"/>
          <p:cNvSpPr/>
          <p:nvPr/>
        </p:nvSpPr>
        <p:spPr>
          <a:xfrm>
            <a:off x="4736592" y="1865376"/>
            <a:ext cx="1792224" cy="109728"/>
          </a:xfrm>
          <a:prstGeom prst="rect">
            <a:avLst/>
          </a:prstGeom>
          <a:noFill/>
          <a:ln/>
        </p:spPr>
        <p:txBody>
          <a:bodyPr wrap="square" lIns="0" tIns="0" rIns="0" bIns="0" rtlCol="0" anchor="t">
            <a:normAutofit/>
          </a:bodyPr>
          <a:lstStyle/>
          <a:p>
            <a:pPr algn="ctr" indent="0" marL="0">
              <a:buNone/>
            </a:pPr>
            <a:r>
              <a:rPr lang="en-US" sz="720" b="1" dirty="0">
                <a:solidFill>
                  <a:srgbClr val="B42318"/>
                </a:solidFill>
                <a:latin typeface="Arial" pitchFamily="34" charset="0"/>
                <a:ea typeface="Arial" pitchFamily="34" charset="-122"/>
                <a:cs typeface="Arial" pitchFamily="34" charset="-120"/>
              </a:rPr>
              <a:t>explicit S = 0</a:t>
            </a:r>
            <a:endParaRPr lang="en-US" sz="720" dirty="0"/>
          </a:p>
        </p:txBody>
      </p:sp>
      <p:sp>
        <p:nvSpPr>
          <p:cNvPr id="27" name="Shape 25"/>
          <p:cNvSpPr/>
          <p:nvPr/>
        </p:nvSpPr>
        <p:spPr>
          <a:xfrm>
            <a:off x="4489704" y="2267712"/>
            <a:ext cx="530352" cy="1600200"/>
          </a:xfrm>
          <a:prstGeom prst="rect">
            <a:avLst/>
          </a:prstGeom>
          <a:solidFill>
            <a:srgbClr val="E2E8F0"/>
          </a:solidFill>
          <a:ln w="12700">
            <a:solidFill>
              <a:srgbClr val="334155"/>
            </a:solidFill>
            <a:prstDash val="solid"/>
          </a:ln>
        </p:spPr>
      </p:sp>
      <p:sp>
        <p:nvSpPr>
          <p:cNvPr id="28" name="Shape 26"/>
          <p:cNvSpPr/>
          <p:nvPr/>
        </p:nvSpPr>
        <p:spPr>
          <a:xfrm>
            <a:off x="5020056" y="2267712"/>
            <a:ext cx="1719072" cy="1600200"/>
          </a:xfrm>
          <a:prstGeom prst="rect">
            <a:avLst/>
          </a:prstGeom>
          <a:solidFill>
            <a:srgbClr val="DBEAFE"/>
          </a:solidFill>
          <a:ln w="12700">
            <a:solidFill>
              <a:srgbClr val="2563EB"/>
            </a:solidFill>
            <a:prstDash val="solid"/>
          </a:ln>
        </p:spPr>
      </p:sp>
      <p:sp>
        <p:nvSpPr>
          <p:cNvPr id="29" name="Text 27"/>
          <p:cNvSpPr/>
          <p:nvPr/>
        </p:nvSpPr>
        <p:spPr>
          <a:xfrm>
            <a:off x="4498848" y="3968496"/>
            <a:ext cx="594360" cy="128016"/>
          </a:xfrm>
          <a:prstGeom prst="rect">
            <a:avLst/>
          </a:prstGeom>
          <a:noFill/>
          <a:ln/>
        </p:spPr>
        <p:txBody>
          <a:bodyPr wrap="square" lIns="0" tIns="0" rIns="0" bIns="0" rtlCol="0" anchor="t">
            <a:normAutofit/>
          </a:bodyPr>
          <a:lstStyle/>
          <a:p>
            <a:pPr algn="ctr" indent="0" marL="0">
              <a:buNone/>
            </a:pPr>
            <a:r>
              <a:rPr lang="en-US" sz="700" dirty="0">
                <a:solidFill>
                  <a:srgbClr val="334155"/>
                </a:solidFill>
                <a:latin typeface="Arial" pitchFamily="34" charset="0"/>
                <a:ea typeface="Arial" pitchFamily="34" charset="-122"/>
                <a:cs typeface="Arial" pitchFamily="34" charset="-120"/>
              </a:rPr>
              <a:t>electrode</a:t>
            </a:r>
            <a:endParaRPr lang="en-US" sz="700" dirty="0"/>
          </a:p>
        </p:txBody>
      </p:sp>
      <p:sp>
        <p:nvSpPr>
          <p:cNvPr id="30" name="Text 28"/>
          <p:cNvSpPr/>
          <p:nvPr/>
        </p:nvSpPr>
        <p:spPr>
          <a:xfrm>
            <a:off x="5257800" y="3968496"/>
            <a:ext cx="1243584" cy="128016"/>
          </a:xfrm>
          <a:prstGeom prst="rect">
            <a:avLst/>
          </a:prstGeom>
          <a:noFill/>
          <a:ln/>
        </p:spPr>
        <p:txBody>
          <a:bodyPr wrap="square" lIns="0" tIns="0" rIns="0" bIns="0" rtlCol="0" anchor="t">
            <a:normAutofit/>
          </a:bodyPr>
          <a:lstStyle/>
          <a:p>
            <a:pPr algn="ctr" indent="0" marL="0">
              <a:buNone/>
            </a:pPr>
            <a:r>
              <a:rPr lang="en-US" sz="700" dirty="0">
                <a:solidFill>
                  <a:srgbClr val="2563EB"/>
                </a:solidFill>
                <a:latin typeface="Arial" pitchFamily="34" charset="0"/>
                <a:ea typeface="Arial" pitchFamily="34" charset="-122"/>
                <a:cs typeface="Arial" pitchFamily="34" charset="-120"/>
              </a:rPr>
              <a:t>semiconductor</a:t>
            </a:r>
            <a:endParaRPr lang="en-US" sz="700" dirty="0"/>
          </a:p>
        </p:txBody>
      </p:sp>
      <p:sp>
        <p:nvSpPr>
          <p:cNvPr id="31" name="Shape 29"/>
          <p:cNvSpPr/>
          <p:nvPr/>
        </p:nvSpPr>
        <p:spPr>
          <a:xfrm>
            <a:off x="5020056" y="2267712"/>
            <a:ext cx="0" cy="1600200"/>
          </a:xfrm>
          <a:prstGeom prst="line">
            <a:avLst/>
          </a:prstGeom>
          <a:noFill/>
          <a:ln w="12700">
            <a:solidFill>
              <a:srgbClr val="B42318"/>
            </a:solidFill>
            <a:prstDash val="solid"/>
            <a:headEnd type="none"/>
            <a:tailEnd type="none"/>
          </a:ln>
        </p:spPr>
      </p:sp>
      <p:sp>
        <p:nvSpPr>
          <p:cNvPr id="32" name="Shape 30"/>
          <p:cNvSpPr/>
          <p:nvPr/>
        </p:nvSpPr>
        <p:spPr>
          <a:xfrm>
            <a:off x="4837176" y="2889504"/>
            <a:ext cx="0" cy="420624"/>
          </a:xfrm>
          <a:prstGeom prst="line">
            <a:avLst/>
          </a:prstGeom>
          <a:noFill/>
          <a:ln w="12700">
            <a:solidFill>
              <a:srgbClr val="B42318"/>
            </a:solidFill>
            <a:prstDash val="solid"/>
            <a:headEnd type="none"/>
            <a:tailEnd type="none"/>
          </a:ln>
        </p:spPr>
      </p:sp>
      <p:sp>
        <p:nvSpPr>
          <p:cNvPr id="33" name="Shape 31"/>
          <p:cNvSpPr/>
          <p:nvPr/>
        </p:nvSpPr>
        <p:spPr>
          <a:xfrm>
            <a:off x="4745736" y="2889504"/>
            <a:ext cx="182880" cy="0"/>
          </a:xfrm>
          <a:prstGeom prst="line">
            <a:avLst/>
          </a:prstGeom>
          <a:noFill/>
          <a:ln w="12700">
            <a:solidFill>
              <a:srgbClr val="B42318"/>
            </a:solidFill>
            <a:prstDash val="solid"/>
            <a:headEnd type="none"/>
            <a:tailEnd type="none"/>
          </a:ln>
        </p:spPr>
      </p:sp>
      <p:sp>
        <p:nvSpPr>
          <p:cNvPr id="34" name="Shape 32"/>
          <p:cNvSpPr/>
          <p:nvPr/>
        </p:nvSpPr>
        <p:spPr>
          <a:xfrm>
            <a:off x="4745736" y="3310128"/>
            <a:ext cx="182880" cy="0"/>
          </a:xfrm>
          <a:prstGeom prst="line">
            <a:avLst/>
          </a:prstGeom>
          <a:noFill/>
          <a:ln w="12700">
            <a:solidFill>
              <a:srgbClr val="B42318"/>
            </a:solidFill>
            <a:prstDash val="solid"/>
            <a:headEnd type="none"/>
            <a:tailEnd type="none"/>
          </a:ln>
        </p:spPr>
      </p:sp>
      <p:sp>
        <p:nvSpPr>
          <p:cNvPr id="35" name="Text 33"/>
          <p:cNvSpPr/>
          <p:nvPr/>
        </p:nvSpPr>
        <p:spPr>
          <a:xfrm>
            <a:off x="5550408" y="2944368"/>
            <a:ext cx="822960" cy="128016"/>
          </a:xfrm>
          <a:prstGeom prst="rect">
            <a:avLst/>
          </a:prstGeom>
          <a:noFill/>
          <a:ln/>
        </p:spPr>
        <p:txBody>
          <a:bodyPr wrap="square" lIns="0" tIns="0" rIns="0" bIns="0" rtlCol="0" anchor="t">
            <a:normAutofit/>
          </a:bodyPr>
          <a:lstStyle/>
          <a:p>
            <a:pPr algn="ctr" indent="0" marL="0">
              <a:buNone/>
            </a:pPr>
            <a:r>
              <a:rPr lang="en-US" sz="760" dirty="0">
                <a:solidFill>
                  <a:srgbClr val="B42318"/>
                </a:solidFill>
                <a:latin typeface="Arial" pitchFamily="34" charset="0"/>
                <a:ea typeface="Arial" pitchFamily="34" charset="-122"/>
                <a:cs typeface="Arial" pitchFamily="34" charset="-120"/>
              </a:rPr>
              <a:t>no flux</a:t>
            </a:r>
            <a:endParaRPr lang="en-US" sz="760" dirty="0"/>
          </a:p>
        </p:txBody>
      </p:sp>
      <p:sp>
        <p:nvSpPr>
          <p:cNvPr id="36" name="Shape 34"/>
          <p:cNvSpPr/>
          <p:nvPr/>
        </p:nvSpPr>
        <p:spPr>
          <a:xfrm>
            <a:off x="4507992" y="4315968"/>
            <a:ext cx="2249424" cy="841248"/>
          </a:xfrm>
          <a:prstGeom prst="roundRect">
            <a:avLst>
              <a:gd name="adj" fmla="val 8696"/>
            </a:avLst>
          </a:prstGeom>
          <a:solidFill>
            <a:srgbClr val="FFFFFF"/>
          </a:solidFill>
          <a:ln w="12700">
            <a:solidFill>
              <a:srgbClr val="B42318"/>
            </a:solidFill>
            <a:prstDash val="solid"/>
          </a:ln>
        </p:spPr>
      </p:sp>
      <p:sp>
        <p:nvSpPr>
          <p:cNvPr id="37" name="Shape 35"/>
          <p:cNvSpPr/>
          <p:nvPr/>
        </p:nvSpPr>
        <p:spPr>
          <a:xfrm>
            <a:off x="4507992" y="4315968"/>
            <a:ext cx="73152" cy="841248"/>
          </a:xfrm>
          <a:prstGeom prst="rect">
            <a:avLst/>
          </a:prstGeom>
          <a:solidFill>
            <a:srgbClr val="B42318"/>
          </a:solidFill>
          <a:ln w="12700">
            <a:solidFill>
              <a:srgbClr val="B42318">
                <a:alpha val="0"/>
              </a:srgbClr>
            </a:solidFill>
            <a:prstDash val="solid"/>
          </a:ln>
        </p:spPr>
      </p:sp>
      <p:sp>
        <p:nvSpPr>
          <p:cNvPr id="38" name="Text 36"/>
          <p:cNvSpPr/>
          <p:nvPr/>
        </p:nvSpPr>
        <p:spPr>
          <a:xfrm>
            <a:off x="4672584" y="4425696"/>
            <a:ext cx="1956816" cy="201168"/>
          </a:xfrm>
          <a:prstGeom prst="rect">
            <a:avLst/>
          </a:prstGeom>
          <a:noFill/>
          <a:ln/>
        </p:spPr>
        <p:txBody>
          <a:bodyPr wrap="square" lIns="0" tIns="0" rIns="0" bIns="0" rtlCol="0" anchor="t">
            <a:normAutofit/>
          </a:bodyPr>
          <a:lstStyle/>
          <a:p>
            <a:pPr algn="l" indent="0" marL="0">
              <a:buNone/>
            </a:pPr>
            <a:r>
              <a:rPr lang="en-US" sz="720" b="1" dirty="0">
                <a:solidFill>
                  <a:srgbClr val="B42318"/>
                </a:solidFill>
                <a:latin typeface="Arial" pitchFamily="34" charset="0"/>
                <a:ea typeface="Arial" pitchFamily="34" charset="-122"/>
                <a:cs typeface="Arial" pitchFamily="34" charset="-120"/>
              </a:rPr>
              <a:t>BC equation</a:t>
            </a:r>
            <a:endParaRPr lang="en-US" sz="720" dirty="0"/>
          </a:p>
        </p:txBody>
      </p:sp>
      <p:sp>
        <p:nvSpPr>
          <p:cNvPr id="39" name="Text 37"/>
          <p:cNvSpPr/>
          <p:nvPr/>
        </p:nvSpPr>
        <p:spPr>
          <a:xfrm>
            <a:off x="4672584" y="4617720"/>
            <a:ext cx="1938528" cy="466344"/>
          </a:xfrm>
          <a:prstGeom prst="rect">
            <a:avLst/>
          </a:prstGeom>
          <a:noFill/>
          <a:ln/>
        </p:spPr>
        <p:txBody>
          <a:bodyPr wrap="square" lIns="0" tIns="0" rIns="0" bIns="0" rtlCol="0" anchor="t">
            <a:normAutofit/>
          </a:bodyPr>
          <a:lstStyle/>
          <a:p>
            <a:pPr algn="l" indent="0" marL="0">
              <a:buNone/>
            </a:pPr>
            <a:r>
              <a:rPr lang="en-US" sz="750" dirty="0">
                <a:solidFill>
                  <a:srgbClr val="162033"/>
                </a:solidFill>
                <a:latin typeface="Arial" pitchFamily="34" charset="0"/>
                <a:ea typeface="Arial" pitchFamily="34" charset="-122"/>
                <a:cs typeface="Arial" pitchFamily="34" charset="-120"/>
              </a:rPr>
              <a:t>Jₙ=0,  Jₚ=0</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no carrier flux through contact</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boundary density can evolve</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perfect blocking limit</a:t>
            </a:r>
            <a:endParaRPr lang="en-US" sz="750" dirty="0"/>
          </a:p>
        </p:txBody>
      </p:sp>
      <p:sp>
        <p:nvSpPr>
          <p:cNvPr id="40" name="Shape 38"/>
          <p:cNvSpPr/>
          <p:nvPr/>
        </p:nvSpPr>
        <p:spPr>
          <a:xfrm>
            <a:off x="7644384" y="1298448"/>
            <a:ext cx="2907792" cy="4389120"/>
          </a:xfrm>
          <a:prstGeom prst="roundRect">
            <a:avLst>
              <a:gd name="adj" fmla="val 2516"/>
            </a:avLst>
          </a:prstGeom>
          <a:solidFill>
            <a:srgbClr val="F8FAFC"/>
          </a:solidFill>
          <a:ln w="12700">
            <a:solidFill>
              <a:srgbClr val="CBD5E1"/>
            </a:solidFill>
            <a:prstDash val="solid"/>
          </a:ln>
        </p:spPr>
      </p:sp>
      <p:sp>
        <p:nvSpPr>
          <p:cNvPr id="41" name="Text 39"/>
          <p:cNvSpPr/>
          <p:nvPr/>
        </p:nvSpPr>
        <p:spPr>
          <a:xfrm>
            <a:off x="7845552" y="1463040"/>
            <a:ext cx="2468880" cy="228600"/>
          </a:xfrm>
          <a:prstGeom prst="rect">
            <a:avLst/>
          </a:prstGeom>
          <a:noFill/>
          <a:ln/>
        </p:spPr>
        <p:txBody>
          <a:bodyPr wrap="square" lIns="0" tIns="0" rIns="0" bIns="0" rtlCol="0" anchor="t">
            <a:normAutofit/>
          </a:bodyPr>
          <a:lstStyle/>
          <a:p>
            <a:pPr algn="ctr" indent="0" marL="0">
              <a:buNone/>
            </a:pPr>
            <a:r>
              <a:rPr lang="en-US" sz="1200" b="1" dirty="0">
                <a:solidFill>
                  <a:srgbClr val="6D28D9"/>
                </a:solidFill>
                <a:latin typeface="Arial" pitchFamily="34" charset="0"/>
                <a:ea typeface="Arial" pitchFamily="34" charset="-122"/>
                <a:cs typeface="Arial" pitchFamily="34" charset="-120"/>
              </a:rPr>
              <a:t>Robin Selective Contact</a:t>
            </a:r>
            <a:endParaRPr lang="en-US" sz="1200" dirty="0"/>
          </a:p>
        </p:txBody>
      </p:sp>
      <p:sp>
        <p:nvSpPr>
          <p:cNvPr id="42" name="Shape 40"/>
          <p:cNvSpPr/>
          <p:nvPr/>
        </p:nvSpPr>
        <p:spPr>
          <a:xfrm>
            <a:off x="8156448" y="1792224"/>
            <a:ext cx="1883664" cy="292608"/>
          </a:xfrm>
          <a:prstGeom prst="roundRect">
            <a:avLst>
              <a:gd name="adj" fmla="val 37500"/>
            </a:avLst>
          </a:prstGeom>
          <a:solidFill>
            <a:srgbClr val="EDE9FE"/>
          </a:solidFill>
          <a:ln w="12700">
            <a:solidFill>
              <a:srgbClr val="6D28D9"/>
            </a:solidFill>
            <a:prstDash val="solid"/>
          </a:ln>
        </p:spPr>
      </p:sp>
      <p:sp>
        <p:nvSpPr>
          <p:cNvPr id="43" name="Text 41"/>
          <p:cNvSpPr/>
          <p:nvPr/>
        </p:nvSpPr>
        <p:spPr>
          <a:xfrm>
            <a:off x="8202168" y="1865376"/>
            <a:ext cx="1792224" cy="109728"/>
          </a:xfrm>
          <a:prstGeom prst="rect">
            <a:avLst/>
          </a:prstGeom>
          <a:noFill/>
          <a:ln/>
        </p:spPr>
        <p:txBody>
          <a:bodyPr wrap="square" lIns="0" tIns="0" rIns="0" bIns="0" rtlCol="0" anchor="t">
            <a:normAutofit/>
          </a:bodyPr>
          <a:lstStyle/>
          <a:p>
            <a:pPr algn="ctr" indent="0" marL="0">
              <a:buNone/>
            </a:pPr>
            <a:r>
              <a:rPr lang="en-US" sz="720" b="1" dirty="0">
                <a:solidFill>
                  <a:srgbClr val="6D28D9"/>
                </a:solidFill>
                <a:latin typeface="Arial" pitchFamily="34" charset="0"/>
                <a:ea typeface="Arial" pitchFamily="34" charset="-122"/>
                <a:cs typeface="Arial" pitchFamily="34" charset="-120"/>
              </a:rPr>
              <a:t>finite S in mode=full</a:t>
            </a:r>
            <a:endParaRPr lang="en-US" sz="720" dirty="0"/>
          </a:p>
        </p:txBody>
      </p:sp>
      <p:sp>
        <p:nvSpPr>
          <p:cNvPr id="44" name="Shape 42"/>
          <p:cNvSpPr/>
          <p:nvPr/>
        </p:nvSpPr>
        <p:spPr>
          <a:xfrm>
            <a:off x="7955280" y="2267712"/>
            <a:ext cx="530352" cy="1600200"/>
          </a:xfrm>
          <a:prstGeom prst="rect">
            <a:avLst/>
          </a:prstGeom>
          <a:solidFill>
            <a:srgbClr val="E2E8F0"/>
          </a:solidFill>
          <a:ln w="12700">
            <a:solidFill>
              <a:srgbClr val="334155"/>
            </a:solidFill>
            <a:prstDash val="solid"/>
          </a:ln>
        </p:spPr>
      </p:sp>
      <p:sp>
        <p:nvSpPr>
          <p:cNvPr id="45" name="Shape 43"/>
          <p:cNvSpPr/>
          <p:nvPr/>
        </p:nvSpPr>
        <p:spPr>
          <a:xfrm>
            <a:off x="8485632" y="2267712"/>
            <a:ext cx="1719072" cy="1600200"/>
          </a:xfrm>
          <a:prstGeom prst="rect">
            <a:avLst/>
          </a:prstGeom>
          <a:solidFill>
            <a:srgbClr val="DBEAFE"/>
          </a:solidFill>
          <a:ln w="12700">
            <a:solidFill>
              <a:srgbClr val="2563EB"/>
            </a:solidFill>
            <a:prstDash val="solid"/>
          </a:ln>
        </p:spPr>
      </p:sp>
      <p:sp>
        <p:nvSpPr>
          <p:cNvPr id="46" name="Text 44"/>
          <p:cNvSpPr/>
          <p:nvPr/>
        </p:nvSpPr>
        <p:spPr>
          <a:xfrm>
            <a:off x="7964424" y="3968496"/>
            <a:ext cx="594360" cy="128016"/>
          </a:xfrm>
          <a:prstGeom prst="rect">
            <a:avLst/>
          </a:prstGeom>
          <a:noFill/>
          <a:ln/>
        </p:spPr>
        <p:txBody>
          <a:bodyPr wrap="square" lIns="0" tIns="0" rIns="0" bIns="0" rtlCol="0" anchor="t">
            <a:normAutofit/>
          </a:bodyPr>
          <a:lstStyle/>
          <a:p>
            <a:pPr algn="ctr" indent="0" marL="0">
              <a:buNone/>
            </a:pPr>
            <a:r>
              <a:rPr lang="en-US" sz="700" dirty="0">
                <a:solidFill>
                  <a:srgbClr val="334155"/>
                </a:solidFill>
                <a:latin typeface="Arial" pitchFamily="34" charset="0"/>
                <a:ea typeface="Arial" pitchFamily="34" charset="-122"/>
                <a:cs typeface="Arial" pitchFamily="34" charset="-120"/>
              </a:rPr>
              <a:t>electrode</a:t>
            </a:r>
            <a:endParaRPr lang="en-US" sz="700" dirty="0"/>
          </a:p>
        </p:txBody>
      </p:sp>
      <p:sp>
        <p:nvSpPr>
          <p:cNvPr id="47" name="Text 45"/>
          <p:cNvSpPr/>
          <p:nvPr/>
        </p:nvSpPr>
        <p:spPr>
          <a:xfrm>
            <a:off x="8723376" y="3968496"/>
            <a:ext cx="1243584" cy="128016"/>
          </a:xfrm>
          <a:prstGeom prst="rect">
            <a:avLst/>
          </a:prstGeom>
          <a:noFill/>
          <a:ln/>
        </p:spPr>
        <p:txBody>
          <a:bodyPr wrap="square" lIns="0" tIns="0" rIns="0" bIns="0" rtlCol="0" anchor="t">
            <a:normAutofit/>
          </a:bodyPr>
          <a:lstStyle/>
          <a:p>
            <a:pPr algn="ctr" indent="0" marL="0">
              <a:buNone/>
            </a:pPr>
            <a:r>
              <a:rPr lang="en-US" sz="700" dirty="0">
                <a:solidFill>
                  <a:srgbClr val="2563EB"/>
                </a:solidFill>
                <a:latin typeface="Arial" pitchFamily="34" charset="0"/>
                <a:ea typeface="Arial" pitchFamily="34" charset="-122"/>
                <a:cs typeface="Arial" pitchFamily="34" charset="-120"/>
              </a:rPr>
              <a:t>semiconductor</a:t>
            </a:r>
            <a:endParaRPr lang="en-US" sz="700" dirty="0"/>
          </a:p>
        </p:txBody>
      </p:sp>
      <p:sp>
        <p:nvSpPr>
          <p:cNvPr id="48" name="Shape 46"/>
          <p:cNvSpPr/>
          <p:nvPr/>
        </p:nvSpPr>
        <p:spPr>
          <a:xfrm>
            <a:off x="8485632" y="2267712"/>
            <a:ext cx="0" cy="1600200"/>
          </a:xfrm>
          <a:prstGeom prst="line">
            <a:avLst/>
          </a:prstGeom>
          <a:noFill/>
          <a:ln w="12700">
            <a:solidFill>
              <a:srgbClr val="6D28D9"/>
            </a:solidFill>
            <a:prstDash val="solid"/>
            <a:headEnd type="none"/>
            <a:tailEnd type="none"/>
          </a:ln>
        </p:spPr>
      </p:sp>
      <p:sp>
        <p:nvSpPr>
          <p:cNvPr id="49" name="Shape 47"/>
          <p:cNvSpPr/>
          <p:nvPr/>
        </p:nvSpPr>
        <p:spPr>
          <a:xfrm>
            <a:off x="8631936" y="2852928"/>
            <a:ext cx="-292608" cy="0"/>
          </a:xfrm>
          <a:prstGeom prst="line">
            <a:avLst/>
          </a:prstGeom>
          <a:noFill/>
          <a:ln w="12700">
            <a:solidFill>
              <a:srgbClr val="6D28D9"/>
            </a:solidFill>
            <a:prstDash val="solid"/>
            <a:headEnd type="triangle"/>
            <a:tailEnd type="triangle"/>
          </a:ln>
        </p:spPr>
      </p:sp>
      <p:sp>
        <p:nvSpPr>
          <p:cNvPr id="50" name="Shape 48"/>
          <p:cNvSpPr/>
          <p:nvPr/>
        </p:nvSpPr>
        <p:spPr>
          <a:xfrm>
            <a:off x="8339328" y="3310128"/>
            <a:ext cx="292608" cy="0"/>
          </a:xfrm>
          <a:prstGeom prst="line">
            <a:avLst/>
          </a:prstGeom>
          <a:noFill/>
          <a:ln w="12700">
            <a:solidFill>
              <a:srgbClr val="6D28D9"/>
            </a:solidFill>
            <a:prstDash val="solid"/>
            <a:headEnd type="none"/>
            <a:tailEnd type="triangle"/>
          </a:ln>
        </p:spPr>
      </p:sp>
      <p:sp>
        <p:nvSpPr>
          <p:cNvPr id="51" name="Text 49"/>
          <p:cNvSpPr/>
          <p:nvPr/>
        </p:nvSpPr>
        <p:spPr>
          <a:xfrm>
            <a:off x="8814816" y="2990088"/>
            <a:ext cx="1152144" cy="128016"/>
          </a:xfrm>
          <a:prstGeom prst="rect">
            <a:avLst/>
          </a:prstGeom>
          <a:noFill/>
          <a:ln/>
        </p:spPr>
        <p:txBody>
          <a:bodyPr wrap="square" lIns="0" tIns="0" rIns="0" bIns="0" rtlCol="0" anchor="t">
            <a:normAutofit/>
          </a:bodyPr>
          <a:lstStyle/>
          <a:p>
            <a:pPr algn="ctr" indent="0" marL="0">
              <a:buNone/>
            </a:pPr>
            <a:r>
              <a:rPr lang="en-US" sz="720" dirty="0">
                <a:solidFill>
                  <a:srgbClr val="6D28D9"/>
                </a:solidFill>
                <a:latin typeface="Arial" pitchFamily="34" charset="0"/>
                <a:ea typeface="Arial" pitchFamily="34" charset="-122"/>
                <a:cs typeface="Arial" pitchFamily="34" charset="-120"/>
              </a:rPr>
              <a:t>finite exchange</a:t>
            </a:r>
            <a:endParaRPr lang="en-US" sz="720" dirty="0"/>
          </a:p>
        </p:txBody>
      </p:sp>
      <p:sp>
        <p:nvSpPr>
          <p:cNvPr id="52" name="Shape 50"/>
          <p:cNvSpPr/>
          <p:nvPr/>
        </p:nvSpPr>
        <p:spPr>
          <a:xfrm>
            <a:off x="7973568" y="4315968"/>
            <a:ext cx="2249424" cy="841248"/>
          </a:xfrm>
          <a:prstGeom prst="roundRect">
            <a:avLst>
              <a:gd name="adj" fmla="val 8696"/>
            </a:avLst>
          </a:prstGeom>
          <a:solidFill>
            <a:srgbClr val="FFFFFF"/>
          </a:solidFill>
          <a:ln w="12700">
            <a:solidFill>
              <a:srgbClr val="6D28D9"/>
            </a:solidFill>
            <a:prstDash val="solid"/>
          </a:ln>
        </p:spPr>
      </p:sp>
      <p:sp>
        <p:nvSpPr>
          <p:cNvPr id="53" name="Shape 51"/>
          <p:cNvSpPr/>
          <p:nvPr/>
        </p:nvSpPr>
        <p:spPr>
          <a:xfrm>
            <a:off x="7973568" y="4315968"/>
            <a:ext cx="73152" cy="841248"/>
          </a:xfrm>
          <a:prstGeom prst="rect">
            <a:avLst/>
          </a:prstGeom>
          <a:solidFill>
            <a:srgbClr val="6D28D9"/>
          </a:solidFill>
          <a:ln w="12700">
            <a:solidFill>
              <a:srgbClr val="6D28D9">
                <a:alpha val="0"/>
              </a:srgbClr>
            </a:solidFill>
            <a:prstDash val="solid"/>
          </a:ln>
        </p:spPr>
      </p:sp>
      <p:sp>
        <p:nvSpPr>
          <p:cNvPr id="54" name="Text 52"/>
          <p:cNvSpPr/>
          <p:nvPr/>
        </p:nvSpPr>
        <p:spPr>
          <a:xfrm>
            <a:off x="8138160" y="4425696"/>
            <a:ext cx="1956816" cy="201168"/>
          </a:xfrm>
          <a:prstGeom prst="rect">
            <a:avLst/>
          </a:prstGeom>
          <a:noFill/>
          <a:ln/>
        </p:spPr>
        <p:txBody>
          <a:bodyPr wrap="square" lIns="0" tIns="0" rIns="0" bIns="0" rtlCol="0" anchor="t">
            <a:normAutofit/>
          </a:bodyPr>
          <a:lstStyle/>
          <a:p>
            <a:pPr algn="l" indent="0" marL="0">
              <a:buNone/>
            </a:pPr>
            <a:r>
              <a:rPr lang="en-US" sz="720" b="1" dirty="0">
                <a:solidFill>
                  <a:srgbClr val="6D28D9"/>
                </a:solidFill>
                <a:latin typeface="Arial" pitchFamily="34" charset="0"/>
                <a:ea typeface="Arial" pitchFamily="34" charset="-122"/>
                <a:cs typeface="Arial" pitchFamily="34" charset="-120"/>
              </a:rPr>
              <a:t>BC equation</a:t>
            </a:r>
            <a:endParaRPr lang="en-US" sz="720" dirty="0"/>
          </a:p>
        </p:txBody>
      </p:sp>
      <p:sp>
        <p:nvSpPr>
          <p:cNvPr id="55" name="Text 53"/>
          <p:cNvSpPr/>
          <p:nvPr/>
        </p:nvSpPr>
        <p:spPr>
          <a:xfrm>
            <a:off x="8138160" y="4617720"/>
            <a:ext cx="1938528" cy="466344"/>
          </a:xfrm>
          <a:prstGeom prst="rect">
            <a:avLst/>
          </a:prstGeom>
          <a:noFill/>
          <a:ln/>
        </p:spPr>
        <p:txBody>
          <a:bodyPr wrap="square" lIns="0" tIns="0" rIns="0" bIns="0" rtlCol="0" anchor="t">
            <a:normAutofit/>
          </a:bodyPr>
          <a:lstStyle/>
          <a:p>
            <a:pPr algn="l" indent="0" marL="0">
              <a:buNone/>
            </a:pPr>
            <a:r>
              <a:rPr lang="en-US" sz="750" dirty="0">
                <a:solidFill>
                  <a:srgbClr val="162033"/>
                </a:solidFill>
                <a:latin typeface="Arial" pitchFamily="34" charset="0"/>
                <a:ea typeface="Arial" pitchFamily="34" charset="-122"/>
                <a:cs typeface="Arial" pitchFamily="34" charset="-120"/>
              </a:rPr>
              <a:t>Jcontact = ± q S (cₛ-cₑq)</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finite exchange rate</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matched carrier has large S</a:t>
            </a:r>
            <a:endParaRPr lang="en-US" sz="750" dirty="0"/>
          </a:p>
          <a:p>
            <a:pPr algn="l" indent="0" marL="0">
              <a:buNone/>
            </a:pPr>
            <a:r>
              <a:rPr lang="en-US" sz="750" dirty="0">
                <a:solidFill>
                  <a:srgbClr val="162033"/>
                </a:solidFill>
                <a:latin typeface="Arial" pitchFamily="34" charset="0"/>
                <a:ea typeface="Arial" pitchFamily="34" charset="-122"/>
                <a:cs typeface="Arial" pitchFamily="34" charset="-120"/>
              </a:rPr>
              <a:t>wrong-sign carrier has small S</a:t>
            </a:r>
            <a:endParaRPr lang="en-US" sz="750" dirty="0"/>
          </a:p>
        </p:txBody>
      </p:sp>
      <p:sp>
        <p:nvSpPr>
          <p:cNvPr id="56" name="Shape 54"/>
          <p:cNvSpPr/>
          <p:nvPr/>
        </p:nvSpPr>
        <p:spPr>
          <a:xfrm>
            <a:off x="1097280" y="5358384"/>
            <a:ext cx="10003536" cy="329184"/>
          </a:xfrm>
          <a:prstGeom prst="roundRect">
            <a:avLst>
              <a:gd name="adj" fmla="val 22222"/>
            </a:avLst>
          </a:prstGeom>
          <a:solidFill>
            <a:srgbClr val="F8FAFC"/>
          </a:solidFill>
          <a:ln w="12700">
            <a:solidFill>
              <a:srgbClr val="334155"/>
            </a:solidFill>
            <a:prstDash val="solid"/>
          </a:ln>
        </p:spPr>
      </p:sp>
      <p:sp>
        <p:nvSpPr>
          <p:cNvPr id="57" name="Shape 55"/>
          <p:cNvSpPr/>
          <p:nvPr/>
        </p:nvSpPr>
        <p:spPr>
          <a:xfrm>
            <a:off x="1097280" y="5358384"/>
            <a:ext cx="73152" cy="329184"/>
          </a:xfrm>
          <a:prstGeom prst="rect">
            <a:avLst/>
          </a:prstGeom>
          <a:solidFill>
            <a:srgbClr val="334155"/>
          </a:solidFill>
          <a:ln w="12700">
            <a:solidFill>
              <a:srgbClr val="334155">
                <a:alpha val="0"/>
              </a:srgbClr>
            </a:solidFill>
            <a:prstDash val="solid"/>
          </a:ln>
        </p:spPr>
      </p:sp>
      <p:sp>
        <p:nvSpPr>
          <p:cNvPr id="58" name="Text 56"/>
          <p:cNvSpPr/>
          <p:nvPr/>
        </p:nvSpPr>
        <p:spPr>
          <a:xfrm>
            <a:off x="1261872" y="5468112"/>
            <a:ext cx="9710928" cy="201168"/>
          </a:xfrm>
          <a:prstGeom prst="rect">
            <a:avLst/>
          </a:prstGeom>
          <a:noFill/>
          <a:ln/>
        </p:spPr>
        <p:txBody>
          <a:bodyPr wrap="square" lIns="0" tIns="0" rIns="0" bIns="0" rtlCol="0" anchor="t">
            <a:normAutofit/>
          </a:bodyPr>
          <a:lstStyle/>
          <a:p>
            <a:pPr algn="l" indent="0" marL="0">
              <a:buNone/>
            </a:pPr>
            <a:r>
              <a:rPr lang="en-US" sz="700" b="1" dirty="0">
                <a:solidFill>
                  <a:srgbClr val="334155"/>
                </a:solidFill>
                <a:latin typeface="Arial" pitchFamily="34" charset="0"/>
                <a:ea typeface="Arial" pitchFamily="34" charset="-122"/>
                <a:cs typeface="Arial" pitchFamily="34" charset="-120"/>
              </a:rPr>
              <a:t>SolarLab code mapping</a:t>
            </a:r>
            <a:endParaRPr lang="en-US" sz="700" dirty="0"/>
          </a:p>
        </p:txBody>
      </p:sp>
      <p:sp>
        <p:nvSpPr>
          <p:cNvPr id="59" name="Text 57"/>
          <p:cNvSpPr/>
          <p:nvPr/>
        </p:nvSpPr>
        <p:spPr>
          <a:xfrm>
            <a:off x="1261872" y="5522976"/>
            <a:ext cx="9692640" cy="91440"/>
          </a:xfrm>
          <a:prstGeom prst="rect">
            <a:avLst/>
          </a:prstGeom>
          <a:noFill/>
          <a:ln/>
        </p:spPr>
        <p:txBody>
          <a:bodyPr wrap="square" lIns="0" tIns="0" rIns="0" bIns="0" rtlCol="0" anchor="t">
            <a:normAutofit/>
          </a:bodyPr>
          <a:lstStyle/>
          <a:p>
            <a:pPr algn="l" indent="0" marL="0">
              <a:buNone/>
            </a:pPr>
            <a:r>
              <a:rPr lang="en-US" sz="730" dirty="0">
                <a:solidFill>
                  <a:srgbClr val="162033"/>
                </a:solidFill>
                <a:latin typeface="Arial" pitchFamily="34" charset="0"/>
                <a:ea typeface="Arial" pitchFamily="34" charset="-122"/>
                <a:cs typeface="Arial" pitchFamily="34" charset="-120"/>
              </a:rPr>
              <a:t>Top/HTL: S_n_left, S_p_left     Bottom/ETL: S_n_right, S_p_right     Activation: mode = full</a:t>
            </a:r>
            <a:endParaRPr lang="en-US" sz="7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20624" y="201168"/>
            <a:ext cx="1129284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Lateral Boundary Conditions: Periodic Cell vs Zero-Flux Wall</a:t>
            </a:r>
            <a:endParaRPr lang="en-US" sz="2100" dirty="0"/>
          </a:p>
        </p:txBody>
      </p:sp>
      <p:sp>
        <p:nvSpPr>
          <p:cNvPr id="3" name="Text 1"/>
          <p:cNvSpPr/>
          <p:nvPr/>
        </p:nvSpPr>
        <p:spPr>
          <a:xfrm>
            <a:off x="429768" y="621792"/>
            <a:ext cx="11018520" cy="237744"/>
          </a:xfrm>
          <a:prstGeom prst="rect">
            <a:avLst/>
          </a:prstGeom>
          <a:noFill/>
          <a:ln/>
        </p:spPr>
        <p:txBody>
          <a:bodyPr wrap="square" lIns="0" tIns="0" rIns="0" bIns="0" rtlCol="0" anchor="t">
            <a:normAutofit/>
          </a:bodyPr>
          <a:lstStyle/>
          <a:p>
            <a:pPr algn="l" indent="0" marL="0">
              <a:buNone/>
            </a:pPr>
            <a:r>
              <a:rPr lang="en-US" sz="1120" dirty="0">
                <a:solidFill>
                  <a:srgbClr val="334155"/>
                </a:solidFill>
                <a:latin typeface="Arial" pitchFamily="34" charset="0"/>
                <a:ea typeface="Arial" pitchFamily="34" charset="-122"/>
                <a:cs typeface="Arial" pitchFamily="34" charset="-120"/>
              </a:rPr>
              <a:t>The lateral boundary controls what happens at x=0 and x=Lx; it is selected by the 2D run parameter lateral_bc.</a:t>
            </a:r>
            <a:endParaRPr lang="en-US" sz="1120" dirty="0"/>
          </a:p>
        </p:txBody>
      </p:sp>
      <p:sp>
        <p:nvSpPr>
          <p:cNvPr id="4" name="Shape 2"/>
          <p:cNvSpPr/>
          <p:nvPr/>
        </p:nvSpPr>
        <p:spPr>
          <a:xfrm>
            <a:off x="0" y="6336792"/>
            <a:ext cx="12191695" cy="521208"/>
          </a:xfrm>
          <a:prstGeom prst="rect">
            <a:avLst/>
          </a:prstGeom>
          <a:solidFill>
            <a:srgbClr val="EAF2FF"/>
          </a:solidFill>
          <a:ln w="12700">
            <a:solidFill>
              <a:srgbClr val="EAF2FF">
                <a:alpha val="0"/>
              </a:srgbClr>
            </a:solidFill>
            <a:prstDash val="solid"/>
          </a:ln>
        </p:spPr>
      </p:sp>
      <p:sp>
        <p:nvSpPr>
          <p:cNvPr id="5" name="Text 3"/>
          <p:cNvSpPr/>
          <p:nvPr/>
        </p:nvSpPr>
        <p:spPr>
          <a:xfrm>
            <a:off x="457200" y="6473952"/>
            <a:ext cx="11201400" cy="182880"/>
          </a:xfrm>
          <a:prstGeom prst="rect">
            <a:avLst/>
          </a:prstGeom>
          <a:noFill/>
          <a:ln/>
        </p:spPr>
        <p:txBody>
          <a:bodyPr wrap="square" lIns="0" tIns="0" rIns="0" bIns="0" rtlCol="0" anchor="t">
            <a:normAutofit/>
          </a:bodyPr>
          <a:lstStyle/>
          <a:p>
            <a:pPr algn="ctr" indent="0" marL="0">
              <a:buNone/>
            </a:pPr>
            <a:r>
              <a:rPr lang="en-US" sz="1060" b="1" dirty="0">
                <a:solidFill>
                  <a:srgbClr val="162033"/>
                </a:solidFill>
                <a:latin typeface="Arial" pitchFamily="34" charset="0"/>
                <a:ea typeface="Arial" pitchFamily="34" charset="-122"/>
                <a:cs typeface="Arial" pitchFamily="34" charset="-120"/>
              </a:rPr>
              <a:t>Takeaway: periodic represents a repeating lateral unit cell, while Neumann represents a closed sidewall with zero normal flux.</a:t>
            </a:r>
            <a:endParaRPr lang="en-US" sz="1060" dirty="0"/>
          </a:p>
        </p:txBody>
      </p:sp>
      <p:sp>
        <p:nvSpPr>
          <p:cNvPr id="6" name="Shape 4"/>
          <p:cNvSpPr/>
          <p:nvPr/>
        </p:nvSpPr>
        <p:spPr>
          <a:xfrm>
            <a:off x="438912" y="1005840"/>
            <a:ext cx="11301984" cy="5010912"/>
          </a:xfrm>
          <a:prstGeom prst="roundRect">
            <a:avLst>
              <a:gd name="adj" fmla="val 1460"/>
            </a:avLst>
          </a:prstGeom>
          <a:solidFill>
            <a:srgbClr val="FFFFFF"/>
          </a:solidFill>
          <a:ln w="12700">
            <a:solidFill>
              <a:srgbClr val="CBD5E1"/>
            </a:solidFill>
            <a:prstDash val="solid"/>
          </a:ln>
        </p:spPr>
      </p:sp>
      <p:sp>
        <p:nvSpPr>
          <p:cNvPr id="7" name="Shape 5"/>
          <p:cNvSpPr/>
          <p:nvPr/>
        </p:nvSpPr>
        <p:spPr>
          <a:xfrm>
            <a:off x="749808" y="1316736"/>
            <a:ext cx="5230368" cy="4389120"/>
          </a:xfrm>
          <a:prstGeom prst="roundRect">
            <a:avLst>
              <a:gd name="adj" fmla="val 1667"/>
            </a:avLst>
          </a:prstGeom>
          <a:solidFill>
            <a:srgbClr val="F8FAFC"/>
          </a:solidFill>
          <a:ln w="12700">
            <a:solidFill>
              <a:srgbClr val="CBD5E1"/>
            </a:solidFill>
            <a:prstDash val="solid"/>
          </a:ln>
        </p:spPr>
      </p:sp>
      <p:sp>
        <p:nvSpPr>
          <p:cNvPr id="8" name="Text 6"/>
          <p:cNvSpPr/>
          <p:nvPr/>
        </p:nvSpPr>
        <p:spPr>
          <a:xfrm>
            <a:off x="987552" y="1481328"/>
            <a:ext cx="2926080" cy="228600"/>
          </a:xfrm>
          <a:prstGeom prst="rect">
            <a:avLst/>
          </a:prstGeom>
          <a:noFill/>
          <a:ln/>
        </p:spPr>
        <p:txBody>
          <a:bodyPr wrap="square" lIns="0" tIns="0" rIns="0" bIns="0" rtlCol="0" anchor="t">
            <a:normAutofit/>
          </a:bodyPr>
          <a:lstStyle/>
          <a:p>
            <a:pPr algn="l" indent="0" marL="0">
              <a:buNone/>
            </a:pPr>
            <a:r>
              <a:rPr lang="en-US" sz="1220" b="1" dirty="0">
                <a:solidFill>
                  <a:srgbClr val="2563EB"/>
                </a:solidFill>
                <a:latin typeface="Arial" pitchFamily="34" charset="0"/>
                <a:ea typeface="Arial" pitchFamily="34" charset="-122"/>
                <a:cs typeface="Arial" pitchFamily="34" charset="-120"/>
              </a:rPr>
              <a:t>Periodic Lateral Boundary</a:t>
            </a:r>
            <a:endParaRPr lang="en-US" sz="1220" dirty="0"/>
          </a:p>
        </p:txBody>
      </p:sp>
      <p:sp>
        <p:nvSpPr>
          <p:cNvPr id="9" name="Shape 7"/>
          <p:cNvSpPr/>
          <p:nvPr/>
        </p:nvSpPr>
        <p:spPr>
          <a:xfrm>
            <a:off x="4160520" y="1499616"/>
            <a:ext cx="1261872" cy="292608"/>
          </a:xfrm>
          <a:prstGeom prst="roundRect">
            <a:avLst>
              <a:gd name="adj" fmla="val 37500"/>
            </a:avLst>
          </a:prstGeom>
          <a:solidFill>
            <a:srgbClr val="DBEAFE"/>
          </a:solidFill>
          <a:ln w="12700">
            <a:solidFill>
              <a:srgbClr val="2563EB"/>
            </a:solidFill>
            <a:prstDash val="solid"/>
          </a:ln>
        </p:spPr>
      </p:sp>
      <p:sp>
        <p:nvSpPr>
          <p:cNvPr id="10" name="Text 8"/>
          <p:cNvSpPr/>
          <p:nvPr/>
        </p:nvSpPr>
        <p:spPr>
          <a:xfrm>
            <a:off x="4206240" y="1572768"/>
            <a:ext cx="1170432" cy="109728"/>
          </a:xfrm>
          <a:prstGeom prst="rect">
            <a:avLst/>
          </a:prstGeom>
          <a:noFill/>
          <a:ln/>
        </p:spPr>
        <p:txBody>
          <a:bodyPr wrap="square" lIns="0" tIns="0" rIns="0" bIns="0" rtlCol="0" anchor="t">
            <a:normAutofit/>
          </a:bodyPr>
          <a:lstStyle/>
          <a:p>
            <a:pPr algn="ctr" indent="0" marL="0">
              <a:buNone/>
            </a:pPr>
            <a:r>
              <a:rPr lang="en-US" sz="690" b="1" dirty="0">
                <a:solidFill>
                  <a:srgbClr val="2563EB"/>
                </a:solidFill>
                <a:latin typeface="Arial" pitchFamily="34" charset="0"/>
                <a:ea typeface="Arial" pitchFamily="34" charset="-122"/>
                <a:cs typeface="Arial" pitchFamily="34" charset="-120"/>
              </a:rPr>
              <a:t>lateral_bc="periodic"</a:t>
            </a:r>
            <a:endParaRPr lang="en-US" sz="690" dirty="0"/>
          </a:p>
        </p:txBody>
      </p:sp>
      <p:sp>
        <p:nvSpPr>
          <p:cNvPr id="11" name="Shape 9"/>
          <p:cNvSpPr/>
          <p:nvPr/>
        </p:nvSpPr>
        <p:spPr>
          <a:xfrm>
            <a:off x="1207008" y="2121408"/>
            <a:ext cx="4297680" cy="2176272"/>
          </a:xfrm>
          <a:prstGeom prst="roundRect">
            <a:avLst>
              <a:gd name="adj" fmla="val 2521"/>
            </a:avLst>
          </a:prstGeom>
          <a:solidFill>
            <a:srgbClr val="FFFFFF"/>
          </a:solidFill>
          <a:ln w="12700">
            <a:solidFill>
              <a:srgbClr val="CBD5E1"/>
            </a:solidFill>
            <a:prstDash val="solid"/>
          </a:ln>
        </p:spPr>
      </p:sp>
      <p:sp>
        <p:nvSpPr>
          <p:cNvPr id="12" name="Shape 10"/>
          <p:cNvSpPr/>
          <p:nvPr/>
        </p:nvSpPr>
        <p:spPr>
          <a:xfrm>
            <a:off x="1207008" y="2121408"/>
            <a:ext cx="4297680" cy="457200"/>
          </a:xfrm>
          <a:prstGeom prst="rect">
            <a:avLst/>
          </a:prstGeom>
          <a:solidFill>
            <a:srgbClr val="DCFCE7"/>
          </a:solidFill>
          <a:ln w="12700">
            <a:solidFill>
              <a:srgbClr val="CBD5E1"/>
            </a:solidFill>
            <a:prstDash val="solid"/>
          </a:ln>
        </p:spPr>
      </p:sp>
      <p:sp>
        <p:nvSpPr>
          <p:cNvPr id="13" name="Shape 11"/>
          <p:cNvSpPr/>
          <p:nvPr/>
        </p:nvSpPr>
        <p:spPr>
          <a:xfrm>
            <a:off x="1207008" y="2578608"/>
            <a:ext cx="4297680" cy="1243584"/>
          </a:xfrm>
          <a:prstGeom prst="rect">
            <a:avLst/>
          </a:prstGeom>
          <a:solidFill>
            <a:srgbClr val="DBEAFE"/>
          </a:solidFill>
          <a:ln w="12700">
            <a:solidFill>
              <a:srgbClr val="CBD5E1"/>
            </a:solidFill>
            <a:prstDash val="solid"/>
          </a:ln>
        </p:spPr>
      </p:sp>
      <p:sp>
        <p:nvSpPr>
          <p:cNvPr id="14" name="Shape 12"/>
          <p:cNvSpPr/>
          <p:nvPr/>
        </p:nvSpPr>
        <p:spPr>
          <a:xfrm>
            <a:off x="1207008" y="3822192"/>
            <a:ext cx="4297680" cy="475488"/>
          </a:xfrm>
          <a:prstGeom prst="rect">
            <a:avLst/>
          </a:prstGeom>
          <a:solidFill>
            <a:srgbClr val="FEF3C7"/>
          </a:solidFill>
          <a:ln w="12700">
            <a:solidFill>
              <a:srgbClr val="CBD5E1"/>
            </a:solidFill>
            <a:prstDash val="solid"/>
          </a:ln>
        </p:spPr>
      </p:sp>
      <p:sp>
        <p:nvSpPr>
          <p:cNvPr id="15" name="Text 13"/>
          <p:cNvSpPr/>
          <p:nvPr/>
        </p:nvSpPr>
        <p:spPr>
          <a:xfrm>
            <a:off x="1371600" y="2276856"/>
            <a:ext cx="658368" cy="146304"/>
          </a:xfrm>
          <a:prstGeom prst="rect">
            <a:avLst/>
          </a:prstGeom>
          <a:noFill/>
          <a:ln/>
        </p:spPr>
        <p:txBody>
          <a:bodyPr wrap="square" lIns="0" tIns="0" rIns="0" bIns="0" rtlCol="0" anchor="t">
            <a:normAutofit/>
          </a:bodyPr>
          <a:lstStyle/>
          <a:p>
            <a:pPr algn="l" indent="0" marL="0">
              <a:buNone/>
            </a:pPr>
            <a:r>
              <a:rPr lang="en-US" sz="840" b="1" dirty="0">
                <a:solidFill>
                  <a:srgbClr val="16803C"/>
                </a:solidFill>
                <a:latin typeface="Arial" pitchFamily="34" charset="0"/>
                <a:ea typeface="Arial" pitchFamily="34" charset="-122"/>
                <a:cs typeface="Arial" pitchFamily="34" charset="-120"/>
              </a:rPr>
              <a:t>HTL</a:t>
            </a:r>
            <a:endParaRPr lang="en-US" sz="840" dirty="0"/>
          </a:p>
        </p:txBody>
      </p:sp>
      <p:sp>
        <p:nvSpPr>
          <p:cNvPr id="16" name="Text 14"/>
          <p:cNvSpPr/>
          <p:nvPr/>
        </p:nvSpPr>
        <p:spPr>
          <a:xfrm>
            <a:off x="1371600" y="3127248"/>
            <a:ext cx="960120" cy="146304"/>
          </a:xfrm>
          <a:prstGeom prst="rect">
            <a:avLst/>
          </a:prstGeom>
          <a:noFill/>
          <a:ln/>
        </p:spPr>
        <p:txBody>
          <a:bodyPr wrap="square" lIns="0" tIns="0" rIns="0" bIns="0" rtlCol="0" anchor="t">
            <a:normAutofit/>
          </a:bodyPr>
          <a:lstStyle/>
          <a:p>
            <a:pPr algn="l" indent="0" marL="0">
              <a:buNone/>
            </a:pPr>
            <a:r>
              <a:rPr lang="en-US" sz="840" b="1" dirty="0">
                <a:solidFill>
                  <a:srgbClr val="2563EB"/>
                </a:solidFill>
                <a:latin typeface="Arial" pitchFamily="34" charset="0"/>
                <a:ea typeface="Arial" pitchFamily="34" charset="-122"/>
                <a:cs typeface="Arial" pitchFamily="34" charset="-120"/>
              </a:rPr>
              <a:t>absorber</a:t>
            </a:r>
            <a:endParaRPr lang="en-US" sz="840" dirty="0"/>
          </a:p>
        </p:txBody>
      </p:sp>
      <p:sp>
        <p:nvSpPr>
          <p:cNvPr id="17" name="Text 15"/>
          <p:cNvSpPr/>
          <p:nvPr/>
        </p:nvSpPr>
        <p:spPr>
          <a:xfrm>
            <a:off x="1371600" y="3986784"/>
            <a:ext cx="658368" cy="146304"/>
          </a:xfrm>
          <a:prstGeom prst="rect">
            <a:avLst/>
          </a:prstGeom>
          <a:noFill/>
          <a:ln/>
        </p:spPr>
        <p:txBody>
          <a:bodyPr wrap="square" lIns="0" tIns="0" rIns="0" bIns="0" rtlCol="0" anchor="t">
            <a:normAutofit/>
          </a:bodyPr>
          <a:lstStyle/>
          <a:p>
            <a:pPr algn="l" indent="0" marL="0">
              <a:buNone/>
            </a:pPr>
            <a:r>
              <a:rPr lang="en-US" sz="840" b="1" dirty="0">
                <a:solidFill>
                  <a:srgbClr val="A16207"/>
                </a:solidFill>
                <a:latin typeface="Arial" pitchFamily="34" charset="0"/>
                <a:ea typeface="Arial" pitchFamily="34" charset="-122"/>
                <a:cs typeface="Arial" pitchFamily="34" charset="-120"/>
              </a:rPr>
              <a:t>ETL</a:t>
            </a:r>
            <a:endParaRPr lang="en-US" sz="840" dirty="0"/>
          </a:p>
        </p:txBody>
      </p:sp>
      <p:sp>
        <p:nvSpPr>
          <p:cNvPr id="18" name="Shape 16"/>
          <p:cNvSpPr/>
          <p:nvPr/>
        </p:nvSpPr>
        <p:spPr>
          <a:xfrm>
            <a:off x="1923288" y="2121408"/>
            <a:ext cx="0" cy="2176272"/>
          </a:xfrm>
          <a:prstGeom prst="line">
            <a:avLst/>
          </a:prstGeom>
          <a:noFill/>
          <a:ln w="12700">
            <a:solidFill>
              <a:srgbClr val="CBD5E1"/>
            </a:solidFill>
            <a:prstDash val="solid"/>
            <a:headEnd type="none"/>
            <a:tailEnd type="none"/>
          </a:ln>
        </p:spPr>
      </p:sp>
      <p:sp>
        <p:nvSpPr>
          <p:cNvPr id="19" name="Shape 17"/>
          <p:cNvSpPr/>
          <p:nvPr/>
        </p:nvSpPr>
        <p:spPr>
          <a:xfrm>
            <a:off x="2639568" y="2121408"/>
            <a:ext cx="0" cy="2176272"/>
          </a:xfrm>
          <a:prstGeom prst="line">
            <a:avLst/>
          </a:prstGeom>
          <a:noFill/>
          <a:ln w="12700">
            <a:solidFill>
              <a:srgbClr val="CBD5E1"/>
            </a:solidFill>
            <a:prstDash val="solid"/>
            <a:headEnd type="none"/>
            <a:tailEnd type="none"/>
          </a:ln>
        </p:spPr>
      </p:sp>
      <p:sp>
        <p:nvSpPr>
          <p:cNvPr id="20" name="Shape 18"/>
          <p:cNvSpPr/>
          <p:nvPr/>
        </p:nvSpPr>
        <p:spPr>
          <a:xfrm>
            <a:off x="3355848" y="2121408"/>
            <a:ext cx="0" cy="2176272"/>
          </a:xfrm>
          <a:prstGeom prst="line">
            <a:avLst/>
          </a:prstGeom>
          <a:noFill/>
          <a:ln w="12700">
            <a:solidFill>
              <a:srgbClr val="CBD5E1"/>
            </a:solidFill>
            <a:prstDash val="solid"/>
            <a:headEnd type="none"/>
            <a:tailEnd type="none"/>
          </a:ln>
        </p:spPr>
      </p:sp>
      <p:sp>
        <p:nvSpPr>
          <p:cNvPr id="21" name="Shape 19"/>
          <p:cNvSpPr/>
          <p:nvPr/>
        </p:nvSpPr>
        <p:spPr>
          <a:xfrm>
            <a:off x="4072128" y="2121408"/>
            <a:ext cx="0" cy="2176272"/>
          </a:xfrm>
          <a:prstGeom prst="line">
            <a:avLst/>
          </a:prstGeom>
          <a:noFill/>
          <a:ln w="12700">
            <a:solidFill>
              <a:srgbClr val="CBD5E1"/>
            </a:solidFill>
            <a:prstDash val="solid"/>
            <a:headEnd type="none"/>
            <a:tailEnd type="none"/>
          </a:ln>
        </p:spPr>
      </p:sp>
      <p:sp>
        <p:nvSpPr>
          <p:cNvPr id="22" name="Shape 20"/>
          <p:cNvSpPr/>
          <p:nvPr/>
        </p:nvSpPr>
        <p:spPr>
          <a:xfrm>
            <a:off x="4788408" y="2121408"/>
            <a:ext cx="0" cy="2176272"/>
          </a:xfrm>
          <a:prstGeom prst="line">
            <a:avLst/>
          </a:prstGeom>
          <a:noFill/>
          <a:ln w="12700">
            <a:solidFill>
              <a:srgbClr val="CBD5E1"/>
            </a:solidFill>
            <a:prstDash val="solid"/>
            <a:headEnd type="none"/>
            <a:tailEnd type="none"/>
          </a:ln>
        </p:spPr>
      </p:sp>
      <p:sp>
        <p:nvSpPr>
          <p:cNvPr id="23" name="Shape 21"/>
          <p:cNvSpPr/>
          <p:nvPr/>
        </p:nvSpPr>
        <p:spPr>
          <a:xfrm>
            <a:off x="1207008" y="2665476"/>
            <a:ext cx="4297680" cy="0"/>
          </a:xfrm>
          <a:prstGeom prst="line">
            <a:avLst/>
          </a:prstGeom>
          <a:noFill/>
          <a:ln w="12700">
            <a:solidFill>
              <a:srgbClr val="CBD5E1"/>
            </a:solidFill>
            <a:prstDash val="solid"/>
            <a:headEnd type="none"/>
            <a:tailEnd type="none"/>
          </a:ln>
        </p:spPr>
      </p:sp>
      <p:sp>
        <p:nvSpPr>
          <p:cNvPr id="24" name="Shape 22"/>
          <p:cNvSpPr/>
          <p:nvPr/>
        </p:nvSpPr>
        <p:spPr>
          <a:xfrm>
            <a:off x="1207008" y="3209544"/>
            <a:ext cx="4297680" cy="0"/>
          </a:xfrm>
          <a:prstGeom prst="line">
            <a:avLst/>
          </a:prstGeom>
          <a:noFill/>
          <a:ln w="12700">
            <a:solidFill>
              <a:srgbClr val="CBD5E1"/>
            </a:solidFill>
            <a:prstDash val="solid"/>
            <a:headEnd type="none"/>
            <a:tailEnd type="none"/>
          </a:ln>
        </p:spPr>
      </p:sp>
      <p:sp>
        <p:nvSpPr>
          <p:cNvPr id="25" name="Shape 23"/>
          <p:cNvSpPr/>
          <p:nvPr/>
        </p:nvSpPr>
        <p:spPr>
          <a:xfrm>
            <a:off x="1207008" y="3753612"/>
            <a:ext cx="4297680" cy="0"/>
          </a:xfrm>
          <a:prstGeom prst="line">
            <a:avLst/>
          </a:prstGeom>
          <a:noFill/>
          <a:ln w="12700">
            <a:solidFill>
              <a:srgbClr val="CBD5E1"/>
            </a:solidFill>
            <a:prstDash val="solid"/>
            <a:headEnd type="none"/>
            <a:tailEnd type="none"/>
          </a:ln>
        </p:spPr>
      </p:sp>
      <p:sp>
        <p:nvSpPr>
          <p:cNvPr id="26" name="Shape 24"/>
          <p:cNvSpPr/>
          <p:nvPr/>
        </p:nvSpPr>
        <p:spPr>
          <a:xfrm>
            <a:off x="1216152" y="2468880"/>
            <a:ext cx="4288536" cy="0"/>
          </a:xfrm>
          <a:prstGeom prst="line">
            <a:avLst/>
          </a:prstGeom>
          <a:noFill/>
          <a:ln w="12700">
            <a:solidFill>
              <a:srgbClr val="2563EB"/>
            </a:solidFill>
            <a:prstDash val="solid"/>
            <a:headEnd type="triangle"/>
            <a:tailEnd type="triangle"/>
          </a:ln>
        </p:spPr>
      </p:sp>
      <p:sp>
        <p:nvSpPr>
          <p:cNvPr id="27" name="Shape 25"/>
          <p:cNvSpPr/>
          <p:nvPr/>
        </p:nvSpPr>
        <p:spPr>
          <a:xfrm>
            <a:off x="1216152" y="3419856"/>
            <a:ext cx="4288536" cy="0"/>
          </a:xfrm>
          <a:prstGeom prst="line">
            <a:avLst/>
          </a:prstGeom>
          <a:noFill/>
          <a:ln w="12700">
            <a:solidFill>
              <a:srgbClr val="2563EB"/>
            </a:solidFill>
            <a:prstDash val="solid"/>
            <a:headEnd type="triangle"/>
            <a:tailEnd type="triangle"/>
          </a:ln>
        </p:spPr>
      </p:sp>
      <p:sp>
        <p:nvSpPr>
          <p:cNvPr id="28" name="Text 26"/>
          <p:cNvSpPr/>
          <p:nvPr/>
        </p:nvSpPr>
        <p:spPr>
          <a:xfrm>
            <a:off x="2487168" y="1901952"/>
            <a:ext cx="1783080" cy="146304"/>
          </a:xfrm>
          <a:prstGeom prst="rect">
            <a:avLst/>
          </a:prstGeom>
          <a:noFill/>
          <a:ln/>
        </p:spPr>
        <p:txBody>
          <a:bodyPr wrap="square" lIns="0" tIns="0" rIns="0" bIns="0" rtlCol="0" anchor="t">
            <a:normAutofit/>
          </a:bodyPr>
          <a:lstStyle/>
          <a:p>
            <a:pPr algn="ctr" indent="0" marL="0">
              <a:buNone/>
            </a:pPr>
            <a:r>
              <a:rPr lang="en-US" sz="820" b="1" dirty="0">
                <a:solidFill>
                  <a:srgbClr val="2563EB"/>
                </a:solidFill>
                <a:latin typeface="Arial" pitchFamily="34" charset="0"/>
                <a:ea typeface="Arial" pitchFamily="34" charset="-122"/>
                <a:cs typeface="Arial" pitchFamily="34" charset="-120"/>
              </a:rPr>
              <a:t>right edge wraps to left edge</a:t>
            </a:r>
            <a:endParaRPr lang="en-US" sz="820" dirty="0"/>
          </a:p>
        </p:txBody>
      </p:sp>
      <p:sp>
        <p:nvSpPr>
          <p:cNvPr id="29" name="Shape 27"/>
          <p:cNvSpPr/>
          <p:nvPr/>
        </p:nvSpPr>
        <p:spPr>
          <a:xfrm>
            <a:off x="1243584" y="4608576"/>
            <a:ext cx="4187952" cy="694944"/>
          </a:xfrm>
          <a:prstGeom prst="roundRect">
            <a:avLst>
              <a:gd name="adj" fmla="val 10526"/>
            </a:avLst>
          </a:prstGeom>
          <a:solidFill>
            <a:srgbClr val="DBEAFE"/>
          </a:solidFill>
          <a:ln w="12700">
            <a:solidFill>
              <a:srgbClr val="2563EB"/>
            </a:solidFill>
            <a:prstDash val="solid"/>
          </a:ln>
        </p:spPr>
      </p:sp>
      <p:sp>
        <p:nvSpPr>
          <p:cNvPr id="30" name="Shape 28"/>
          <p:cNvSpPr/>
          <p:nvPr/>
        </p:nvSpPr>
        <p:spPr>
          <a:xfrm>
            <a:off x="1243584" y="4608576"/>
            <a:ext cx="73152" cy="694944"/>
          </a:xfrm>
          <a:prstGeom prst="rect">
            <a:avLst/>
          </a:prstGeom>
          <a:solidFill>
            <a:srgbClr val="2563EB"/>
          </a:solidFill>
          <a:ln w="12700">
            <a:solidFill>
              <a:srgbClr val="2563EB">
                <a:alpha val="0"/>
              </a:srgbClr>
            </a:solidFill>
            <a:prstDash val="solid"/>
          </a:ln>
        </p:spPr>
      </p:sp>
      <p:sp>
        <p:nvSpPr>
          <p:cNvPr id="31" name="Text 29"/>
          <p:cNvSpPr/>
          <p:nvPr/>
        </p:nvSpPr>
        <p:spPr>
          <a:xfrm>
            <a:off x="1408176" y="4718304"/>
            <a:ext cx="3895344" cy="201168"/>
          </a:xfrm>
          <a:prstGeom prst="rect">
            <a:avLst/>
          </a:prstGeom>
          <a:noFill/>
          <a:ln/>
        </p:spPr>
        <p:txBody>
          <a:bodyPr wrap="square" lIns="0" tIns="0" rIns="0" bIns="0" rtlCol="0" anchor="t">
            <a:normAutofit/>
          </a:bodyPr>
          <a:lstStyle/>
          <a:p>
            <a:pPr algn="l" indent="0" marL="0">
              <a:buNone/>
            </a:pPr>
            <a:r>
              <a:rPr lang="en-US" sz="750" b="1" dirty="0">
                <a:solidFill>
                  <a:srgbClr val="2563EB"/>
                </a:solidFill>
                <a:latin typeface="Arial" pitchFamily="34" charset="0"/>
                <a:ea typeface="Arial" pitchFamily="34" charset="-122"/>
                <a:cs typeface="Arial" pitchFamily="34" charset="-120"/>
              </a:rPr>
              <a:t>Physical interpretation</a:t>
            </a:r>
            <a:endParaRPr lang="en-US" sz="750" dirty="0"/>
          </a:p>
        </p:txBody>
      </p:sp>
      <p:sp>
        <p:nvSpPr>
          <p:cNvPr id="32" name="Text 30"/>
          <p:cNvSpPr/>
          <p:nvPr/>
        </p:nvSpPr>
        <p:spPr>
          <a:xfrm>
            <a:off x="1408176" y="4882896"/>
            <a:ext cx="3877056" cy="347472"/>
          </a:xfrm>
          <a:prstGeom prst="rect">
            <a:avLst/>
          </a:prstGeom>
          <a:noFill/>
          <a:ln/>
        </p:spPr>
        <p:txBody>
          <a:bodyPr wrap="square" lIns="0" tIns="0" rIns="0" bIns="0" rtlCol="0" anchor="t">
            <a:normAutofit/>
          </a:bodyPr>
          <a:lstStyle/>
          <a:p>
            <a:pPr algn="l" indent="0" marL="0">
              <a:buNone/>
            </a:pPr>
            <a:r>
              <a:rPr lang="en-US" sz="800" dirty="0">
                <a:solidFill>
                  <a:srgbClr val="162033"/>
                </a:solidFill>
                <a:latin typeface="Arial" pitchFamily="34" charset="0"/>
                <a:ea typeface="Arial" pitchFamily="34" charset="-122"/>
                <a:cs typeface="Arial" pitchFamily="34" charset="-120"/>
              </a:rPr>
              <a:t>simulate one representative lateral period; no artificial sidewall is introduced</a:t>
            </a:r>
            <a:endParaRPr lang="en-US" sz="800" dirty="0"/>
          </a:p>
        </p:txBody>
      </p:sp>
      <p:sp>
        <p:nvSpPr>
          <p:cNvPr id="33" name="Shape 31"/>
          <p:cNvSpPr/>
          <p:nvPr/>
        </p:nvSpPr>
        <p:spPr>
          <a:xfrm>
            <a:off x="6199632" y="1316736"/>
            <a:ext cx="5230368" cy="4389120"/>
          </a:xfrm>
          <a:prstGeom prst="roundRect">
            <a:avLst>
              <a:gd name="adj" fmla="val 1667"/>
            </a:avLst>
          </a:prstGeom>
          <a:solidFill>
            <a:srgbClr val="F8FAFC"/>
          </a:solidFill>
          <a:ln w="12700">
            <a:solidFill>
              <a:srgbClr val="CBD5E1"/>
            </a:solidFill>
            <a:prstDash val="solid"/>
          </a:ln>
        </p:spPr>
      </p:sp>
      <p:sp>
        <p:nvSpPr>
          <p:cNvPr id="34" name="Text 32"/>
          <p:cNvSpPr/>
          <p:nvPr/>
        </p:nvSpPr>
        <p:spPr>
          <a:xfrm>
            <a:off x="6437376" y="1481328"/>
            <a:ext cx="2926080" cy="228600"/>
          </a:xfrm>
          <a:prstGeom prst="rect">
            <a:avLst/>
          </a:prstGeom>
          <a:noFill/>
          <a:ln/>
        </p:spPr>
        <p:txBody>
          <a:bodyPr wrap="square" lIns="0" tIns="0" rIns="0" bIns="0" rtlCol="0" anchor="t">
            <a:normAutofit/>
          </a:bodyPr>
          <a:lstStyle/>
          <a:p>
            <a:pPr algn="l" indent="0" marL="0">
              <a:buNone/>
            </a:pPr>
            <a:r>
              <a:rPr lang="en-US" sz="1220" b="1" dirty="0">
                <a:solidFill>
                  <a:srgbClr val="B42318"/>
                </a:solidFill>
                <a:latin typeface="Arial" pitchFamily="34" charset="0"/>
                <a:ea typeface="Arial" pitchFamily="34" charset="-122"/>
                <a:cs typeface="Arial" pitchFamily="34" charset="-120"/>
              </a:rPr>
              <a:t>Neumann Lateral Boundary</a:t>
            </a:r>
            <a:endParaRPr lang="en-US" sz="1220" dirty="0"/>
          </a:p>
        </p:txBody>
      </p:sp>
      <p:sp>
        <p:nvSpPr>
          <p:cNvPr id="35" name="Shape 33"/>
          <p:cNvSpPr/>
          <p:nvPr/>
        </p:nvSpPr>
        <p:spPr>
          <a:xfrm>
            <a:off x="9619488" y="1499616"/>
            <a:ext cx="1261872" cy="292608"/>
          </a:xfrm>
          <a:prstGeom prst="roundRect">
            <a:avLst>
              <a:gd name="adj" fmla="val 37500"/>
            </a:avLst>
          </a:prstGeom>
          <a:solidFill>
            <a:srgbClr val="FEE4E2"/>
          </a:solidFill>
          <a:ln w="12700">
            <a:solidFill>
              <a:srgbClr val="B42318"/>
            </a:solidFill>
            <a:prstDash val="solid"/>
          </a:ln>
        </p:spPr>
      </p:sp>
      <p:sp>
        <p:nvSpPr>
          <p:cNvPr id="36" name="Text 34"/>
          <p:cNvSpPr/>
          <p:nvPr/>
        </p:nvSpPr>
        <p:spPr>
          <a:xfrm>
            <a:off x="9665208" y="1572768"/>
            <a:ext cx="1170432" cy="109728"/>
          </a:xfrm>
          <a:prstGeom prst="rect">
            <a:avLst/>
          </a:prstGeom>
          <a:noFill/>
          <a:ln/>
        </p:spPr>
        <p:txBody>
          <a:bodyPr wrap="square" lIns="0" tIns="0" rIns="0" bIns="0" rtlCol="0" anchor="t">
            <a:normAutofit/>
          </a:bodyPr>
          <a:lstStyle/>
          <a:p>
            <a:pPr algn="ctr" indent="0" marL="0">
              <a:buNone/>
            </a:pPr>
            <a:r>
              <a:rPr lang="en-US" sz="690" b="1" dirty="0">
                <a:solidFill>
                  <a:srgbClr val="B42318"/>
                </a:solidFill>
                <a:latin typeface="Arial" pitchFamily="34" charset="0"/>
                <a:ea typeface="Arial" pitchFamily="34" charset="-122"/>
                <a:cs typeface="Arial" pitchFamily="34" charset="-120"/>
              </a:rPr>
              <a:t>lateral_bc="neumann"</a:t>
            </a:r>
            <a:endParaRPr lang="en-US" sz="690" dirty="0"/>
          </a:p>
        </p:txBody>
      </p:sp>
      <p:sp>
        <p:nvSpPr>
          <p:cNvPr id="37" name="Shape 35"/>
          <p:cNvSpPr/>
          <p:nvPr/>
        </p:nvSpPr>
        <p:spPr>
          <a:xfrm>
            <a:off x="6656832" y="2121408"/>
            <a:ext cx="4297680" cy="2176272"/>
          </a:xfrm>
          <a:prstGeom prst="roundRect">
            <a:avLst>
              <a:gd name="adj" fmla="val 2521"/>
            </a:avLst>
          </a:prstGeom>
          <a:solidFill>
            <a:srgbClr val="FFFFFF"/>
          </a:solidFill>
          <a:ln w="12700">
            <a:solidFill>
              <a:srgbClr val="CBD5E1"/>
            </a:solidFill>
            <a:prstDash val="solid"/>
          </a:ln>
        </p:spPr>
      </p:sp>
      <p:sp>
        <p:nvSpPr>
          <p:cNvPr id="38" name="Shape 36"/>
          <p:cNvSpPr/>
          <p:nvPr/>
        </p:nvSpPr>
        <p:spPr>
          <a:xfrm>
            <a:off x="6656832" y="2121408"/>
            <a:ext cx="4297680" cy="457200"/>
          </a:xfrm>
          <a:prstGeom prst="rect">
            <a:avLst/>
          </a:prstGeom>
          <a:solidFill>
            <a:srgbClr val="DCFCE7"/>
          </a:solidFill>
          <a:ln w="12700">
            <a:solidFill>
              <a:srgbClr val="CBD5E1"/>
            </a:solidFill>
            <a:prstDash val="solid"/>
          </a:ln>
        </p:spPr>
      </p:sp>
      <p:sp>
        <p:nvSpPr>
          <p:cNvPr id="39" name="Shape 37"/>
          <p:cNvSpPr/>
          <p:nvPr/>
        </p:nvSpPr>
        <p:spPr>
          <a:xfrm>
            <a:off x="6656832" y="2578608"/>
            <a:ext cx="4297680" cy="1243584"/>
          </a:xfrm>
          <a:prstGeom prst="rect">
            <a:avLst/>
          </a:prstGeom>
          <a:solidFill>
            <a:srgbClr val="DBEAFE"/>
          </a:solidFill>
          <a:ln w="12700">
            <a:solidFill>
              <a:srgbClr val="CBD5E1"/>
            </a:solidFill>
            <a:prstDash val="solid"/>
          </a:ln>
        </p:spPr>
      </p:sp>
      <p:sp>
        <p:nvSpPr>
          <p:cNvPr id="40" name="Shape 38"/>
          <p:cNvSpPr/>
          <p:nvPr/>
        </p:nvSpPr>
        <p:spPr>
          <a:xfrm>
            <a:off x="6656832" y="3822192"/>
            <a:ext cx="4297680" cy="475488"/>
          </a:xfrm>
          <a:prstGeom prst="rect">
            <a:avLst/>
          </a:prstGeom>
          <a:solidFill>
            <a:srgbClr val="FEF3C7"/>
          </a:solidFill>
          <a:ln w="12700">
            <a:solidFill>
              <a:srgbClr val="CBD5E1"/>
            </a:solidFill>
            <a:prstDash val="solid"/>
          </a:ln>
        </p:spPr>
      </p:sp>
      <p:sp>
        <p:nvSpPr>
          <p:cNvPr id="41" name="Text 39"/>
          <p:cNvSpPr/>
          <p:nvPr/>
        </p:nvSpPr>
        <p:spPr>
          <a:xfrm>
            <a:off x="6821424" y="2276856"/>
            <a:ext cx="658368" cy="146304"/>
          </a:xfrm>
          <a:prstGeom prst="rect">
            <a:avLst/>
          </a:prstGeom>
          <a:noFill/>
          <a:ln/>
        </p:spPr>
        <p:txBody>
          <a:bodyPr wrap="square" lIns="0" tIns="0" rIns="0" bIns="0" rtlCol="0" anchor="t">
            <a:normAutofit/>
          </a:bodyPr>
          <a:lstStyle/>
          <a:p>
            <a:pPr algn="l" indent="0" marL="0">
              <a:buNone/>
            </a:pPr>
            <a:r>
              <a:rPr lang="en-US" sz="840" b="1" dirty="0">
                <a:solidFill>
                  <a:srgbClr val="16803C"/>
                </a:solidFill>
                <a:latin typeface="Arial" pitchFamily="34" charset="0"/>
                <a:ea typeface="Arial" pitchFamily="34" charset="-122"/>
                <a:cs typeface="Arial" pitchFamily="34" charset="-120"/>
              </a:rPr>
              <a:t>HTL</a:t>
            </a:r>
            <a:endParaRPr lang="en-US" sz="840" dirty="0"/>
          </a:p>
        </p:txBody>
      </p:sp>
      <p:sp>
        <p:nvSpPr>
          <p:cNvPr id="42" name="Text 40"/>
          <p:cNvSpPr/>
          <p:nvPr/>
        </p:nvSpPr>
        <p:spPr>
          <a:xfrm>
            <a:off x="6821424" y="3127248"/>
            <a:ext cx="960120" cy="146304"/>
          </a:xfrm>
          <a:prstGeom prst="rect">
            <a:avLst/>
          </a:prstGeom>
          <a:noFill/>
          <a:ln/>
        </p:spPr>
        <p:txBody>
          <a:bodyPr wrap="square" lIns="0" tIns="0" rIns="0" bIns="0" rtlCol="0" anchor="t">
            <a:normAutofit/>
          </a:bodyPr>
          <a:lstStyle/>
          <a:p>
            <a:pPr algn="l" indent="0" marL="0">
              <a:buNone/>
            </a:pPr>
            <a:r>
              <a:rPr lang="en-US" sz="840" b="1" dirty="0">
                <a:solidFill>
                  <a:srgbClr val="2563EB"/>
                </a:solidFill>
                <a:latin typeface="Arial" pitchFamily="34" charset="0"/>
                <a:ea typeface="Arial" pitchFamily="34" charset="-122"/>
                <a:cs typeface="Arial" pitchFamily="34" charset="-120"/>
              </a:rPr>
              <a:t>absorber</a:t>
            </a:r>
            <a:endParaRPr lang="en-US" sz="840" dirty="0"/>
          </a:p>
        </p:txBody>
      </p:sp>
      <p:sp>
        <p:nvSpPr>
          <p:cNvPr id="43" name="Text 41"/>
          <p:cNvSpPr/>
          <p:nvPr/>
        </p:nvSpPr>
        <p:spPr>
          <a:xfrm>
            <a:off x="6821424" y="3986784"/>
            <a:ext cx="658368" cy="146304"/>
          </a:xfrm>
          <a:prstGeom prst="rect">
            <a:avLst/>
          </a:prstGeom>
          <a:noFill/>
          <a:ln/>
        </p:spPr>
        <p:txBody>
          <a:bodyPr wrap="square" lIns="0" tIns="0" rIns="0" bIns="0" rtlCol="0" anchor="t">
            <a:normAutofit/>
          </a:bodyPr>
          <a:lstStyle/>
          <a:p>
            <a:pPr algn="l" indent="0" marL="0">
              <a:buNone/>
            </a:pPr>
            <a:r>
              <a:rPr lang="en-US" sz="840" b="1" dirty="0">
                <a:solidFill>
                  <a:srgbClr val="A16207"/>
                </a:solidFill>
                <a:latin typeface="Arial" pitchFamily="34" charset="0"/>
                <a:ea typeface="Arial" pitchFamily="34" charset="-122"/>
                <a:cs typeface="Arial" pitchFamily="34" charset="-120"/>
              </a:rPr>
              <a:t>ETL</a:t>
            </a:r>
            <a:endParaRPr lang="en-US" sz="840" dirty="0"/>
          </a:p>
        </p:txBody>
      </p:sp>
      <p:sp>
        <p:nvSpPr>
          <p:cNvPr id="44" name="Shape 42"/>
          <p:cNvSpPr/>
          <p:nvPr/>
        </p:nvSpPr>
        <p:spPr>
          <a:xfrm>
            <a:off x="7373112" y="2121408"/>
            <a:ext cx="0" cy="2176272"/>
          </a:xfrm>
          <a:prstGeom prst="line">
            <a:avLst/>
          </a:prstGeom>
          <a:noFill/>
          <a:ln w="12700">
            <a:solidFill>
              <a:srgbClr val="CBD5E1"/>
            </a:solidFill>
            <a:prstDash val="solid"/>
            <a:headEnd type="none"/>
            <a:tailEnd type="none"/>
          </a:ln>
        </p:spPr>
      </p:sp>
      <p:sp>
        <p:nvSpPr>
          <p:cNvPr id="45" name="Shape 43"/>
          <p:cNvSpPr/>
          <p:nvPr/>
        </p:nvSpPr>
        <p:spPr>
          <a:xfrm>
            <a:off x="8089392" y="2121408"/>
            <a:ext cx="0" cy="2176272"/>
          </a:xfrm>
          <a:prstGeom prst="line">
            <a:avLst/>
          </a:prstGeom>
          <a:noFill/>
          <a:ln w="12700">
            <a:solidFill>
              <a:srgbClr val="CBD5E1"/>
            </a:solidFill>
            <a:prstDash val="solid"/>
            <a:headEnd type="none"/>
            <a:tailEnd type="none"/>
          </a:ln>
        </p:spPr>
      </p:sp>
      <p:sp>
        <p:nvSpPr>
          <p:cNvPr id="46" name="Shape 44"/>
          <p:cNvSpPr/>
          <p:nvPr/>
        </p:nvSpPr>
        <p:spPr>
          <a:xfrm>
            <a:off x="8805672" y="2121408"/>
            <a:ext cx="0" cy="2176272"/>
          </a:xfrm>
          <a:prstGeom prst="line">
            <a:avLst/>
          </a:prstGeom>
          <a:noFill/>
          <a:ln w="12700">
            <a:solidFill>
              <a:srgbClr val="CBD5E1"/>
            </a:solidFill>
            <a:prstDash val="solid"/>
            <a:headEnd type="none"/>
            <a:tailEnd type="none"/>
          </a:ln>
        </p:spPr>
      </p:sp>
      <p:sp>
        <p:nvSpPr>
          <p:cNvPr id="47" name="Shape 45"/>
          <p:cNvSpPr/>
          <p:nvPr/>
        </p:nvSpPr>
        <p:spPr>
          <a:xfrm>
            <a:off x="9521952" y="2121408"/>
            <a:ext cx="0" cy="2176272"/>
          </a:xfrm>
          <a:prstGeom prst="line">
            <a:avLst/>
          </a:prstGeom>
          <a:noFill/>
          <a:ln w="12700">
            <a:solidFill>
              <a:srgbClr val="CBD5E1"/>
            </a:solidFill>
            <a:prstDash val="solid"/>
            <a:headEnd type="none"/>
            <a:tailEnd type="none"/>
          </a:ln>
        </p:spPr>
      </p:sp>
      <p:sp>
        <p:nvSpPr>
          <p:cNvPr id="48" name="Shape 46"/>
          <p:cNvSpPr/>
          <p:nvPr/>
        </p:nvSpPr>
        <p:spPr>
          <a:xfrm>
            <a:off x="10238232" y="2121408"/>
            <a:ext cx="0" cy="2176272"/>
          </a:xfrm>
          <a:prstGeom prst="line">
            <a:avLst/>
          </a:prstGeom>
          <a:noFill/>
          <a:ln w="12700">
            <a:solidFill>
              <a:srgbClr val="CBD5E1"/>
            </a:solidFill>
            <a:prstDash val="solid"/>
            <a:headEnd type="none"/>
            <a:tailEnd type="none"/>
          </a:ln>
        </p:spPr>
      </p:sp>
      <p:sp>
        <p:nvSpPr>
          <p:cNvPr id="49" name="Shape 47"/>
          <p:cNvSpPr/>
          <p:nvPr/>
        </p:nvSpPr>
        <p:spPr>
          <a:xfrm>
            <a:off x="6656832" y="2665476"/>
            <a:ext cx="4297680" cy="0"/>
          </a:xfrm>
          <a:prstGeom prst="line">
            <a:avLst/>
          </a:prstGeom>
          <a:noFill/>
          <a:ln w="12700">
            <a:solidFill>
              <a:srgbClr val="CBD5E1"/>
            </a:solidFill>
            <a:prstDash val="solid"/>
            <a:headEnd type="none"/>
            <a:tailEnd type="none"/>
          </a:ln>
        </p:spPr>
      </p:sp>
      <p:sp>
        <p:nvSpPr>
          <p:cNvPr id="50" name="Shape 48"/>
          <p:cNvSpPr/>
          <p:nvPr/>
        </p:nvSpPr>
        <p:spPr>
          <a:xfrm>
            <a:off x="6656832" y="3209544"/>
            <a:ext cx="4297680" cy="0"/>
          </a:xfrm>
          <a:prstGeom prst="line">
            <a:avLst/>
          </a:prstGeom>
          <a:noFill/>
          <a:ln w="12700">
            <a:solidFill>
              <a:srgbClr val="CBD5E1"/>
            </a:solidFill>
            <a:prstDash val="solid"/>
            <a:headEnd type="none"/>
            <a:tailEnd type="none"/>
          </a:ln>
        </p:spPr>
      </p:sp>
      <p:sp>
        <p:nvSpPr>
          <p:cNvPr id="51" name="Shape 49"/>
          <p:cNvSpPr/>
          <p:nvPr/>
        </p:nvSpPr>
        <p:spPr>
          <a:xfrm>
            <a:off x="6656832" y="3753612"/>
            <a:ext cx="4297680" cy="0"/>
          </a:xfrm>
          <a:prstGeom prst="line">
            <a:avLst/>
          </a:prstGeom>
          <a:noFill/>
          <a:ln w="12700">
            <a:solidFill>
              <a:srgbClr val="CBD5E1"/>
            </a:solidFill>
            <a:prstDash val="solid"/>
            <a:headEnd type="none"/>
            <a:tailEnd type="none"/>
          </a:ln>
        </p:spPr>
      </p:sp>
      <p:sp>
        <p:nvSpPr>
          <p:cNvPr id="52" name="Shape 50"/>
          <p:cNvSpPr/>
          <p:nvPr/>
        </p:nvSpPr>
        <p:spPr>
          <a:xfrm>
            <a:off x="6656832" y="2121408"/>
            <a:ext cx="0" cy="2176272"/>
          </a:xfrm>
          <a:prstGeom prst="line">
            <a:avLst/>
          </a:prstGeom>
          <a:noFill/>
          <a:ln w="12700">
            <a:solidFill>
              <a:srgbClr val="B42318"/>
            </a:solidFill>
            <a:prstDash val="solid"/>
            <a:headEnd type="none"/>
            <a:tailEnd type="none"/>
          </a:ln>
        </p:spPr>
      </p:sp>
      <p:sp>
        <p:nvSpPr>
          <p:cNvPr id="53" name="Shape 51"/>
          <p:cNvSpPr/>
          <p:nvPr/>
        </p:nvSpPr>
        <p:spPr>
          <a:xfrm>
            <a:off x="10954512" y="2121408"/>
            <a:ext cx="0" cy="2176272"/>
          </a:xfrm>
          <a:prstGeom prst="line">
            <a:avLst/>
          </a:prstGeom>
          <a:noFill/>
          <a:ln w="12700">
            <a:solidFill>
              <a:srgbClr val="B42318"/>
            </a:solidFill>
            <a:prstDash val="solid"/>
            <a:headEnd type="none"/>
            <a:tailEnd type="none"/>
          </a:ln>
        </p:spPr>
      </p:sp>
      <p:sp>
        <p:nvSpPr>
          <p:cNvPr id="54" name="Text 52"/>
          <p:cNvSpPr/>
          <p:nvPr/>
        </p:nvSpPr>
        <p:spPr>
          <a:xfrm>
            <a:off x="6894576" y="3054096"/>
            <a:ext cx="548640" cy="146304"/>
          </a:xfrm>
          <a:prstGeom prst="rect">
            <a:avLst/>
          </a:prstGeom>
          <a:noFill/>
          <a:ln/>
        </p:spPr>
        <p:txBody>
          <a:bodyPr wrap="square" lIns="0" tIns="0" rIns="0" bIns="0" rtlCol="0" anchor="t">
            <a:normAutofit/>
          </a:bodyPr>
          <a:lstStyle/>
          <a:p>
            <a:pPr algn="l" indent="0" marL="0">
              <a:buNone/>
            </a:pPr>
            <a:r>
              <a:rPr lang="en-US" sz="900" b="1" dirty="0">
                <a:solidFill>
                  <a:srgbClr val="B42318"/>
                </a:solidFill>
                <a:latin typeface="Arial" pitchFamily="34" charset="0"/>
                <a:ea typeface="Arial" pitchFamily="34" charset="-122"/>
                <a:cs typeface="Arial" pitchFamily="34" charset="-120"/>
              </a:rPr>
              <a:t>Jₓ=0</a:t>
            </a:r>
            <a:endParaRPr lang="en-US" sz="900" dirty="0"/>
          </a:p>
        </p:txBody>
      </p:sp>
      <p:sp>
        <p:nvSpPr>
          <p:cNvPr id="55" name="Text 53"/>
          <p:cNvSpPr/>
          <p:nvPr/>
        </p:nvSpPr>
        <p:spPr>
          <a:xfrm>
            <a:off x="10131552" y="3054096"/>
            <a:ext cx="548640" cy="146304"/>
          </a:xfrm>
          <a:prstGeom prst="rect">
            <a:avLst/>
          </a:prstGeom>
          <a:noFill/>
          <a:ln/>
        </p:spPr>
        <p:txBody>
          <a:bodyPr wrap="square" lIns="0" tIns="0" rIns="0" bIns="0" rtlCol="0" anchor="t">
            <a:normAutofit/>
          </a:bodyPr>
          <a:lstStyle/>
          <a:p>
            <a:pPr algn="l" indent="0" marL="0">
              <a:buNone/>
            </a:pPr>
            <a:r>
              <a:rPr lang="en-US" sz="900" b="1" dirty="0">
                <a:solidFill>
                  <a:srgbClr val="B42318"/>
                </a:solidFill>
                <a:latin typeface="Arial" pitchFamily="34" charset="0"/>
                <a:ea typeface="Arial" pitchFamily="34" charset="-122"/>
                <a:cs typeface="Arial" pitchFamily="34" charset="-120"/>
              </a:rPr>
              <a:t>Jₓ=0</a:t>
            </a:r>
            <a:endParaRPr lang="en-US" sz="900" dirty="0"/>
          </a:p>
        </p:txBody>
      </p:sp>
      <p:sp>
        <p:nvSpPr>
          <p:cNvPr id="56" name="Shape 54"/>
          <p:cNvSpPr/>
          <p:nvPr/>
        </p:nvSpPr>
        <p:spPr>
          <a:xfrm>
            <a:off x="6693408" y="4608576"/>
            <a:ext cx="4187952" cy="694944"/>
          </a:xfrm>
          <a:prstGeom prst="roundRect">
            <a:avLst>
              <a:gd name="adj" fmla="val 10526"/>
            </a:avLst>
          </a:prstGeom>
          <a:solidFill>
            <a:srgbClr val="FEE4E2"/>
          </a:solidFill>
          <a:ln w="12700">
            <a:solidFill>
              <a:srgbClr val="B42318"/>
            </a:solidFill>
            <a:prstDash val="solid"/>
          </a:ln>
        </p:spPr>
      </p:sp>
      <p:sp>
        <p:nvSpPr>
          <p:cNvPr id="57" name="Shape 55"/>
          <p:cNvSpPr/>
          <p:nvPr/>
        </p:nvSpPr>
        <p:spPr>
          <a:xfrm>
            <a:off x="6693408" y="4608576"/>
            <a:ext cx="73152" cy="694944"/>
          </a:xfrm>
          <a:prstGeom prst="rect">
            <a:avLst/>
          </a:prstGeom>
          <a:solidFill>
            <a:srgbClr val="B42318"/>
          </a:solidFill>
          <a:ln w="12700">
            <a:solidFill>
              <a:srgbClr val="B42318">
                <a:alpha val="0"/>
              </a:srgbClr>
            </a:solidFill>
            <a:prstDash val="solid"/>
          </a:ln>
        </p:spPr>
      </p:sp>
      <p:sp>
        <p:nvSpPr>
          <p:cNvPr id="58" name="Text 56"/>
          <p:cNvSpPr/>
          <p:nvPr/>
        </p:nvSpPr>
        <p:spPr>
          <a:xfrm>
            <a:off x="6858000" y="4718304"/>
            <a:ext cx="3895344" cy="201168"/>
          </a:xfrm>
          <a:prstGeom prst="rect">
            <a:avLst/>
          </a:prstGeom>
          <a:noFill/>
          <a:ln/>
        </p:spPr>
        <p:txBody>
          <a:bodyPr wrap="square" lIns="0" tIns="0" rIns="0" bIns="0" rtlCol="0" anchor="t">
            <a:normAutofit/>
          </a:bodyPr>
          <a:lstStyle/>
          <a:p>
            <a:pPr algn="l" indent="0" marL="0">
              <a:buNone/>
            </a:pPr>
            <a:r>
              <a:rPr lang="en-US" sz="750" b="1" dirty="0">
                <a:solidFill>
                  <a:srgbClr val="B42318"/>
                </a:solidFill>
                <a:latin typeface="Arial" pitchFamily="34" charset="0"/>
                <a:ea typeface="Arial" pitchFamily="34" charset="-122"/>
                <a:cs typeface="Arial" pitchFamily="34" charset="-120"/>
              </a:rPr>
              <a:t>Physical interpretation</a:t>
            </a:r>
            <a:endParaRPr lang="en-US" sz="750" dirty="0"/>
          </a:p>
        </p:txBody>
      </p:sp>
      <p:sp>
        <p:nvSpPr>
          <p:cNvPr id="59" name="Text 57"/>
          <p:cNvSpPr/>
          <p:nvPr/>
        </p:nvSpPr>
        <p:spPr>
          <a:xfrm>
            <a:off x="6858000" y="4882896"/>
            <a:ext cx="3877056" cy="347472"/>
          </a:xfrm>
          <a:prstGeom prst="rect">
            <a:avLst/>
          </a:prstGeom>
          <a:noFill/>
          <a:ln/>
        </p:spPr>
        <p:txBody>
          <a:bodyPr wrap="square" lIns="0" tIns="0" rIns="0" bIns="0" rtlCol="0" anchor="t">
            <a:normAutofit/>
          </a:bodyPr>
          <a:lstStyle/>
          <a:p>
            <a:pPr algn="l" indent="0" marL="0">
              <a:buNone/>
            </a:pPr>
            <a:r>
              <a:rPr lang="en-US" sz="770" dirty="0">
                <a:solidFill>
                  <a:srgbClr val="162033"/>
                </a:solidFill>
                <a:latin typeface="Arial" pitchFamily="34" charset="0"/>
                <a:ea typeface="Arial" pitchFamily="34" charset="-122"/>
                <a:cs typeface="Arial" pitchFamily="34" charset="-120"/>
              </a:rPr>
              <a:t>simulate an isolated lateral window; no carrier current or electric displacement leaves through sidewalls</a:t>
            </a:r>
            <a:endParaRPr lang="en-US" sz="770" dirty="0"/>
          </a:p>
        </p:txBody>
      </p:sp>
      <p:sp>
        <p:nvSpPr>
          <p:cNvPr id="60" name="Shape 58"/>
          <p:cNvSpPr/>
          <p:nvPr/>
        </p:nvSpPr>
        <p:spPr>
          <a:xfrm>
            <a:off x="2084832" y="5358384"/>
            <a:ext cx="8028432" cy="329184"/>
          </a:xfrm>
          <a:prstGeom prst="roundRect">
            <a:avLst>
              <a:gd name="adj" fmla="val 22222"/>
            </a:avLst>
          </a:prstGeom>
          <a:solidFill>
            <a:srgbClr val="F8FAFC"/>
          </a:solidFill>
          <a:ln w="12700">
            <a:solidFill>
              <a:srgbClr val="334155"/>
            </a:solidFill>
            <a:prstDash val="solid"/>
          </a:ln>
        </p:spPr>
      </p:sp>
      <p:sp>
        <p:nvSpPr>
          <p:cNvPr id="61" name="Shape 59"/>
          <p:cNvSpPr/>
          <p:nvPr/>
        </p:nvSpPr>
        <p:spPr>
          <a:xfrm>
            <a:off x="2084832" y="5358384"/>
            <a:ext cx="73152" cy="329184"/>
          </a:xfrm>
          <a:prstGeom prst="rect">
            <a:avLst/>
          </a:prstGeom>
          <a:solidFill>
            <a:srgbClr val="334155"/>
          </a:solidFill>
          <a:ln w="12700">
            <a:solidFill>
              <a:srgbClr val="334155">
                <a:alpha val="0"/>
              </a:srgbClr>
            </a:solidFill>
            <a:prstDash val="solid"/>
          </a:ln>
        </p:spPr>
      </p:sp>
      <p:sp>
        <p:nvSpPr>
          <p:cNvPr id="62" name="Text 60"/>
          <p:cNvSpPr/>
          <p:nvPr/>
        </p:nvSpPr>
        <p:spPr>
          <a:xfrm>
            <a:off x="2249424" y="5468112"/>
            <a:ext cx="7735824" cy="201168"/>
          </a:xfrm>
          <a:prstGeom prst="rect">
            <a:avLst/>
          </a:prstGeom>
          <a:noFill/>
          <a:ln/>
        </p:spPr>
        <p:txBody>
          <a:bodyPr wrap="square" lIns="0" tIns="0" rIns="0" bIns="0" rtlCol="0" anchor="t">
            <a:normAutofit/>
          </a:bodyPr>
          <a:lstStyle/>
          <a:p>
            <a:pPr algn="l" indent="0" marL="0">
              <a:buNone/>
            </a:pPr>
            <a:r>
              <a:rPr lang="en-US" sz="700" b="1" dirty="0">
                <a:solidFill>
                  <a:srgbClr val="334155"/>
                </a:solidFill>
                <a:latin typeface="Arial" pitchFamily="34" charset="0"/>
                <a:ea typeface="Arial" pitchFamily="34" charset="-122"/>
                <a:cs typeface="Arial" pitchFamily="34" charset="-120"/>
              </a:rPr>
              <a:t>Solver usage</a:t>
            </a:r>
            <a:endParaRPr lang="en-US" sz="700" dirty="0"/>
          </a:p>
        </p:txBody>
      </p:sp>
      <p:sp>
        <p:nvSpPr>
          <p:cNvPr id="63" name="Text 61"/>
          <p:cNvSpPr/>
          <p:nvPr/>
        </p:nvSpPr>
        <p:spPr>
          <a:xfrm>
            <a:off x="2249424" y="5522976"/>
            <a:ext cx="7717536" cy="91440"/>
          </a:xfrm>
          <a:prstGeom prst="rect">
            <a:avLst/>
          </a:prstGeom>
          <a:noFill/>
          <a:ln/>
        </p:spPr>
        <p:txBody>
          <a:bodyPr wrap="square" lIns="0" tIns="0" rIns="0" bIns="0" rtlCol="0" anchor="t">
            <a:normAutofit/>
          </a:bodyPr>
          <a:lstStyle/>
          <a:p>
            <a:pPr algn="l" indent="0" marL="0">
              <a:buNone/>
            </a:pPr>
            <a:r>
              <a:rPr lang="en-US" sz="720" dirty="0">
                <a:solidFill>
                  <a:srgbClr val="162033"/>
                </a:solidFill>
                <a:latin typeface="Arial" pitchFamily="34" charset="0"/>
                <a:ea typeface="Arial" pitchFamily="34" charset="-122"/>
                <a:cs typeface="Arial" pitchFamily="34" charset="-120"/>
              </a:rPr>
              <a:t>The same lateral_bc is passed into Poisson assembly and continuity divergence for a consistent x-edge convention.</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20624" y="201168"/>
            <a:ext cx="11292840" cy="310896"/>
          </a:xfrm>
          <a:prstGeom prst="rect">
            <a:avLst/>
          </a:prstGeom>
          <a:noFill/>
          <a:ln/>
        </p:spPr>
        <p:txBody>
          <a:bodyPr wrap="square" lIns="0" tIns="0" rIns="0" bIns="0" rtlCol="0" anchor="t">
            <a:normAutofit/>
          </a:bodyPr>
          <a:lstStyle/>
          <a:p>
            <a:pPr algn="l" indent="0" marL="0">
              <a:buNone/>
            </a:pPr>
            <a:r>
              <a:rPr lang="en-US" sz="2100" b="1" dirty="0">
                <a:solidFill>
                  <a:srgbClr val="162033"/>
                </a:solidFill>
                <a:latin typeface="Arial" pitchFamily="34" charset="0"/>
                <a:ea typeface="Arial" pitchFamily="34" charset="-122"/>
                <a:cs typeface="Arial" pitchFamily="34" charset="-120"/>
              </a:rPr>
              <a:t>Internal Material Interfaces: Not the Same as Contact BC</a:t>
            </a:r>
            <a:endParaRPr lang="en-US" sz="2100" dirty="0"/>
          </a:p>
        </p:txBody>
      </p:sp>
      <p:sp>
        <p:nvSpPr>
          <p:cNvPr id="3" name="Text 1"/>
          <p:cNvSpPr/>
          <p:nvPr/>
        </p:nvSpPr>
        <p:spPr>
          <a:xfrm>
            <a:off x="429768" y="621792"/>
            <a:ext cx="11018520" cy="237744"/>
          </a:xfrm>
          <a:prstGeom prst="rect">
            <a:avLst/>
          </a:prstGeom>
          <a:noFill/>
          <a:ln/>
        </p:spPr>
        <p:txBody>
          <a:bodyPr wrap="square" lIns="0" tIns="0" rIns="0" bIns="0" rtlCol="0" anchor="t">
            <a:normAutofit/>
          </a:bodyPr>
          <a:lstStyle/>
          <a:p>
            <a:pPr algn="l" indent="0" marL="0">
              <a:buNone/>
            </a:pPr>
            <a:r>
              <a:rPr lang="en-US" sz="1120" dirty="0">
                <a:solidFill>
                  <a:srgbClr val="334155"/>
                </a:solidFill>
                <a:latin typeface="Arial" pitchFamily="34" charset="0"/>
                <a:ea typeface="Arial" pitchFamily="34" charset="-122"/>
                <a:cs typeface="Arial" pitchFamily="34" charset="-120"/>
              </a:rPr>
              <a:t>Internal interfaces occur between layers such as HTL/absorber or absorber/ETL; they modify transport inside the device rather than at the external electrode.</a:t>
            </a:r>
            <a:endParaRPr lang="en-US" sz="1120" dirty="0"/>
          </a:p>
        </p:txBody>
      </p:sp>
      <p:sp>
        <p:nvSpPr>
          <p:cNvPr id="4" name="Shape 2"/>
          <p:cNvSpPr/>
          <p:nvPr/>
        </p:nvSpPr>
        <p:spPr>
          <a:xfrm>
            <a:off x="0" y="6336792"/>
            <a:ext cx="12191695" cy="521208"/>
          </a:xfrm>
          <a:prstGeom prst="rect">
            <a:avLst/>
          </a:prstGeom>
          <a:solidFill>
            <a:srgbClr val="EAF2FF"/>
          </a:solidFill>
          <a:ln w="12700">
            <a:solidFill>
              <a:srgbClr val="EAF2FF">
                <a:alpha val="0"/>
              </a:srgbClr>
            </a:solidFill>
            <a:prstDash val="solid"/>
          </a:ln>
        </p:spPr>
      </p:sp>
      <p:sp>
        <p:nvSpPr>
          <p:cNvPr id="5" name="Text 3"/>
          <p:cNvSpPr/>
          <p:nvPr/>
        </p:nvSpPr>
        <p:spPr>
          <a:xfrm>
            <a:off x="457200" y="6473952"/>
            <a:ext cx="11201400" cy="182880"/>
          </a:xfrm>
          <a:prstGeom prst="rect">
            <a:avLst/>
          </a:prstGeom>
          <a:noFill/>
          <a:ln/>
        </p:spPr>
        <p:txBody>
          <a:bodyPr wrap="square" lIns="0" tIns="0" rIns="0" bIns="0" rtlCol="0" anchor="t">
            <a:normAutofit/>
          </a:bodyPr>
          <a:lstStyle/>
          <a:p>
            <a:pPr algn="ctr" indent="0" marL="0">
              <a:buNone/>
            </a:pPr>
            <a:r>
              <a:rPr lang="en-US" sz="1060" b="1" dirty="0">
                <a:solidFill>
                  <a:srgbClr val="162033"/>
                </a:solidFill>
                <a:latin typeface="Arial" pitchFamily="34" charset="0"/>
                <a:ea typeface="Arial" pitchFamily="34" charset="-122"/>
                <a:cs typeface="Arial" pitchFamily="34" charset="-120"/>
              </a:rPr>
              <a:t>Takeaway: contact BC is an outer-boundary exchange model; internal interfaces are handled through band-offset-aware fluxes, thermionic capping, and optional interface recombination.</a:t>
            </a:r>
            <a:endParaRPr lang="en-US" sz="1060" dirty="0"/>
          </a:p>
        </p:txBody>
      </p:sp>
      <p:sp>
        <p:nvSpPr>
          <p:cNvPr id="6" name="Shape 4"/>
          <p:cNvSpPr/>
          <p:nvPr/>
        </p:nvSpPr>
        <p:spPr>
          <a:xfrm>
            <a:off x="438912" y="1005840"/>
            <a:ext cx="11301984" cy="5010912"/>
          </a:xfrm>
          <a:prstGeom prst="roundRect">
            <a:avLst>
              <a:gd name="adj" fmla="val 1460"/>
            </a:avLst>
          </a:prstGeom>
          <a:solidFill>
            <a:srgbClr val="FFFFFF"/>
          </a:solidFill>
          <a:ln w="12700">
            <a:solidFill>
              <a:srgbClr val="CBD5E1"/>
            </a:solidFill>
            <a:prstDash val="solid"/>
          </a:ln>
        </p:spPr>
      </p:sp>
      <p:sp>
        <p:nvSpPr>
          <p:cNvPr id="7" name="Shape 5"/>
          <p:cNvSpPr/>
          <p:nvPr/>
        </p:nvSpPr>
        <p:spPr>
          <a:xfrm>
            <a:off x="804672" y="1371600"/>
            <a:ext cx="6510528" cy="4151376"/>
          </a:xfrm>
          <a:prstGeom prst="roundRect">
            <a:avLst>
              <a:gd name="adj" fmla="val 1762"/>
            </a:avLst>
          </a:prstGeom>
          <a:solidFill>
            <a:srgbClr val="F8FAFC"/>
          </a:solidFill>
          <a:ln w="12700">
            <a:solidFill>
              <a:srgbClr val="CBD5E1"/>
            </a:solidFill>
            <a:prstDash val="solid"/>
          </a:ln>
        </p:spPr>
      </p:sp>
      <p:sp>
        <p:nvSpPr>
          <p:cNvPr id="8" name="Text 6"/>
          <p:cNvSpPr/>
          <p:nvPr/>
        </p:nvSpPr>
        <p:spPr>
          <a:xfrm>
            <a:off x="1060704" y="1536192"/>
            <a:ext cx="3017520" cy="201168"/>
          </a:xfrm>
          <a:prstGeom prst="rect">
            <a:avLst/>
          </a:prstGeom>
          <a:noFill/>
          <a:ln/>
        </p:spPr>
        <p:txBody>
          <a:bodyPr wrap="square" lIns="0" tIns="0" rIns="0" bIns="0" rtlCol="0" anchor="t">
            <a:normAutofit/>
          </a:bodyPr>
          <a:lstStyle/>
          <a:p>
            <a:pPr algn="l" indent="0" marL="0">
              <a:buNone/>
            </a:pPr>
            <a:r>
              <a:rPr lang="en-US" sz="1150" b="1" dirty="0">
                <a:solidFill>
                  <a:srgbClr val="334155"/>
                </a:solidFill>
                <a:latin typeface="Arial" pitchFamily="34" charset="0"/>
                <a:ea typeface="Arial" pitchFamily="34" charset="-122"/>
                <a:cs typeface="Arial" pitchFamily="34" charset="-120"/>
              </a:rPr>
              <a:t>Local view around an internal interface</a:t>
            </a:r>
            <a:endParaRPr lang="en-US" sz="1150" dirty="0"/>
          </a:p>
        </p:txBody>
      </p:sp>
      <p:sp>
        <p:nvSpPr>
          <p:cNvPr id="9" name="Shape 7"/>
          <p:cNvSpPr/>
          <p:nvPr/>
        </p:nvSpPr>
        <p:spPr>
          <a:xfrm>
            <a:off x="1188720" y="1993392"/>
            <a:ext cx="1865376" cy="2523744"/>
          </a:xfrm>
          <a:prstGeom prst="rect">
            <a:avLst/>
          </a:prstGeom>
          <a:solidFill>
            <a:srgbClr val="F7DDE2"/>
          </a:solidFill>
          <a:ln w="12700">
            <a:solidFill>
              <a:srgbClr val="CBD5E1"/>
            </a:solidFill>
            <a:prstDash val="solid"/>
          </a:ln>
        </p:spPr>
      </p:sp>
      <p:sp>
        <p:nvSpPr>
          <p:cNvPr id="10" name="Shape 8"/>
          <p:cNvSpPr/>
          <p:nvPr/>
        </p:nvSpPr>
        <p:spPr>
          <a:xfrm>
            <a:off x="3054096" y="1993392"/>
            <a:ext cx="1170432" cy="2523744"/>
          </a:xfrm>
          <a:prstGeom prst="rect">
            <a:avLst/>
          </a:prstGeom>
          <a:solidFill>
            <a:srgbClr val="FFF2D8"/>
          </a:solidFill>
          <a:ln w="12700">
            <a:solidFill>
              <a:srgbClr val="CBD5E1"/>
            </a:solidFill>
            <a:prstDash val="solid"/>
          </a:ln>
        </p:spPr>
      </p:sp>
      <p:sp>
        <p:nvSpPr>
          <p:cNvPr id="11" name="Shape 9"/>
          <p:cNvSpPr/>
          <p:nvPr/>
        </p:nvSpPr>
        <p:spPr>
          <a:xfrm>
            <a:off x="4224528" y="1993392"/>
            <a:ext cx="2359152" cy="2523744"/>
          </a:xfrm>
          <a:prstGeom prst="rect">
            <a:avLst/>
          </a:prstGeom>
          <a:solidFill>
            <a:srgbClr val="D7F0FA"/>
          </a:solidFill>
          <a:ln w="12700">
            <a:solidFill>
              <a:srgbClr val="CBD5E1"/>
            </a:solidFill>
            <a:prstDash val="solid"/>
          </a:ln>
        </p:spPr>
      </p:sp>
      <p:sp>
        <p:nvSpPr>
          <p:cNvPr id="12" name="Text 10"/>
          <p:cNvSpPr/>
          <p:nvPr/>
        </p:nvSpPr>
        <p:spPr>
          <a:xfrm>
            <a:off x="1609344" y="2139696"/>
            <a:ext cx="914400" cy="146304"/>
          </a:xfrm>
          <a:prstGeom prst="rect">
            <a:avLst/>
          </a:prstGeom>
          <a:noFill/>
          <a:ln/>
        </p:spPr>
        <p:txBody>
          <a:bodyPr wrap="square" lIns="0" tIns="0" rIns="0" bIns="0" rtlCol="0" anchor="t">
            <a:normAutofit/>
          </a:bodyPr>
          <a:lstStyle/>
          <a:p>
            <a:pPr algn="ctr" indent="0" marL="0">
              <a:buNone/>
            </a:pPr>
            <a:r>
              <a:rPr lang="en-US" sz="820" dirty="0">
                <a:solidFill>
                  <a:srgbClr val="334155"/>
                </a:solidFill>
                <a:latin typeface="Arial" pitchFamily="34" charset="0"/>
                <a:ea typeface="Arial" pitchFamily="34" charset="-122"/>
                <a:cs typeface="Arial" pitchFamily="34" charset="-120"/>
              </a:rPr>
              <a:t>Material 1</a:t>
            </a:r>
            <a:endParaRPr lang="en-US" sz="820" dirty="0"/>
          </a:p>
        </p:txBody>
      </p:sp>
      <p:sp>
        <p:nvSpPr>
          <p:cNvPr id="13" name="Text 11"/>
          <p:cNvSpPr/>
          <p:nvPr/>
        </p:nvSpPr>
        <p:spPr>
          <a:xfrm>
            <a:off x="3154680" y="2139696"/>
            <a:ext cx="950976" cy="146304"/>
          </a:xfrm>
          <a:prstGeom prst="rect">
            <a:avLst/>
          </a:prstGeom>
          <a:noFill/>
          <a:ln/>
        </p:spPr>
        <p:txBody>
          <a:bodyPr wrap="square" lIns="0" tIns="0" rIns="0" bIns="0" rtlCol="0" anchor="t">
            <a:normAutofit/>
          </a:bodyPr>
          <a:lstStyle/>
          <a:p>
            <a:pPr algn="ctr" indent="0" marL="0">
              <a:buNone/>
            </a:pPr>
            <a:r>
              <a:rPr lang="en-US" sz="820" dirty="0">
                <a:solidFill>
                  <a:srgbClr val="A16207"/>
                </a:solidFill>
                <a:latin typeface="Arial" pitchFamily="34" charset="0"/>
                <a:ea typeface="Arial" pitchFamily="34" charset="-122"/>
                <a:cs typeface="Arial" pitchFamily="34" charset="-120"/>
              </a:rPr>
              <a:t>interface region</a:t>
            </a:r>
            <a:endParaRPr lang="en-US" sz="820" dirty="0"/>
          </a:p>
        </p:txBody>
      </p:sp>
      <p:sp>
        <p:nvSpPr>
          <p:cNvPr id="14" name="Text 12"/>
          <p:cNvSpPr/>
          <p:nvPr/>
        </p:nvSpPr>
        <p:spPr>
          <a:xfrm>
            <a:off x="4864608" y="2139696"/>
            <a:ext cx="960120" cy="146304"/>
          </a:xfrm>
          <a:prstGeom prst="rect">
            <a:avLst/>
          </a:prstGeom>
          <a:noFill/>
          <a:ln/>
        </p:spPr>
        <p:txBody>
          <a:bodyPr wrap="square" lIns="0" tIns="0" rIns="0" bIns="0" rtlCol="0" anchor="t">
            <a:normAutofit/>
          </a:bodyPr>
          <a:lstStyle/>
          <a:p>
            <a:pPr algn="ctr" indent="0" marL="0">
              <a:buNone/>
            </a:pPr>
            <a:r>
              <a:rPr lang="en-US" sz="820" dirty="0">
                <a:solidFill>
                  <a:srgbClr val="334155"/>
                </a:solidFill>
                <a:latin typeface="Arial" pitchFamily="34" charset="0"/>
                <a:ea typeface="Arial" pitchFamily="34" charset="-122"/>
                <a:cs typeface="Arial" pitchFamily="34" charset="-120"/>
              </a:rPr>
              <a:t>Material 2</a:t>
            </a:r>
            <a:endParaRPr lang="en-US" sz="820" dirty="0"/>
          </a:p>
        </p:txBody>
      </p:sp>
      <p:sp>
        <p:nvSpPr>
          <p:cNvPr id="15" name="Shape 13"/>
          <p:cNvSpPr/>
          <p:nvPr/>
        </p:nvSpPr>
        <p:spPr>
          <a:xfrm>
            <a:off x="3054096" y="1993392"/>
            <a:ext cx="0" cy="2523744"/>
          </a:xfrm>
          <a:prstGeom prst="line">
            <a:avLst/>
          </a:prstGeom>
          <a:noFill/>
          <a:ln w="12700">
            <a:solidFill>
              <a:srgbClr val="A16207"/>
            </a:solidFill>
            <a:prstDash val="solid"/>
            <a:headEnd type="none"/>
            <a:tailEnd type="none"/>
          </a:ln>
        </p:spPr>
      </p:sp>
      <p:sp>
        <p:nvSpPr>
          <p:cNvPr id="16" name="Shape 14"/>
          <p:cNvSpPr/>
          <p:nvPr/>
        </p:nvSpPr>
        <p:spPr>
          <a:xfrm>
            <a:off x="4224528" y="1993392"/>
            <a:ext cx="0" cy="2523744"/>
          </a:xfrm>
          <a:prstGeom prst="line">
            <a:avLst/>
          </a:prstGeom>
          <a:noFill/>
          <a:ln w="12700">
            <a:solidFill>
              <a:srgbClr val="A16207"/>
            </a:solidFill>
            <a:prstDash val="solid"/>
            <a:headEnd type="none"/>
            <a:tailEnd type="none"/>
          </a:ln>
        </p:spPr>
      </p:sp>
      <p:sp>
        <p:nvSpPr>
          <p:cNvPr id="17" name="Shape 15"/>
          <p:cNvSpPr/>
          <p:nvPr/>
        </p:nvSpPr>
        <p:spPr>
          <a:xfrm>
            <a:off x="1298448" y="2423160"/>
            <a:ext cx="713232" cy="118872"/>
          </a:xfrm>
          <a:prstGeom prst="line">
            <a:avLst/>
          </a:prstGeom>
          <a:noFill/>
          <a:ln w="12700">
            <a:solidFill>
              <a:srgbClr val="B42318"/>
            </a:solidFill>
            <a:prstDash val="solid"/>
            <a:headEnd type="none"/>
            <a:tailEnd type="none"/>
          </a:ln>
        </p:spPr>
      </p:sp>
      <p:sp>
        <p:nvSpPr>
          <p:cNvPr id="18" name="Shape 16"/>
          <p:cNvSpPr/>
          <p:nvPr/>
        </p:nvSpPr>
        <p:spPr>
          <a:xfrm>
            <a:off x="2011680" y="2542032"/>
            <a:ext cx="914400" cy="146304"/>
          </a:xfrm>
          <a:prstGeom prst="line">
            <a:avLst/>
          </a:prstGeom>
          <a:noFill/>
          <a:ln w="12700">
            <a:solidFill>
              <a:srgbClr val="B42318"/>
            </a:solidFill>
            <a:prstDash val="solid"/>
            <a:headEnd type="none"/>
            <a:tailEnd type="none"/>
          </a:ln>
        </p:spPr>
      </p:sp>
      <p:sp>
        <p:nvSpPr>
          <p:cNvPr id="19" name="Shape 17"/>
          <p:cNvSpPr/>
          <p:nvPr/>
        </p:nvSpPr>
        <p:spPr>
          <a:xfrm>
            <a:off x="2926080" y="2688336"/>
            <a:ext cx="548640" cy="557784"/>
          </a:xfrm>
          <a:prstGeom prst="line">
            <a:avLst/>
          </a:prstGeom>
          <a:noFill/>
          <a:ln w="12700">
            <a:solidFill>
              <a:srgbClr val="B42318"/>
            </a:solidFill>
            <a:prstDash val="solid"/>
            <a:headEnd type="none"/>
            <a:tailEnd type="none"/>
          </a:ln>
        </p:spPr>
      </p:sp>
      <p:sp>
        <p:nvSpPr>
          <p:cNvPr id="20" name="Shape 18"/>
          <p:cNvSpPr/>
          <p:nvPr/>
        </p:nvSpPr>
        <p:spPr>
          <a:xfrm>
            <a:off x="3474720" y="3246120"/>
            <a:ext cx="713232" cy="978408"/>
          </a:xfrm>
          <a:prstGeom prst="line">
            <a:avLst/>
          </a:prstGeom>
          <a:noFill/>
          <a:ln w="12700">
            <a:solidFill>
              <a:srgbClr val="B42318"/>
            </a:solidFill>
            <a:prstDash val="solid"/>
            <a:headEnd type="none"/>
            <a:tailEnd type="none"/>
          </a:ln>
        </p:spPr>
      </p:sp>
      <p:sp>
        <p:nvSpPr>
          <p:cNvPr id="21" name="Shape 19"/>
          <p:cNvSpPr/>
          <p:nvPr/>
        </p:nvSpPr>
        <p:spPr>
          <a:xfrm>
            <a:off x="4187952" y="4224528"/>
            <a:ext cx="2304288" cy="0"/>
          </a:xfrm>
          <a:prstGeom prst="line">
            <a:avLst/>
          </a:prstGeom>
          <a:noFill/>
          <a:ln w="12700">
            <a:solidFill>
              <a:srgbClr val="B42318"/>
            </a:solidFill>
            <a:prstDash val="solid"/>
            <a:headEnd type="none"/>
            <a:tailEnd type="none"/>
          </a:ln>
        </p:spPr>
      </p:sp>
      <p:sp>
        <p:nvSpPr>
          <p:cNvPr id="22" name="Shape 20"/>
          <p:cNvSpPr/>
          <p:nvPr/>
        </p:nvSpPr>
        <p:spPr>
          <a:xfrm>
            <a:off x="1298448" y="4297680"/>
            <a:ext cx="804672" cy="-201168"/>
          </a:xfrm>
          <a:prstGeom prst="line">
            <a:avLst/>
          </a:prstGeom>
          <a:noFill/>
          <a:ln w="12700">
            <a:solidFill>
              <a:srgbClr val="2563EB"/>
            </a:solidFill>
            <a:prstDash val="solid"/>
            <a:headEnd type="none"/>
            <a:tailEnd type="none"/>
          </a:ln>
        </p:spPr>
      </p:sp>
      <p:sp>
        <p:nvSpPr>
          <p:cNvPr id="23" name="Shape 21"/>
          <p:cNvSpPr/>
          <p:nvPr/>
        </p:nvSpPr>
        <p:spPr>
          <a:xfrm>
            <a:off x="2103120" y="4096512"/>
            <a:ext cx="822960" cy="-201168"/>
          </a:xfrm>
          <a:prstGeom prst="line">
            <a:avLst/>
          </a:prstGeom>
          <a:noFill/>
          <a:ln w="12700">
            <a:solidFill>
              <a:srgbClr val="2563EB"/>
            </a:solidFill>
            <a:prstDash val="solid"/>
            <a:headEnd type="none"/>
            <a:tailEnd type="none"/>
          </a:ln>
        </p:spPr>
      </p:sp>
      <p:sp>
        <p:nvSpPr>
          <p:cNvPr id="24" name="Shape 22"/>
          <p:cNvSpPr/>
          <p:nvPr/>
        </p:nvSpPr>
        <p:spPr>
          <a:xfrm>
            <a:off x="2926080" y="3895344"/>
            <a:ext cx="566928" cy="-457200"/>
          </a:xfrm>
          <a:prstGeom prst="line">
            <a:avLst/>
          </a:prstGeom>
          <a:noFill/>
          <a:ln w="12700">
            <a:solidFill>
              <a:srgbClr val="2563EB"/>
            </a:solidFill>
            <a:prstDash val="solid"/>
            <a:headEnd type="none"/>
            <a:tailEnd type="none"/>
          </a:ln>
        </p:spPr>
      </p:sp>
      <p:sp>
        <p:nvSpPr>
          <p:cNvPr id="25" name="Shape 23"/>
          <p:cNvSpPr/>
          <p:nvPr/>
        </p:nvSpPr>
        <p:spPr>
          <a:xfrm>
            <a:off x="3493008" y="3438144"/>
            <a:ext cx="731520" cy="-438912"/>
          </a:xfrm>
          <a:prstGeom prst="line">
            <a:avLst/>
          </a:prstGeom>
          <a:noFill/>
          <a:ln w="12700">
            <a:solidFill>
              <a:srgbClr val="2563EB"/>
            </a:solidFill>
            <a:prstDash val="solid"/>
            <a:headEnd type="none"/>
            <a:tailEnd type="none"/>
          </a:ln>
        </p:spPr>
      </p:sp>
      <p:sp>
        <p:nvSpPr>
          <p:cNvPr id="26" name="Shape 24"/>
          <p:cNvSpPr/>
          <p:nvPr/>
        </p:nvSpPr>
        <p:spPr>
          <a:xfrm>
            <a:off x="4224528" y="2999232"/>
            <a:ext cx="2267712" cy="-73152"/>
          </a:xfrm>
          <a:prstGeom prst="line">
            <a:avLst/>
          </a:prstGeom>
          <a:noFill/>
          <a:ln w="12700">
            <a:solidFill>
              <a:srgbClr val="2563EB"/>
            </a:solidFill>
            <a:prstDash val="solid"/>
            <a:headEnd type="none"/>
            <a:tailEnd type="none"/>
          </a:ln>
        </p:spPr>
      </p:sp>
      <p:sp>
        <p:nvSpPr>
          <p:cNvPr id="27" name="Text 25"/>
          <p:cNvSpPr/>
          <p:nvPr/>
        </p:nvSpPr>
        <p:spPr>
          <a:xfrm>
            <a:off x="2267712" y="2596896"/>
            <a:ext cx="384048" cy="128016"/>
          </a:xfrm>
          <a:prstGeom prst="rect">
            <a:avLst/>
          </a:prstGeom>
          <a:noFill/>
          <a:ln/>
        </p:spPr>
        <p:txBody>
          <a:bodyPr wrap="square" lIns="0" tIns="0" rIns="0" bIns="0" rtlCol="0" anchor="t">
            <a:normAutofit/>
          </a:bodyPr>
          <a:lstStyle/>
          <a:p>
            <a:pPr algn="l" indent="0" marL="0">
              <a:buNone/>
            </a:pPr>
            <a:r>
              <a:rPr lang="en-US" sz="820" i="1" dirty="0">
                <a:solidFill>
                  <a:srgbClr val="B42318"/>
                </a:solidFill>
                <a:latin typeface="Arial" pitchFamily="34" charset="0"/>
                <a:ea typeface="Arial" pitchFamily="34" charset="-122"/>
                <a:cs typeface="Arial" pitchFamily="34" charset="-120"/>
              </a:rPr>
              <a:t>p(y)</a:t>
            </a:r>
            <a:endParaRPr lang="en-US" sz="820" dirty="0"/>
          </a:p>
        </p:txBody>
      </p:sp>
      <p:sp>
        <p:nvSpPr>
          <p:cNvPr id="28" name="Text 26"/>
          <p:cNvSpPr/>
          <p:nvPr/>
        </p:nvSpPr>
        <p:spPr>
          <a:xfrm>
            <a:off x="4700016" y="2779776"/>
            <a:ext cx="384048" cy="128016"/>
          </a:xfrm>
          <a:prstGeom prst="rect">
            <a:avLst/>
          </a:prstGeom>
          <a:noFill/>
          <a:ln/>
        </p:spPr>
        <p:txBody>
          <a:bodyPr wrap="square" lIns="0" tIns="0" rIns="0" bIns="0" rtlCol="0" anchor="t">
            <a:normAutofit/>
          </a:bodyPr>
          <a:lstStyle/>
          <a:p>
            <a:pPr algn="l" indent="0" marL="0">
              <a:buNone/>
            </a:pPr>
            <a:r>
              <a:rPr lang="en-US" sz="820" i="1" dirty="0">
                <a:solidFill>
                  <a:srgbClr val="2563EB"/>
                </a:solidFill>
                <a:latin typeface="Arial" pitchFamily="34" charset="0"/>
                <a:ea typeface="Arial" pitchFamily="34" charset="-122"/>
                <a:cs typeface="Arial" pitchFamily="34" charset="-120"/>
              </a:rPr>
              <a:t>n(y)</a:t>
            </a:r>
            <a:endParaRPr lang="en-US" sz="820" dirty="0"/>
          </a:p>
        </p:txBody>
      </p:sp>
      <p:sp>
        <p:nvSpPr>
          <p:cNvPr id="29" name="Shape 27"/>
          <p:cNvSpPr/>
          <p:nvPr/>
        </p:nvSpPr>
        <p:spPr>
          <a:xfrm>
            <a:off x="2468880" y="3273552"/>
            <a:ext cx="530352" cy="0"/>
          </a:xfrm>
          <a:prstGeom prst="line">
            <a:avLst/>
          </a:prstGeom>
          <a:noFill/>
          <a:ln w="12700">
            <a:solidFill>
              <a:srgbClr val="B42318"/>
            </a:solidFill>
            <a:prstDash val="solid"/>
            <a:headEnd type="none"/>
            <a:tailEnd type="triangle"/>
          </a:ln>
        </p:spPr>
      </p:sp>
      <p:sp>
        <p:nvSpPr>
          <p:cNvPr id="30" name="Text 28"/>
          <p:cNvSpPr/>
          <p:nvPr/>
        </p:nvSpPr>
        <p:spPr>
          <a:xfrm>
            <a:off x="1901952" y="3163824"/>
            <a:ext cx="640080" cy="128016"/>
          </a:xfrm>
          <a:prstGeom prst="rect">
            <a:avLst/>
          </a:prstGeom>
          <a:noFill/>
          <a:ln/>
        </p:spPr>
        <p:txBody>
          <a:bodyPr wrap="square" lIns="0" tIns="0" rIns="0" bIns="0" rtlCol="0" anchor="t">
            <a:normAutofit/>
          </a:bodyPr>
          <a:lstStyle/>
          <a:p>
            <a:pPr algn="r" indent="0" marL="0">
              <a:buNone/>
            </a:pPr>
            <a:r>
              <a:rPr lang="en-US" sz="700" dirty="0">
                <a:solidFill>
                  <a:srgbClr val="B42318"/>
                </a:solidFill>
                <a:latin typeface="Arial" pitchFamily="34" charset="0"/>
                <a:ea typeface="Arial" pitchFamily="34" charset="-122"/>
                <a:cs typeface="Arial" pitchFamily="34" charset="-120"/>
              </a:rPr>
              <a:t>interface flux</a:t>
            </a:r>
            <a:endParaRPr lang="en-US" sz="700" dirty="0"/>
          </a:p>
        </p:txBody>
      </p:sp>
      <p:sp>
        <p:nvSpPr>
          <p:cNvPr id="31" name="Shape 29"/>
          <p:cNvSpPr/>
          <p:nvPr/>
        </p:nvSpPr>
        <p:spPr>
          <a:xfrm>
            <a:off x="4828032" y="3364992"/>
            <a:ext cx="-512064" cy="0"/>
          </a:xfrm>
          <a:prstGeom prst="line">
            <a:avLst/>
          </a:prstGeom>
          <a:noFill/>
          <a:ln w="12700">
            <a:solidFill>
              <a:srgbClr val="2563EB"/>
            </a:solidFill>
            <a:prstDash val="solid"/>
            <a:headEnd type="none"/>
            <a:tailEnd type="triangle"/>
          </a:ln>
        </p:spPr>
      </p:sp>
      <p:sp>
        <p:nvSpPr>
          <p:cNvPr id="32" name="Text 30"/>
          <p:cNvSpPr/>
          <p:nvPr/>
        </p:nvSpPr>
        <p:spPr>
          <a:xfrm>
            <a:off x="4919472" y="3255264"/>
            <a:ext cx="713232" cy="128016"/>
          </a:xfrm>
          <a:prstGeom prst="rect">
            <a:avLst/>
          </a:prstGeom>
          <a:noFill/>
          <a:ln/>
        </p:spPr>
        <p:txBody>
          <a:bodyPr wrap="square" lIns="0" tIns="0" rIns="0" bIns="0" rtlCol="0" anchor="t">
            <a:normAutofit/>
          </a:bodyPr>
          <a:lstStyle/>
          <a:p>
            <a:pPr algn="l" indent="0" marL="0">
              <a:buNone/>
            </a:pPr>
            <a:r>
              <a:rPr lang="en-US" sz="700" dirty="0">
                <a:solidFill>
                  <a:srgbClr val="2563EB"/>
                </a:solidFill>
                <a:latin typeface="Arial" pitchFamily="34" charset="0"/>
                <a:ea typeface="Arial" pitchFamily="34" charset="-122"/>
                <a:cs typeface="Arial" pitchFamily="34" charset="-120"/>
              </a:rPr>
              <a:t>interface flux</a:t>
            </a:r>
            <a:endParaRPr lang="en-US" sz="700" dirty="0"/>
          </a:p>
        </p:txBody>
      </p:sp>
      <p:sp>
        <p:nvSpPr>
          <p:cNvPr id="33" name="Text 31"/>
          <p:cNvSpPr/>
          <p:nvPr/>
        </p:nvSpPr>
        <p:spPr>
          <a:xfrm>
            <a:off x="1024128" y="1792224"/>
            <a:ext cx="1280160" cy="128016"/>
          </a:xfrm>
          <a:prstGeom prst="rect">
            <a:avLst/>
          </a:prstGeom>
          <a:noFill/>
          <a:ln/>
        </p:spPr>
        <p:txBody>
          <a:bodyPr wrap="square" lIns="0" tIns="0" rIns="0" bIns="0" rtlCol="0" anchor="t">
            <a:normAutofit/>
          </a:bodyPr>
          <a:lstStyle/>
          <a:p>
            <a:pPr algn="l" indent="0" marL="0">
              <a:buNone/>
            </a:pPr>
            <a:r>
              <a:rPr lang="en-US" sz="720" dirty="0">
                <a:solidFill>
                  <a:srgbClr val="64748B"/>
                </a:solidFill>
                <a:latin typeface="Arial" pitchFamily="34" charset="0"/>
                <a:ea typeface="Arial" pitchFamily="34" charset="-122"/>
                <a:cs typeface="Arial" pitchFamily="34" charset="-120"/>
              </a:rPr>
              <a:t>carrier density</a:t>
            </a:r>
            <a:endParaRPr lang="en-US" sz="720" dirty="0"/>
          </a:p>
        </p:txBody>
      </p:sp>
      <p:sp>
        <p:nvSpPr>
          <p:cNvPr id="34" name="Shape 32"/>
          <p:cNvSpPr/>
          <p:nvPr/>
        </p:nvSpPr>
        <p:spPr>
          <a:xfrm>
            <a:off x="1078992" y="4553712"/>
            <a:ext cx="5559552" cy="0"/>
          </a:xfrm>
          <a:prstGeom prst="line">
            <a:avLst/>
          </a:prstGeom>
          <a:noFill/>
          <a:ln w="12700">
            <a:solidFill>
              <a:srgbClr val="334155"/>
            </a:solidFill>
            <a:prstDash val="solid"/>
            <a:headEnd type="none"/>
            <a:tailEnd type="triangle"/>
          </a:ln>
        </p:spPr>
      </p:sp>
      <p:sp>
        <p:nvSpPr>
          <p:cNvPr id="35" name="Text 33"/>
          <p:cNvSpPr/>
          <p:nvPr/>
        </p:nvSpPr>
        <p:spPr>
          <a:xfrm>
            <a:off x="3108960" y="4718304"/>
            <a:ext cx="1536192" cy="137160"/>
          </a:xfrm>
          <a:prstGeom prst="rect">
            <a:avLst/>
          </a:prstGeom>
          <a:noFill/>
          <a:ln/>
        </p:spPr>
        <p:txBody>
          <a:bodyPr wrap="square" lIns="0" tIns="0" rIns="0" bIns="0" rtlCol="0" anchor="t">
            <a:normAutofit/>
          </a:bodyPr>
          <a:lstStyle/>
          <a:p>
            <a:pPr algn="ctr" indent="0" marL="0">
              <a:buNone/>
            </a:pPr>
            <a:r>
              <a:rPr lang="en-US" sz="760" dirty="0">
                <a:solidFill>
                  <a:srgbClr val="334155"/>
                </a:solidFill>
                <a:latin typeface="Arial" pitchFamily="34" charset="0"/>
                <a:ea typeface="Arial" pitchFamily="34" charset="-122"/>
                <a:cs typeface="Arial" pitchFamily="34" charset="-120"/>
              </a:rPr>
              <a:t>y transport coordinate</a:t>
            </a:r>
            <a:endParaRPr lang="en-US" sz="760" dirty="0"/>
          </a:p>
        </p:txBody>
      </p:sp>
      <p:sp>
        <p:nvSpPr>
          <p:cNvPr id="36" name="Shape 34"/>
          <p:cNvSpPr/>
          <p:nvPr/>
        </p:nvSpPr>
        <p:spPr>
          <a:xfrm>
            <a:off x="7626096" y="1371600"/>
            <a:ext cx="3438144" cy="960120"/>
          </a:xfrm>
          <a:prstGeom prst="roundRect">
            <a:avLst>
              <a:gd name="adj" fmla="val 7619"/>
            </a:avLst>
          </a:prstGeom>
          <a:solidFill>
            <a:srgbClr val="FEE4E2"/>
          </a:solidFill>
          <a:ln w="12700">
            <a:solidFill>
              <a:srgbClr val="B42318"/>
            </a:solidFill>
            <a:prstDash val="solid"/>
          </a:ln>
        </p:spPr>
      </p:sp>
      <p:sp>
        <p:nvSpPr>
          <p:cNvPr id="37" name="Shape 35"/>
          <p:cNvSpPr/>
          <p:nvPr/>
        </p:nvSpPr>
        <p:spPr>
          <a:xfrm>
            <a:off x="7626096" y="1371600"/>
            <a:ext cx="73152" cy="960120"/>
          </a:xfrm>
          <a:prstGeom prst="rect">
            <a:avLst/>
          </a:prstGeom>
          <a:solidFill>
            <a:srgbClr val="B42318"/>
          </a:solidFill>
          <a:ln w="12700">
            <a:solidFill>
              <a:srgbClr val="B42318">
                <a:alpha val="0"/>
              </a:srgbClr>
            </a:solidFill>
            <a:prstDash val="solid"/>
          </a:ln>
        </p:spPr>
      </p:sp>
      <p:sp>
        <p:nvSpPr>
          <p:cNvPr id="38" name="Text 36"/>
          <p:cNvSpPr/>
          <p:nvPr/>
        </p:nvSpPr>
        <p:spPr>
          <a:xfrm>
            <a:off x="7790688" y="1481328"/>
            <a:ext cx="3145536" cy="201168"/>
          </a:xfrm>
          <a:prstGeom prst="rect">
            <a:avLst/>
          </a:prstGeom>
          <a:noFill/>
          <a:ln/>
        </p:spPr>
        <p:txBody>
          <a:bodyPr wrap="square" lIns="0" tIns="0" rIns="0" bIns="0" rtlCol="0" anchor="t">
            <a:normAutofit/>
          </a:bodyPr>
          <a:lstStyle/>
          <a:p>
            <a:pPr algn="l" indent="0" marL="0">
              <a:buNone/>
            </a:pPr>
            <a:r>
              <a:rPr lang="en-US" sz="900" b="1" dirty="0">
                <a:solidFill>
                  <a:srgbClr val="B42318"/>
                </a:solidFill>
                <a:latin typeface="Arial" pitchFamily="34" charset="0"/>
                <a:ea typeface="Arial" pitchFamily="34" charset="-122"/>
                <a:cs typeface="Arial" pitchFamily="34" charset="-120"/>
              </a:rPr>
              <a:t>What this slide is about</a:t>
            </a:r>
            <a:endParaRPr lang="en-US" sz="900" dirty="0"/>
          </a:p>
        </p:txBody>
      </p:sp>
      <p:sp>
        <p:nvSpPr>
          <p:cNvPr id="39" name="Text 37"/>
          <p:cNvSpPr/>
          <p:nvPr/>
        </p:nvSpPr>
        <p:spPr>
          <a:xfrm>
            <a:off x="7790688" y="1755648"/>
            <a:ext cx="3127248" cy="502920"/>
          </a:xfrm>
          <a:prstGeom prst="rect">
            <a:avLst/>
          </a:prstGeom>
          <a:noFill/>
          <a:ln/>
        </p:spPr>
        <p:txBody>
          <a:bodyPr wrap="square" lIns="0" tIns="0" rIns="0" bIns="0" rtlCol="0" anchor="t">
            <a:normAutofit/>
          </a:bodyPr>
          <a:lstStyle/>
          <a:p>
            <a:pPr algn="l" indent="0" marL="0">
              <a:buNone/>
            </a:pPr>
            <a:r>
              <a:rPr lang="en-US" sz="830" dirty="0">
                <a:solidFill>
                  <a:srgbClr val="162033"/>
                </a:solidFill>
                <a:latin typeface="Arial" pitchFamily="34" charset="0"/>
                <a:ea typeface="Arial" pitchFamily="34" charset="-122"/>
                <a:cs typeface="Arial" pitchFamily="34" charset="-120"/>
              </a:rPr>
              <a:t>internal layer-layer interface</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inside the device domain</a:t>
            </a:r>
            <a:endParaRPr lang="en-US" sz="830" dirty="0"/>
          </a:p>
          <a:p>
            <a:pPr algn="l" indent="0" marL="0">
              <a:buNone/>
            </a:pPr>
            <a:r>
              <a:rPr lang="en-US" sz="830" dirty="0">
                <a:solidFill>
                  <a:srgbClr val="162033"/>
                </a:solidFill>
                <a:latin typeface="Arial" pitchFamily="34" charset="0"/>
                <a:ea typeface="Arial" pitchFamily="34" charset="-122"/>
                <a:cs typeface="Arial" pitchFamily="34" charset="-120"/>
              </a:rPr>
              <a:t>not the metal electrode contact</a:t>
            </a:r>
            <a:endParaRPr lang="en-US" sz="830" dirty="0"/>
          </a:p>
        </p:txBody>
      </p:sp>
      <p:sp>
        <p:nvSpPr>
          <p:cNvPr id="40" name="Shape 38"/>
          <p:cNvSpPr/>
          <p:nvPr/>
        </p:nvSpPr>
        <p:spPr>
          <a:xfrm>
            <a:off x="7626096" y="2560320"/>
            <a:ext cx="3438144" cy="960120"/>
          </a:xfrm>
          <a:prstGeom prst="roundRect">
            <a:avLst>
              <a:gd name="adj" fmla="val 7619"/>
            </a:avLst>
          </a:prstGeom>
          <a:solidFill>
            <a:srgbClr val="DBEAFE"/>
          </a:solidFill>
          <a:ln w="12700">
            <a:solidFill>
              <a:srgbClr val="2563EB"/>
            </a:solidFill>
            <a:prstDash val="solid"/>
          </a:ln>
        </p:spPr>
      </p:sp>
      <p:sp>
        <p:nvSpPr>
          <p:cNvPr id="41" name="Shape 39"/>
          <p:cNvSpPr/>
          <p:nvPr/>
        </p:nvSpPr>
        <p:spPr>
          <a:xfrm>
            <a:off x="7626096" y="2560320"/>
            <a:ext cx="73152" cy="960120"/>
          </a:xfrm>
          <a:prstGeom prst="rect">
            <a:avLst/>
          </a:prstGeom>
          <a:solidFill>
            <a:srgbClr val="2563EB"/>
          </a:solidFill>
          <a:ln w="12700">
            <a:solidFill>
              <a:srgbClr val="2563EB">
                <a:alpha val="0"/>
              </a:srgbClr>
            </a:solidFill>
            <a:prstDash val="solid"/>
          </a:ln>
        </p:spPr>
      </p:sp>
      <p:sp>
        <p:nvSpPr>
          <p:cNvPr id="42" name="Text 40"/>
          <p:cNvSpPr/>
          <p:nvPr/>
        </p:nvSpPr>
        <p:spPr>
          <a:xfrm>
            <a:off x="7790688" y="2670048"/>
            <a:ext cx="3145536" cy="201168"/>
          </a:xfrm>
          <a:prstGeom prst="rect">
            <a:avLst/>
          </a:prstGeom>
          <a:noFill/>
          <a:ln/>
        </p:spPr>
        <p:txBody>
          <a:bodyPr wrap="square" lIns="0" tIns="0" rIns="0" bIns="0" rtlCol="0" anchor="t">
            <a:normAutofit/>
          </a:bodyPr>
          <a:lstStyle/>
          <a:p>
            <a:pPr algn="l" indent="0" marL="0">
              <a:buNone/>
            </a:pPr>
            <a:r>
              <a:rPr lang="en-US" sz="900" b="1" dirty="0">
                <a:solidFill>
                  <a:srgbClr val="2563EB"/>
                </a:solidFill>
                <a:latin typeface="Arial" pitchFamily="34" charset="0"/>
                <a:ea typeface="Arial" pitchFamily="34" charset="-122"/>
                <a:cs typeface="Arial" pitchFamily="34" charset="-120"/>
              </a:rPr>
              <a:t>Transport treatment</a:t>
            </a:r>
            <a:endParaRPr lang="en-US" sz="900" dirty="0"/>
          </a:p>
        </p:txBody>
      </p:sp>
      <p:sp>
        <p:nvSpPr>
          <p:cNvPr id="43" name="Text 41"/>
          <p:cNvSpPr/>
          <p:nvPr/>
        </p:nvSpPr>
        <p:spPr>
          <a:xfrm>
            <a:off x="7790688" y="2944368"/>
            <a:ext cx="3127248" cy="502920"/>
          </a:xfrm>
          <a:prstGeom prst="rect">
            <a:avLst/>
          </a:prstGeom>
          <a:noFill/>
          <a:ln/>
        </p:spPr>
        <p:txBody>
          <a:bodyPr wrap="square" lIns="0" tIns="0" rIns="0" bIns="0" rtlCol="0" anchor="t">
            <a:normAutofit/>
          </a:bodyPr>
          <a:lstStyle/>
          <a:p>
            <a:pPr algn="l" indent="0" marL="0">
              <a:buNone/>
            </a:pPr>
            <a:r>
              <a:rPr lang="en-US" sz="780" dirty="0">
                <a:solidFill>
                  <a:srgbClr val="162033"/>
                </a:solidFill>
                <a:latin typeface="Arial" pitchFamily="34" charset="0"/>
                <a:ea typeface="Arial" pitchFamily="34" charset="-122"/>
                <a:cs typeface="Arial" pitchFamily="34" charset="-120"/>
              </a:rPr>
              <a:t>SG flux uses electron-affinity and bandgap offsets</a:t>
            </a:r>
            <a:endParaRPr lang="en-US" sz="780" dirty="0"/>
          </a:p>
          <a:p>
            <a:pPr algn="l" indent="0" marL="0">
              <a:buNone/>
            </a:pPr>
            <a:r>
              <a:rPr lang="en-US" sz="780" dirty="0">
                <a:solidFill>
                  <a:srgbClr val="162033"/>
                </a:solidFill>
                <a:latin typeface="Arial" pitchFamily="34" charset="0"/>
                <a:ea typeface="Arial" pitchFamily="34" charset="-122"/>
                <a:cs typeface="Arial" pitchFamily="34" charset="-120"/>
              </a:rPr>
              <a:t>thermionic-emission capping can limit large interface fluxes</a:t>
            </a:r>
            <a:endParaRPr lang="en-US" sz="780" dirty="0"/>
          </a:p>
        </p:txBody>
      </p:sp>
      <p:sp>
        <p:nvSpPr>
          <p:cNvPr id="44" name="Shape 42"/>
          <p:cNvSpPr/>
          <p:nvPr/>
        </p:nvSpPr>
        <p:spPr>
          <a:xfrm>
            <a:off x="7626096" y="3749040"/>
            <a:ext cx="3438144" cy="960120"/>
          </a:xfrm>
          <a:prstGeom prst="roundRect">
            <a:avLst>
              <a:gd name="adj" fmla="val 7619"/>
            </a:avLst>
          </a:prstGeom>
          <a:solidFill>
            <a:srgbClr val="DCFCE7"/>
          </a:solidFill>
          <a:ln w="12700">
            <a:solidFill>
              <a:srgbClr val="16803C"/>
            </a:solidFill>
            <a:prstDash val="solid"/>
          </a:ln>
        </p:spPr>
      </p:sp>
      <p:sp>
        <p:nvSpPr>
          <p:cNvPr id="45" name="Shape 43"/>
          <p:cNvSpPr/>
          <p:nvPr/>
        </p:nvSpPr>
        <p:spPr>
          <a:xfrm>
            <a:off x="7626096" y="3749040"/>
            <a:ext cx="73152" cy="960120"/>
          </a:xfrm>
          <a:prstGeom prst="rect">
            <a:avLst/>
          </a:prstGeom>
          <a:solidFill>
            <a:srgbClr val="16803C"/>
          </a:solidFill>
          <a:ln w="12700">
            <a:solidFill>
              <a:srgbClr val="16803C">
                <a:alpha val="0"/>
              </a:srgbClr>
            </a:solidFill>
            <a:prstDash val="solid"/>
          </a:ln>
        </p:spPr>
      </p:sp>
      <p:sp>
        <p:nvSpPr>
          <p:cNvPr id="46" name="Text 44"/>
          <p:cNvSpPr/>
          <p:nvPr/>
        </p:nvSpPr>
        <p:spPr>
          <a:xfrm>
            <a:off x="7790688" y="3858768"/>
            <a:ext cx="3145536" cy="201168"/>
          </a:xfrm>
          <a:prstGeom prst="rect">
            <a:avLst/>
          </a:prstGeom>
          <a:noFill/>
          <a:ln/>
        </p:spPr>
        <p:txBody>
          <a:bodyPr wrap="square" lIns="0" tIns="0" rIns="0" bIns="0" rtlCol="0" anchor="t">
            <a:normAutofit/>
          </a:bodyPr>
          <a:lstStyle/>
          <a:p>
            <a:pPr algn="l" indent="0" marL="0">
              <a:buNone/>
            </a:pPr>
            <a:r>
              <a:rPr lang="en-US" sz="900" b="1" dirty="0">
                <a:solidFill>
                  <a:srgbClr val="16803C"/>
                </a:solidFill>
                <a:latin typeface="Arial" pitchFamily="34" charset="0"/>
                <a:ea typeface="Arial" pitchFamily="34" charset="-122"/>
                <a:cs typeface="Arial" pitchFamily="34" charset="-120"/>
              </a:rPr>
              <a:t>Recombination treatment</a:t>
            </a:r>
            <a:endParaRPr lang="en-US" sz="900" dirty="0"/>
          </a:p>
        </p:txBody>
      </p:sp>
      <p:sp>
        <p:nvSpPr>
          <p:cNvPr id="47" name="Text 45"/>
          <p:cNvSpPr/>
          <p:nvPr/>
        </p:nvSpPr>
        <p:spPr>
          <a:xfrm>
            <a:off x="7790688" y="4133088"/>
            <a:ext cx="3127248" cy="502920"/>
          </a:xfrm>
          <a:prstGeom prst="rect">
            <a:avLst/>
          </a:prstGeom>
          <a:noFill/>
          <a:ln/>
        </p:spPr>
        <p:txBody>
          <a:bodyPr wrap="square" lIns="0" tIns="0" rIns="0" bIns="0" rtlCol="0" anchor="t">
            <a:normAutofit/>
          </a:bodyPr>
          <a:lstStyle/>
          <a:p>
            <a:pPr algn="l" indent="0" marL="0">
              <a:buNone/>
            </a:pPr>
            <a:r>
              <a:rPr lang="en-US" sz="780" dirty="0">
                <a:solidFill>
                  <a:srgbClr val="162033"/>
                </a:solidFill>
                <a:latin typeface="Arial" pitchFamily="34" charset="0"/>
                <a:ea typeface="Arial" pitchFamily="34" charset="-122"/>
                <a:cs typeface="Arial" pitchFamily="34" charset="-120"/>
              </a:rPr>
              <a:t>1D path supports interface recombination velocities; 2D Stage-B focus uses material maps and interface-aware fluxes.</a:t>
            </a:r>
            <a:endParaRPr lang="en-US" sz="780" dirty="0"/>
          </a:p>
        </p:txBody>
      </p:sp>
      <p:sp>
        <p:nvSpPr>
          <p:cNvPr id="48" name="Shape 46"/>
          <p:cNvSpPr/>
          <p:nvPr/>
        </p:nvSpPr>
        <p:spPr>
          <a:xfrm>
            <a:off x="7626096" y="5010912"/>
            <a:ext cx="3438144" cy="438912"/>
          </a:xfrm>
          <a:prstGeom prst="roundRect">
            <a:avLst>
              <a:gd name="adj" fmla="val 10417"/>
            </a:avLst>
          </a:prstGeom>
          <a:solidFill>
            <a:srgbClr val="F8FAFC"/>
          </a:solidFill>
          <a:ln w="12700">
            <a:solidFill>
              <a:srgbClr val="CBD5E1"/>
            </a:solidFill>
            <a:prstDash val="solid"/>
          </a:ln>
        </p:spPr>
      </p:sp>
      <p:sp>
        <p:nvSpPr>
          <p:cNvPr id="49" name="Text 47"/>
          <p:cNvSpPr/>
          <p:nvPr/>
        </p:nvSpPr>
        <p:spPr>
          <a:xfrm>
            <a:off x="7827264" y="5157216"/>
            <a:ext cx="3035808" cy="109728"/>
          </a:xfrm>
          <a:prstGeom prst="rect">
            <a:avLst/>
          </a:prstGeom>
          <a:noFill/>
          <a:ln/>
        </p:spPr>
        <p:txBody>
          <a:bodyPr wrap="square" lIns="0" tIns="0" rIns="0" bIns="0" rtlCol="0" anchor="t">
            <a:normAutofit/>
          </a:bodyPr>
          <a:lstStyle/>
          <a:p>
            <a:pPr algn="ctr" indent="0" marL="0">
              <a:buNone/>
            </a:pPr>
            <a:r>
              <a:rPr lang="en-US" sz="780" dirty="0">
                <a:solidFill>
                  <a:srgbClr val="64748B"/>
                </a:solidFill>
                <a:latin typeface="Arial" pitchFamily="34" charset="0"/>
                <a:ea typeface="Arial" pitchFamily="34" charset="-122"/>
                <a:cs typeface="Arial" pitchFamily="34" charset="-120"/>
              </a:rPr>
              <a:t>Do not label this as contact BC unless the interface is the external electrode.</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SolarLab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2D Boundary Conditions in SolarLab</dc:title>
  <dc:subject>2D boundary conditions</dc:subject>
  <dc:creator>SolarLab</dc:creator>
  <cp:lastModifiedBy>SolarLab</cp:lastModifiedBy>
  <cp:revision>1</cp:revision>
  <dcterms:created xsi:type="dcterms:W3CDTF">2026-05-19T13:58:10Z</dcterms:created>
  <dcterms:modified xsi:type="dcterms:W3CDTF">2026-05-19T13:58:10Z</dcterms:modified>
</cp:coreProperties>
</file>