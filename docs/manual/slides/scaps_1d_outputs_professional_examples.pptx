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2"/>
          <c:h val="0.78"/>
        </c:manualLayout>
      </c:layout>
      <c:lineChart>
        <c:varyColors val="0"/>
        <c:ser>
          <c:idx val="0"/>
          <c:order val="0"/>
          <c:tx>
            <c:strRef>
              <c:f>Sheet1!$B$1</c:f>
              <c:strCache>
                <c:ptCount val="1"/>
                <c:pt idx="0">
                  <c:v>Light</c:v>
                </c:pt>
              </c:strCache>
            </c:strRef>
          </c:tx>
          <c:spPr>
            <a:solidFill>
              <a:srgbClr val="B42318"/>
            </a:solidFill>
            <a:ln w="26035" cap="flat">
              <a:solidFill>
                <a:srgbClr val="B4231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B42318"/>
              </a:solidFill>
              <a:ln w="9525" cap="flat">
                <a:solidFill>
                  <a:srgbClr val="B42318"/>
                </a:solidFill>
                <a:prstDash val="solid"/>
                <a:round/>
              </a:ln>
              <a:effectLst/>
            </c:spPr>
          </c:marker>
          <c:cat>
            <c:multiLvlStrRef>
              <c:f>Sheet1!$A$2:$A$10</c:f>
              <c:multiLvlStrCache>
                <c:ptCount val="9"/>
                <c:lvl>
                  <c:pt idx="0">
                    <c:v>0</c:v>
                  </c:pt>
                  <c:pt idx="1">
                    <c:v>0.2</c:v>
                  </c:pt>
                  <c:pt idx="2">
                    <c:v>0.4</c:v>
                  </c:pt>
                  <c:pt idx="3">
                    <c:v>0.6</c:v>
                  </c:pt>
                  <c:pt idx="4">
                    <c:v>0.8</c:v>
                  </c:pt>
                  <c:pt idx="5">
                    <c:v>1.0</c:v>
                  </c:pt>
                  <c:pt idx="6">
                    <c:v>1.1</c:v>
                  </c:pt>
                  <c:pt idx="7">
                    <c:v>1.2</c:v>
                  </c:pt>
                  <c:pt idx="8">
                    <c:v>1.3</c:v>
                  </c:pt>
                </c:lvl>
              </c:multiLvlStrCache>
            </c:multiLvlStrRef>
          </c:cat>
          <c:val>
            <c:numRef>
              <c:f>Sheet1!$B$2:$B$10</c:f>
              <c:numCache>
                <c:formatCode>General</c:formatCode>
                <c:ptCount val="9"/>
                <c:pt idx="0">
                  <c:v>24.1</c:v>
                </c:pt>
                <c:pt idx="1">
                  <c:v>24</c:v>
                </c:pt>
                <c:pt idx="2">
                  <c:v>23.8</c:v>
                </c:pt>
                <c:pt idx="3">
                  <c:v>23.3</c:v>
                </c:pt>
                <c:pt idx="4">
                  <c:v>22.2</c:v>
                </c:pt>
                <c:pt idx="5">
                  <c:v>18.4</c:v>
                </c:pt>
                <c:pt idx="6">
                  <c:v>9.2</c:v>
                </c:pt>
                <c:pt idx="7">
                  <c:v>0</c:v>
                </c:pt>
                <c:pt idx="8">
                  <c:v>-4.4</c:v>
                </c:pt>
              </c:numCache>
            </c:numRef>
          </c:val>
          <c:smooth val="0"/>
        </c:ser>
        <c:ser>
          <c:idx val="1"/>
          <c:order val="1"/>
          <c:tx>
            <c:strRef>
              <c:f>Sheet1!$C$1</c:f>
              <c:strCache>
                <c:ptCount val="1"/>
                <c:pt idx="0">
                  <c:v>Dark × 10</c:v>
                </c:pt>
              </c:strCache>
            </c:strRef>
          </c:tx>
          <c:spPr>
            <a:solidFill>
              <a:srgbClr val="334155"/>
            </a:solidFill>
            <a:ln w="26035" cap="flat">
              <a:solidFill>
                <a:srgbClr val="33415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334155"/>
              </a:solidFill>
              <a:ln w="9525" cap="flat">
                <a:solidFill>
                  <a:srgbClr val="334155"/>
                </a:solidFill>
                <a:prstDash val="solid"/>
                <a:round/>
              </a:ln>
              <a:effectLst/>
            </c:spPr>
          </c:marker>
          <c:cat>
            <c:multiLvlStrRef>
              <c:f>Sheet1!$A$2:$A$10</c:f>
              <c:multiLvlStrCache>
                <c:ptCount val="9"/>
                <c:lvl>
                  <c:pt idx="0">
                    <c:v>0</c:v>
                  </c:pt>
                  <c:pt idx="1">
                    <c:v>0.2</c:v>
                  </c:pt>
                  <c:pt idx="2">
                    <c:v>0.4</c:v>
                  </c:pt>
                  <c:pt idx="3">
                    <c:v>0.6</c:v>
                  </c:pt>
                  <c:pt idx="4">
                    <c:v>0.8</c:v>
                  </c:pt>
                  <c:pt idx="5">
                    <c:v>1.0</c:v>
                  </c:pt>
                  <c:pt idx="6">
                    <c:v>1.1</c:v>
                  </c:pt>
                  <c:pt idx="7">
                    <c:v>1.2</c:v>
                  </c:pt>
                  <c:pt idx="8">
                    <c:v>1.3</c:v>
                  </c:pt>
                </c:lvl>
              </c:multiLvlStrCache>
            </c:multiLvlStrRef>
          </c:cat>
          <c:val>
            <c:numRef>
              <c:f>Sheet1!$C$2:$C$10</c:f>
              <c:numCache>
                <c:formatCode>General</c:formatCode>
                <c:ptCount val="9"/>
                <c:pt idx="0">
                  <c:v>0</c:v>
                </c:pt>
                <c:pt idx="1">
                  <c:v>0</c:v>
                </c:pt>
                <c:pt idx="2">
                  <c:v>0.1</c:v>
                </c:pt>
                <c:pt idx="3">
                  <c:v>0.3</c:v>
                </c:pt>
                <c:pt idx="4">
                  <c:v>0.9</c:v>
                </c:pt>
                <c:pt idx="5">
                  <c:v>2.2</c:v>
                </c:pt>
                <c:pt idx="6">
                  <c:v>5.8</c:v>
                </c:pt>
                <c:pt idx="7">
                  <c:v>13</c:v>
                </c:pt>
                <c:pt idx="8">
                  <c:v>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7620" cap="flat">
            <a:solidFill>
              <a:srgbClr val="334155"/>
            </a:solidFill>
            <a:prstDash val="solid"/>
            <a:round/>
          </a:ln>
        </c:spPr>
        <c:txPr>
          <a:bodyPr/>
          <a:lstStyle/>
          <a:p>
            <a:pPr>
              <a:defRPr sz="56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26"/>
          <c:min val="-5"/>
        </c:scaling>
        <c:delete val="0"/>
        <c:axPos val="l"/>
        <c:majorGridlines>
          <c:spPr>
            <a:ln w="5715" cap="flat">
              <a:solidFill>
                <a:srgbClr val="E2E8F0"/>
              </a:solidFill>
              <a:prstDash val="solid"/>
              <a:round/>
            </a:ln>
          </c:spPr>
        </c:majorGridlines>
        <c:numFmt formatCode="0" sourceLinked="0"/>
        <c:majorTickMark val="none"/>
        <c:minorTickMark val="none"/>
        <c:tickLblPos val="nextTo"/>
        <c:spPr>
          <a:ln w="7620" cap="flat">
            <a:solidFill>
              <a:srgbClr val="334155"/>
            </a:solidFill>
            <a:prstDash val="solid"/>
            <a:round/>
          </a:ln>
        </c:spPr>
        <c:txPr>
          <a:bodyPr/>
          <a:lstStyle/>
          <a:p>
            <a:pPr>
              <a:defRPr sz="560" b="0" i="0" u="none" strike="noStrike">
                <a:solidFill>
                  <a:srgbClr val="64748B"/>
                </a:solidFill>
                <a:latin typeface="Arial"/>
              </a:defRPr>
            </a:pPr>
            <a:endParaRPr lang="en-US"/>
          </a:p>
        </c:txPr>
        <c:crossAx val="2094734554"/>
        <c:crosses val="autoZero"/>
        <c:crossBetween val="between"/>
        <c:majorUnit val="5"/>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2"/>
          <c:h val="0.78"/>
        </c:manualLayout>
      </c:layout>
      <c:lineChart>
        <c:varyColors val="0"/>
        <c:ser>
          <c:idx val="0"/>
          <c:order val="0"/>
          <c:tx>
            <c:strRef>
              <c:f>Sheet1!$B$1</c:f>
              <c:strCache>
                <c:ptCount val="1"/>
                <c:pt idx="0">
                  <c:v>EQE</c:v>
                </c:pt>
              </c:strCache>
            </c:strRef>
          </c:tx>
          <c:spPr>
            <a:solidFill>
              <a:srgbClr val="6D28D9"/>
            </a:solidFill>
            <a:ln w="26035" cap="flat">
              <a:solidFill>
                <a:srgbClr val="6D28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6D28D9"/>
              </a:solidFill>
              <a:ln w="9525" cap="flat">
                <a:solidFill>
                  <a:srgbClr val="6D28D9"/>
                </a:solidFill>
                <a:prstDash val="solid"/>
                <a:round/>
              </a:ln>
              <a:effectLst/>
            </c:spPr>
          </c:marker>
          <c:cat>
            <c:multiLvlStrRef>
              <c:f>Sheet1!$A$2:$A$10</c:f>
              <c:multiLvlStrCache>
                <c:ptCount val="9"/>
                <c:lvl>
                  <c:pt idx="0">
                    <c:v>300</c:v>
                  </c:pt>
                  <c:pt idx="1">
                    <c:v>400</c:v>
                  </c:pt>
                  <c:pt idx="2">
                    <c:v>500</c:v>
                  </c:pt>
                  <c:pt idx="3">
                    <c:v>600</c:v>
                  </c:pt>
                  <c:pt idx="4">
                    <c:v>700</c:v>
                  </c:pt>
                  <c:pt idx="5">
                    <c:v>800</c:v>
                  </c:pt>
                  <c:pt idx="6">
                    <c:v>850</c:v>
                  </c:pt>
                  <c:pt idx="7">
                    <c:v>900</c:v>
                  </c:pt>
                  <c:pt idx="8">
                    <c:v>950</c:v>
                  </c:pt>
                </c:lvl>
              </c:multiLvlStrCache>
            </c:multiLvlStrRef>
          </c:cat>
          <c:val>
            <c:numRef>
              <c:f>Sheet1!$B$2:$B$10</c:f>
              <c:numCache>
                <c:formatCode>General</c:formatCode>
                <c:ptCount val="9"/>
                <c:pt idx="0">
                  <c:v>3</c:v>
                </c:pt>
                <c:pt idx="1">
                  <c:v>34</c:v>
                </c:pt>
                <c:pt idx="2">
                  <c:v>72</c:v>
                </c:pt>
                <c:pt idx="3">
                  <c:v>86</c:v>
                </c:pt>
                <c:pt idx="4">
                  <c:v>88</c:v>
                </c:pt>
                <c:pt idx="5">
                  <c:v>83</c:v>
                </c:pt>
                <c:pt idx="6">
                  <c:v>70</c:v>
                </c:pt>
                <c:pt idx="7">
                  <c:v>24</c:v>
                </c:pt>
                <c:pt idx="8">
                  <c:v>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7620" cap="flat">
            <a:solidFill>
              <a:srgbClr val="334155"/>
            </a:solidFill>
            <a:prstDash val="solid"/>
            <a:round/>
          </a:ln>
        </c:spPr>
        <c:txPr>
          <a:bodyPr/>
          <a:lstStyle/>
          <a:p>
            <a:pPr>
              <a:defRPr sz="56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5715" cap="flat">
              <a:solidFill>
                <a:srgbClr val="E2E8F0"/>
              </a:solidFill>
              <a:prstDash val="solid"/>
              <a:round/>
            </a:ln>
          </c:spPr>
        </c:majorGridlines>
        <c:numFmt formatCode="0" sourceLinked="0"/>
        <c:majorTickMark val="none"/>
        <c:minorTickMark val="none"/>
        <c:tickLblPos val="nextTo"/>
        <c:spPr>
          <a:ln w="7620" cap="flat">
            <a:solidFill>
              <a:srgbClr val="334155"/>
            </a:solidFill>
            <a:prstDash val="solid"/>
            <a:round/>
          </a:ln>
        </c:spPr>
        <c:txPr>
          <a:bodyPr/>
          <a:lstStyle/>
          <a:p>
            <a:pPr>
              <a:defRPr sz="560" b="0" i="0" u="none" strike="noStrike">
                <a:solidFill>
                  <a:srgbClr val="64748B"/>
                </a:solidFill>
                <a:latin typeface="Arial"/>
              </a:defRPr>
            </a:pPr>
            <a:endParaRPr lang="en-US"/>
          </a:p>
        </c:txPr>
        <c:crossAx val="2094734554"/>
        <c:crosses val="autoZero"/>
        <c:crossBetween val="between"/>
        <c:majorUnit val="20"/>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2"/>
          <c:h val="0.78"/>
        </c:manualLayout>
      </c:layout>
      <c:lineChart>
        <c:varyColors val="0"/>
        <c:ser>
          <c:idx val="0"/>
          <c:order val="0"/>
          <c:tx>
            <c:strRef>
              <c:f>Sheet1!$B$1</c:f>
              <c:strCache>
                <c:ptCount val="1"/>
                <c:pt idx="0">
                  <c:v>EC</c:v>
                </c:pt>
              </c:strCache>
            </c:strRef>
          </c:tx>
          <c:spPr>
            <a:solidFill>
              <a:srgbClr val="A16207"/>
            </a:solidFill>
            <a:ln w="26035" cap="flat">
              <a:solidFill>
                <a:srgbClr val="A1620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A16207"/>
              </a:solidFill>
              <a:ln w="9525" cap="flat">
                <a:solidFill>
                  <a:srgbClr val="A16207"/>
                </a:solidFill>
                <a:prstDash val="solid"/>
                <a:round/>
              </a:ln>
              <a:effectLst/>
            </c:spPr>
          </c:marker>
          <c:cat>
            <c:multiLvlStrRef>
              <c:f>Sheet1!$A$2:$A$9</c:f>
              <c:multiLvlStrCache>
                <c:ptCount val="8"/>
                <c:lvl>
                  <c:pt idx="0">
                    <c:v>0</c:v>
                  </c:pt>
                  <c:pt idx="1">
                    <c:v>100</c:v>
                  </c:pt>
                  <c:pt idx="2">
                    <c:v>200</c:v>
                  </c:pt>
                  <c:pt idx="3">
                    <c:v>300</c:v>
                  </c:pt>
                  <c:pt idx="4">
                    <c:v>400</c:v>
                  </c:pt>
                  <c:pt idx="5">
                    <c:v>500</c:v>
                  </c:pt>
                  <c:pt idx="6">
                    <c:v>600</c:v>
                  </c:pt>
                  <c:pt idx="7">
                    <c:v>700</c:v>
                  </c:pt>
                </c:lvl>
              </c:multiLvlStrCache>
            </c:multiLvlStrRef>
          </c:cat>
          <c:val>
            <c:numRef>
              <c:f>Sheet1!$B$2:$B$9</c:f>
              <c:numCache>
                <c:formatCode>General</c:formatCode>
                <c:ptCount val="8"/>
                <c:pt idx="0">
                  <c:v>-3.78</c:v>
                </c:pt>
                <c:pt idx="1">
                  <c:v>-3.82</c:v>
                </c:pt>
                <c:pt idx="2">
                  <c:v>-3.92</c:v>
                </c:pt>
                <c:pt idx="3">
                  <c:v>-3.98</c:v>
                </c:pt>
                <c:pt idx="4">
                  <c:v>-4.03</c:v>
                </c:pt>
                <c:pt idx="5">
                  <c:v>-4.12</c:v>
                </c:pt>
                <c:pt idx="6">
                  <c:v>-4.18</c:v>
                </c:pt>
                <c:pt idx="7">
                  <c:v>-4.22</c:v>
                </c:pt>
              </c:numCache>
            </c:numRef>
          </c:val>
          <c:smooth val="1"/>
        </c:ser>
        <c:ser>
          <c:idx val="1"/>
          <c:order val="1"/>
          <c:tx>
            <c:strRef>
              <c:f>Sheet1!$C$1</c:f>
              <c:strCache>
                <c:ptCount val="1"/>
                <c:pt idx="0">
                  <c:v>EV</c:v>
                </c:pt>
              </c:strCache>
            </c:strRef>
          </c:tx>
          <c:spPr>
            <a:solidFill>
              <a:srgbClr val="6D28D9"/>
            </a:solidFill>
            <a:ln w="26035" cap="flat">
              <a:solidFill>
                <a:srgbClr val="6D28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6D28D9"/>
              </a:solidFill>
              <a:ln w="9525" cap="flat">
                <a:solidFill>
                  <a:srgbClr val="6D28D9"/>
                </a:solidFill>
                <a:prstDash val="solid"/>
                <a:round/>
              </a:ln>
              <a:effectLst/>
            </c:spPr>
          </c:marker>
          <c:cat>
            <c:multiLvlStrRef>
              <c:f>Sheet1!$A$2:$A$9</c:f>
              <c:multiLvlStrCache>
                <c:ptCount val="8"/>
                <c:lvl>
                  <c:pt idx="0">
                    <c:v>0</c:v>
                  </c:pt>
                  <c:pt idx="1">
                    <c:v>100</c:v>
                  </c:pt>
                  <c:pt idx="2">
                    <c:v>200</c:v>
                  </c:pt>
                  <c:pt idx="3">
                    <c:v>300</c:v>
                  </c:pt>
                  <c:pt idx="4">
                    <c:v>400</c:v>
                  </c:pt>
                  <c:pt idx="5">
                    <c:v>500</c:v>
                  </c:pt>
                  <c:pt idx="6">
                    <c:v>600</c:v>
                  </c:pt>
                  <c:pt idx="7">
                    <c:v>700</c:v>
                  </c:pt>
                </c:lvl>
              </c:multiLvlStrCache>
            </c:multiLvlStrRef>
          </c:cat>
          <c:val>
            <c:numRef>
              <c:f>Sheet1!$C$2:$C$9</c:f>
              <c:numCache>
                <c:formatCode>General</c:formatCode>
                <c:ptCount val="8"/>
                <c:pt idx="0">
                  <c:v>-5.42</c:v>
                </c:pt>
                <c:pt idx="1">
                  <c:v>-5.46</c:v>
                </c:pt>
                <c:pt idx="2">
                  <c:v>-5.54</c:v>
                </c:pt>
                <c:pt idx="3">
                  <c:v>-5.6</c:v>
                </c:pt>
                <c:pt idx="4">
                  <c:v>-5.65</c:v>
                </c:pt>
                <c:pt idx="5">
                  <c:v>-5.7</c:v>
                </c:pt>
                <c:pt idx="6">
                  <c:v>-5.76</c:v>
                </c:pt>
                <c:pt idx="7">
                  <c:v>-5.82</c:v>
                </c:pt>
              </c:numCache>
            </c:numRef>
          </c:val>
          <c:smooth val="1"/>
        </c:ser>
        <c:ser>
          <c:idx val="2"/>
          <c:order val="2"/>
          <c:tx>
            <c:strRef>
              <c:f>Sheet1!$D$1</c:f>
              <c:strCache>
                <c:ptCount val="1"/>
                <c:pt idx="0">
                  <c:v>EFn</c:v>
                </c:pt>
              </c:strCache>
            </c:strRef>
          </c:tx>
          <c:spPr>
            <a:solidFill>
              <a:srgbClr val="2563EB"/>
            </a:solidFill>
            <a:ln w="26035" cap="flat">
              <a:solidFill>
                <a:srgbClr val="2563E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2563EB"/>
              </a:solidFill>
              <a:ln w="9525" cap="flat">
                <a:solidFill>
                  <a:srgbClr val="2563EB"/>
                </a:solidFill>
                <a:prstDash val="solid"/>
                <a:round/>
              </a:ln>
              <a:effectLst/>
            </c:spPr>
          </c:marker>
          <c:cat>
            <c:multiLvlStrRef>
              <c:f>Sheet1!$A$2:$A$9</c:f>
              <c:multiLvlStrCache>
                <c:ptCount val="8"/>
                <c:lvl>
                  <c:pt idx="0">
                    <c:v>0</c:v>
                  </c:pt>
                  <c:pt idx="1">
                    <c:v>100</c:v>
                  </c:pt>
                  <c:pt idx="2">
                    <c:v>200</c:v>
                  </c:pt>
                  <c:pt idx="3">
                    <c:v>300</c:v>
                  </c:pt>
                  <c:pt idx="4">
                    <c:v>400</c:v>
                  </c:pt>
                  <c:pt idx="5">
                    <c:v>500</c:v>
                  </c:pt>
                  <c:pt idx="6">
                    <c:v>600</c:v>
                  </c:pt>
                  <c:pt idx="7">
                    <c:v>700</c:v>
                  </c:pt>
                </c:lvl>
              </c:multiLvlStrCache>
            </c:multiLvlStrRef>
          </c:cat>
          <c:val>
            <c:numRef>
              <c:f>Sheet1!$D$2:$D$9</c:f>
              <c:numCache>
                <c:formatCode>General</c:formatCode>
                <c:ptCount val="8"/>
                <c:pt idx="0">
                  <c:v>-4.05</c:v>
                </c:pt>
                <c:pt idx="1">
                  <c:v>-4.04</c:v>
                </c:pt>
                <c:pt idx="2">
                  <c:v>-4.03</c:v>
                </c:pt>
                <c:pt idx="3">
                  <c:v>-4.02</c:v>
                </c:pt>
                <c:pt idx="4">
                  <c:v>-4</c:v>
                </c:pt>
                <c:pt idx="5">
                  <c:v>-3.98</c:v>
                </c:pt>
                <c:pt idx="6">
                  <c:v>-3.96</c:v>
                </c:pt>
                <c:pt idx="7">
                  <c:v>-3.95</c:v>
                </c:pt>
              </c:numCache>
            </c:numRef>
          </c:val>
          <c:smooth val="1"/>
        </c:ser>
        <c:ser>
          <c:idx val="3"/>
          <c:order val="3"/>
          <c:tx>
            <c:strRef>
              <c:f>Sheet1!$E$1</c:f>
              <c:strCache>
                <c:ptCount val="1"/>
                <c:pt idx="0">
                  <c:v>EFp</c:v>
                </c:pt>
              </c:strCache>
            </c:strRef>
          </c:tx>
          <c:spPr>
            <a:solidFill>
              <a:srgbClr val="B42318"/>
            </a:solidFill>
            <a:ln w="26035" cap="flat">
              <a:solidFill>
                <a:srgbClr val="B4231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B42318"/>
              </a:solidFill>
              <a:ln w="9525" cap="flat">
                <a:solidFill>
                  <a:srgbClr val="B42318"/>
                </a:solidFill>
                <a:prstDash val="solid"/>
                <a:round/>
              </a:ln>
              <a:effectLst/>
            </c:spPr>
          </c:marker>
          <c:cat>
            <c:multiLvlStrRef>
              <c:f>Sheet1!$A$2:$A$9</c:f>
              <c:multiLvlStrCache>
                <c:ptCount val="8"/>
                <c:lvl>
                  <c:pt idx="0">
                    <c:v>0</c:v>
                  </c:pt>
                  <c:pt idx="1">
                    <c:v>100</c:v>
                  </c:pt>
                  <c:pt idx="2">
                    <c:v>200</c:v>
                  </c:pt>
                  <c:pt idx="3">
                    <c:v>300</c:v>
                  </c:pt>
                  <c:pt idx="4">
                    <c:v>400</c:v>
                  </c:pt>
                  <c:pt idx="5">
                    <c:v>500</c:v>
                  </c:pt>
                  <c:pt idx="6">
                    <c:v>600</c:v>
                  </c:pt>
                  <c:pt idx="7">
                    <c:v>700</c:v>
                  </c:pt>
                </c:lvl>
              </c:multiLvlStrCache>
            </c:multiLvlStrRef>
          </c:cat>
          <c:val>
            <c:numRef>
              <c:f>Sheet1!$E$2:$E$9</c:f>
              <c:numCache>
                <c:formatCode>General</c:formatCode>
                <c:ptCount val="8"/>
                <c:pt idx="0">
                  <c:v>-5.2</c:v>
                </c:pt>
                <c:pt idx="1">
                  <c:v>-5.18</c:v>
                </c:pt>
                <c:pt idx="2">
                  <c:v>-5.14</c:v>
                </c:pt>
                <c:pt idx="3">
                  <c:v>-5.1</c:v>
                </c:pt>
                <c:pt idx="4">
                  <c:v>-5.05</c:v>
                </c:pt>
                <c:pt idx="5">
                  <c:v>-5</c:v>
                </c:pt>
                <c:pt idx="6">
                  <c:v>-4.96</c:v>
                </c:pt>
                <c:pt idx="7">
                  <c:v>-4.92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7620" cap="flat">
            <a:solidFill>
              <a:srgbClr val="334155"/>
            </a:solidFill>
            <a:prstDash val="solid"/>
            <a:round/>
          </a:ln>
        </c:spPr>
        <c:txPr>
          <a:bodyPr/>
          <a:lstStyle/>
          <a:p>
            <a:pPr>
              <a:defRPr sz="56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3.5"/>
          <c:min val="-6"/>
        </c:scaling>
        <c:delete val="0"/>
        <c:axPos val="l"/>
        <c:majorGridlines>
          <c:spPr>
            <a:ln w="5715" cap="flat">
              <a:solidFill>
                <a:srgbClr val="E2E8F0"/>
              </a:solidFill>
              <a:prstDash val="solid"/>
              <a:round/>
            </a:ln>
          </c:spPr>
        </c:majorGridlines>
        <c:numFmt formatCode="0.0" sourceLinked="0"/>
        <c:majorTickMark val="none"/>
        <c:minorTickMark val="none"/>
        <c:tickLblPos val="nextTo"/>
        <c:spPr>
          <a:ln w="7620" cap="flat">
            <a:solidFill>
              <a:srgbClr val="334155"/>
            </a:solidFill>
            <a:prstDash val="solid"/>
            <a:round/>
          </a:ln>
        </c:spPr>
        <c:txPr>
          <a:bodyPr/>
          <a:lstStyle/>
          <a:p>
            <a:pPr>
              <a:defRPr sz="560" b="0" i="0" u="none" strike="noStrike">
                <a:solidFill>
                  <a:srgbClr val="64748B"/>
                </a:solidFill>
                <a:latin typeface="Arial"/>
              </a:defRPr>
            </a:pPr>
            <a:endParaRPr lang="en-US"/>
          </a:p>
        </c:txPr>
        <c:crossAx val="2094734554"/>
        <c:crosses val="autoZero"/>
        <c:crossBetween val="between"/>
        <c:majorUnit val="0.5"/>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2"/>
          <c:h val="0.78"/>
        </c:manualLayout>
      </c:layout>
      <c:lineChart>
        <c:varyColors val="0"/>
        <c:ser>
          <c:idx val="0"/>
          <c:order val="0"/>
          <c:tx>
            <c:strRef>
              <c:f>Sheet1!$B$1</c:f>
              <c:strCache>
                <c:ptCount val="1"/>
                <c:pt idx="0">
                  <c:v>G</c:v>
                </c:pt>
              </c:strCache>
            </c:strRef>
          </c:tx>
          <c:spPr>
            <a:solidFill>
              <a:srgbClr val="0F766E"/>
            </a:solidFill>
            <a:ln w="26035"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0F766E"/>
              </a:solidFill>
              <a:ln w="9525" cap="flat">
                <a:solidFill>
                  <a:srgbClr val="0F766E"/>
                </a:solidFill>
                <a:prstDash val="solid"/>
                <a:round/>
              </a:ln>
              <a:effectLst/>
            </c:spPr>
          </c:marker>
          <c:cat>
            <c:multiLvlStrRef>
              <c:f>Sheet1!$A$2:$A$9</c:f>
              <c:multiLvlStrCache>
                <c:ptCount val="8"/>
                <c:lvl>
                  <c:pt idx="0">
                    <c:v>0</c:v>
                  </c:pt>
                  <c:pt idx="1">
                    <c:v>100</c:v>
                  </c:pt>
                  <c:pt idx="2">
                    <c:v>200</c:v>
                  </c:pt>
                  <c:pt idx="3">
                    <c:v>300</c:v>
                  </c:pt>
                  <c:pt idx="4">
                    <c:v>400</c:v>
                  </c:pt>
                  <c:pt idx="5">
                    <c:v>500</c:v>
                  </c:pt>
                  <c:pt idx="6">
                    <c:v>600</c:v>
                  </c:pt>
                  <c:pt idx="7">
                    <c:v>700</c:v>
                  </c:pt>
                </c:lvl>
              </c:multiLvlStrCache>
            </c:multiLvlStrRef>
          </c:cat>
          <c:val>
            <c:numRef>
              <c:f>Sheet1!$B$2:$B$9</c:f>
              <c:numCache>
                <c:formatCode>General</c:formatCode>
                <c:ptCount val="8"/>
                <c:pt idx="0">
                  <c:v>1</c:v>
                </c:pt>
                <c:pt idx="1">
                  <c:v>0.78</c:v>
                </c:pt>
                <c:pt idx="2">
                  <c:v>0.61</c:v>
                </c:pt>
                <c:pt idx="3">
                  <c:v>0.48</c:v>
                </c:pt>
                <c:pt idx="4">
                  <c:v>0.38</c:v>
                </c:pt>
                <c:pt idx="5">
                  <c:v>0.3</c:v>
                </c:pt>
                <c:pt idx="6">
                  <c:v>0.24</c:v>
                </c:pt>
                <c:pt idx="7">
                  <c:v>0.19</c:v>
                </c:pt>
              </c:numCache>
            </c:numRef>
          </c:val>
          <c:smooth val="1"/>
        </c:ser>
        <c:ser>
          <c:idx val="1"/>
          <c:order val="1"/>
          <c:tx>
            <c:strRef>
              <c:f>Sheet1!$C$1</c:f>
              <c:strCache>
                <c:ptCount val="1"/>
                <c:pt idx="0">
                  <c:v>RSRH</c:v>
                </c:pt>
              </c:strCache>
            </c:strRef>
          </c:tx>
          <c:spPr>
            <a:solidFill>
              <a:srgbClr val="B42318"/>
            </a:solidFill>
            <a:ln w="26035" cap="flat">
              <a:solidFill>
                <a:srgbClr val="B4231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B42318"/>
              </a:solidFill>
              <a:ln w="9525" cap="flat">
                <a:solidFill>
                  <a:srgbClr val="B42318"/>
                </a:solidFill>
                <a:prstDash val="solid"/>
                <a:round/>
              </a:ln>
              <a:effectLst/>
            </c:spPr>
          </c:marker>
          <c:cat>
            <c:multiLvlStrRef>
              <c:f>Sheet1!$A$2:$A$9</c:f>
              <c:multiLvlStrCache>
                <c:ptCount val="8"/>
                <c:lvl>
                  <c:pt idx="0">
                    <c:v>0</c:v>
                  </c:pt>
                  <c:pt idx="1">
                    <c:v>100</c:v>
                  </c:pt>
                  <c:pt idx="2">
                    <c:v>200</c:v>
                  </c:pt>
                  <c:pt idx="3">
                    <c:v>300</c:v>
                  </c:pt>
                  <c:pt idx="4">
                    <c:v>400</c:v>
                  </c:pt>
                  <c:pt idx="5">
                    <c:v>500</c:v>
                  </c:pt>
                  <c:pt idx="6">
                    <c:v>600</c:v>
                  </c:pt>
                  <c:pt idx="7">
                    <c:v>700</c:v>
                  </c:pt>
                </c:lvl>
              </c:multiLvlStrCache>
            </c:multiLvlStrRef>
          </c:cat>
          <c:val>
            <c:numRef>
              <c:f>Sheet1!$C$2:$C$9</c:f>
              <c:numCache>
                <c:formatCode>General</c:formatCode>
                <c:ptCount val="8"/>
                <c:pt idx="0">
                  <c:v>0.05</c:v>
                </c:pt>
                <c:pt idx="1">
                  <c:v>0.1</c:v>
                </c:pt>
                <c:pt idx="2">
                  <c:v>0.18</c:v>
                </c:pt>
                <c:pt idx="3">
                  <c:v>0.22</c:v>
                </c:pt>
                <c:pt idx="4">
                  <c:v>0.2</c:v>
                </c:pt>
                <c:pt idx="5">
                  <c:v>0.17</c:v>
                </c:pt>
                <c:pt idx="6">
                  <c:v>0.14</c:v>
                </c:pt>
                <c:pt idx="7">
                  <c:v>0.1</c:v>
                </c:pt>
              </c:numCache>
            </c:numRef>
          </c:val>
          <c:smooth val="1"/>
        </c:ser>
        <c:ser>
          <c:idx val="2"/>
          <c:order val="2"/>
          <c:tx>
            <c:strRef>
              <c:f>Sheet1!$D$1</c:f>
              <c:strCache>
                <c:ptCount val="1"/>
                <c:pt idx="0">
                  <c:v>Rinterface</c:v>
                </c:pt>
              </c:strCache>
            </c:strRef>
          </c:tx>
          <c:spPr>
            <a:solidFill>
              <a:srgbClr val="EA580C"/>
            </a:solidFill>
            <a:ln w="26035" cap="flat">
              <a:solidFill>
                <a:srgbClr val="EA580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EA580C"/>
              </a:solidFill>
              <a:ln w="9525" cap="flat">
                <a:solidFill>
                  <a:srgbClr val="EA580C"/>
                </a:solidFill>
                <a:prstDash val="solid"/>
                <a:round/>
              </a:ln>
              <a:effectLst/>
            </c:spPr>
          </c:marker>
          <c:cat>
            <c:multiLvlStrRef>
              <c:f>Sheet1!$A$2:$A$9</c:f>
              <c:multiLvlStrCache>
                <c:ptCount val="8"/>
                <c:lvl>
                  <c:pt idx="0">
                    <c:v>0</c:v>
                  </c:pt>
                  <c:pt idx="1">
                    <c:v>100</c:v>
                  </c:pt>
                  <c:pt idx="2">
                    <c:v>200</c:v>
                  </c:pt>
                  <c:pt idx="3">
                    <c:v>300</c:v>
                  </c:pt>
                  <c:pt idx="4">
                    <c:v>400</c:v>
                  </c:pt>
                  <c:pt idx="5">
                    <c:v>500</c:v>
                  </c:pt>
                  <c:pt idx="6">
                    <c:v>600</c:v>
                  </c:pt>
                  <c:pt idx="7">
                    <c:v>700</c:v>
                  </c:pt>
                </c:lvl>
              </c:multiLvlStrCache>
            </c:multiLvlStrRef>
          </c:cat>
          <c:val>
            <c:numRef>
              <c:f>Sheet1!$D$2:$D$9</c:f>
              <c:numCache>
                <c:formatCode>General</c:formatCode>
                <c:ptCount val="8"/>
                <c:pt idx="0">
                  <c:v>0.04</c:v>
                </c:pt>
                <c:pt idx="1">
                  <c:v>0.08</c:v>
                </c:pt>
                <c:pt idx="2">
                  <c:v>0.18</c:v>
                </c:pt>
                <c:pt idx="3">
                  <c:v>0.75</c:v>
                </c:pt>
                <c:pt idx="4">
                  <c:v>0.26</c:v>
                </c:pt>
                <c:pt idx="5">
                  <c:v>0.12</c:v>
                </c:pt>
                <c:pt idx="6">
                  <c:v>0.08</c:v>
                </c:pt>
                <c:pt idx="7">
                  <c:v>0.05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7620" cap="flat">
            <a:solidFill>
              <a:srgbClr val="334155"/>
            </a:solidFill>
            <a:prstDash val="solid"/>
            <a:round/>
          </a:ln>
        </c:spPr>
        <c:txPr>
          <a:bodyPr/>
          <a:lstStyle/>
          <a:p>
            <a:pPr>
              <a:defRPr sz="56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5715" cap="flat">
              <a:solidFill>
                <a:srgbClr val="E2E8F0"/>
              </a:solidFill>
              <a:prstDash val="solid"/>
              <a:round/>
            </a:ln>
          </c:spPr>
        </c:majorGridlines>
        <c:numFmt formatCode="0.00" sourceLinked="0"/>
        <c:majorTickMark val="none"/>
        <c:minorTickMark val="none"/>
        <c:tickLblPos val="nextTo"/>
        <c:spPr>
          <a:ln w="7620" cap="flat">
            <a:solidFill>
              <a:srgbClr val="334155"/>
            </a:solidFill>
            <a:prstDash val="solid"/>
            <a:round/>
          </a:ln>
        </c:spPr>
        <c:txPr>
          <a:bodyPr/>
          <a:lstStyle/>
          <a:p>
            <a:pPr>
              <a:defRPr sz="560" b="0" i="0" u="none" strike="noStrike">
                <a:solidFill>
                  <a:srgbClr val="64748B"/>
                </a:solidFill>
                <a:latin typeface="Arial"/>
              </a:defRPr>
            </a:pPr>
            <a:endParaRPr lang="en-US"/>
          </a:p>
        </c:txPr>
        <c:crossAx val="2094734554"/>
        <c:crosses val="autoZero"/>
        <c:crossBetween val="between"/>
        <c:majorUnit val="0.25"/>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narration:
This slide shows professional SCAPS-1D result figures rather than generic curve sketches. The J-V panel reports terminal performance and diagnostic dark behavior. The EQE panel shows spectral collection and integrated current. The band diagram connects material parameters and interface band offsets to extraction barriers and quasi-Fermi-level splitting. The generation/recombination panel localizes where carriers are created and where they are lost, which is essential for identifying whether the device is limited by optics, transport, bulk recombination, or interface recombination.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38912" y="210312"/>
            <a:ext cx="7818120" cy="310896"/>
          </a:xfrm>
          <a:prstGeom prst="rect">
            <a:avLst/>
          </a:prstGeom>
          <a:noFill/>
          <a:ln/>
        </p:spPr>
        <p:txBody>
          <a:bodyPr wrap="square" lIns="0" tIns="0" rIns="0" bIns="0" rtlCol="0" anchor="t">
            <a:normAutofit/>
          </a:bodyPr>
          <a:lstStyle/>
          <a:p>
            <a:pPr algn="l" indent="0" marL="0">
              <a:buNone/>
            </a:pPr>
            <a:r>
              <a:rPr lang="en-US" sz="2100" b="1" dirty="0">
                <a:solidFill>
                  <a:srgbClr val="162033"/>
                </a:solidFill>
                <a:latin typeface="Arial" pitchFamily="34" charset="0"/>
                <a:ea typeface="Arial" pitchFamily="34" charset="-122"/>
                <a:cs typeface="Arial" pitchFamily="34" charset="-120"/>
              </a:rPr>
              <a:t>Representative SCAPS-1D Result Figures</a:t>
            </a:r>
            <a:endParaRPr lang="en-US" sz="2100" dirty="0"/>
          </a:p>
        </p:txBody>
      </p:sp>
      <p:sp>
        <p:nvSpPr>
          <p:cNvPr id="3" name="Text 1"/>
          <p:cNvSpPr/>
          <p:nvPr/>
        </p:nvSpPr>
        <p:spPr>
          <a:xfrm>
            <a:off x="457200" y="640080"/>
            <a:ext cx="10927080" cy="201168"/>
          </a:xfrm>
          <a:prstGeom prst="rect">
            <a:avLst/>
          </a:prstGeom>
          <a:noFill/>
          <a:ln/>
        </p:spPr>
        <p:txBody>
          <a:bodyPr wrap="square" lIns="0" tIns="0" rIns="0" bIns="0" rtlCol="0" anchor="t">
            <a:normAutofit/>
          </a:bodyPr>
          <a:lstStyle/>
          <a:p>
            <a:pPr algn="l" indent="0" marL="0">
              <a:buNone/>
            </a:pPr>
            <a:r>
              <a:rPr lang="en-US" sz="1040" dirty="0">
                <a:solidFill>
                  <a:srgbClr val="334155"/>
                </a:solidFill>
                <a:latin typeface="Arial" pitchFamily="34" charset="0"/>
                <a:ea typeface="Arial" pitchFamily="34" charset="-122"/>
                <a:cs typeface="Arial" pitchFamily="34" charset="-120"/>
              </a:rPr>
              <a:t>A professional report should connect terminal metrics to spectral collection, band alignment, and spatial loss mechanisms.</a:t>
            </a:r>
            <a:endParaRPr lang="en-US" sz="1040" dirty="0"/>
          </a:p>
        </p:txBody>
      </p:sp>
      <p:sp>
        <p:nvSpPr>
          <p:cNvPr id="4" name="Shape 2"/>
          <p:cNvSpPr/>
          <p:nvPr/>
        </p:nvSpPr>
        <p:spPr>
          <a:xfrm>
            <a:off x="10607040" y="274320"/>
            <a:ext cx="749808" cy="219456"/>
          </a:xfrm>
          <a:prstGeom prst="roundRect">
            <a:avLst>
              <a:gd name="adj" fmla="val 25000"/>
            </a:avLst>
          </a:prstGeom>
          <a:solidFill>
            <a:srgbClr val="DBEAFE"/>
          </a:solidFill>
          <a:ln w="12700">
            <a:solidFill>
              <a:srgbClr val="2563EB"/>
            </a:solidFill>
            <a:prstDash val="solid"/>
          </a:ln>
        </p:spPr>
      </p:sp>
      <p:sp>
        <p:nvSpPr>
          <p:cNvPr id="5" name="Text 3"/>
          <p:cNvSpPr/>
          <p:nvPr/>
        </p:nvSpPr>
        <p:spPr>
          <a:xfrm>
            <a:off x="10652760" y="324612"/>
            <a:ext cx="658368" cy="91440"/>
          </a:xfrm>
          <a:prstGeom prst="rect">
            <a:avLst/>
          </a:prstGeom>
          <a:noFill/>
          <a:ln/>
        </p:spPr>
        <p:txBody>
          <a:bodyPr wrap="square" lIns="0" tIns="0" rIns="0" bIns="0" rtlCol="0" anchor="t">
            <a:normAutofit/>
          </a:bodyPr>
          <a:lstStyle/>
          <a:p>
            <a:pPr algn="ctr" indent="0" marL="0">
              <a:buNone/>
            </a:pPr>
            <a:r>
              <a:rPr lang="en-US" sz="660" b="1" dirty="0">
                <a:solidFill>
                  <a:srgbClr val="2563EB"/>
                </a:solidFill>
                <a:latin typeface="Arial" pitchFamily="34" charset="0"/>
                <a:ea typeface="Arial" pitchFamily="34" charset="-122"/>
                <a:cs typeface="Arial" pitchFamily="34" charset="-120"/>
              </a:rPr>
              <a:t>editable</a:t>
            </a:r>
            <a:endParaRPr lang="en-US" sz="660" dirty="0"/>
          </a:p>
        </p:txBody>
      </p:sp>
      <p:sp>
        <p:nvSpPr>
          <p:cNvPr id="6" name="Shape 4"/>
          <p:cNvSpPr/>
          <p:nvPr/>
        </p:nvSpPr>
        <p:spPr>
          <a:xfrm>
            <a:off x="11411712" y="274320"/>
            <a:ext cx="640080" cy="219456"/>
          </a:xfrm>
          <a:prstGeom prst="roundRect">
            <a:avLst>
              <a:gd name="adj" fmla="val 25000"/>
            </a:avLst>
          </a:prstGeom>
          <a:solidFill>
            <a:srgbClr val="EEF2F7"/>
          </a:solidFill>
          <a:ln w="12700">
            <a:solidFill>
              <a:srgbClr val="334155"/>
            </a:solidFill>
            <a:prstDash val="solid"/>
          </a:ln>
        </p:spPr>
      </p:sp>
      <p:sp>
        <p:nvSpPr>
          <p:cNvPr id="7" name="Text 5"/>
          <p:cNvSpPr/>
          <p:nvPr/>
        </p:nvSpPr>
        <p:spPr>
          <a:xfrm>
            <a:off x="11457432" y="324612"/>
            <a:ext cx="548640" cy="91440"/>
          </a:xfrm>
          <a:prstGeom prst="rect">
            <a:avLst/>
          </a:prstGeom>
          <a:noFill/>
          <a:ln/>
        </p:spPr>
        <p:txBody>
          <a:bodyPr wrap="square" lIns="0" tIns="0" rIns="0" bIns="0" rtlCol="0" anchor="t">
            <a:normAutofit/>
          </a:bodyPr>
          <a:lstStyle/>
          <a:p>
            <a:pPr algn="ctr" indent="0" marL="0">
              <a:buNone/>
            </a:pPr>
            <a:r>
              <a:rPr lang="en-US" sz="660" b="1" dirty="0">
                <a:solidFill>
                  <a:srgbClr val="334155"/>
                </a:solidFill>
                <a:latin typeface="Arial" pitchFamily="34" charset="0"/>
                <a:ea typeface="Arial" pitchFamily="34" charset="-122"/>
                <a:cs typeface="Arial" pitchFamily="34" charset="-120"/>
              </a:rPr>
              <a:t>SCAPS-1D</a:t>
            </a:r>
            <a:endParaRPr lang="en-US" sz="660" dirty="0"/>
          </a:p>
        </p:txBody>
      </p:sp>
      <p:sp>
        <p:nvSpPr>
          <p:cNvPr id="8" name="Shape 6"/>
          <p:cNvSpPr/>
          <p:nvPr/>
        </p:nvSpPr>
        <p:spPr>
          <a:xfrm>
            <a:off x="457200" y="1024128"/>
            <a:ext cx="5486400" cy="2359152"/>
          </a:xfrm>
          <a:prstGeom prst="roundRect">
            <a:avLst>
              <a:gd name="adj" fmla="val 3101"/>
            </a:avLst>
          </a:prstGeom>
          <a:solidFill>
            <a:srgbClr val="FFFFFF"/>
          </a:solidFill>
          <a:ln w="12700">
            <a:solidFill>
              <a:srgbClr val="CBD5E1"/>
            </a:solidFill>
            <a:prstDash val="solid"/>
          </a:ln>
        </p:spPr>
      </p:sp>
      <p:sp>
        <p:nvSpPr>
          <p:cNvPr id="9" name="Shape 7"/>
          <p:cNvSpPr/>
          <p:nvPr/>
        </p:nvSpPr>
        <p:spPr>
          <a:xfrm>
            <a:off x="457200" y="1024128"/>
            <a:ext cx="73152" cy="2359152"/>
          </a:xfrm>
          <a:prstGeom prst="rect">
            <a:avLst/>
          </a:prstGeom>
          <a:solidFill>
            <a:srgbClr val="B42318"/>
          </a:solidFill>
          <a:ln w="12700">
            <a:solidFill>
              <a:srgbClr val="B42318">
                <a:alpha val="0"/>
              </a:srgbClr>
            </a:solidFill>
            <a:prstDash val="solid"/>
          </a:ln>
        </p:spPr>
      </p:sp>
      <p:sp>
        <p:nvSpPr>
          <p:cNvPr id="10" name="Shape 8"/>
          <p:cNvSpPr/>
          <p:nvPr/>
        </p:nvSpPr>
        <p:spPr>
          <a:xfrm>
            <a:off x="640080" y="1170432"/>
            <a:ext cx="347472" cy="219456"/>
          </a:xfrm>
          <a:prstGeom prst="roundRect">
            <a:avLst>
              <a:gd name="adj" fmla="val 25000"/>
            </a:avLst>
          </a:prstGeom>
          <a:solidFill>
            <a:srgbClr val="FEE4E2"/>
          </a:solidFill>
          <a:ln w="12700">
            <a:solidFill>
              <a:srgbClr val="B42318"/>
            </a:solidFill>
            <a:prstDash val="solid"/>
          </a:ln>
        </p:spPr>
      </p:sp>
      <p:sp>
        <p:nvSpPr>
          <p:cNvPr id="11" name="Text 9"/>
          <p:cNvSpPr/>
          <p:nvPr/>
        </p:nvSpPr>
        <p:spPr>
          <a:xfrm>
            <a:off x="685800" y="1220724"/>
            <a:ext cx="256032" cy="91440"/>
          </a:xfrm>
          <a:prstGeom prst="rect">
            <a:avLst/>
          </a:prstGeom>
          <a:noFill/>
          <a:ln/>
        </p:spPr>
        <p:txBody>
          <a:bodyPr wrap="square" lIns="0" tIns="0" rIns="0" bIns="0" rtlCol="0" anchor="t">
            <a:normAutofit/>
          </a:bodyPr>
          <a:lstStyle/>
          <a:p>
            <a:pPr algn="ctr" indent="0" marL="0">
              <a:buNone/>
            </a:pPr>
            <a:r>
              <a:rPr lang="en-US" sz="660" b="1" dirty="0">
                <a:solidFill>
                  <a:srgbClr val="B42318"/>
                </a:solidFill>
                <a:latin typeface="Arial" pitchFamily="34" charset="0"/>
                <a:ea typeface="Arial" pitchFamily="34" charset="-122"/>
                <a:cs typeface="Arial" pitchFamily="34" charset="-120"/>
              </a:rPr>
              <a:t>A</a:t>
            </a:r>
            <a:endParaRPr lang="en-US" sz="660" dirty="0"/>
          </a:p>
        </p:txBody>
      </p:sp>
      <p:sp>
        <p:nvSpPr>
          <p:cNvPr id="12" name="Text 10"/>
          <p:cNvSpPr/>
          <p:nvPr/>
        </p:nvSpPr>
        <p:spPr>
          <a:xfrm>
            <a:off x="1069848" y="1179576"/>
            <a:ext cx="4663440" cy="182880"/>
          </a:xfrm>
          <a:prstGeom prst="rect">
            <a:avLst/>
          </a:prstGeom>
          <a:noFill/>
          <a:ln/>
        </p:spPr>
        <p:txBody>
          <a:bodyPr wrap="square" lIns="0" tIns="0" rIns="0" bIns="0" rtlCol="0" anchor="t">
            <a:normAutofit/>
          </a:bodyPr>
          <a:lstStyle/>
          <a:p>
            <a:pPr algn="l" indent="0" marL="0">
              <a:buNone/>
            </a:pPr>
            <a:r>
              <a:rPr lang="en-US" sz="1000" b="1" dirty="0">
                <a:solidFill>
                  <a:srgbClr val="334155"/>
                </a:solidFill>
                <a:latin typeface="Arial" pitchFamily="34" charset="0"/>
                <a:ea typeface="Arial" pitchFamily="34" charset="-122"/>
                <a:cs typeface="Arial" pitchFamily="34" charset="-120"/>
              </a:rPr>
              <a:t>Terminal J-V and device metrics</a:t>
            </a:r>
            <a:endParaRPr lang="en-US" sz="1000" dirty="0"/>
          </a:p>
        </p:txBody>
      </p:sp>
      <p:graphicFrame>
        <p:nvGraphicFramePr>
          <p:cNvPr id="13" name="Chart 0" descr=""/>
          <p:cNvGraphicFramePr/>
          <p:nvPr/>
        </p:nvGraphicFramePr>
        <p:xfrm>
          <a:off x="685800" y="1591056"/>
          <a:ext cx="2971800" cy="1563624"/>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1783080" y="3081528"/>
            <a:ext cx="822960" cy="109728"/>
          </a:xfrm>
          <a:prstGeom prst="rect">
            <a:avLst/>
          </a:prstGeom>
          <a:noFill/>
          <a:ln/>
        </p:spPr>
        <p:txBody>
          <a:bodyPr wrap="square" lIns="0" tIns="0" rIns="0" bIns="0" rtlCol="0" anchor="t">
            <a:normAutofit/>
          </a:bodyPr>
          <a:lstStyle/>
          <a:p>
            <a:pPr algn="ctr" indent="0" marL="0">
              <a:buNone/>
            </a:pPr>
            <a:r>
              <a:rPr lang="en-US" sz="620" dirty="0">
                <a:solidFill>
                  <a:srgbClr val="64748B"/>
                </a:solidFill>
                <a:latin typeface="Arial" pitchFamily="34" charset="0"/>
                <a:ea typeface="Arial" pitchFamily="34" charset="-122"/>
                <a:cs typeface="Arial" pitchFamily="34" charset="-120"/>
              </a:rPr>
              <a:t>Voltage </a:t>
            </a:r>
            <a:pPr algn="ctr" indent="0" marL="0">
              <a:buNone/>
            </a:pPr>
            <a:r>
              <a:rPr lang="en-US" sz="620" i="1" dirty="0">
                <a:solidFill>
                  <a:srgbClr val="64748B"/>
                </a:solidFill>
                <a:latin typeface="Arial" pitchFamily="34" charset="0"/>
                <a:ea typeface="Arial" pitchFamily="34" charset="-122"/>
                <a:cs typeface="Arial" pitchFamily="34" charset="-120"/>
              </a:rPr>
              <a:t>V</a:t>
            </a:r>
            <a:pPr algn="ctr" indent="0" marL="0">
              <a:buNone/>
            </a:pPr>
            <a:r>
              <a:rPr lang="en-US" sz="620" dirty="0">
                <a:solidFill>
                  <a:srgbClr val="64748B"/>
                </a:solidFill>
                <a:latin typeface="Arial" pitchFamily="34" charset="0"/>
                <a:ea typeface="Arial" pitchFamily="34" charset="-122"/>
                <a:cs typeface="Arial" pitchFamily="34" charset="-120"/>
              </a:rPr>
              <a:t> (V)</a:t>
            </a:r>
            <a:endParaRPr lang="en-US" sz="620" dirty="0"/>
          </a:p>
        </p:txBody>
      </p:sp>
      <p:sp>
        <p:nvSpPr>
          <p:cNvPr id="15" name="Text 12"/>
          <p:cNvSpPr/>
          <p:nvPr/>
        </p:nvSpPr>
        <p:spPr>
          <a:xfrm>
            <a:off x="649224" y="1572768"/>
            <a:ext cx="749808" cy="109728"/>
          </a:xfrm>
          <a:prstGeom prst="rect">
            <a:avLst/>
          </a:prstGeom>
          <a:noFill/>
          <a:ln/>
        </p:spPr>
        <p:txBody>
          <a:bodyPr wrap="square" lIns="0" tIns="0" rIns="0" bIns="0" rtlCol="0" anchor="t">
            <a:normAutofit/>
          </a:bodyPr>
          <a:lstStyle/>
          <a:p>
            <a:pPr algn="l" indent="0" marL="0">
              <a:buNone/>
            </a:pPr>
            <a:r>
              <a:rPr lang="en-US" sz="620" i="1" dirty="0">
                <a:solidFill>
                  <a:srgbClr val="64748B"/>
                </a:solidFill>
                <a:latin typeface="Arial" pitchFamily="34" charset="0"/>
                <a:ea typeface="Arial" pitchFamily="34" charset="-122"/>
                <a:cs typeface="Arial" pitchFamily="34" charset="-120"/>
              </a:rPr>
              <a:t>J</a:t>
            </a:r>
            <a:pPr algn="l" indent="0" marL="0">
              <a:buNone/>
            </a:pPr>
            <a:r>
              <a:rPr lang="en-US" sz="620" dirty="0">
                <a:solidFill>
                  <a:srgbClr val="64748B"/>
                </a:solidFill>
                <a:latin typeface="Arial" pitchFamily="34" charset="0"/>
                <a:ea typeface="Arial" pitchFamily="34" charset="-122"/>
                <a:cs typeface="Arial" pitchFamily="34" charset="-120"/>
              </a:rPr>
              <a:t> (mA cm</a:t>
            </a:r>
            <a:pPr algn="l" indent="0" marL="0">
              <a:buNone/>
            </a:pPr>
            <a:r>
              <a:rPr lang="en-US" sz="620" baseline="30000" dirty="0">
                <a:solidFill>
                  <a:srgbClr val="64748B"/>
                </a:solidFill>
                <a:latin typeface="Arial" pitchFamily="34" charset="0"/>
                <a:ea typeface="Arial" pitchFamily="34" charset="-122"/>
                <a:cs typeface="Arial" pitchFamily="34" charset="-120"/>
              </a:rPr>
              <a:t>−2</a:t>
            </a:r>
            <a:pPr algn="l" indent="0" marL="0">
              <a:buNone/>
            </a:pPr>
            <a:r>
              <a:rPr lang="en-US" sz="620" dirty="0">
                <a:solidFill>
                  <a:srgbClr val="64748B"/>
                </a:solidFill>
                <a:latin typeface="Arial" pitchFamily="34" charset="0"/>
                <a:ea typeface="Arial" pitchFamily="34" charset="-122"/>
                <a:cs typeface="Arial" pitchFamily="34" charset="-120"/>
              </a:rPr>
              <a:t>)</a:t>
            </a:r>
            <a:endParaRPr lang="en-US" sz="620" dirty="0"/>
          </a:p>
        </p:txBody>
      </p:sp>
      <p:sp>
        <p:nvSpPr>
          <p:cNvPr id="16" name="Shape 13"/>
          <p:cNvSpPr/>
          <p:nvPr/>
        </p:nvSpPr>
        <p:spPr>
          <a:xfrm>
            <a:off x="740664" y="2994660"/>
            <a:ext cx="146304" cy="0"/>
          </a:xfrm>
          <a:prstGeom prst="line">
            <a:avLst/>
          </a:prstGeom>
          <a:noFill/>
          <a:ln w="12700">
            <a:solidFill>
              <a:srgbClr val="B42318"/>
            </a:solidFill>
            <a:prstDash val="solid"/>
            <a:headEnd type="none"/>
            <a:tailEnd type="none"/>
          </a:ln>
        </p:spPr>
      </p:sp>
      <p:sp>
        <p:nvSpPr>
          <p:cNvPr id="17" name="Text 14"/>
          <p:cNvSpPr/>
          <p:nvPr/>
        </p:nvSpPr>
        <p:spPr>
          <a:xfrm>
            <a:off x="914400" y="2944368"/>
            <a:ext cx="667512" cy="118872"/>
          </a:xfrm>
          <a:prstGeom prst="rect">
            <a:avLst/>
          </a:prstGeom>
          <a:noFill/>
          <a:ln/>
        </p:spPr>
        <p:txBody>
          <a:bodyPr wrap="square" lIns="0" tIns="0" rIns="0" bIns="0" rtlCol="0" anchor="t">
            <a:normAutofit/>
          </a:bodyPr>
          <a:lstStyle/>
          <a:p>
            <a:pPr algn="l" indent="0" marL="0">
              <a:buNone/>
            </a:pPr>
            <a:r>
              <a:rPr lang="en-US" sz="590" dirty="0">
                <a:solidFill>
                  <a:srgbClr val="334155"/>
                </a:solidFill>
                <a:latin typeface="Arial" pitchFamily="34" charset="0"/>
                <a:ea typeface="Arial" pitchFamily="34" charset="-122"/>
                <a:cs typeface="Arial" pitchFamily="34" charset="-120"/>
              </a:rPr>
              <a:t>light</a:t>
            </a:r>
            <a:endParaRPr lang="en-US" sz="590" dirty="0"/>
          </a:p>
        </p:txBody>
      </p:sp>
      <p:sp>
        <p:nvSpPr>
          <p:cNvPr id="18" name="Shape 15"/>
          <p:cNvSpPr/>
          <p:nvPr/>
        </p:nvSpPr>
        <p:spPr>
          <a:xfrm>
            <a:off x="1426464" y="2994660"/>
            <a:ext cx="146304" cy="0"/>
          </a:xfrm>
          <a:prstGeom prst="line">
            <a:avLst/>
          </a:prstGeom>
          <a:noFill/>
          <a:ln w="12700">
            <a:solidFill>
              <a:srgbClr val="334155"/>
            </a:solidFill>
            <a:prstDash val="solid"/>
            <a:headEnd type="none"/>
            <a:tailEnd type="none"/>
          </a:ln>
        </p:spPr>
      </p:sp>
      <p:sp>
        <p:nvSpPr>
          <p:cNvPr id="19" name="Text 16"/>
          <p:cNvSpPr/>
          <p:nvPr/>
        </p:nvSpPr>
        <p:spPr>
          <a:xfrm>
            <a:off x="1600200" y="2944368"/>
            <a:ext cx="667512" cy="118872"/>
          </a:xfrm>
          <a:prstGeom prst="rect">
            <a:avLst/>
          </a:prstGeom>
          <a:noFill/>
          <a:ln/>
        </p:spPr>
        <p:txBody>
          <a:bodyPr wrap="square" lIns="0" tIns="0" rIns="0" bIns="0" rtlCol="0" anchor="t">
            <a:normAutofit/>
          </a:bodyPr>
          <a:lstStyle/>
          <a:p>
            <a:pPr algn="l" indent="0" marL="0">
              <a:buNone/>
            </a:pPr>
            <a:r>
              <a:rPr lang="en-US" sz="590" dirty="0">
                <a:solidFill>
                  <a:srgbClr val="334155"/>
                </a:solidFill>
                <a:latin typeface="Arial" pitchFamily="34" charset="0"/>
                <a:ea typeface="Arial" pitchFamily="34" charset="-122"/>
                <a:cs typeface="Arial" pitchFamily="34" charset="-120"/>
              </a:rPr>
              <a:t>dark × 10</a:t>
            </a:r>
            <a:endParaRPr lang="en-US" sz="590" dirty="0"/>
          </a:p>
        </p:txBody>
      </p:sp>
      <p:sp>
        <p:nvSpPr>
          <p:cNvPr id="20" name="Shape 17"/>
          <p:cNvSpPr/>
          <p:nvPr/>
        </p:nvSpPr>
        <p:spPr>
          <a:xfrm>
            <a:off x="3858768" y="1591056"/>
            <a:ext cx="896112" cy="329184"/>
          </a:xfrm>
          <a:prstGeom prst="roundRect">
            <a:avLst>
              <a:gd name="adj" fmla="val 11111"/>
            </a:avLst>
          </a:prstGeom>
          <a:solidFill>
            <a:srgbClr val="F8FAFC"/>
          </a:solidFill>
          <a:ln w="12700">
            <a:solidFill>
              <a:srgbClr val="CBD5E1"/>
            </a:solidFill>
            <a:prstDash val="solid"/>
          </a:ln>
        </p:spPr>
      </p:sp>
      <p:sp>
        <p:nvSpPr>
          <p:cNvPr id="21" name="Text 18"/>
          <p:cNvSpPr/>
          <p:nvPr/>
        </p:nvSpPr>
        <p:spPr>
          <a:xfrm>
            <a:off x="3922776" y="1641348"/>
            <a:ext cx="301752" cy="100584"/>
          </a:xfrm>
          <a:prstGeom prst="rect">
            <a:avLst/>
          </a:prstGeom>
          <a:noFill/>
          <a:ln/>
        </p:spPr>
        <p:txBody>
          <a:bodyPr wrap="square" lIns="0" tIns="0" rIns="0" bIns="0" rtlCol="0" anchor="t">
            <a:normAutofit/>
          </a:bodyPr>
          <a:lstStyle/>
          <a:p>
            <a:pPr algn="l" indent="0" marL="0">
              <a:buNone/>
            </a:pPr>
            <a:r>
              <a:rPr lang="en-US" sz="600" i="1" dirty="0">
                <a:solidFill>
                  <a:srgbClr val="64748B"/>
                </a:solidFill>
                <a:latin typeface="Arial" pitchFamily="34" charset="0"/>
                <a:ea typeface="Arial" pitchFamily="34" charset="-122"/>
                <a:cs typeface="Arial" pitchFamily="34" charset="-120"/>
              </a:rPr>
              <a:t>V</a:t>
            </a:r>
            <a:pPr algn="l" indent="0" marL="0">
              <a:buNone/>
            </a:pPr>
            <a:r>
              <a:rPr lang="en-US" sz="600" baseline="-40000" dirty="0">
                <a:solidFill>
                  <a:srgbClr val="64748B"/>
                </a:solidFill>
                <a:latin typeface="Arial" pitchFamily="34" charset="0"/>
                <a:ea typeface="Arial" pitchFamily="34" charset="-122"/>
                <a:cs typeface="Arial" pitchFamily="34" charset="-120"/>
              </a:rPr>
              <a:t>oc</a:t>
            </a:r>
            <a:endParaRPr lang="en-US" sz="600" dirty="0"/>
          </a:p>
        </p:txBody>
      </p:sp>
      <p:sp>
        <p:nvSpPr>
          <p:cNvPr id="22" name="Text 19"/>
          <p:cNvSpPr/>
          <p:nvPr/>
        </p:nvSpPr>
        <p:spPr>
          <a:xfrm>
            <a:off x="4233672" y="1636776"/>
            <a:ext cx="457200" cy="118872"/>
          </a:xfrm>
          <a:prstGeom prst="rect">
            <a:avLst/>
          </a:prstGeom>
          <a:noFill/>
          <a:ln/>
        </p:spPr>
        <p:txBody>
          <a:bodyPr wrap="square" lIns="0" tIns="0" rIns="0" bIns="0" rtlCol="0" anchor="t">
            <a:normAutofit/>
          </a:bodyPr>
          <a:lstStyle/>
          <a:p>
            <a:pPr algn="r" indent="0" marL="0">
              <a:buNone/>
            </a:pPr>
            <a:r>
              <a:rPr lang="en-US" sz="700" b="1" dirty="0">
                <a:solidFill>
                  <a:srgbClr val="B42318"/>
                </a:solidFill>
                <a:latin typeface="Arial" pitchFamily="34" charset="0"/>
                <a:ea typeface="Arial" pitchFamily="34" charset="-122"/>
                <a:cs typeface="Arial" pitchFamily="34" charset="-120"/>
              </a:rPr>
              <a:t>1.18 V</a:t>
            </a:r>
            <a:endParaRPr lang="en-US" sz="700" dirty="0"/>
          </a:p>
        </p:txBody>
      </p:sp>
      <p:sp>
        <p:nvSpPr>
          <p:cNvPr id="23" name="Shape 20"/>
          <p:cNvSpPr/>
          <p:nvPr/>
        </p:nvSpPr>
        <p:spPr>
          <a:xfrm>
            <a:off x="4882896" y="1591056"/>
            <a:ext cx="896112" cy="329184"/>
          </a:xfrm>
          <a:prstGeom prst="roundRect">
            <a:avLst>
              <a:gd name="adj" fmla="val 11111"/>
            </a:avLst>
          </a:prstGeom>
          <a:solidFill>
            <a:srgbClr val="F8FAFC"/>
          </a:solidFill>
          <a:ln w="12700">
            <a:solidFill>
              <a:srgbClr val="CBD5E1"/>
            </a:solidFill>
            <a:prstDash val="solid"/>
          </a:ln>
        </p:spPr>
      </p:sp>
      <p:sp>
        <p:nvSpPr>
          <p:cNvPr id="24" name="Text 21"/>
          <p:cNvSpPr/>
          <p:nvPr/>
        </p:nvSpPr>
        <p:spPr>
          <a:xfrm>
            <a:off x="4946904" y="1641348"/>
            <a:ext cx="301752" cy="100584"/>
          </a:xfrm>
          <a:prstGeom prst="rect">
            <a:avLst/>
          </a:prstGeom>
          <a:noFill/>
          <a:ln/>
        </p:spPr>
        <p:txBody>
          <a:bodyPr wrap="square" lIns="0" tIns="0" rIns="0" bIns="0" rtlCol="0" anchor="t">
            <a:normAutofit/>
          </a:bodyPr>
          <a:lstStyle/>
          <a:p>
            <a:pPr algn="l" indent="0" marL="0">
              <a:buNone/>
            </a:pPr>
            <a:r>
              <a:rPr lang="en-US" sz="600" i="1" dirty="0">
                <a:solidFill>
                  <a:srgbClr val="64748B"/>
                </a:solidFill>
                <a:latin typeface="Arial" pitchFamily="34" charset="0"/>
                <a:ea typeface="Arial" pitchFamily="34" charset="-122"/>
                <a:cs typeface="Arial" pitchFamily="34" charset="-120"/>
              </a:rPr>
              <a:t>J</a:t>
            </a:r>
            <a:pPr algn="l" indent="0" marL="0">
              <a:buNone/>
            </a:pPr>
            <a:r>
              <a:rPr lang="en-US" sz="600" baseline="-40000" dirty="0">
                <a:solidFill>
                  <a:srgbClr val="64748B"/>
                </a:solidFill>
                <a:latin typeface="Arial" pitchFamily="34" charset="0"/>
                <a:ea typeface="Arial" pitchFamily="34" charset="-122"/>
                <a:cs typeface="Arial" pitchFamily="34" charset="-120"/>
              </a:rPr>
              <a:t>sc</a:t>
            </a:r>
            <a:endParaRPr lang="en-US" sz="600" dirty="0"/>
          </a:p>
        </p:txBody>
      </p:sp>
      <p:sp>
        <p:nvSpPr>
          <p:cNvPr id="25" name="Text 22"/>
          <p:cNvSpPr/>
          <p:nvPr/>
        </p:nvSpPr>
        <p:spPr>
          <a:xfrm>
            <a:off x="5257800" y="1636776"/>
            <a:ext cx="457200" cy="118872"/>
          </a:xfrm>
          <a:prstGeom prst="rect">
            <a:avLst/>
          </a:prstGeom>
          <a:noFill/>
          <a:ln/>
        </p:spPr>
        <p:txBody>
          <a:bodyPr wrap="square" lIns="0" tIns="0" rIns="0" bIns="0" rtlCol="0" anchor="t">
            <a:normAutofit/>
          </a:bodyPr>
          <a:lstStyle/>
          <a:p>
            <a:pPr algn="r" indent="0" marL="0">
              <a:buNone/>
            </a:pPr>
            <a:r>
              <a:rPr lang="en-US" sz="700" b="1" dirty="0">
                <a:solidFill>
                  <a:srgbClr val="B42318"/>
                </a:solidFill>
                <a:latin typeface="Arial" pitchFamily="34" charset="0"/>
                <a:ea typeface="Arial" pitchFamily="34" charset="-122"/>
                <a:cs typeface="Arial" pitchFamily="34" charset="-120"/>
              </a:rPr>
              <a:t>24.1</a:t>
            </a:r>
            <a:endParaRPr lang="en-US" sz="700" dirty="0"/>
          </a:p>
        </p:txBody>
      </p:sp>
      <p:sp>
        <p:nvSpPr>
          <p:cNvPr id="26" name="Shape 23"/>
          <p:cNvSpPr/>
          <p:nvPr/>
        </p:nvSpPr>
        <p:spPr>
          <a:xfrm>
            <a:off x="3858768" y="2011680"/>
            <a:ext cx="896112" cy="329184"/>
          </a:xfrm>
          <a:prstGeom prst="roundRect">
            <a:avLst>
              <a:gd name="adj" fmla="val 11111"/>
            </a:avLst>
          </a:prstGeom>
          <a:solidFill>
            <a:srgbClr val="F8FAFC"/>
          </a:solidFill>
          <a:ln w="12700">
            <a:solidFill>
              <a:srgbClr val="CBD5E1"/>
            </a:solidFill>
            <a:prstDash val="solid"/>
          </a:ln>
        </p:spPr>
      </p:sp>
      <p:sp>
        <p:nvSpPr>
          <p:cNvPr id="27" name="Text 24"/>
          <p:cNvSpPr/>
          <p:nvPr/>
        </p:nvSpPr>
        <p:spPr>
          <a:xfrm>
            <a:off x="3922776" y="2061972"/>
            <a:ext cx="301752" cy="100584"/>
          </a:xfrm>
          <a:prstGeom prst="rect">
            <a:avLst/>
          </a:prstGeom>
          <a:noFill/>
          <a:ln/>
        </p:spPr>
        <p:txBody>
          <a:bodyPr wrap="square" lIns="0" tIns="0" rIns="0" bIns="0" rtlCol="0" anchor="t">
            <a:normAutofit/>
          </a:bodyPr>
          <a:lstStyle/>
          <a:p>
            <a:pPr algn="l" indent="0" marL="0">
              <a:buNone/>
            </a:pPr>
            <a:r>
              <a:rPr lang="en-US" sz="600" dirty="0">
                <a:solidFill>
                  <a:srgbClr val="64748B"/>
                </a:solidFill>
                <a:latin typeface="Arial" pitchFamily="34" charset="0"/>
                <a:ea typeface="Arial" pitchFamily="34" charset="-122"/>
                <a:cs typeface="Arial" pitchFamily="34" charset="-120"/>
              </a:rPr>
              <a:t>FF</a:t>
            </a:r>
            <a:endParaRPr lang="en-US" sz="600" dirty="0"/>
          </a:p>
        </p:txBody>
      </p:sp>
      <p:sp>
        <p:nvSpPr>
          <p:cNvPr id="28" name="Text 25"/>
          <p:cNvSpPr/>
          <p:nvPr/>
        </p:nvSpPr>
        <p:spPr>
          <a:xfrm>
            <a:off x="4233672" y="2057400"/>
            <a:ext cx="457200" cy="118872"/>
          </a:xfrm>
          <a:prstGeom prst="rect">
            <a:avLst/>
          </a:prstGeom>
          <a:noFill/>
          <a:ln/>
        </p:spPr>
        <p:txBody>
          <a:bodyPr wrap="square" lIns="0" tIns="0" rIns="0" bIns="0" rtlCol="0" anchor="t">
            <a:normAutofit/>
          </a:bodyPr>
          <a:lstStyle/>
          <a:p>
            <a:pPr algn="r" indent="0" marL="0">
              <a:buNone/>
            </a:pPr>
            <a:r>
              <a:rPr lang="en-US" sz="700" b="1" dirty="0">
                <a:solidFill>
                  <a:srgbClr val="B42318"/>
                </a:solidFill>
                <a:latin typeface="Arial" pitchFamily="34" charset="0"/>
                <a:ea typeface="Arial" pitchFamily="34" charset="-122"/>
                <a:cs typeface="Arial" pitchFamily="34" charset="-120"/>
              </a:rPr>
              <a:t>78.6%</a:t>
            </a:r>
            <a:endParaRPr lang="en-US" sz="700" dirty="0"/>
          </a:p>
        </p:txBody>
      </p:sp>
      <p:sp>
        <p:nvSpPr>
          <p:cNvPr id="29" name="Shape 26"/>
          <p:cNvSpPr/>
          <p:nvPr/>
        </p:nvSpPr>
        <p:spPr>
          <a:xfrm>
            <a:off x="4882896" y="2011680"/>
            <a:ext cx="896112" cy="329184"/>
          </a:xfrm>
          <a:prstGeom prst="roundRect">
            <a:avLst>
              <a:gd name="adj" fmla="val 11111"/>
            </a:avLst>
          </a:prstGeom>
          <a:solidFill>
            <a:srgbClr val="F8FAFC"/>
          </a:solidFill>
          <a:ln w="12700">
            <a:solidFill>
              <a:srgbClr val="CBD5E1"/>
            </a:solidFill>
            <a:prstDash val="solid"/>
          </a:ln>
        </p:spPr>
      </p:sp>
      <p:sp>
        <p:nvSpPr>
          <p:cNvPr id="30" name="Text 27"/>
          <p:cNvSpPr/>
          <p:nvPr/>
        </p:nvSpPr>
        <p:spPr>
          <a:xfrm>
            <a:off x="4946904" y="2061972"/>
            <a:ext cx="301752" cy="100584"/>
          </a:xfrm>
          <a:prstGeom prst="rect">
            <a:avLst/>
          </a:prstGeom>
          <a:noFill/>
          <a:ln/>
        </p:spPr>
        <p:txBody>
          <a:bodyPr wrap="square" lIns="0" tIns="0" rIns="0" bIns="0" rtlCol="0" anchor="t">
            <a:normAutofit/>
          </a:bodyPr>
          <a:lstStyle/>
          <a:p>
            <a:pPr algn="l" indent="0" marL="0">
              <a:buNone/>
            </a:pPr>
            <a:r>
              <a:rPr lang="en-US" sz="600" dirty="0">
                <a:solidFill>
                  <a:srgbClr val="64748B"/>
                </a:solidFill>
                <a:latin typeface="Arial" pitchFamily="34" charset="0"/>
                <a:ea typeface="Arial" pitchFamily="34" charset="-122"/>
                <a:cs typeface="Arial" pitchFamily="34" charset="-120"/>
              </a:rPr>
              <a:t>η</a:t>
            </a:r>
            <a:endParaRPr lang="en-US" sz="600" dirty="0"/>
          </a:p>
        </p:txBody>
      </p:sp>
      <p:sp>
        <p:nvSpPr>
          <p:cNvPr id="31" name="Text 28"/>
          <p:cNvSpPr/>
          <p:nvPr/>
        </p:nvSpPr>
        <p:spPr>
          <a:xfrm>
            <a:off x="5257800" y="2057400"/>
            <a:ext cx="457200" cy="118872"/>
          </a:xfrm>
          <a:prstGeom prst="rect">
            <a:avLst/>
          </a:prstGeom>
          <a:noFill/>
          <a:ln/>
        </p:spPr>
        <p:txBody>
          <a:bodyPr wrap="square" lIns="0" tIns="0" rIns="0" bIns="0" rtlCol="0" anchor="t">
            <a:normAutofit/>
          </a:bodyPr>
          <a:lstStyle/>
          <a:p>
            <a:pPr algn="r" indent="0" marL="0">
              <a:buNone/>
            </a:pPr>
            <a:r>
              <a:rPr lang="en-US" sz="700" b="1" dirty="0">
                <a:solidFill>
                  <a:srgbClr val="B42318"/>
                </a:solidFill>
                <a:latin typeface="Arial" pitchFamily="34" charset="0"/>
                <a:ea typeface="Arial" pitchFamily="34" charset="-122"/>
                <a:cs typeface="Arial" pitchFamily="34" charset="-120"/>
              </a:rPr>
              <a:t>22.3%</a:t>
            </a:r>
            <a:endParaRPr lang="en-US" sz="700" dirty="0"/>
          </a:p>
        </p:txBody>
      </p:sp>
      <p:sp>
        <p:nvSpPr>
          <p:cNvPr id="32" name="Shape 29"/>
          <p:cNvSpPr/>
          <p:nvPr/>
        </p:nvSpPr>
        <p:spPr>
          <a:xfrm>
            <a:off x="3858768" y="2564892"/>
            <a:ext cx="32004" cy="32004"/>
          </a:xfrm>
          <a:prstGeom prst="rect">
            <a:avLst/>
          </a:prstGeom>
          <a:solidFill>
            <a:srgbClr val="B42318"/>
          </a:solidFill>
          <a:ln w="12700">
            <a:solidFill>
              <a:srgbClr val="B42318">
                <a:alpha val="0"/>
              </a:srgbClr>
            </a:solidFill>
            <a:prstDash val="solid"/>
          </a:ln>
        </p:spPr>
      </p:sp>
      <p:sp>
        <p:nvSpPr>
          <p:cNvPr id="33" name="Text 30"/>
          <p:cNvSpPr/>
          <p:nvPr/>
        </p:nvSpPr>
        <p:spPr>
          <a:xfrm>
            <a:off x="3950208" y="2523744"/>
            <a:ext cx="1755648" cy="228600"/>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Primary performance figure; report scan direction and illumination.</a:t>
            </a:r>
            <a:endParaRPr lang="en-US" sz="670" dirty="0"/>
          </a:p>
        </p:txBody>
      </p:sp>
      <p:sp>
        <p:nvSpPr>
          <p:cNvPr id="34" name="Shape 31"/>
          <p:cNvSpPr/>
          <p:nvPr/>
        </p:nvSpPr>
        <p:spPr>
          <a:xfrm>
            <a:off x="3858768" y="2857500"/>
            <a:ext cx="32004" cy="32004"/>
          </a:xfrm>
          <a:prstGeom prst="rect">
            <a:avLst/>
          </a:prstGeom>
          <a:solidFill>
            <a:srgbClr val="334155"/>
          </a:solidFill>
          <a:ln w="12700">
            <a:solidFill>
              <a:srgbClr val="334155">
                <a:alpha val="0"/>
              </a:srgbClr>
            </a:solidFill>
            <a:prstDash val="solid"/>
          </a:ln>
        </p:spPr>
      </p:sp>
      <p:sp>
        <p:nvSpPr>
          <p:cNvPr id="35" name="Text 32"/>
          <p:cNvSpPr/>
          <p:nvPr/>
        </p:nvSpPr>
        <p:spPr>
          <a:xfrm>
            <a:off x="3950208" y="2816352"/>
            <a:ext cx="1755648" cy="292608"/>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Dark curve diagnoses diode quality, shunt leakage, and series resistance.</a:t>
            </a:r>
            <a:endParaRPr lang="en-US" sz="670" dirty="0"/>
          </a:p>
        </p:txBody>
      </p:sp>
      <p:sp>
        <p:nvSpPr>
          <p:cNvPr id="36" name="Shape 33"/>
          <p:cNvSpPr/>
          <p:nvPr/>
        </p:nvSpPr>
        <p:spPr>
          <a:xfrm>
            <a:off x="6254496" y="1024128"/>
            <a:ext cx="5486400" cy="2359152"/>
          </a:xfrm>
          <a:prstGeom prst="roundRect">
            <a:avLst>
              <a:gd name="adj" fmla="val 3101"/>
            </a:avLst>
          </a:prstGeom>
          <a:solidFill>
            <a:srgbClr val="FFFFFF"/>
          </a:solidFill>
          <a:ln w="12700">
            <a:solidFill>
              <a:srgbClr val="CBD5E1"/>
            </a:solidFill>
            <a:prstDash val="solid"/>
          </a:ln>
        </p:spPr>
      </p:sp>
      <p:sp>
        <p:nvSpPr>
          <p:cNvPr id="37" name="Shape 34"/>
          <p:cNvSpPr/>
          <p:nvPr/>
        </p:nvSpPr>
        <p:spPr>
          <a:xfrm>
            <a:off x="6254496" y="1024128"/>
            <a:ext cx="73152" cy="2359152"/>
          </a:xfrm>
          <a:prstGeom prst="rect">
            <a:avLst/>
          </a:prstGeom>
          <a:solidFill>
            <a:srgbClr val="6D28D9"/>
          </a:solidFill>
          <a:ln w="12700">
            <a:solidFill>
              <a:srgbClr val="6D28D9">
                <a:alpha val="0"/>
              </a:srgbClr>
            </a:solidFill>
            <a:prstDash val="solid"/>
          </a:ln>
        </p:spPr>
      </p:sp>
      <p:sp>
        <p:nvSpPr>
          <p:cNvPr id="38" name="Shape 35"/>
          <p:cNvSpPr/>
          <p:nvPr/>
        </p:nvSpPr>
        <p:spPr>
          <a:xfrm>
            <a:off x="6437376" y="1170432"/>
            <a:ext cx="347472" cy="219456"/>
          </a:xfrm>
          <a:prstGeom prst="roundRect">
            <a:avLst>
              <a:gd name="adj" fmla="val 25000"/>
            </a:avLst>
          </a:prstGeom>
          <a:solidFill>
            <a:srgbClr val="EDE9FE"/>
          </a:solidFill>
          <a:ln w="12700">
            <a:solidFill>
              <a:srgbClr val="6D28D9"/>
            </a:solidFill>
            <a:prstDash val="solid"/>
          </a:ln>
        </p:spPr>
      </p:sp>
      <p:sp>
        <p:nvSpPr>
          <p:cNvPr id="39" name="Text 36"/>
          <p:cNvSpPr/>
          <p:nvPr/>
        </p:nvSpPr>
        <p:spPr>
          <a:xfrm>
            <a:off x="6483096" y="1220724"/>
            <a:ext cx="256032" cy="91440"/>
          </a:xfrm>
          <a:prstGeom prst="rect">
            <a:avLst/>
          </a:prstGeom>
          <a:noFill/>
          <a:ln/>
        </p:spPr>
        <p:txBody>
          <a:bodyPr wrap="square" lIns="0" tIns="0" rIns="0" bIns="0" rtlCol="0" anchor="t">
            <a:normAutofit/>
          </a:bodyPr>
          <a:lstStyle/>
          <a:p>
            <a:pPr algn="ctr" indent="0" marL="0">
              <a:buNone/>
            </a:pPr>
            <a:r>
              <a:rPr lang="en-US" sz="660" b="1" dirty="0">
                <a:solidFill>
                  <a:srgbClr val="6D28D9"/>
                </a:solidFill>
                <a:latin typeface="Arial" pitchFamily="34" charset="0"/>
                <a:ea typeface="Arial" pitchFamily="34" charset="-122"/>
                <a:cs typeface="Arial" pitchFamily="34" charset="-120"/>
              </a:rPr>
              <a:t>B</a:t>
            </a:r>
            <a:endParaRPr lang="en-US" sz="660" dirty="0"/>
          </a:p>
        </p:txBody>
      </p:sp>
      <p:sp>
        <p:nvSpPr>
          <p:cNvPr id="40" name="Text 37"/>
          <p:cNvSpPr/>
          <p:nvPr/>
        </p:nvSpPr>
        <p:spPr>
          <a:xfrm>
            <a:off x="6867144" y="1179576"/>
            <a:ext cx="4663440" cy="182880"/>
          </a:xfrm>
          <a:prstGeom prst="rect">
            <a:avLst/>
          </a:prstGeom>
          <a:noFill/>
          <a:ln/>
        </p:spPr>
        <p:txBody>
          <a:bodyPr wrap="square" lIns="0" tIns="0" rIns="0" bIns="0" rtlCol="0" anchor="t">
            <a:normAutofit/>
          </a:bodyPr>
          <a:lstStyle/>
          <a:p>
            <a:pPr algn="l" indent="0" marL="0">
              <a:buNone/>
            </a:pPr>
            <a:r>
              <a:rPr lang="en-US" sz="1000" b="1" dirty="0">
                <a:solidFill>
                  <a:srgbClr val="334155"/>
                </a:solidFill>
                <a:latin typeface="Arial" pitchFamily="34" charset="0"/>
                <a:ea typeface="Arial" pitchFamily="34" charset="-122"/>
                <a:cs typeface="Arial" pitchFamily="34" charset="-120"/>
              </a:rPr>
              <a:t>Spectral response: EQE / QE</a:t>
            </a:r>
            <a:endParaRPr lang="en-US" sz="1000" dirty="0"/>
          </a:p>
        </p:txBody>
      </p:sp>
      <p:graphicFrame>
        <p:nvGraphicFramePr>
          <p:cNvPr id="41" name="Chart 1" descr=""/>
          <p:cNvGraphicFramePr/>
          <p:nvPr/>
        </p:nvGraphicFramePr>
        <p:xfrm>
          <a:off x="6483096" y="1591056"/>
          <a:ext cx="2971800" cy="1563624"/>
        </p:xfrm>
        <a:graphic xmlns:a="http://schemas.openxmlformats.org/drawingml/2006/main">
          <a:graphicData uri="http://schemas.openxmlformats.org/drawingml/2006/chart">
            <c:chart xmlns:c="http://schemas.openxmlformats.org/drawingml/2006/chart" r:id="rId2"/>
          </a:graphicData>
        </a:graphic>
      </p:graphicFrame>
      <p:sp>
        <p:nvSpPr>
          <p:cNvPr id="42" name="Text 38"/>
          <p:cNvSpPr/>
          <p:nvPr/>
        </p:nvSpPr>
        <p:spPr>
          <a:xfrm>
            <a:off x="7443216" y="3081528"/>
            <a:ext cx="987552" cy="109728"/>
          </a:xfrm>
          <a:prstGeom prst="rect">
            <a:avLst/>
          </a:prstGeom>
          <a:noFill/>
          <a:ln/>
        </p:spPr>
        <p:txBody>
          <a:bodyPr wrap="square" lIns="0" tIns="0" rIns="0" bIns="0" rtlCol="0" anchor="t">
            <a:normAutofit/>
          </a:bodyPr>
          <a:lstStyle/>
          <a:p>
            <a:pPr algn="ctr" indent="0" marL="0">
              <a:buNone/>
            </a:pPr>
            <a:r>
              <a:rPr lang="en-US" sz="620" dirty="0">
                <a:solidFill>
                  <a:srgbClr val="64748B"/>
                </a:solidFill>
                <a:latin typeface="Arial" pitchFamily="34" charset="0"/>
                <a:ea typeface="Arial" pitchFamily="34" charset="-122"/>
                <a:cs typeface="Arial" pitchFamily="34" charset="-120"/>
              </a:rPr>
              <a:t>Wavelength λ (nm)</a:t>
            </a:r>
            <a:endParaRPr lang="en-US" sz="620" dirty="0"/>
          </a:p>
        </p:txBody>
      </p:sp>
      <p:sp>
        <p:nvSpPr>
          <p:cNvPr id="43" name="Text 39"/>
          <p:cNvSpPr/>
          <p:nvPr/>
        </p:nvSpPr>
        <p:spPr>
          <a:xfrm>
            <a:off x="6464808" y="1572768"/>
            <a:ext cx="502920" cy="109728"/>
          </a:xfrm>
          <a:prstGeom prst="rect">
            <a:avLst/>
          </a:prstGeom>
          <a:noFill/>
          <a:ln/>
        </p:spPr>
        <p:txBody>
          <a:bodyPr wrap="square" lIns="0" tIns="0" rIns="0" bIns="0" rtlCol="0" anchor="t">
            <a:normAutofit/>
          </a:bodyPr>
          <a:lstStyle/>
          <a:p>
            <a:pPr algn="l" indent="0" marL="0">
              <a:buNone/>
            </a:pPr>
            <a:r>
              <a:rPr lang="en-US" sz="620" dirty="0">
                <a:solidFill>
                  <a:srgbClr val="64748B"/>
                </a:solidFill>
                <a:latin typeface="Arial" pitchFamily="34" charset="0"/>
                <a:ea typeface="Arial" pitchFamily="34" charset="-122"/>
                <a:cs typeface="Arial" pitchFamily="34" charset="-120"/>
              </a:rPr>
              <a:t>EQE (%)</a:t>
            </a:r>
            <a:endParaRPr lang="en-US" sz="620" dirty="0"/>
          </a:p>
        </p:txBody>
      </p:sp>
      <p:sp>
        <p:nvSpPr>
          <p:cNvPr id="44" name="Shape 40"/>
          <p:cNvSpPr/>
          <p:nvPr/>
        </p:nvSpPr>
        <p:spPr>
          <a:xfrm>
            <a:off x="6556248" y="3003804"/>
            <a:ext cx="146304" cy="0"/>
          </a:xfrm>
          <a:prstGeom prst="line">
            <a:avLst/>
          </a:prstGeom>
          <a:noFill/>
          <a:ln w="12700">
            <a:solidFill>
              <a:srgbClr val="6D28D9"/>
            </a:solidFill>
            <a:prstDash val="solid"/>
            <a:headEnd type="none"/>
            <a:tailEnd type="none"/>
          </a:ln>
        </p:spPr>
      </p:sp>
      <p:sp>
        <p:nvSpPr>
          <p:cNvPr id="45" name="Text 41"/>
          <p:cNvSpPr/>
          <p:nvPr/>
        </p:nvSpPr>
        <p:spPr>
          <a:xfrm>
            <a:off x="6729984" y="2953512"/>
            <a:ext cx="1901952" cy="118872"/>
          </a:xfrm>
          <a:prstGeom prst="rect">
            <a:avLst/>
          </a:prstGeom>
          <a:noFill/>
          <a:ln/>
        </p:spPr>
        <p:txBody>
          <a:bodyPr wrap="square" lIns="0" tIns="0" rIns="0" bIns="0" rtlCol="0" anchor="t">
            <a:normAutofit/>
          </a:bodyPr>
          <a:lstStyle/>
          <a:p>
            <a:pPr algn="l" indent="0" marL="0">
              <a:buNone/>
            </a:pPr>
            <a:r>
              <a:rPr lang="en-US" sz="590" dirty="0">
                <a:solidFill>
                  <a:srgbClr val="334155"/>
                </a:solidFill>
                <a:latin typeface="Arial" pitchFamily="34" charset="0"/>
                <a:ea typeface="Arial" pitchFamily="34" charset="-122"/>
                <a:cs typeface="Arial" pitchFamily="34" charset="-120"/>
              </a:rPr>
              <a:t>external quantum efficiency</a:t>
            </a:r>
            <a:endParaRPr lang="en-US" sz="590" dirty="0"/>
          </a:p>
        </p:txBody>
      </p:sp>
      <p:sp>
        <p:nvSpPr>
          <p:cNvPr id="46" name="Shape 42"/>
          <p:cNvSpPr/>
          <p:nvPr/>
        </p:nvSpPr>
        <p:spPr>
          <a:xfrm>
            <a:off x="9656064" y="1591056"/>
            <a:ext cx="1828800" cy="475488"/>
          </a:xfrm>
          <a:prstGeom prst="roundRect">
            <a:avLst>
              <a:gd name="adj" fmla="val 7692"/>
            </a:avLst>
          </a:prstGeom>
          <a:solidFill>
            <a:srgbClr val="F8FAFC"/>
          </a:solidFill>
          <a:ln w="12700">
            <a:solidFill>
              <a:srgbClr val="CBD5E1"/>
            </a:solidFill>
            <a:prstDash val="solid"/>
          </a:ln>
        </p:spPr>
      </p:sp>
      <p:sp>
        <p:nvSpPr>
          <p:cNvPr id="47" name="Text 43"/>
          <p:cNvSpPr/>
          <p:nvPr/>
        </p:nvSpPr>
        <p:spPr>
          <a:xfrm>
            <a:off x="9747504" y="1709928"/>
            <a:ext cx="1645920" cy="128016"/>
          </a:xfrm>
          <a:prstGeom prst="rect">
            <a:avLst/>
          </a:prstGeom>
          <a:noFill/>
          <a:ln/>
        </p:spPr>
        <p:txBody>
          <a:bodyPr wrap="square" lIns="0" tIns="0" rIns="0" bIns="0" rtlCol="0" anchor="t">
            <a:normAutofit/>
          </a:bodyPr>
          <a:lstStyle/>
          <a:p>
            <a:pPr algn="l" indent="0" marL="0">
              <a:buNone/>
            </a:pPr>
            <a:r>
              <a:rPr lang="en-US" sz="700" b="1" dirty="0">
                <a:solidFill>
                  <a:srgbClr val="6D28D9"/>
                </a:solidFill>
                <a:latin typeface="Arial" pitchFamily="34" charset="0"/>
                <a:ea typeface="Arial" pitchFamily="34" charset="-122"/>
                <a:cs typeface="Arial" pitchFamily="34" charset="-120"/>
              </a:rPr>
              <a:t>Integrated </a:t>
            </a:r>
            <a:pPr algn="l" indent="0" marL="0">
              <a:buNone/>
            </a:pPr>
            <a:r>
              <a:rPr lang="en-US" sz="700" b="1" i="1" dirty="0">
                <a:solidFill>
                  <a:srgbClr val="6D28D9"/>
                </a:solidFill>
                <a:latin typeface="Arial" pitchFamily="34" charset="0"/>
                <a:ea typeface="Arial" pitchFamily="34" charset="-122"/>
                <a:cs typeface="Arial" pitchFamily="34" charset="-120"/>
              </a:rPr>
              <a:t>J</a:t>
            </a:r>
            <a:pPr algn="l" indent="0" marL="0">
              <a:buNone/>
            </a:pPr>
            <a:r>
              <a:rPr lang="en-US" sz="700" b="1" baseline="-40000" dirty="0">
                <a:solidFill>
                  <a:srgbClr val="6D28D9"/>
                </a:solidFill>
                <a:latin typeface="Arial" pitchFamily="34" charset="0"/>
                <a:ea typeface="Arial" pitchFamily="34" charset="-122"/>
                <a:cs typeface="Arial" pitchFamily="34" charset="-120"/>
              </a:rPr>
              <a:t>sc,EQE</a:t>
            </a:r>
            <a:pPr algn="l" indent="0" marL="0">
              <a:buNone/>
            </a:pPr>
            <a:r>
              <a:rPr lang="en-US" sz="700" b="1" dirty="0">
                <a:solidFill>
                  <a:srgbClr val="6D28D9"/>
                </a:solidFill>
                <a:latin typeface="Arial" pitchFamily="34" charset="0"/>
                <a:ea typeface="Arial" pitchFamily="34" charset="-122"/>
                <a:cs typeface="Arial" pitchFamily="34" charset="-120"/>
              </a:rPr>
              <a:t> ≈ 23.8 mA cm</a:t>
            </a:r>
            <a:pPr algn="l" indent="0" marL="0">
              <a:buNone/>
            </a:pPr>
            <a:r>
              <a:rPr lang="en-US" sz="700" b="1" baseline="30000" dirty="0">
                <a:solidFill>
                  <a:srgbClr val="6D28D9"/>
                </a:solidFill>
                <a:latin typeface="Arial" pitchFamily="34" charset="0"/>
                <a:ea typeface="Arial" pitchFamily="34" charset="-122"/>
                <a:cs typeface="Arial" pitchFamily="34" charset="-120"/>
              </a:rPr>
              <a:t>−2</a:t>
            </a:r>
            <a:endParaRPr lang="en-US" sz="700" dirty="0"/>
          </a:p>
        </p:txBody>
      </p:sp>
      <p:sp>
        <p:nvSpPr>
          <p:cNvPr id="48" name="Shape 44"/>
          <p:cNvSpPr/>
          <p:nvPr/>
        </p:nvSpPr>
        <p:spPr>
          <a:xfrm>
            <a:off x="9656064" y="2290572"/>
            <a:ext cx="32004" cy="32004"/>
          </a:xfrm>
          <a:prstGeom prst="rect">
            <a:avLst/>
          </a:prstGeom>
          <a:solidFill>
            <a:srgbClr val="6D28D9"/>
          </a:solidFill>
          <a:ln w="12700">
            <a:solidFill>
              <a:srgbClr val="6D28D9">
                <a:alpha val="0"/>
              </a:srgbClr>
            </a:solidFill>
            <a:prstDash val="solid"/>
          </a:ln>
        </p:spPr>
      </p:sp>
      <p:sp>
        <p:nvSpPr>
          <p:cNvPr id="49" name="Text 45"/>
          <p:cNvSpPr/>
          <p:nvPr/>
        </p:nvSpPr>
        <p:spPr>
          <a:xfrm>
            <a:off x="9747504" y="2249424"/>
            <a:ext cx="1755648" cy="274320"/>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Short-wavelength drop: front-layer absorption or surface recombination.</a:t>
            </a:r>
            <a:endParaRPr lang="en-US" sz="670" dirty="0"/>
          </a:p>
        </p:txBody>
      </p:sp>
      <p:sp>
        <p:nvSpPr>
          <p:cNvPr id="50" name="Shape 46"/>
          <p:cNvSpPr/>
          <p:nvPr/>
        </p:nvSpPr>
        <p:spPr>
          <a:xfrm>
            <a:off x="9656064" y="2619756"/>
            <a:ext cx="32004" cy="32004"/>
          </a:xfrm>
          <a:prstGeom prst="rect">
            <a:avLst/>
          </a:prstGeom>
          <a:solidFill>
            <a:srgbClr val="6D28D9"/>
          </a:solidFill>
          <a:ln w="12700">
            <a:solidFill>
              <a:srgbClr val="6D28D9">
                <a:alpha val="0"/>
              </a:srgbClr>
            </a:solidFill>
            <a:prstDash val="solid"/>
          </a:ln>
        </p:spPr>
      </p:sp>
      <p:sp>
        <p:nvSpPr>
          <p:cNvPr id="51" name="Text 47"/>
          <p:cNvSpPr/>
          <p:nvPr/>
        </p:nvSpPr>
        <p:spPr>
          <a:xfrm>
            <a:off x="9747504" y="2578608"/>
            <a:ext cx="1755648" cy="274320"/>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Long-wavelength roll-off: absorber band gap and optical thickness.</a:t>
            </a:r>
            <a:endParaRPr lang="en-US" sz="670" dirty="0"/>
          </a:p>
        </p:txBody>
      </p:sp>
      <p:sp>
        <p:nvSpPr>
          <p:cNvPr id="52" name="Shape 48"/>
          <p:cNvSpPr/>
          <p:nvPr/>
        </p:nvSpPr>
        <p:spPr>
          <a:xfrm>
            <a:off x="9656064" y="2948940"/>
            <a:ext cx="32004" cy="32004"/>
          </a:xfrm>
          <a:prstGeom prst="rect">
            <a:avLst/>
          </a:prstGeom>
          <a:solidFill>
            <a:srgbClr val="334155"/>
          </a:solidFill>
          <a:ln w="12700">
            <a:solidFill>
              <a:srgbClr val="334155">
                <a:alpha val="0"/>
              </a:srgbClr>
            </a:solidFill>
            <a:prstDash val="solid"/>
          </a:ln>
        </p:spPr>
      </p:sp>
      <p:sp>
        <p:nvSpPr>
          <p:cNvPr id="53" name="Text 49"/>
          <p:cNvSpPr/>
          <p:nvPr/>
        </p:nvSpPr>
        <p:spPr>
          <a:xfrm>
            <a:off x="9747504" y="2907792"/>
            <a:ext cx="1755648" cy="274320"/>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Use with optical constants to separate reflection and collection losses.</a:t>
            </a:r>
            <a:endParaRPr lang="en-US" sz="670" dirty="0"/>
          </a:p>
        </p:txBody>
      </p:sp>
      <p:sp>
        <p:nvSpPr>
          <p:cNvPr id="54" name="Shape 50"/>
          <p:cNvSpPr/>
          <p:nvPr/>
        </p:nvSpPr>
        <p:spPr>
          <a:xfrm>
            <a:off x="457200" y="3675888"/>
            <a:ext cx="5486400" cy="2267712"/>
          </a:xfrm>
          <a:prstGeom prst="roundRect">
            <a:avLst>
              <a:gd name="adj" fmla="val 3226"/>
            </a:avLst>
          </a:prstGeom>
          <a:solidFill>
            <a:srgbClr val="FFFFFF"/>
          </a:solidFill>
          <a:ln w="12700">
            <a:solidFill>
              <a:srgbClr val="CBD5E1"/>
            </a:solidFill>
            <a:prstDash val="solid"/>
          </a:ln>
        </p:spPr>
      </p:sp>
      <p:sp>
        <p:nvSpPr>
          <p:cNvPr id="55" name="Shape 51"/>
          <p:cNvSpPr/>
          <p:nvPr/>
        </p:nvSpPr>
        <p:spPr>
          <a:xfrm>
            <a:off x="457200" y="3675888"/>
            <a:ext cx="73152" cy="2267712"/>
          </a:xfrm>
          <a:prstGeom prst="rect">
            <a:avLst/>
          </a:prstGeom>
          <a:solidFill>
            <a:srgbClr val="2563EB"/>
          </a:solidFill>
          <a:ln w="12700">
            <a:solidFill>
              <a:srgbClr val="2563EB">
                <a:alpha val="0"/>
              </a:srgbClr>
            </a:solidFill>
            <a:prstDash val="solid"/>
          </a:ln>
        </p:spPr>
      </p:sp>
      <p:sp>
        <p:nvSpPr>
          <p:cNvPr id="56" name="Shape 52"/>
          <p:cNvSpPr/>
          <p:nvPr/>
        </p:nvSpPr>
        <p:spPr>
          <a:xfrm>
            <a:off x="640080" y="3822192"/>
            <a:ext cx="347472" cy="219456"/>
          </a:xfrm>
          <a:prstGeom prst="roundRect">
            <a:avLst>
              <a:gd name="adj" fmla="val 25000"/>
            </a:avLst>
          </a:prstGeom>
          <a:solidFill>
            <a:srgbClr val="DBEAFE"/>
          </a:solidFill>
          <a:ln w="12700">
            <a:solidFill>
              <a:srgbClr val="2563EB"/>
            </a:solidFill>
            <a:prstDash val="solid"/>
          </a:ln>
        </p:spPr>
      </p:sp>
      <p:sp>
        <p:nvSpPr>
          <p:cNvPr id="57" name="Text 53"/>
          <p:cNvSpPr/>
          <p:nvPr/>
        </p:nvSpPr>
        <p:spPr>
          <a:xfrm>
            <a:off x="685800" y="3872484"/>
            <a:ext cx="256032" cy="91440"/>
          </a:xfrm>
          <a:prstGeom prst="rect">
            <a:avLst/>
          </a:prstGeom>
          <a:noFill/>
          <a:ln/>
        </p:spPr>
        <p:txBody>
          <a:bodyPr wrap="square" lIns="0" tIns="0" rIns="0" bIns="0" rtlCol="0" anchor="t">
            <a:normAutofit/>
          </a:bodyPr>
          <a:lstStyle/>
          <a:p>
            <a:pPr algn="ctr" indent="0" marL="0">
              <a:buNone/>
            </a:pPr>
            <a:r>
              <a:rPr lang="en-US" sz="660" b="1" dirty="0">
                <a:solidFill>
                  <a:srgbClr val="2563EB"/>
                </a:solidFill>
                <a:latin typeface="Arial" pitchFamily="34" charset="0"/>
                <a:ea typeface="Arial" pitchFamily="34" charset="-122"/>
                <a:cs typeface="Arial" pitchFamily="34" charset="-120"/>
              </a:rPr>
              <a:t>C</a:t>
            </a:r>
            <a:endParaRPr lang="en-US" sz="660" dirty="0"/>
          </a:p>
        </p:txBody>
      </p:sp>
      <p:sp>
        <p:nvSpPr>
          <p:cNvPr id="58" name="Text 54"/>
          <p:cNvSpPr/>
          <p:nvPr/>
        </p:nvSpPr>
        <p:spPr>
          <a:xfrm>
            <a:off x="1069848" y="3831336"/>
            <a:ext cx="4663440" cy="182880"/>
          </a:xfrm>
          <a:prstGeom prst="rect">
            <a:avLst/>
          </a:prstGeom>
          <a:noFill/>
          <a:ln/>
        </p:spPr>
        <p:txBody>
          <a:bodyPr wrap="square" lIns="0" tIns="0" rIns="0" bIns="0" rtlCol="0" anchor="t">
            <a:normAutofit/>
          </a:bodyPr>
          <a:lstStyle/>
          <a:p>
            <a:pPr algn="l" indent="0" marL="0">
              <a:buNone/>
            </a:pPr>
            <a:r>
              <a:rPr lang="en-US" sz="1000" b="1" dirty="0">
                <a:solidFill>
                  <a:srgbClr val="334155"/>
                </a:solidFill>
                <a:latin typeface="Arial" pitchFamily="34" charset="0"/>
                <a:ea typeface="Arial" pitchFamily="34" charset="-122"/>
                <a:cs typeface="Arial" pitchFamily="34" charset="-120"/>
              </a:rPr>
              <a:t>Band diagram and quasi-Fermi levels</a:t>
            </a:r>
            <a:endParaRPr lang="en-US" sz="1000" dirty="0"/>
          </a:p>
        </p:txBody>
      </p:sp>
      <p:graphicFrame>
        <p:nvGraphicFramePr>
          <p:cNvPr id="59" name="Chart 2" descr=""/>
          <p:cNvGraphicFramePr/>
          <p:nvPr/>
        </p:nvGraphicFramePr>
        <p:xfrm>
          <a:off x="685800" y="4242816"/>
          <a:ext cx="2971800" cy="1472184"/>
        </p:xfrm>
        <a:graphic xmlns:a="http://schemas.openxmlformats.org/drawingml/2006/main">
          <a:graphicData uri="http://schemas.openxmlformats.org/drawingml/2006/chart">
            <c:chart xmlns:c="http://schemas.openxmlformats.org/drawingml/2006/chart" r:id="rId3"/>
          </a:graphicData>
        </a:graphic>
      </p:graphicFrame>
      <p:sp>
        <p:nvSpPr>
          <p:cNvPr id="60" name="Text 55"/>
          <p:cNvSpPr/>
          <p:nvPr/>
        </p:nvSpPr>
        <p:spPr>
          <a:xfrm>
            <a:off x="1673352" y="5641848"/>
            <a:ext cx="868680" cy="109728"/>
          </a:xfrm>
          <a:prstGeom prst="rect">
            <a:avLst/>
          </a:prstGeom>
          <a:noFill/>
          <a:ln/>
        </p:spPr>
        <p:txBody>
          <a:bodyPr wrap="square" lIns="0" tIns="0" rIns="0" bIns="0" rtlCol="0" anchor="t">
            <a:normAutofit/>
          </a:bodyPr>
          <a:lstStyle/>
          <a:p>
            <a:pPr algn="ctr" indent="0" marL="0">
              <a:buNone/>
            </a:pPr>
            <a:r>
              <a:rPr lang="en-US" sz="620" dirty="0">
                <a:solidFill>
                  <a:srgbClr val="64748B"/>
                </a:solidFill>
                <a:latin typeface="Arial" pitchFamily="34" charset="0"/>
                <a:ea typeface="Arial" pitchFamily="34" charset="-122"/>
                <a:cs typeface="Arial" pitchFamily="34" charset="-120"/>
              </a:rPr>
              <a:t>Position </a:t>
            </a:r>
            <a:pPr algn="ctr" indent="0" marL="0">
              <a:buNone/>
            </a:pPr>
            <a:r>
              <a:rPr lang="en-US" sz="620" i="1" dirty="0">
                <a:solidFill>
                  <a:srgbClr val="64748B"/>
                </a:solidFill>
                <a:latin typeface="Arial" pitchFamily="34" charset="0"/>
                <a:ea typeface="Arial" pitchFamily="34" charset="-122"/>
                <a:cs typeface="Arial" pitchFamily="34" charset="-120"/>
              </a:rPr>
              <a:t>x</a:t>
            </a:r>
            <a:pPr algn="ctr" indent="0" marL="0">
              <a:buNone/>
            </a:pPr>
            <a:r>
              <a:rPr lang="en-US" sz="620" dirty="0">
                <a:solidFill>
                  <a:srgbClr val="64748B"/>
                </a:solidFill>
                <a:latin typeface="Arial" pitchFamily="34" charset="0"/>
                <a:ea typeface="Arial" pitchFamily="34" charset="-122"/>
                <a:cs typeface="Arial" pitchFamily="34" charset="-120"/>
              </a:rPr>
              <a:t> (nm)</a:t>
            </a:r>
            <a:endParaRPr lang="en-US" sz="620" dirty="0"/>
          </a:p>
        </p:txBody>
      </p:sp>
      <p:sp>
        <p:nvSpPr>
          <p:cNvPr id="61" name="Text 56"/>
          <p:cNvSpPr/>
          <p:nvPr/>
        </p:nvSpPr>
        <p:spPr>
          <a:xfrm>
            <a:off x="649224" y="4224528"/>
            <a:ext cx="1143000" cy="109728"/>
          </a:xfrm>
          <a:prstGeom prst="rect">
            <a:avLst/>
          </a:prstGeom>
          <a:noFill/>
          <a:ln/>
        </p:spPr>
        <p:txBody>
          <a:bodyPr wrap="square" lIns="0" tIns="0" rIns="0" bIns="0" rtlCol="0" anchor="t">
            <a:normAutofit/>
          </a:bodyPr>
          <a:lstStyle/>
          <a:p>
            <a:pPr algn="l" indent="0" marL="0">
              <a:buNone/>
            </a:pPr>
            <a:r>
              <a:rPr lang="en-US" sz="620" dirty="0">
                <a:solidFill>
                  <a:srgbClr val="64748B"/>
                </a:solidFill>
                <a:latin typeface="Arial" pitchFamily="34" charset="0"/>
                <a:ea typeface="Arial" pitchFamily="34" charset="-122"/>
                <a:cs typeface="Arial" pitchFamily="34" charset="-120"/>
              </a:rPr>
              <a:t>Energy relative to </a:t>
            </a:r>
            <a:pPr algn="l" indent="0" marL="0">
              <a:buNone/>
            </a:pPr>
            <a:r>
              <a:rPr lang="en-US" sz="620" i="1" dirty="0">
                <a:solidFill>
                  <a:srgbClr val="64748B"/>
                </a:solidFill>
                <a:latin typeface="Arial" pitchFamily="34" charset="0"/>
                <a:ea typeface="Arial" pitchFamily="34" charset="-122"/>
                <a:cs typeface="Arial" pitchFamily="34" charset="-120"/>
              </a:rPr>
              <a:t>E</a:t>
            </a:r>
            <a:pPr algn="l" indent="0" marL="0">
              <a:buNone/>
            </a:pPr>
            <a:r>
              <a:rPr lang="en-US" sz="620" baseline="-40000" dirty="0">
                <a:solidFill>
                  <a:srgbClr val="64748B"/>
                </a:solidFill>
                <a:latin typeface="Arial" pitchFamily="34" charset="0"/>
                <a:ea typeface="Arial" pitchFamily="34" charset="-122"/>
                <a:cs typeface="Arial" pitchFamily="34" charset="-120"/>
              </a:rPr>
              <a:t>vac</a:t>
            </a:r>
            <a:pPr algn="l" indent="0" marL="0">
              <a:buNone/>
            </a:pPr>
            <a:r>
              <a:rPr lang="en-US" sz="620" dirty="0">
                <a:solidFill>
                  <a:srgbClr val="64748B"/>
                </a:solidFill>
                <a:latin typeface="Arial" pitchFamily="34" charset="0"/>
                <a:ea typeface="Arial" pitchFamily="34" charset="-122"/>
                <a:cs typeface="Arial" pitchFamily="34" charset="-120"/>
              </a:rPr>
              <a:t> (eV)</a:t>
            </a:r>
            <a:endParaRPr lang="en-US" sz="620" dirty="0"/>
          </a:p>
        </p:txBody>
      </p:sp>
      <p:sp>
        <p:nvSpPr>
          <p:cNvPr id="62" name="Shape 57"/>
          <p:cNvSpPr/>
          <p:nvPr/>
        </p:nvSpPr>
        <p:spPr>
          <a:xfrm>
            <a:off x="713232" y="5554980"/>
            <a:ext cx="146304" cy="0"/>
          </a:xfrm>
          <a:prstGeom prst="line">
            <a:avLst/>
          </a:prstGeom>
          <a:noFill/>
          <a:ln w="12700">
            <a:solidFill>
              <a:srgbClr val="A16207"/>
            </a:solidFill>
            <a:prstDash val="solid"/>
            <a:headEnd type="none"/>
            <a:tailEnd type="none"/>
          </a:ln>
        </p:spPr>
      </p:sp>
      <p:sp>
        <p:nvSpPr>
          <p:cNvPr id="63" name="Text 58"/>
          <p:cNvSpPr/>
          <p:nvPr/>
        </p:nvSpPr>
        <p:spPr>
          <a:xfrm>
            <a:off x="886968" y="5504688"/>
            <a:ext cx="576072" cy="118872"/>
          </a:xfrm>
          <a:prstGeom prst="rect">
            <a:avLst/>
          </a:prstGeom>
          <a:noFill/>
          <a:ln/>
        </p:spPr>
        <p:txBody>
          <a:bodyPr wrap="square" lIns="0" tIns="0" rIns="0" bIns="0" rtlCol="0" anchor="t">
            <a:normAutofit/>
          </a:bodyPr>
          <a:lstStyle/>
          <a:p>
            <a:pPr algn="l" indent="0" marL="0">
              <a:buNone/>
            </a:pPr>
            <a:r>
              <a:rPr lang="en-US" sz="590" i="1" dirty="0">
                <a:solidFill>
                  <a:srgbClr val="334155"/>
                </a:solidFill>
                <a:latin typeface="Arial" pitchFamily="34" charset="0"/>
                <a:ea typeface="Arial" pitchFamily="34" charset="-122"/>
                <a:cs typeface="Arial" pitchFamily="34" charset="-120"/>
              </a:rPr>
              <a:t>E</a:t>
            </a:r>
            <a:pPr algn="l" indent="0" marL="0">
              <a:buNone/>
            </a:pPr>
            <a:r>
              <a:rPr lang="en-US" sz="590" baseline="-40000" dirty="0">
                <a:solidFill>
                  <a:srgbClr val="334155"/>
                </a:solidFill>
                <a:latin typeface="Arial" pitchFamily="34" charset="0"/>
                <a:ea typeface="Arial" pitchFamily="34" charset="-122"/>
                <a:cs typeface="Arial" pitchFamily="34" charset="-120"/>
              </a:rPr>
              <a:t>C</a:t>
            </a:r>
            <a:endParaRPr lang="en-US" sz="590" dirty="0"/>
          </a:p>
        </p:txBody>
      </p:sp>
      <p:sp>
        <p:nvSpPr>
          <p:cNvPr id="64" name="Shape 59"/>
          <p:cNvSpPr/>
          <p:nvPr/>
        </p:nvSpPr>
        <p:spPr>
          <a:xfrm>
            <a:off x="1335024" y="5554980"/>
            <a:ext cx="146304" cy="0"/>
          </a:xfrm>
          <a:prstGeom prst="line">
            <a:avLst/>
          </a:prstGeom>
          <a:noFill/>
          <a:ln w="12700">
            <a:solidFill>
              <a:srgbClr val="6D28D9"/>
            </a:solidFill>
            <a:prstDash val="solid"/>
            <a:headEnd type="none"/>
            <a:tailEnd type="none"/>
          </a:ln>
        </p:spPr>
      </p:sp>
      <p:sp>
        <p:nvSpPr>
          <p:cNvPr id="65" name="Text 60"/>
          <p:cNvSpPr/>
          <p:nvPr/>
        </p:nvSpPr>
        <p:spPr>
          <a:xfrm>
            <a:off x="1508760" y="5504688"/>
            <a:ext cx="576072" cy="118872"/>
          </a:xfrm>
          <a:prstGeom prst="rect">
            <a:avLst/>
          </a:prstGeom>
          <a:noFill/>
          <a:ln/>
        </p:spPr>
        <p:txBody>
          <a:bodyPr wrap="square" lIns="0" tIns="0" rIns="0" bIns="0" rtlCol="0" anchor="t">
            <a:normAutofit/>
          </a:bodyPr>
          <a:lstStyle/>
          <a:p>
            <a:pPr algn="l" indent="0" marL="0">
              <a:buNone/>
            </a:pPr>
            <a:r>
              <a:rPr lang="en-US" sz="590" i="1" dirty="0">
                <a:solidFill>
                  <a:srgbClr val="334155"/>
                </a:solidFill>
                <a:latin typeface="Arial" pitchFamily="34" charset="0"/>
                <a:ea typeface="Arial" pitchFamily="34" charset="-122"/>
                <a:cs typeface="Arial" pitchFamily="34" charset="-120"/>
              </a:rPr>
              <a:t>E</a:t>
            </a:r>
            <a:pPr algn="l" indent="0" marL="0">
              <a:buNone/>
            </a:pPr>
            <a:r>
              <a:rPr lang="en-US" sz="590" baseline="-40000" dirty="0">
                <a:solidFill>
                  <a:srgbClr val="334155"/>
                </a:solidFill>
                <a:latin typeface="Arial" pitchFamily="34" charset="0"/>
                <a:ea typeface="Arial" pitchFamily="34" charset="-122"/>
                <a:cs typeface="Arial" pitchFamily="34" charset="-120"/>
              </a:rPr>
              <a:t>V</a:t>
            </a:r>
            <a:endParaRPr lang="en-US" sz="590" dirty="0"/>
          </a:p>
        </p:txBody>
      </p:sp>
      <p:sp>
        <p:nvSpPr>
          <p:cNvPr id="66" name="Shape 61"/>
          <p:cNvSpPr/>
          <p:nvPr/>
        </p:nvSpPr>
        <p:spPr>
          <a:xfrm>
            <a:off x="1956816" y="5554980"/>
            <a:ext cx="146304" cy="0"/>
          </a:xfrm>
          <a:prstGeom prst="line">
            <a:avLst/>
          </a:prstGeom>
          <a:noFill/>
          <a:ln w="12700">
            <a:solidFill>
              <a:srgbClr val="2563EB"/>
            </a:solidFill>
            <a:prstDash val="solid"/>
            <a:headEnd type="none"/>
            <a:tailEnd type="none"/>
          </a:ln>
        </p:spPr>
      </p:sp>
      <p:sp>
        <p:nvSpPr>
          <p:cNvPr id="67" name="Text 62"/>
          <p:cNvSpPr/>
          <p:nvPr/>
        </p:nvSpPr>
        <p:spPr>
          <a:xfrm>
            <a:off x="2130552" y="5504688"/>
            <a:ext cx="576072" cy="118872"/>
          </a:xfrm>
          <a:prstGeom prst="rect">
            <a:avLst/>
          </a:prstGeom>
          <a:noFill/>
          <a:ln/>
        </p:spPr>
        <p:txBody>
          <a:bodyPr wrap="square" lIns="0" tIns="0" rIns="0" bIns="0" rtlCol="0" anchor="t">
            <a:normAutofit/>
          </a:bodyPr>
          <a:lstStyle/>
          <a:p>
            <a:pPr algn="l" indent="0" marL="0">
              <a:buNone/>
            </a:pPr>
            <a:r>
              <a:rPr lang="en-US" sz="590" i="1" dirty="0">
                <a:solidFill>
                  <a:srgbClr val="334155"/>
                </a:solidFill>
                <a:latin typeface="Arial" pitchFamily="34" charset="0"/>
                <a:ea typeface="Arial" pitchFamily="34" charset="-122"/>
                <a:cs typeface="Arial" pitchFamily="34" charset="-120"/>
              </a:rPr>
              <a:t>E</a:t>
            </a:r>
            <a:pPr algn="l" indent="0" marL="0">
              <a:buNone/>
            </a:pPr>
            <a:r>
              <a:rPr lang="en-US" sz="590" baseline="-40000" dirty="0">
                <a:solidFill>
                  <a:srgbClr val="334155"/>
                </a:solidFill>
                <a:latin typeface="Arial" pitchFamily="34" charset="0"/>
                <a:ea typeface="Arial" pitchFamily="34" charset="-122"/>
                <a:cs typeface="Arial" pitchFamily="34" charset="-120"/>
              </a:rPr>
              <a:t>Fn</a:t>
            </a:r>
            <a:endParaRPr lang="en-US" sz="590" dirty="0"/>
          </a:p>
        </p:txBody>
      </p:sp>
      <p:sp>
        <p:nvSpPr>
          <p:cNvPr id="68" name="Shape 63"/>
          <p:cNvSpPr/>
          <p:nvPr/>
        </p:nvSpPr>
        <p:spPr>
          <a:xfrm>
            <a:off x="2578608" y="5554980"/>
            <a:ext cx="146304" cy="0"/>
          </a:xfrm>
          <a:prstGeom prst="line">
            <a:avLst/>
          </a:prstGeom>
          <a:noFill/>
          <a:ln w="12700">
            <a:solidFill>
              <a:srgbClr val="B42318"/>
            </a:solidFill>
            <a:prstDash val="solid"/>
            <a:headEnd type="none"/>
            <a:tailEnd type="none"/>
          </a:ln>
        </p:spPr>
      </p:sp>
      <p:sp>
        <p:nvSpPr>
          <p:cNvPr id="69" name="Text 64"/>
          <p:cNvSpPr/>
          <p:nvPr/>
        </p:nvSpPr>
        <p:spPr>
          <a:xfrm>
            <a:off x="2752344" y="5504688"/>
            <a:ext cx="576072" cy="118872"/>
          </a:xfrm>
          <a:prstGeom prst="rect">
            <a:avLst/>
          </a:prstGeom>
          <a:noFill/>
          <a:ln/>
        </p:spPr>
        <p:txBody>
          <a:bodyPr wrap="square" lIns="0" tIns="0" rIns="0" bIns="0" rtlCol="0" anchor="t">
            <a:normAutofit/>
          </a:bodyPr>
          <a:lstStyle/>
          <a:p>
            <a:pPr algn="l" indent="0" marL="0">
              <a:buNone/>
            </a:pPr>
            <a:r>
              <a:rPr lang="en-US" sz="590" i="1" dirty="0">
                <a:solidFill>
                  <a:srgbClr val="334155"/>
                </a:solidFill>
                <a:latin typeface="Arial" pitchFamily="34" charset="0"/>
                <a:ea typeface="Arial" pitchFamily="34" charset="-122"/>
                <a:cs typeface="Arial" pitchFamily="34" charset="-120"/>
              </a:rPr>
              <a:t>E</a:t>
            </a:r>
            <a:pPr algn="l" indent="0" marL="0">
              <a:buNone/>
            </a:pPr>
            <a:r>
              <a:rPr lang="en-US" sz="590" baseline="-40000" dirty="0">
                <a:solidFill>
                  <a:srgbClr val="334155"/>
                </a:solidFill>
                <a:latin typeface="Arial" pitchFamily="34" charset="0"/>
                <a:ea typeface="Arial" pitchFamily="34" charset="-122"/>
                <a:cs typeface="Arial" pitchFamily="34" charset="-120"/>
              </a:rPr>
              <a:t>Fp</a:t>
            </a:r>
            <a:endParaRPr lang="en-US" sz="590" dirty="0"/>
          </a:p>
        </p:txBody>
      </p:sp>
      <p:sp>
        <p:nvSpPr>
          <p:cNvPr id="70" name="Shape 65"/>
          <p:cNvSpPr/>
          <p:nvPr/>
        </p:nvSpPr>
        <p:spPr>
          <a:xfrm>
            <a:off x="3858768" y="4283964"/>
            <a:ext cx="32004" cy="32004"/>
          </a:xfrm>
          <a:prstGeom prst="rect">
            <a:avLst/>
          </a:prstGeom>
          <a:solidFill>
            <a:srgbClr val="2563EB"/>
          </a:solidFill>
          <a:ln w="12700">
            <a:solidFill>
              <a:srgbClr val="2563EB">
                <a:alpha val="0"/>
              </a:srgbClr>
            </a:solidFill>
            <a:prstDash val="solid"/>
          </a:ln>
        </p:spPr>
      </p:sp>
      <p:sp>
        <p:nvSpPr>
          <p:cNvPr id="71" name="Text 66"/>
          <p:cNvSpPr/>
          <p:nvPr/>
        </p:nvSpPr>
        <p:spPr>
          <a:xfrm>
            <a:off x="3950208" y="4242816"/>
            <a:ext cx="1755648" cy="310896"/>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Band offsets identify transport barriers at ETL/absorber/HTL interfaces.</a:t>
            </a:r>
            <a:endParaRPr lang="en-US" sz="670" dirty="0"/>
          </a:p>
        </p:txBody>
      </p:sp>
      <p:sp>
        <p:nvSpPr>
          <p:cNvPr id="72" name="Shape 67"/>
          <p:cNvSpPr/>
          <p:nvPr/>
        </p:nvSpPr>
        <p:spPr>
          <a:xfrm>
            <a:off x="3858768" y="4668012"/>
            <a:ext cx="32004" cy="32004"/>
          </a:xfrm>
          <a:prstGeom prst="rect">
            <a:avLst/>
          </a:prstGeom>
          <a:solidFill>
            <a:srgbClr val="2563EB"/>
          </a:solidFill>
          <a:ln w="12700">
            <a:solidFill>
              <a:srgbClr val="2563EB">
                <a:alpha val="0"/>
              </a:srgbClr>
            </a:solidFill>
            <a:prstDash val="solid"/>
          </a:ln>
        </p:spPr>
      </p:sp>
      <p:sp>
        <p:nvSpPr>
          <p:cNvPr id="73" name="Text 68"/>
          <p:cNvSpPr/>
          <p:nvPr/>
        </p:nvSpPr>
        <p:spPr>
          <a:xfrm>
            <a:off x="3950208" y="4626864"/>
            <a:ext cx="1755648" cy="329184"/>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Quasi-Fermi-level splitting under illumination relates directly to voltage.</a:t>
            </a:r>
            <a:endParaRPr lang="en-US" sz="670" dirty="0"/>
          </a:p>
        </p:txBody>
      </p:sp>
      <p:sp>
        <p:nvSpPr>
          <p:cNvPr id="74" name="Shape 69"/>
          <p:cNvSpPr/>
          <p:nvPr/>
        </p:nvSpPr>
        <p:spPr>
          <a:xfrm>
            <a:off x="3858768" y="5088636"/>
            <a:ext cx="32004" cy="32004"/>
          </a:xfrm>
          <a:prstGeom prst="rect">
            <a:avLst/>
          </a:prstGeom>
          <a:solidFill>
            <a:srgbClr val="334155"/>
          </a:solidFill>
          <a:ln w="12700">
            <a:solidFill>
              <a:srgbClr val="334155">
                <a:alpha val="0"/>
              </a:srgbClr>
            </a:solidFill>
            <a:prstDash val="solid"/>
          </a:ln>
        </p:spPr>
      </p:sp>
      <p:sp>
        <p:nvSpPr>
          <p:cNvPr id="75" name="Text 70"/>
          <p:cNvSpPr/>
          <p:nvPr/>
        </p:nvSpPr>
        <p:spPr>
          <a:xfrm>
            <a:off x="3950208" y="5047488"/>
            <a:ext cx="1755648" cy="329184"/>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A flat or kinked quasi-Fermi level can reveal extraction bottlenecks.</a:t>
            </a:r>
            <a:endParaRPr lang="en-US" sz="670" dirty="0"/>
          </a:p>
        </p:txBody>
      </p:sp>
      <p:sp>
        <p:nvSpPr>
          <p:cNvPr id="76" name="Text 71"/>
          <p:cNvSpPr/>
          <p:nvPr/>
        </p:nvSpPr>
        <p:spPr>
          <a:xfrm>
            <a:off x="3858768" y="5596128"/>
            <a:ext cx="1847088" cy="128016"/>
          </a:xfrm>
          <a:prstGeom prst="rect">
            <a:avLst/>
          </a:prstGeom>
          <a:noFill/>
          <a:ln/>
        </p:spPr>
        <p:txBody>
          <a:bodyPr wrap="square" lIns="0" tIns="0" rIns="0" bIns="0" rtlCol="0" anchor="t">
            <a:normAutofit/>
          </a:bodyPr>
          <a:lstStyle/>
          <a:p>
            <a:pPr algn="l" indent="0" marL="0">
              <a:buNone/>
            </a:pPr>
            <a:r>
              <a:rPr lang="en-US" sz="670" i="1" dirty="0">
                <a:solidFill>
                  <a:srgbClr val="64748B"/>
                </a:solidFill>
                <a:latin typeface="Arial" pitchFamily="34" charset="0"/>
                <a:ea typeface="Arial" pitchFamily="34" charset="-122"/>
                <a:cs typeface="Arial" pitchFamily="34" charset="-120"/>
              </a:rPr>
              <a:t>Report at a fixed bias, e.g. </a:t>
            </a:r>
            <a:pPr algn="l" indent="0" marL="0">
              <a:buNone/>
            </a:pPr>
            <a:r>
              <a:rPr lang="en-US" sz="670" i="1" dirty="0">
                <a:solidFill>
                  <a:srgbClr val="64748B"/>
                </a:solidFill>
                <a:latin typeface="Arial" pitchFamily="34" charset="0"/>
                <a:ea typeface="Arial" pitchFamily="34" charset="-122"/>
                <a:cs typeface="Arial" pitchFamily="34" charset="-120"/>
              </a:rPr>
              <a:t>V</a:t>
            </a:r>
            <a:pPr algn="l" indent="0" marL="0">
              <a:buNone/>
            </a:pPr>
            <a:r>
              <a:rPr lang="en-US" sz="670" i="1" dirty="0">
                <a:solidFill>
                  <a:srgbClr val="64748B"/>
                </a:solidFill>
                <a:latin typeface="Arial" pitchFamily="34" charset="0"/>
                <a:ea typeface="Arial" pitchFamily="34" charset="-122"/>
                <a:cs typeface="Arial" pitchFamily="34" charset="-120"/>
              </a:rPr>
              <a:t> = 0.9 V</a:t>
            </a:r>
            <a:endParaRPr lang="en-US" sz="670" dirty="0"/>
          </a:p>
        </p:txBody>
      </p:sp>
      <p:sp>
        <p:nvSpPr>
          <p:cNvPr id="77" name="Shape 72"/>
          <p:cNvSpPr/>
          <p:nvPr/>
        </p:nvSpPr>
        <p:spPr>
          <a:xfrm>
            <a:off x="6254496" y="3675888"/>
            <a:ext cx="5486400" cy="2267712"/>
          </a:xfrm>
          <a:prstGeom prst="roundRect">
            <a:avLst>
              <a:gd name="adj" fmla="val 3226"/>
            </a:avLst>
          </a:prstGeom>
          <a:solidFill>
            <a:srgbClr val="FFFFFF"/>
          </a:solidFill>
          <a:ln w="12700">
            <a:solidFill>
              <a:srgbClr val="CBD5E1"/>
            </a:solidFill>
            <a:prstDash val="solid"/>
          </a:ln>
        </p:spPr>
      </p:sp>
      <p:sp>
        <p:nvSpPr>
          <p:cNvPr id="78" name="Shape 73"/>
          <p:cNvSpPr/>
          <p:nvPr/>
        </p:nvSpPr>
        <p:spPr>
          <a:xfrm>
            <a:off x="6254496" y="3675888"/>
            <a:ext cx="73152" cy="2267712"/>
          </a:xfrm>
          <a:prstGeom prst="rect">
            <a:avLst/>
          </a:prstGeom>
          <a:solidFill>
            <a:srgbClr val="16803C"/>
          </a:solidFill>
          <a:ln w="12700">
            <a:solidFill>
              <a:srgbClr val="16803C">
                <a:alpha val="0"/>
              </a:srgbClr>
            </a:solidFill>
            <a:prstDash val="solid"/>
          </a:ln>
        </p:spPr>
      </p:sp>
      <p:sp>
        <p:nvSpPr>
          <p:cNvPr id="79" name="Shape 74"/>
          <p:cNvSpPr/>
          <p:nvPr/>
        </p:nvSpPr>
        <p:spPr>
          <a:xfrm>
            <a:off x="6437376" y="3822192"/>
            <a:ext cx="347472" cy="219456"/>
          </a:xfrm>
          <a:prstGeom prst="roundRect">
            <a:avLst>
              <a:gd name="adj" fmla="val 25000"/>
            </a:avLst>
          </a:prstGeom>
          <a:solidFill>
            <a:srgbClr val="DCFCE7"/>
          </a:solidFill>
          <a:ln w="12700">
            <a:solidFill>
              <a:srgbClr val="16803C"/>
            </a:solidFill>
            <a:prstDash val="solid"/>
          </a:ln>
        </p:spPr>
      </p:sp>
      <p:sp>
        <p:nvSpPr>
          <p:cNvPr id="80" name="Text 75"/>
          <p:cNvSpPr/>
          <p:nvPr/>
        </p:nvSpPr>
        <p:spPr>
          <a:xfrm>
            <a:off x="6483096" y="3872484"/>
            <a:ext cx="256032" cy="91440"/>
          </a:xfrm>
          <a:prstGeom prst="rect">
            <a:avLst/>
          </a:prstGeom>
          <a:noFill/>
          <a:ln/>
        </p:spPr>
        <p:txBody>
          <a:bodyPr wrap="square" lIns="0" tIns="0" rIns="0" bIns="0" rtlCol="0" anchor="t">
            <a:normAutofit/>
          </a:bodyPr>
          <a:lstStyle/>
          <a:p>
            <a:pPr algn="ctr" indent="0" marL="0">
              <a:buNone/>
            </a:pPr>
            <a:r>
              <a:rPr lang="en-US" sz="660" b="1" dirty="0">
                <a:solidFill>
                  <a:srgbClr val="16803C"/>
                </a:solidFill>
                <a:latin typeface="Arial" pitchFamily="34" charset="0"/>
                <a:ea typeface="Arial" pitchFamily="34" charset="-122"/>
                <a:cs typeface="Arial" pitchFamily="34" charset="-120"/>
              </a:rPr>
              <a:t>D</a:t>
            </a:r>
            <a:endParaRPr lang="en-US" sz="660" dirty="0"/>
          </a:p>
        </p:txBody>
      </p:sp>
      <p:sp>
        <p:nvSpPr>
          <p:cNvPr id="81" name="Text 76"/>
          <p:cNvSpPr/>
          <p:nvPr/>
        </p:nvSpPr>
        <p:spPr>
          <a:xfrm>
            <a:off x="6867144" y="3831336"/>
            <a:ext cx="4663440" cy="182880"/>
          </a:xfrm>
          <a:prstGeom prst="rect">
            <a:avLst/>
          </a:prstGeom>
          <a:noFill/>
          <a:ln/>
        </p:spPr>
        <p:txBody>
          <a:bodyPr wrap="square" lIns="0" tIns="0" rIns="0" bIns="0" rtlCol="0" anchor="t">
            <a:normAutofit/>
          </a:bodyPr>
          <a:lstStyle/>
          <a:p>
            <a:pPr algn="l" indent="0" marL="0">
              <a:buNone/>
            </a:pPr>
            <a:r>
              <a:rPr lang="en-US" sz="1000" b="1" dirty="0">
                <a:solidFill>
                  <a:srgbClr val="334155"/>
                </a:solidFill>
                <a:latin typeface="Arial" pitchFamily="34" charset="0"/>
                <a:ea typeface="Arial" pitchFamily="34" charset="-122"/>
                <a:cs typeface="Arial" pitchFamily="34" charset="-120"/>
              </a:rPr>
              <a:t>Loss localization: generation and recombination</a:t>
            </a:r>
            <a:endParaRPr lang="en-US" sz="1000" dirty="0"/>
          </a:p>
        </p:txBody>
      </p:sp>
      <p:graphicFrame>
        <p:nvGraphicFramePr>
          <p:cNvPr id="82" name="Chart 3" descr=""/>
          <p:cNvGraphicFramePr/>
          <p:nvPr/>
        </p:nvGraphicFramePr>
        <p:xfrm>
          <a:off x="6483096" y="4242816"/>
          <a:ext cx="2971800" cy="1472184"/>
        </p:xfrm>
        <a:graphic xmlns:a="http://schemas.openxmlformats.org/drawingml/2006/main">
          <a:graphicData uri="http://schemas.openxmlformats.org/drawingml/2006/chart">
            <c:chart xmlns:c="http://schemas.openxmlformats.org/drawingml/2006/chart" r:id="rId4"/>
          </a:graphicData>
        </a:graphic>
      </p:graphicFrame>
      <p:sp>
        <p:nvSpPr>
          <p:cNvPr id="83" name="Text 77"/>
          <p:cNvSpPr/>
          <p:nvPr/>
        </p:nvSpPr>
        <p:spPr>
          <a:xfrm>
            <a:off x="7470648" y="5641848"/>
            <a:ext cx="868680" cy="109728"/>
          </a:xfrm>
          <a:prstGeom prst="rect">
            <a:avLst/>
          </a:prstGeom>
          <a:noFill/>
          <a:ln/>
        </p:spPr>
        <p:txBody>
          <a:bodyPr wrap="square" lIns="0" tIns="0" rIns="0" bIns="0" rtlCol="0" anchor="t">
            <a:normAutofit/>
          </a:bodyPr>
          <a:lstStyle/>
          <a:p>
            <a:pPr algn="ctr" indent="0" marL="0">
              <a:buNone/>
            </a:pPr>
            <a:r>
              <a:rPr lang="en-US" sz="620" dirty="0">
                <a:solidFill>
                  <a:srgbClr val="64748B"/>
                </a:solidFill>
                <a:latin typeface="Arial" pitchFamily="34" charset="0"/>
                <a:ea typeface="Arial" pitchFamily="34" charset="-122"/>
                <a:cs typeface="Arial" pitchFamily="34" charset="-120"/>
              </a:rPr>
              <a:t>Position </a:t>
            </a:r>
            <a:pPr algn="ctr" indent="0" marL="0">
              <a:buNone/>
            </a:pPr>
            <a:r>
              <a:rPr lang="en-US" sz="620" i="1" dirty="0">
                <a:solidFill>
                  <a:srgbClr val="64748B"/>
                </a:solidFill>
                <a:latin typeface="Arial" pitchFamily="34" charset="0"/>
                <a:ea typeface="Arial" pitchFamily="34" charset="-122"/>
                <a:cs typeface="Arial" pitchFamily="34" charset="-120"/>
              </a:rPr>
              <a:t>x</a:t>
            </a:r>
            <a:pPr algn="ctr" indent="0" marL="0">
              <a:buNone/>
            </a:pPr>
            <a:r>
              <a:rPr lang="en-US" sz="620" dirty="0">
                <a:solidFill>
                  <a:srgbClr val="64748B"/>
                </a:solidFill>
                <a:latin typeface="Arial" pitchFamily="34" charset="0"/>
                <a:ea typeface="Arial" pitchFamily="34" charset="-122"/>
                <a:cs typeface="Arial" pitchFamily="34" charset="-120"/>
              </a:rPr>
              <a:t> (nm)</a:t>
            </a:r>
            <a:endParaRPr lang="en-US" sz="620" dirty="0"/>
          </a:p>
        </p:txBody>
      </p:sp>
      <p:sp>
        <p:nvSpPr>
          <p:cNvPr id="84" name="Text 78"/>
          <p:cNvSpPr/>
          <p:nvPr/>
        </p:nvSpPr>
        <p:spPr>
          <a:xfrm>
            <a:off x="6473952" y="4224528"/>
            <a:ext cx="658368" cy="109728"/>
          </a:xfrm>
          <a:prstGeom prst="rect">
            <a:avLst/>
          </a:prstGeom>
          <a:noFill/>
          <a:ln/>
        </p:spPr>
        <p:txBody>
          <a:bodyPr wrap="square" lIns="0" tIns="0" rIns="0" bIns="0" rtlCol="0" anchor="t">
            <a:normAutofit/>
          </a:bodyPr>
          <a:lstStyle/>
          <a:p>
            <a:pPr algn="l" indent="0" marL="0">
              <a:buNone/>
            </a:pPr>
            <a:r>
              <a:rPr lang="en-US" sz="620" dirty="0">
                <a:solidFill>
                  <a:srgbClr val="64748B"/>
                </a:solidFill>
                <a:latin typeface="Arial" pitchFamily="34" charset="0"/>
                <a:ea typeface="Arial" pitchFamily="34" charset="-122"/>
                <a:cs typeface="Arial" pitchFamily="34" charset="-120"/>
              </a:rPr>
              <a:t>Normalized rate</a:t>
            </a:r>
            <a:endParaRPr lang="en-US" sz="620" dirty="0"/>
          </a:p>
        </p:txBody>
      </p:sp>
      <p:sp>
        <p:nvSpPr>
          <p:cNvPr id="85" name="Shape 79"/>
          <p:cNvSpPr/>
          <p:nvPr/>
        </p:nvSpPr>
        <p:spPr>
          <a:xfrm>
            <a:off x="6528816" y="5554980"/>
            <a:ext cx="146304" cy="0"/>
          </a:xfrm>
          <a:prstGeom prst="line">
            <a:avLst/>
          </a:prstGeom>
          <a:noFill/>
          <a:ln w="12700">
            <a:solidFill>
              <a:srgbClr val="0F766E"/>
            </a:solidFill>
            <a:prstDash val="solid"/>
            <a:headEnd type="none"/>
            <a:tailEnd type="none"/>
          </a:ln>
        </p:spPr>
      </p:sp>
      <p:sp>
        <p:nvSpPr>
          <p:cNvPr id="86" name="Text 80"/>
          <p:cNvSpPr/>
          <p:nvPr/>
        </p:nvSpPr>
        <p:spPr>
          <a:xfrm>
            <a:off x="6702552" y="5504688"/>
            <a:ext cx="743712" cy="118872"/>
          </a:xfrm>
          <a:prstGeom prst="rect">
            <a:avLst/>
          </a:prstGeom>
          <a:noFill/>
          <a:ln/>
        </p:spPr>
        <p:txBody>
          <a:bodyPr wrap="square" lIns="0" tIns="0" rIns="0" bIns="0" rtlCol="0" anchor="t">
            <a:normAutofit/>
          </a:bodyPr>
          <a:lstStyle/>
          <a:p>
            <a:pPr algn="l" indent="0" marL="0">
              <a:buNone/>
            </a:pPr>
            <a:r>
              <a:rPr lang="en-US" sz="590" i="1" dirty="0">
                <a:solidFill>
                  <a:srgbClr val="334155"/>
                </a:solidFill>
                <a:latin typeface="Arial" pitchFamily="34" charset="0"/>
                <a:ea typeface="Arial" pitchFamily="34" charset="-122"/>
                <a:cs typeface="Arial" pitchFamily="34" charset="-120"/>
              </a:rPr>
              <a:t>G</a:t>
            </a:r>
            <a:endParaRPr lang="en-US" sz="590" dirty="0"/>
          </a:p>
        </p:txBody>
      </p:sp>
      <p:sp>
        <p:nvSpPr>
          <p:cNvPr id="87" name="Shape 81"/>
          <p:cNvSpPr/>
          <p:nvPr/>
        </p:nvSpPr>
        <p:spPr>
          <a:xfrm>
            <a:off x="7223760" y="5554980"/>
            <a:ext cx="146304" cy="0"/>
          </a:xfrm>
          <a:prstGeom prst="line">
            <a:avLst/>
          </a:prstGeom>
          <a:noFill/>
          <a:ln w="12700">
            <a:solidFill>
              <a:srgbClr val="B42318"/>
            </a:solidFill>
            <a:prstDash val="solid"/>
            <a:headEnd type="none"/>
            <a:tailEnd type="none"/>
          </a:ln>
        </p:spPr>
      </p:sp>
      <p:sp>
        <p:nvSpPr>
          <p:cNvPr id="88" name="Text 82"/>
          <p:cNvSpPr/>
          <p:nvPr/>
        </p:nvSpPr>
        <p:spPr>
          <a:xfrm>
            <a:off x="7397496" y="5504688"/>
            <a:ext cx="743712" cy="118872"/>
          </a:xfrm>
          <a:prstGeom prst="rect">
            <a:avLst/>
          </a:prstGeom>
          <a:noFill/>
          <a:ln/>
        </p:spPr>
        <p:txBody>
          <a:bodyPr wrap="square" lIns="0" tIns="0" rIns="0" bIns="0" rtlCol="0" anchor="t">
            <a:normAutofit/>
          </a:bodyPr>
          <a:lstStyle/>
          <a:p>
            <a:pPr algn="l" indent="0" marL="0">
              <a:buNone/>
            </a:pPr>
            <a:r>
              <a:rPr lang="en-US" sz="590" i="1" dirty="0">
                <a:solidFill>
                  <a:srgbClr val="334155"/>
                </a:solidFill>
                <a:latin typeface="Arial" pitchFamily="34" charset="0"/>
                <a:ea typeface="Arial" pitchFamily="34" charset="-122"/>
                <a:cs typeface="Arial" pitchFamily="34" charset="-120"/>
              </a:rPr>
              <a:t>R</a:t>
            </a:r>
            <a:pPr algn="l" indent="0" marL="0">
              <a:buNone/>
            </a:pPr>
            <a:r>
              <a:rPr lang="en-US" sz="590" baseline="-40000" dirty="0">
                <a:solidFill>
                  <a:srgbClr val="334155"/>
                </a:solidFill>
                <a:latin typeface="Arial" pitchFamily="34" charset="0"/>
                <a:ea typeface="Arial" pitchFamily="34" charset="-122"/>
                <a:cs typeface="Arial" pitchFamily="34" charset="-120"/>
              </a:rPr>
              <a:t>SRH</a:t>
            </a:r>
            <a:endParaRPr lang="en-US" sz="590" dirty="0"/>
          </a:p>
        </p:txBody>
      </p:sp>
      <p:sp>
        <p:nvSpPr>
          <p:cNvPr id="89" name="Shape 83"/>
          <p:cNvSpPr/>
          <p:nvPr/>
        </p:nvSpPr>
        <p:spPr>
          <a:xfrm>
            <a:off x="7918704" y="5554980"/>
            <a:ext cx="146304" cy="0"/>
          </a:xfrm>
          <a:prstGeom prst="line">
            <a:avLst/>
          </a:prstGeom>
          <a:noFill/>
          <a:ln w="12700">
            <a:solidFill>
              <a:srgbClr val="EA580C"/>
            </a:solidFill>
            <a:prstDash val="solid"/>
            <a:headEnd type="none"/>
            <a:tailEnd type="none"/>
          </a:ln>
        </p:spPr>
      </p:sp>
      <p:sp>
        <p:nvSpPr>
          <p:cNvPr id="90" name="Text 84"/>
          <p:cNvSpPr/>
          <p:nvPr/>
        </p:nvSpPr>
        <p:spPr>
          <a:xfrm>
            <a:off x="8092440" y="5504688"/>
            <a:ext cx="743712" cy="118872"/>
          </a:xfrm>
          <a:prstGeom prst="rect">
            <a:avLst/>
          </a:prstGeom>
          <a:noFill/>
          <a:ln/>
        </p:spPr>
        <p:txBody>
          <a:bodyPr wrap="square" lIns="0" tIns="0" rIns="0" bIns="0" rtlCol="0" anchor="t">
            <a:normAutofit/>
          </a:bodyPr>
          <a:lstStyle/>
          <a:p>
            <a:pPr algn="l" indent="0" marL="0">
              <a:buNone/>
            </a:pPr>
            <a:r>
              <a:rPr lang="en-US" sz="590" i="1" dirty="0">
                <a:solidFill>
                  <a:srgbClr val="334155"/>
                </a:solidFill>
                <a:latin typeface="Arial" pitchFamily="34" charset="0"/>
                <a:ea typeface="Arial" pitchFamily="34" charset="-122"/>
                <a:cs typeface="Arial" pitchFamily="34" charset="-120"/>
              </a:rPr>
              <a:t>R</a:t>
            </a:r>
            <a:pPr algn="l" indent="0" marL="0">
              <a:buNone/>
            </a:pPr>
            <a:r>
              <a:rPr lang="en-US" sz="590" baseline="-40000" dirty="0">
                <a:solidFill>
                  <a:srgbClr val="334155"/>
                </a:solidFill>
                <a:latin typeface="Arial" pitchFamily="34" charset="0"/>
                <a:ea typeface="Arial" pitchFamily="34" charset="-122"/>
                <a:cs typeface="Arial" pitchFamily="34" charset="-120"/>
              </a:rPr>
              <a:t>interface</a:t>
            </a:r>
            <a:endParaRPr lang="en-US" sz="590" dirty="0"/>
          </a:p>
        </p:txBody>
      </p:sp>
      <p:sp>
        <p:nvSpPr>
          <p:cNvPr id="91" name="Shape 85"/>
          <p:cNvSpPr/>
          <p:nvPr/>
        </p:nvSpPr>
        <p:spPr>
          <a:xfrm>
            <a:off x="9656064" y="4283964"/>
            <a:ext cx="32004" cy="32004"/>
          </a:xfrm>
          <a:prstGeom prst="rect">
            <a:avLst/>
          </a:prstGeom>
          <a:solidFill>
            <a:srgbClr val="16803C"/>
          </a:solidFill>
          <a:ln w="12700">
            <a:solidFill>
              <a:srgbClr val="16803C">
                <a:alpha val="0"/>
              </a:srgbClr>
            </a:solidFill>
            <a:prstDash val="solid"/>
          </a:ln>
        </p:spPr>
      </p:sp>
      <p:sp>
        <p:nvSpPr>
          <p:cNvPr id="92" name="Text 86"/>
          <p:cNvSpPr/>
          <p:nvPr/>
        </p:nvSpPr>
        <p:spPr>
          <a:xfrm>
            <a:off x="9747504" y="4242816"/>
            <a:ext cx="1755648" cy="292608"/>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Compare where photons create carriers with where carriers are lost.</a:t>
            </a:r>
            <a:endParaRPr lang="en-US" sz="670" dirty="0"/>
          </a:p>
        </p:txBody>
      </p:sp>
      <p:sp>
        <p:nvSpPr>
          <p:cNvPr id="93" name="Shape 87"/>
          <p:cNvSpPr/>
          <p:nvPr/>
        </p:nvSpPr>
        <p:spPr>
          <a:xfrm>
            <a:off x="9656064" y="4649724"/>
            <a:ext cx="32004" cy="32004"/>
          </a:xfrm>
          <a:prstGeom prst="rect">
            <a:avLst/>
          </a:prstGeom>
          <a:solidFill>
            <a:srgbClr val="EA580C"/>
          </a:solidFill>
          <a:ln w="12700">
            <a:solidFill>
              <a:srgbClr val="EA580C">
                <a:alpha val="0"/>
              </a:srgbClr>
            </a:solidFill>
            <a:prstDash val="solid"/>
          </a:ln>
        </p:spPr>
      </p:sp>
      <p:sp>
        <p:nvSpPr>
          <p:cNvPr id="94" name="Text 88"/>
          <p:cNvSpPr/>
          <p:nvPr/>
        </p:nvSpPr>
        <p:spPr>
          <a:xfrm>
            <a:off x="9747504" y="4608576"/>
            <a:ext cx="1755648" cy="310896"/>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Sharp interface peak suggests defect-rich or misaligned junction loss.</a:t>
            </a:r>
            <a:endParaRPr lang="en-US" sz="670" dirty="0"/>
          </a:p>
        </p:txBody>
      </p:sp>
      <p:sp>
        <p:nvSpPr>
          <p:cNvPr id="95" name="Shape 89"/>
          <p:cNvSpPr/>
          <p:nvPr/>
        </p:nvSpPr>
        <p:spPr>
          <a:xfrm>
            <a:off x="9656064" y="5070348"/>
            <a:ext cx="32004" cy="32004"/>
          </a:xfrm>
          <a:prstGeom prst="rect">
            <a:avLst/>
          </a:prstGeom>
          <a:solidFill>
            <a:srgbClr val="334155"/>
          </a:solidFill>
          <a:ln w="12700">
            <a:solidFill>
              <a:srgbClr val="334155">
                <a:alpha val="0"/>
              </a:srgbClr>
            </a:solidFill>
            <a:prstDash val="solid"/>
          </a:ln>
        </p:spPr>
      </p:sp>
      <p:sp>
        <p:nvSpPr>
          <p:cNvPr id="96" name="Text 90"/>
          <p:cNvSpPr/>
          <p:nvPr/>
        </p:nvSpPr>
        <p:spPr>
          <a:xfrm>
            <a:off x="9747504" y="5029200"/>
            <a:ext cx="1755648" cy="402336"/>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Pair with current profiles to check whether loss is transport- or recombination-limited.</a:t>
            </a:r>
            <a:endParaRPr lang="en-US" sz="670" dirty="0"/>
          </a:p>
        </p:txBody>
      </p:sp>
      <p:sp>
        <p:nvSpPr>
          <p:cNvPr id="97" name="Shape 91"/>
          <p:cNvSpPr/>
          <p:nvPr/>
        </p:nvSpPr>
        <p:spPr>
          <a:xfrm>
            <a:off x="9656064" y="5614416"/>
            <a:ext cx="1847088" cy="228600"/>
          </a:xfrm>
          <a:prstGeom prst="roundRect">
            <a:avLst>
              <a:gd name="adj" fmla="val 16000"/>
            </a:avLst>
          </a:prstGeom>
          <a:solidFill>
            <a:srgbClr val="DCFCE7"/>
          </a:solidFill>
          <a:ln w="12700">
            <a:solidFill>
              <a:srgbClr val="16803C"/>
            </a:solidFill>
            <a:prstDash val="solid"/>
          </a:ln>
        </p:spPr>
      </p:sp>
      <p:sp>
        <p:nvSpPr>
          <p:cNvPr id="98" name="Text 92"/>
          <p:cNvSpPr/>
          <p:nvPr/>
        </p:nvSpPr>
        <p:spPr>
          <a:xfrm>
            <a:off x="9747504" y="5673852"/>
            <a:ext cx="1664208" cy="82296"/>
          </a:xfrm>
          <a:prstGeom prst="rect">
            <a:avLst/>
          </a:prstGeom>
          <a:noFill/>
          <a:ln/>
        </p:spPr>
        <p:txBody>
          <a:bodyPr wrap="square" lIns="0" tIns="0" rIns="0" bIns="0" rtlCol="0" anchor="t">
            <a:normAutofit/>
          </a:bodyPr>
          <a:lstStyle/>
          <a:p>
            <a:pPr algn="ctr" indent="0" marL="0">
              <a:buNone/>
            </a:pPr>
            <a:r>
              <a:rPr lang="en-US" sz="650" dirty="0">
                <a:solidFill>
                  <a:srgbClr val="16803C"/>
                </a:solidFill>
                <a:latin typeface="Arial" pitchFamily="34" charset="0"/>
                <a:ea typeface="Arial" pitchFamily="34" charset="-122"/>
                <a:cs typeface="Arial" pitchFamily="34" charset="-120"/>
              </a:rPr>
              <a:t>Use for: </a:t>
            </a:r>
            <a:pPr algn="ctr" indent="0" marL="0">
              <a:buNone/>
            </a:pPr>
            <a:r>
              <a:rPr lang="en-US" sz="650" b="1" dirty="0">
                <a:solidFill>
                  <a:srgbClr val="16803C"/>
                </a:solidFill>
                <a:latin typeface="Arial" pitchFamily="34" charset="0"/>
                <a:ea typeface="Arial" pitchFamily="34" charset="-122"/>
                <a:cs typeface="Arial" pitchFamily="34" charset="-120"/>
              </a:rPr>
              <a:t>loss diagnosis</a:t>
            </a:r>
            <a:pPr algn="ctr" indent="0" marL="0">
              <a:buNone/>
            </a:pPr>
            <a:r>
              <a:rPr lang="en-US" sz="650" dirty="0">
                <a:solidFill>
                  <a:srgbClr val="16803C"/>
                </a:solidFill>
                <a:latin typeface="Arial" pitchFamily="34" charset="0"/>
                <a:ea typeface="Arial" pitchFamily="34" charset="-122"/>
                <a:cs typeface="Arial" pitchFamily="34" charset="-120"/>
              </a:rPr>
              <a:t> and </a:t>
            </a:r>
            <a:pPr algn="ctr" indent="0" marL="0">
              <a:buNone/>
            </a:pPr>
            <a:r>
              <a:rPr lang="en-US" sz="650" b="1" dirty="0">
                <a:solidFill>
                  <a:srgbClr val="16803C"/>
                </a:solidFill>
                <a:latin typeface="Arial" pitchFamily="34" charset="0"/>
                <a:ea typeface="Arial" pitchFamily="34" charset="-122"/>
                <a:cs typeface="Arial" pitchFamily="34" charset="-120"/>
              </a:rPr>
              <a:t>stack optimization</a:t>
            </a:r>
            <a:endParaRPr lang="en-US" sz="650" dirty="0"/>
          </a:p>
        </p:txBody>
      </p:sp>
      <p:sp>
        <p:nvSpPr>
          <p:cNvPr id="99" name="Shape 93"/>
          <p:cNvSpPr/>
          <p:nvPr/>
        </p:nvSpPr>
        <p:spPr>
          <a:xfrm>
            <a:off x="0" y="6309360"/>
            <a:ext cx="12191695" cy="548640"/>
          </a:xfrm>
          <a:prstGeom prst="rect">
            <a:avLst/>
          </a:prstGeom>
          <a:solidFill>
            <a:srgbClr val="EAF2FF"/>
          </a:solidFill>
          <a:ln w="12700">
            <a:solidFill>
              <a:srgbClr val="EAF2FF">
                <a:alpha val="0"/>
              </a:srgbClr>
            </a:solidFill>
            <a:prstDash val="solid"/>
          </a:ln>
        </p:spPr>
      </p:sp>
      <p:sp>
        <p:nvSpPr>
          <p:cNvPr id="100" name="Text 94"/>
          <p:cNvSpPr/>
          <p:nvPr/>
        </p:nvSpPr>
        <p:spPr>
          <a:xfrm>
            <a:off x="585216" y="6473952"/>
            <a:ext cx="11018520" cy="164592"/>
          </a:xfrm>
          <a:prstGeom prst="rect">
            <a:avLst/>
          </a:prstGeom>
          <a:noFill/>
          <a:ln/>
        </p:spPr>
        <p:txBody>
          <a:bodyPr wrap="square" lIns="0" tIns="0" rIns="0" bIns="0" rtlCol="0" anchor="t">
            <a:normAutofit/>
          </a:bodyPr>
          <a:lstStyle/>
          <a:p>
            <a:pPr algn="ctr" indent="0" marL="0">
              <a:buNone/>
            </a:pPr>
            <a:r>
              <a:rPr lang="en-US" sz="1050" b="1" dirty="0">
                <a:solidFill>
                  <a:srgbClr val="162033"/>
                </a:solidFill>
                <a:latin typeface="Arial" pitchFamily="34" charset="0"/>
                <a:ea typeface="Arial" pitchFamily="34" charset="-122"/>
                <a:cs typeface="Arial" pitchFamily="34" charset="-120"/>
              </a:rPr>
              <a:t>Takeaway: </a:t>
            </a:r>
            <a:pPr algn="ctr" indent="0" marL="0">
              <a:buNone/>
            </a:pPr>
            <a:r>
              <a:rPr lang="en-US" sz="1050" dirty="0">
                <a:solidFill>
                  <a:srgbClr val="162033"/>
                </a:solidFill>
                <a:latin typeface="Arial" pitchFamily="34" charset="0"/>
                <a:ea typeface="Arial" pitchFamily="34" charset="-122"/>
                <a:cs typeface="Arial" pitchFamily="34" charset="-120"/>
              </a:rPr>
              <a:t>SCAPS-1D figures should link </a:t>
            </a:r>
            <a:pPr algn="ctr" indent="0" marL="0">
              <a:buNone/>
            </a:pPr>
            <a:r>
              <a:rPr lang="en-US" sz="1050" b="1" dirty="0">
                <a:solidFill>
                  <a:srgbClr val="B42318"/>
                </a:solidFill>
                <a:latin typeface="Arial" pitchFamily="34" charset="0"/>
                <a:ea typeface="Arial" pitchFamily="34" charset="-122"/>
                <a:cs typeface="Arial" pitchFamily="34" charset="-120"/>
              </a:rPr>
              <a:t>terminal metrics</a:t>
            </a:r>
            <a:pPr algn="ctr" indent="0" marL="0">
              <a:buNone/>
            </a:pPr>
            <a:r>
              <a:rPr lang="en-US" sz="1050" dirty="0">
                <a:solidFill>
                  <a:srgbClr val="162033"/>
                </a:solidFill>
                <a:latin typeface="Arial" pitchFamily="34" charset="0"/>
                <a:ea typeface="Arial" pitchFamily="34" charset="-122"/>
                <a:cs typeface="Arial" pitchFamily="34" charset="-120"/>
              </a:rPr>
              <a:t> to </a:t>
            </a:r>
            <a:pPr algn="ctr" indent="0" marL="0">
              <a:buNone/>
            </a:pPr>
            <a:r>
              <a:rPr lang="en-US" sz="1050" b="1" dirty="0">
                <a:solidFill>
                  <a:srgbClr val="6D28D9"/>
                </a:solidFill>
                <a:latin typeface="Arial" pitchFamily="34" charset="0"/>
                <a:ea typeface="Arial" pitchFamily="34" charset="-122"/>
                <a:cs typeface="Arial" pitchFamily="34" charset="-120"/>
              </a:rPr>
              <a:t>optical collection</a:t>
            </a:r>
            <a:pPr algn="ctr" indent="0" marL="0">
              <a:buNone/>
            </a:pPr>
            <a:r>
              <a:rPr lang="en-US" sz="1050" dirty="0">
                <a:solidFill>
                  <a:srgbClr val="162033"/>
                </a:solidFill>
                <a:latin typeface="Arial" pitchFamily="34" charset="0"/>
                <a:ea typeface="Arial" pitchFamily="34" charset="-122"/>
                <a:cs typeface="Arial" pitchFamily="34" charset="-120"/>
              </a:rPr>
              <a:t>, </a:t>
            </a:r>
            <a:pPr algn="ctr" indent="0" marL="0">
              <a:buNone/>
            </a:pPr>
            <a:r>
              <a:rPr lang="en-US" sz="1050" b="1" dirty="0">
                <a:solidFill>
                  <a:srgbClr val="2563EB"/>
                </a:solidFill>
                <a:latin typeface="Arial" pitchFamily="34" charset="0"/>
                <a:ea typeface="Arial" pitchFamily="34" charset="-122"/>
                <a:cs typeface="Arial" pitchFamily="34" charset="-120"/>
              </a:rPr>
              <a:t>band alignment</a:t>
            </a:r>
            <a:pPr algn="ctr" indent="0" marL="0">
              <a:buNone/>
            </a:pPr>
            <a:r>
              <a:rPr lang="en-US" sz="1050" dirty="0">
                <a:solidFill>
                  <a:srgbClr val="162033"/>
                </a:solidFill>
                <a:latin typeface="Arial" pitchFamily="34" charset="0"/>
                <a:ea typeface="Arial" pitchFamily="34" charset="-122"/>
                <a:cs typeface="Arial" pitchFamily="34" charset="-120"/>
              </a:rPr>
              <a:t>, and </a:t>
            </a:r>
            <a:pPr algn="ctr" indent="0" marL="0">
              <a:buNone/>
            </a:pPr>
            <a:r>
              <a:rPr lang="en-US" sz="1050" b="1" dirty="0">
                <a:solidFill>
                  <a:srgbClr val="16803C"/>
                </a:solidFill>
                <a:latin typeface="Arial" pitchFamily="34" charset="0"/>
                <a:ea typeface="Arial" pitchFamily="34" charset="-122"/>
                <a:cs typeface="Arial" pitchFamily="34" charset="-120"/>
              </a:rPr>
              <a:t>recombination-loss localization</a:t>
            </a:r>
            <a:pPr algn="ctr" indent="0" marL="0">
              <a:buNone/>
            </a:pPr>
            <a:r>
              <a:rPr lang="en-US" sz="1050" dirty="0">
                <a:solidFill>
                  <a:srgbClr val="162033"/>
                </a:solidFill>
                <a:latin typeface="Arial" pitchFamily="34" charset="0"/>
                <a:ea typeface="Arial" pitchFamily="34" charset="-122"/>
                <a:cs typeface="Arial" pitchFamily="34" charset="-120"/>
              </a:rPr>
              <a: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SolarLab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Representative SCAPS-1D Result Figures</dc:title>
  <dc:subject>Professional SCAPS-1D result figure examples</dc:subject>
  <dc:creator>SolarLab</dc:creator>
  <cp:lastModifiedBy>SolarLab</cp:lastModifiedBy>
  <cp:revision>1</cp:revision>
  <dcterms:created xsi:type="dcterms:W3CDTF">2026-05-20T16:25:03Z</dcterms:created>
  <dcterms:modified xsi:type="dcterms:W3CDTF">2026-05-20T16:25:03Z</dcterms:modified>
</cp:coreProperties>
</file>