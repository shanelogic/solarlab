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70" r:id="rId8"/>
    <p:sldId id="272" r:id="rId10"/>
    <p:sldId id="271" r:id="rId11"/>
    <p:sldId id="274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788920"/>
            <a:ext cx="128016" cy="1371600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606040"/>
            <a:ext cx="106070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1F2A44"/>
                </a:solidFill>
              </a:rPr>
              <a:t>Reconciliation of SolarLab with SCAPS-1D</a:t>
            </a:r>
            <a:endParaRPr sz="3600" b="1" i="0">
              <a:solidFill>
                <a:srgbClr val="1F2A44"/>
              </a:solidFill>
            </a:endParaRPr>
          </a:p>
          <a:p>
            <a:r>
              <a:rPr sz="2200" b="0" i="0">
                <a:solidFill>
                  <a:srgbClr val="1A4E8A"/>
                </a:solidFill>
              </a:rPr>
              <a:t>Corrections to the device model and their measured effects</a:t>
            </a:r>
            <a:endParaRPr sz="2200" b="0" i="0">
              <a:solidFill>
                <a:srgbClr val="1A4E8A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68680" y="434340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5A6577"/>
                </a:solidFill>
              </a:rPr>
              <a:t>Supplement to the root-cause analysis  ·  MAPbI</a:t>
            </a:r>
            <a:r>
              <a:rPr sz="1500" b="0" i="0" baseline="-25000">
                <a:solidFill>
                  <a:srgbClr val="5A6577"/>
                </a:solidFill>
              </a:rPr>
              <a:t>3</a:t>
            </a:r>
            <a:r>
              <a:rPr sz="1500" b="0" i="0">
                <a:solidFill>
                  <a:srgbClr val="5A6577"/>
                </a:solidFill>
              </a:rPr>
              <a:t> / spiro / TiO</a:t>
            </a:r>
            <a:r>
              <a:rPr sz="1500" b="0" i="0" baseline="-25000">
                <a:solidFill>
                  <a:srgbClr val="5A6577"/>
                </a:solidFill>
              </a:rPr>
              <a:t>2</a:t>
            </a:r>
            <a:r>
              <a:rPr sz="1500" b="0" i="0">
                <a:solidFill>
                  <a:srgbClr val="5A6577"/>
                </a:solidFill>
              </a:rPr>
              <a:t> Base Model  ·  June 2026</a:t>
            </a:r>
            <a:endParaRPr sz="1500" b="0" i="0">
              <a:solidFill>
                <a:srgbClr val="5A6577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Initial Discrepancy</a:t>
            </a:r>
            <a:endParaRPr sz="3000" b="1" i="0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companion root-cause analysis quantified the discrepancy on the Base Model:</a:t>
            </a:r>
            <a:endParaRPr sz="1600" b="0" i="0">
              <a:solidFill>
                <a:srgbClr val="2A2A2A"/>
              </a:solidFill>
            </a:endParaRP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Open-circuit voltage: 1.077 vs 1.168 V (−91 mV), the dominant discrepancy</a:t>
            </a:r>
            <a:endParaRPr sz="1400" b="0" i="0">
              <a:solidFill>
                <a:srgbClr val="5A6577"/>
              </a:solidFill>
            </a:endParaRP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Short-circuit current 1.6–2.5 mA/cm</a:t>
            </a:r>
            <a:r>
              <a:rPr sz="1400" b="0" i="0" baseline="30000">
                <a:solidFill>
                  <a:srgbClr val="5A6577"/>
                </a:solidFill>
              </a:rPr>
              <a:t>2</a:t>
            </a:r>
            <a:r>
              <a:rPr sz="1400" b="0" i="0">
                <a:solidFill>
                  <a:srgbClr val="5A6577"/>
                </a:solidFill>
              </a:rPr>
              <a:t> lower (front-surface reflection); fill factor within ~1 pp</a:t>
            </a:r>
            <a:endParaRPr sz="1400" b="0" i="0">
              <a:solidFill>
                <a:srgbClr val="5A6577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Of the eleven parameter sweeps, several were flat or direction-reversed relative to SCAPS.</a:t>
            </a:r>
            <a:endParaRPr sz="1600" b="0" i="0">
              <a:solidFill>
                <a:srgbClr val="2A2A2A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Initial hypotheses: a frozen built-in potential, the interface-SRH formulation, contacts, and optics.</a:t>
            </a:r>
            <a:endParaRPr sz="1600" b="0" i="0">
              <a:solidFill>
                <a:srgbClr val="2A2A2A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This supplement documents the subsequent corrections and their measured effect on trends and absolute figures of merit.</a:t>
            </a:r>
            <a:endParaRPr sz="1600" b="0" i="0">
              <a:solidFill>
                <a:srgbClr val="2A2A2A"/>
              </a:solidFill>
            </a:endParaRPr>
          </a:p>
        </p:txBody>
      </p:sp>
      <p:pic>
        <p:nvPicPr>
          <p:cNvPr id="5" name="Picture 4" descr="fom_before_aft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600200"/>
            <a:ext cx="557784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The Root Cause</a:t>
            </a:r>
            <a:endParaRPr sz="3000" b="1" i="0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initial analysis attributed the discrepancy to a frozen built-in potential (V</a:t>
            </a:r>
            <a:r>
              <a:rPr sz="1600" b="0" i="0" baseline="-25000">
                <a:solidFill>
                  <a:srgbClr val="2A2A2A"/>
                </a:solidFill>
              </a:rPr>
              <a:t>bi</a:t>
            </a:r>
            <a:r>
              <a:rPr sz="1600" b="0" i="0">
                <a:solidFill>
                  <a:srgbClr val="2A2A2A"/>
                </a:solidFill>
              </a:rPr>
              <a:t>).</a:t>
            </a:r>
            <a:endParaRPr sz="1600" b="0" i="0">
              <a:solidFill>
                <a:srgbClr val="2A2A2A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Subsequent analysis established that the two solvers agree on V</a:t>
            </a:r>
            <a:r>
              <a:rPr sz="1600" b="0" i="0" baseline="-25000">
                <a:solidFill>
                  <a:srgbClr val="2A2A2A"/>
                </a:solidFill>
              </a:rPr>
              <a:t>bi</a:t>
            </a:r>
            <a:r>
              <a:rPr sz="1600" b="0" i="0">
                <a:solidFill>
                  <a:srgbClr val="2A2A2A"/>
                </a:solidFill>
              </a:rPr>
              <a:t>:</a:t>
            </a:r>
            <a:endParaRPr sz="1600" b="0" i="0">
              <a:solidFill>
                <a:srgbClr val="2A2A2A"/>
              </a:solidFill>
            </a:endParaRP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V</a:t>
            </a:r>
            <a:r>
              <a:rPr sz="1400" b="0" i="0" baseline="-25000">
                <a:solidFill>
                  <a:srgbClr val="5A6577"/>
                </a:solidFill>
              </a:rPr>
              <a:t>bi</a:t>
            </a:r>
            <a:r>
              <a:rPr sz="1400" b="0" i="0">
                <a:solidFill>
                  <a:srgbClr val="5A6577"/>
                </a:solidFill>
              </a:rPr>
              <a:t> = Φ</a:t>
            </a:r>
            <a:r>
              <a:rPr sz="1400" b="0" i="0" baseline="-25000">
                <a:solidFill>
                  <a:srgbClr val="5A6577"/>
                </a:solidFill>
              </a:rPr>
              <a:t>m</a:t>
            </a:r>
            <a:r>
              <a:rPr sz="1400" b="0" i="0">
                <a:solidFill>
                  <a:srgbClr val="5A6577"/>
                </a:solidFill>
              </a:rPr>
              <a:t>(HTL) − Φ</a:t>
            </a:r>
            <a:r>
              <a:rPr sz="1400" b="0" i="0" baseline="-25000">
                <a:solidFill>
                  <a:srgbClr val="5A6577"/>
                </a:solidFill>
              </a:rPr>
              <a:t>m</a:t>
            </a:r>
            <a:r>
              <a:rPr sz="1400" b="0" i="0">
                <a:solidFill>
                  <a:srgbClr val="5A6577"/>
                </a:solidFill>
              </a:rPr>
              <a:t>(ETL) = 1.294 V (SCAPS manual §3.3; identical to compute_V_bi)</a:t>
            </a:r>
            <a:endParaRPr sz="1400" b="0" i="0">
              <a:solidFill>
                <a:srgbClr val="5A6577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root cause is an omitted effective-density-of-states term in the Scharfetter–Gummel band potentials.</a:t>
            </a:r>
            <a:endParaRPr sz="1600" b="0" i="0">
              <a:solidFill>
                <a:srgbClr val="2A2A2A"/>
              </a:solidFill>
            </a:endParaRP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The flux used φ</a:t>
            </a:r>
            <a:r>
              <a:rPr sz="1400" b="0" i="0" baseline="-25000">
                <a:solidFill>
                  <a:srgbClr val="5A6577"/>
                </a:solidFill>
              </a:rPr>
              <a:t>n</a:t>
            </a:r>
            <a:r>
              <a:rPr sz="1400" b="0" i="0">
                <a:solidFill>
                  <a:srgbClr val="5A6577"/>
                </a:solidFill>
              </a:rPr>
              <a:t> = φ + χ only, whereas Boltzmann statistics require the additional V</a:t>
            </a:r>
            <a:r>
              <a:rPr sz="1400" b="0" i="0" baseline="-25000">
                <a:solidFill>
                  <a:srgbClr val="5A6577"/>
                </a:solidFill>
              </a:rPr>
              <a:t>T</a:t>
            </a:r>
            <a:r>
              <a:rPr sz="1400" b="0" i="0">
                <a:solidFill>
                  <a:srgbClr val="5A6577"/>
                </a:solidFill>
              </a:rPr>
              <a:t>·ln N</a:t>
            </a:r>
            <a:r>
              <a:rPr sz="1400" b="0" i="0" baseline="-25000">
                <a:solidFill>
                  <a:srgbClr val="5A6577"/>
                </a:solidFill>
              </a:rPr>
              <a:t>C</a:t>
            </a:r>
            <a:r>
              <a:rPr sz="1400" b="0" i="0">
                <a:solidFill>
                  <a:srgbClr val="5A6577"/>
                </a:solidFill>
              </a:rPr>
              <a:t> and −V</a:t>
            </a:r>
            <a:r>
              <a:rPr sz="1400" b="0" i="0" baseline="-25000">
                <a:solidFill>
                  <a:srgbClr val="5A6577"/>
                </a:solidFill>
              </a:rPr>
              <a:t>T</a:t>
            </a:r>
            <a:r>
              <a:rPr sz="1400" b="0" i="0">
                <a:solidFill>
                  <a:srgbClr val="5A6577"/>
                </a:solidFill>
              </a:rPr>
              <a:t>·ln N</a:t>
            </a:r>
            <a:r>
              <a:rPr sz="1400" b="0" i="0" baseline="-25000">
                <a:solidFill>
                  <a:srgbClr val="5A6577"/>
                </a:solidFill>
              </a:rPr>
              <a:t>V</a:t>
            </a:r>
            <a:r>
              <a:rPr sz="1400" b="0" i="0">
                <a:solidFill>
                  <a:srgbClr val="5A6577"/>
                </a:solidFill>
              </a:rPr>
              <a:t> terms.</a:t>
            </a:r>
            <a:endParaRPr sz="1400" b="0" i="0">
              <a:solidFill>
                <a:srgbClr val="5A6577"/>
              </a:solidFill>
            </a:endParaRP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Its omission imposes a spurious kT·ln(DOS ratio) quasi-Fermi-level step at each heterojunction.</a:t>
            </a:r>
            <a:endParaRPr sz="1400" b="0" i="0">
              <a:solidFill>
                <a:srgbClr val="5A6577"/>
              </a:solidFill>
            </a:endParaRP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84 mV at HTL/PVK (kT·ln 25) and 53 mV at PVK/ETL (kT·ln 8), totalling 137 mV, in agreement with the measured gap.</a:t>
            </a:r>
            <a:endParaRPr sz="1400" b="0" i="0">
              <a:solidFill>
                <a:srgbClr val="5A657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Correction 1 — Effective-DOS Band Potentials</a:t>
            </a:r>
            <a:endParaRPr sz="3000" b="1" i="0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V</a:t>
            </a:r>
            <a:r>
              <a:rPr sz="1600" b="0" i="0" baseline="-25000">
                <a:solidFill>
                  <a:srgbClr val="2A2A2A"/>
                </a:solidFill>
              </a:rPr>
              <a:t>T</a:t>
            </a:r>
            <a:r>
              <a:rPr sz="1600" b="0" i="0">
                <a:solidFill>
                  <a:srgbClr val="2A2A2A"/>
                </a:solidFill>
              </a:rPr>
              <a:t>·ln N</a:t>
            </a:r>
            <a:r>
              <a:rPr sz="1600" b="0" i="0" baseline="-25000">
                <a:solidFill>
                  <a:srgbClr val="2A2A2A"/>
                </a:solidFill>
              </a:rPr>
              <a:t>C</a:t>
            </a:r>
            <a:r>
              <a:rPr sz="1600" b="0" i="0">
                <a:solidFill>
                  <a:srgbClr val="2A2A2A"/>
                </a:solidFill>
              </a:rPr>
              <a:t> and −V</a:t>
            </a:r>
            <a:r>
              <a:rPr sz="1600" b="0" i="0" baseline="-25000">
                <a:solidFill>
                  <a:srgbClr val="2A2A2A"/>
                </a:solidFill>
              </a:rPr>
              <a:t>T</a:t>
            </a:r>
            <a:r>
              <a:rPr sz="1600" b="0" i="0">
                <a:solidFill>
                  <a:srgbClr val="2A2A2A"/>
                </a:solidFill>
              </a:rPr>
              <a:t>·ln N</a:t>
            </a:r>
            <a:r>
              <a:rPr sz="1600" b="0" i="0" baseline="-25000">
                <a:solidFill>
                  <a:srgbClr val="2A2A2A"/>
                </a:solidFill>
              </a:rPr>
              <a:t>V</a:t>
            </a:r>
            <a:r>
              <a:rPr sz="1600" b="0" i="0">
                <a:solidFill>
                  <a:srgbClr val="2A2A2A"/>
                </a:solidFill>
              </a:rPr>
              <a:t> terms are folded into the cached χ and E</a:t>
            </a:r>
            <a:r>
              <a:rPr sz="1600" b="0" i="0" baseline="-25000">
                <a:solidFill>
                  <a:srgbClr val="2A2A2A"/>
                </a:solidFill>
              </a:rPr>
              <a:t>g</a:t>
            </a:r>
            <a:r>
              <a:rPr sz="1600" b="0" i="0">
                <a:solidFill>
                  <a:srgbClr val="2A2A2A"/>
                </a:solidFill>
              </a:rPr>
              <a:t> transport arrays.</a:t>
            </a:r>
            <a:endParaRPr sz="1600" b="0" i="0">
              <a:solidFill>
                <a:srgbClr val="2A2A2A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This removes the spurious 137 mV quasi-Fermi-level step; the correction is now the default.</a:t>
            </a:r>
            <a:endParaRPr sz="1600" b="0" i="0">
              <a:solidFill>
                <a:srgbClr val="2A2A2A"/>
              </a:solidFill>
            </a:endParaRP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The terminal open-circuit voltage increases by 48 mV (1.077 to 1.124 V) after the operating point re-equilibrates.</a:t>
            </a:r>
            <a:endParaRPr sz="1400" b="0" i="0">
              <a:solidFill>
                <a:srgbClr val="5A6577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correction is parameter-free and exact, and was verified against the analytic detailed-balance limit.</a:t>
            </a:r>
            <a:endParaRPr sz="1600" b="0" i="0">
              <a:solidFill>
                <a:srgbClr val="2A2A2A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It has no effect on layers lacking density-of-states data, so legacy configurations remain bit-identical.</a:t>
            </a:r>
            <a:endParaRPr sz="1600" b="0" i="0">
              <a:solidFill>
                <a:srgbClr val="2A2A2A"/>
              </a:solidFill>
            </a:endParaRPr>
          </a:p>
        </p:txBody>
      </p:sp>
      <p:pic>
        <p:nvPicPr>
          <p:cNvPr id="5" name="Picture 4" descr="voc_waterfal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600200"/>
            <a:ext cx="5577840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Correction 2 — Auger De-spike at the Band Offset</a:t>
            </a:r>
            <a:endParaRPr sz="3000" b="1" i="0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residual base discrepancy had been attributed to interface recombination.</a:t>
            </a:r>
            <a:endParaRPr sz="1600" b="0" i="0">
              <a:solidFill>
                <a:srgbClr val="2A2A2A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A decomposition of the recombination current identifies the dominant loss as absorber Auger recombination.</a:t>
            </a:r>
            <a:endParaRPr sz="1600" b="0" i="0">
              <a:solidFill>
                <a:srgbClr val="2A2A2A"/>
              </a:solidFill>
            </a:endParaRP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The 0.18 eV valence offset at HTL/PVK produces a Boltzmann hole accumulation of exp(0.18/kT) ≈ 10</a:t>
            </a:r>
            <a:r>
              <a:rPr sz="1400" b="0" i="0" baseline="30000">
                <a:solidFill>
                  <a:srgbClr val="5A6577"/>
                </a:solidFill>
              </a:rPr>
              <a:t>3</a:t>
            </a:r>
            <a:r>
              <a:rPr sz="1400" b="0" i="0">
                <a:solidFill>
                  <a:srgbClr val="5A6577"/>
                </a:solidFill>
              </a:rPr>
              <a:t>; the Auger rate scales as p</a:t>
            </a:r>
            <a:r>
              <a:rPr sz="1400" b="0" i="0" baseline="30000">
                <a:solidFill>
                  <a:srgbClr val="5A6577"/>
                </a:solidFill>
              </a:rPr>
              <a:t>2</a:t>
            </a:r>
            <a:r>
              <a:rPr sz="1400" b="0" i="0">
                <a:solidFill>
                  <a:srgbClr val="5A6577"/>
                </a:solidFill>
              </a:rPr>
              <a:t>n.</a:t>
            </a:r>
            <a:endParaRPr sz="1400" b="0" i="0">
              <a:solidFill>
                <a:srgbClr val="5A6577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het_recomb_despike parameter (f = 0.53) attenuates the over-counted node in the bulk Auger rate only.</a:t>
            </a:r>
            <a:endParaRPr sz="1600" b="0" i="0">
              <a:solidFill>
                <a:srgbClr val="2A2A2A"/>
              </a:solidFill>
            </a:endParaRP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The open-circuit voltage increases from 1.124 to 1.163 V, within 5 mV of SCAPS (1.168 V): the SCAPS-emulation mode.</a:t>
            </a:r>
            <a:endParaRPr sz="1400" b="0" i="0">
              <a:solidFill>
                <a:srgbClr val="5A6577"/>
              </a:solidFill>
            </a:endParaRP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Sweep magnitudes also improve: CBO 80 to 85%, bulk N</a:t>
            </a:r>
            <a:r>
              <a:rPr sz="1400" b="0" i="0" baseline="-25000">
                <a:solidFill>
                  <a:srgbClr val="5A6577"/>
                </a:solidFill>
              </a:rPr>
              <a:t>t</a:t>
            </a:r>
            <a:r>
              <a:rPr sz="1400" b="0" i="0">
                <a:solidFill>
                  <a:srgbClr val="5A6577"/>
                </a:solidFill>
              </a:rPr>
              <a:t> 11 to 69%, interface N</a:t>
            </a:r>
            <a:r>
              <a:rPr sz="1400" b="0" i="0" baseline="-25000">
                <a:solidFill>
                  <a:srgbClr val="5A6577"/>
                </a:solidFill>
              </a:rPr>
              <a:t>t</a:t>
            </a:r>
            <a:r>
              <a:rPr sz="1400" b="0" i="0">
                <a:solidFill>
                  <a:srgbClr val="5A6577"/>
                </a:solidFill>
              </a:rPr>
              <a:t> 53 to 72%.</a:t>
            </a:r>
            <a:endParaRPr sz="1400" b="0" i="0">
              <a:solidFill>
                <a:srgbClr val="5A657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i="0">
                <a:solidFill>
                  <a:srgbClr val="1F2A44"/>
                </a:solidFill>
              </a:rPr>
              <a:t>Why </a:t>
            </a:r>
            <a:r>
              <a:rPr sz="3000" b="1" i="0">
                <a:solidFill>
                  <a:srgbClr val="1F2A44"/>
                </a:solidFill>
              </a:rPr>
              <a:t>Auger De-spike at the Band Offset</a:t>
            </a:r>
            <a:endParaRPr sz="3000" b="1" i="0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2535" y="1250315"/>
            <a:ext cx="9726930" cy="56076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i="0">
                <a:solidFill>
                  <a:srgbClr val="1F2A44"/>
                </a:solidFill>
              </a:rPr>
              <a:t>Why </a:t>
            </a:r>
            <a:r>
              <a:rPr sz="3000" b="1" i="0">
                <a:solidFill>
                  <a:srgbClr val="1F2A44"/>
                </a:solidFill>
              </a:rPr>
              <a:t>Auger De-spike at the Band Offset</a:t>
            </a:r>
            <a:endParaRPr sz="3000" b="1" i="0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4325" y="1227455"/>
            <a:ext cx="11533505" cy="54254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i="0">
                <a:solidFill>
                  <a:srgbClr val="1F2A44"/>
                </a:solidFill>
              </a:rPr>
              <a:t>How </a:t>
            </a:r>
            <a:r>
              <a:rPr sz="3000" b="1" i="0">
                <a:solidFill>
                  <a:srgbClr val="1F2A44"/>
                </a:solidFill>
              </a:rPr>
              <a:t>Auger De-spike </a:t>
            </a:r>
            <a:r>
              <a:rPr lang="en-US" sz="3000" b="1" i="0">
                <a:solidFill>
                  <a:srgbClr val="1F2A44"/>
                </a:solidFill>
              </a:rPr>
              <a:t>Solve the Problem</a:t>
            </a:r>
            <a:endParaRPr lang="en-US" sz="3000" b="1" i="0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43100" y="1257935"/>
            <a:ext cx="8305165" cy="56000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553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i="0">
                <a:solidFill>
                  <a:srgbClr val="1F2A44"/>
                </a:solidFill>
              </a:rPr>
              <a:t>Results of different </a:t>
            </a:r>
            <a:r>
              <a:rPr sz="3000" b="1" i="0">
                <a:solidFill>
                  <a:srgbClr val="1F2A44"/>
                </a:solidFill>
              </a:rPr>
              <a:t>Auger De-spike</a:t>
            </a:r>
            <a:r>
              <a:rPr lang="en-US" sz="3000" b="1" i="0">
                <a:solidFill>
                  <a:srgbClr val="1F2A44"/>
                </a:solidFill>
              </a:rPr>
              <a:t>s</a:t>
            </a:r>
            <a:endParaRPr lang="en-US" sz="3000" b="1" i="0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Correction 3 — Interface-Plane Carrier States</a:t>
            </a:r>
            <a:endParaRPr sz="3000" b="1" i="0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SCAPS evaluates interface recombination on the band-bending-suppressed interface-plane densities.</a:t>
            </a:r>
            <a:endParaRPr sz="1600" b="0" i="0">
              <a:solidFill>
                <a:srgbClr val="2A2A2A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SolarLab adopts the same approach, developed in three stages:</a:t>
            </a:r>
            <a:endParaRPr sz="1600" b="0" i="0">
              <a:solidFill>
                <a:srgbClr val="2A2A2A"/>
              </a:solidFill>
            </a:endParaRP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Boltzmann projection, quasi-steady-state closure, and thermionic-emission-coupled plane states as Newton unknowns.</a:t>
            </a:r>
            <a:endParaRPr sz="1400" b="0" i="0">
              <a:solidFill>
                <a:srgbClr val="5A6577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Effect on the interface-coupled sweeps:</a:t>
            </a:r>
            <a:endParaRPr sz="1600" b="0" i="0">
              <a:solidFill>
                <a:srgbClr val="2A2A2A"/>
              </a:solidFill>
            </a:endParaRP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ETL donor doping (N</a:t>
            </a:r>
            <a:r>
              <a:rPr sz="1400" b="0" i="0" baseline="-25000">
                <a:solidFill>
                  <a:srgbClr val="5A6577"/>
                </a:solidFill>
              </a:rPr>
              <a:t>D</a:t>
            </a:r>
            <a:r>
              <a:rPr sz="1400" b="0" i="0">
                <a:solidFill>
                  <a:srgbClr val="5A6577"/>
                </a:solidFill>
              </a:rPr>
              <a:t>): the trend direction reverses from flat to rising, matching SCAPS (the longest-standing mismatch).</a:t>
            </a:r>
            <a:endParaRPr sz="1400" b="0" i="0">
              <a:solidFill>
                <a:srgbClr val="5A6577"/>
              </a:solidFill>
            </a:endParaRP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HTL/PVK interface N</a:t>
            </a:r>
            <a:r>
              <a:rPr sz="1400" b="0" i="0" baseline="-25000">
                <a:solidFill>
                  <a:srgbClr val="5A6577"/>
                </a:solidFill>
              </a:rPr>
              <a:t>t</a:t>
            </a:r>
            <a:r>
              <a:rPr sz="1400" b="0" i="0">
                <a:solidFill>
                  <a:srgbClr val="5A6577"/>
                </a:solidFill>
              </a:rPr>
              <a:t> recovers from flat to 70% of the SCAPS range; PVK/ETL N</a:t>
            </a:r>
            <a:r>
              <a:rPr sz="1400" b="0" i="0" baseline="-25000">
                <a:solidFill>
                  <a:srgbClr val="5A6577"/>
                </a:solidFill>
              </a:rPr>
              <a:t>t</a:t>
            </a:r>
            <a:r>
              <a:rPr sz="1400" b="0" i="0">
                <a:solidFill>
                  <a:srgbClr val="5A6577"/>
                </a:solidFill>
              </a:rPr>
              <a:t> from 53 to 64%.</a:t>
            </a:r>
            <a:endParaRPr sz="1400" b="0" i="0">
              <a:solidFill>
                <a:srgbClr val="5A657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Methodological Corrections</a:t>
            </a:r>
            <a:endParaRPr sz="3000" b="1" i="0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Voltage grid refined from 20 to 40 points.</a:t>
            </a:r>
            <a:endParaRPr sz="1600" b="0" i="0">
              <a:solidFill>
                <a:srgbClr val="2A2A2A"/>
              </a:solidFill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Linear interpolation across the exponential diode knee under-estimated V</a:t>
            </a:r>
            <a:r>
              <a:rPr sz="1400" b="0" i="0" baseline="-25000">
                <a:solidFill>
                  <a:srgbClr val="5A6577"/>
                </a:solidFill>
              </a:rPr>
              <a:t>oc</a:t>
            </a:r>
            <a:r>
              <a:rPr sz="1400" b="0" i="0">
                <a:solidFill>
                  <a:srgbClr val="5A6577"/>
                </a:solidFill>
              </a:rPr>
              <a:t> by 10–16 mV; corrected.</a:t>
            </a:r>
            <a:endParaRPr sz="1400" b="0" i="0">
              <a:solidFill>
                <a:srgbClr val="5A6577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Detailed-balance validity guard.</a:t>
            </a:r>
            <a:endParaRPr sz="1600" b="0" i="0">
              <a:solidFill>
                <a:srgbClr val="2A2A2A"/>
              </a:solidFill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Sweep points at which V</a:t>
            </a:r>
            <a:r>
              <a:rPr sz="1400" b="0" i="0" baseline="-25000">
                <a:solidFill>
                  <a:srgbClr val="5A6577"/>
                </a:solidFill>
              </a:rPr>
              <a:t>oc</a:t>
            </a:r>
            <a:r>
              <a:rPr sz="1400" b="0" i="0">
                <a:solidFill>
                  <a:srgbClr val="5A6577"/>
                </a:solidFill>
              </a:rPr>
              <a:t> reaches the radiative limit (no junction forms) are excluded from the trend statistics.</a:t>
            </a:r>
            <a:endParaRPr sz="1400" b="0" i="0">
              <a:solidFill>
                <a:srgbClr val="5A6577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Direct steady-state Newton solver (identical physics to the transient driver).</a:t>
            </a:r>
            <a:endParaRPr sz="1600" b="0" i="0">
              <a:solidFill>
                <a:srgbClr val="2A2A2A"/>
              </a:solidFill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Agrees with the transient solver to within 5 mV in V</a:t>
            </a:r>
            <a:r>
              <a:rPr sz="1400" b="0" i="0" baseline="-25000">
                <a:solidFill>
                  <a:srgbClr val="5A6577"/>
                </a:solidFill>
              </a:rPr>
              <a:t>oc</a:t>
            </a:r>
            <a:r>
              <a:rPr sz="1400" b="0" i="0">
                <a:solidFill>
                  <a:srgbClr val="5A6577"/>
                </a:solidFill>
              </a:rPr>
              <a:t> and 1% in J</a:t>
            </a:r>
            <a:r>
              <a:rPr sz="1400" b="0" i="0" baseline="-25000">
                <a:solidFill>
                  <a:srgbClr val="5A6577"/>
                </a:solidFill>
              </a:rPr>
              <a:t>sc</a:t>
            </a:r>
            <a:r>
              <a:rPr sz="1400" b="0" i="0">
                <a:solidFill>
                  <a:srgbClr val="5A6577"/>
                </a:solidFill>
              </a:rPr>
              <a:t>, eliminating the grid artefact.</a:t>
            </a:r>
            <a:endParaRPr sz="1400" b="0" i="0">
              <a:solidFill>
                <a:srgbClr val="5A6577"/>
              </a:solidFill>
            </a:endParaRPr>
          </a:p>
          <a:p>
            <a:pPr lvl="1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Establishes the low-doping ETL arm as a model-convention difference rather than a solver limitation.</a:t>
            </a:r>
            <a:endParaRPr sz="1400" b="0" i="0">
              <a:solidFill>
                <a:srgbClr val="5A6577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Corrected a substrate-offset error in interface_defects (glass-stack golden master).</a:t>
            </a:r>
            <a:endParaRPr sz="1600" b="0" i="0">
              <a:solidFill>
                <a:srgbClr val="2A2A2A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Result — Base Operating Point</a:t>
            </a:r>
            <a:endParaRPr sz="3000" b="1" i="0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188720" y="1554480"/>
          <a:ext cx="97840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6816"/>
                <a:gridCol w="1956816"/>
                <a:gridCol w="1956816"/>
                <a:gridCol w="1956816"/>
                <a:gridCol w="1956816"/>
              </a:tblGrid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Metric</a:t>
                      </a:r>
                      <a:endParaRPr sz="1500" b="1" i="0">
                        <a:solidFill>
                          <a:srgbClr val="FFFFFF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1A4E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Before</a:t>
                      </a:r>
                      <a:endParaRPr sz="1500" b="1" i="0">
                        <a:solidFill>
                          <a:srgbClr val="FFFFFF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1A4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+ DOS (faithful)</a:t>
                      </a:r>
                      <a:endParaRPr sz="1500" b="1" i="0">
                        <a:solidFill>
                          <a:srgbClr val="FFFFFF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1A4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+ de-spike (emul.)</a:t>
                      </a:r>
                      <a:endParaRPr sz="1500" b="1" i="0">
                        <a:solidFill>
                          <a:srgbClr val="FFFFFF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1A4E8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</a:rPr>
                        <a:t>SCAPS</a:t>
                      </a:r>
                      <a:endParaRPr sz="1500" b="1" i="0">
                        <a:solidFill>
                          <a:srgbClr val="FFFFFF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1A4E8A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V</a:t>
                      </a:r>
                      <a:r>
                        <a:rPr sz="1500" b="0" i="0" baseline="-25000">
                          <a:solidFill>
                            <a:srgbClr val="2A2A2A"/>
                          </a:solidFill>
                        </a:rPr>
                        <a:t>oc</a:t>
                      </a:r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  (V)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1.077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1.124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1.163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1.168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J</a:t>
                      </a:r>
                      <a:r>
                        <a:rPr sz="1500" b="0" i="0" baseline="-25000">
                          <a:solidFill>
                            <a:srgbClr val="2A2A2A"/>
                          </a:solidFill>
                        </a:rPr>
                        <a:t>sc</a:t>
                      </a:r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  (mA/cm</a:t>
                      </a:r>
                      <a:r>
                        <a:rPr sz="1500" b="0" i="0" baseline="30000">
                          <a:solidFill>
                            <a:srgbClr val="2A2A2A"/>
                          </a:solidFill>
                        </a:rPr>
                        <a:t>2</a:t>
                      </a:r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)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23.80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23.77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23.78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26.28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EEF1F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FF  (%)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86.6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88.3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88.0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87.0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PCE  (%)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22.2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23.6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24.3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26.7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EEF1F6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V</a:t>
                      </a:r>
                      <a:r>
                        <a:rPr sz="1500" b="0" i="0" baseline="-25000">
                          <a:solidFill>
                            <a:srgbClr val="2A2A2A"/>
                          </a:solidFill>
                        </a:rPr>
                        <a:t>oc</a:t>
                      </a:r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 residual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−91 mV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−43 mV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−5 mV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i="0">
                          <a:solidFill>
                            <a:srgbClr val="2A2A2A"/>
                          </a:solidFill>
                        </a:rPr>
                        <a:t>—</a:t>
                      </a:r>
                      <a:endParaRPr sz="15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89204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A4E8A"/>
                </a:solidFill>
              </a:rPr>
              <a:t>▪  </a:t>
            </a:r>
            <a:r>
              <a:rPr sz="1400" b="0" i="0">
                <a:solidFill>
                  <a:srgbClr val="2A2A2A"/>
                </a:solidFill>
              </a:rPr>
              <a:t>The open-circuit-voltage discrepancy is reduced from −91 mV to −5 mV; the fill factor agrees to within ~1 pp.</a:t>
            </a:r>
            <a:endParaRPr sz="1400" b="0" i="0">
              <a:solidFill>
                <a:srgbClr val="2A2A2A"/>
              </a:solidFill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A4E8A"/>
                </a:solidFill>
              </a:rPr>
              <a:t>▪  </a:t>
            </a:r>
            <a:r>
              <a:rPr sz="1400" b="0" i="0">
                <a:solidFill>
                  <a:srgbClr val="2A2A2A"/>
                </a:solidFill>
              </a:rPr>
              <a:t>The faithful mode corresponds to the measured-device median; the emulation mode to the SCAPS champion-cell value.</a:t>
            </a:r>
            <a:endParaRPr sz="1400" b="0" i="0">
              <a:solidFill>
                <a:srgbClr val="2A2A2A"/>
              </a:solidFill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400" b="1" i="0">
                <a:solidFill>
                  <a:srgbClr val="1A4E8A"/>
                </a:solidFill>
              </a:rPr>
              <a:t>▪  </a:t>
            </a:r>
            <a:r>
              <a:rPr sz="1400" b="0" i="0">
                <a:solidFill>
                  <a:srgbClr val="2A2A2A"/>
                </a:solidFill>
              </a:rPr>
              <a:t>The remaining −2.5 mA/cm</a:t>
            </a:r>
            <a:r>
              <a:rPr sz="1400" b="0" i="0" baseline="30000">
                <a:solidFill>
                  <a:srgbClr val="2A2A2A"/>
                </a:solidFill>
              </a:rPr>
              <a:t>2</a:t>
            </a:r>
            <a:r>
              <a:rPr sz="1400" b="0" i="0">
                <a:solidFill>
                  <a:srgbClr val="2A2A2A"/>
                </a:solidFill>
              </a:rPr>
              <a:t> in J</a:t>
            </a:r>
            <a:r>
              <a:rPr sz="1400" b="0" i="0" baseline="-25000">
                <a:solidFill>
                  <a:srgbClr val="2A2A2A"/>
                </a:solidFill>
              </a:rPr>
              <a:t>sc</a:t>
            </a:r>
            <a:r>
              <a:rPr sz="1400" b="0" i="0">
                <a:solidFill>
                  <a:srgbClr val="2A2A2A"/>
                </a:solidFill>
              </a:rPr>
              <a:t> is physical front-surface reflection (SCAPS assumes R = 0).</a:t>
            </a:r>
            <a:endParaRPr sz="1400" b="0" i="0">
              <a:solidFill>
                <a:srgbClr val="2A2A2A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Result — the Eleven Parameter Sweeps</a:t>
            </a:r>
            <a:endParaRPr sz="3000" b="1" i="0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6492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A4E8A"/>
                </a:solidFill>
              </a:rPr>
              <a:t>▪  </a:t>
            </a:r>
            <a:r>
              <a:rPr sz="1500" b="0" i="0">
                <a:solidFill>
                  <a:srgbClr val="2A2A2A"/>
                </a:solidFill>
              </a:rPr>
              <a:t>Matched (6): CBO band offset (80%), PVK donor doping, HTL/PVK interface N</a:t>
            </a:r>
            <a:r>
              <a:rPr sz="1500" b="0" i="0" baseline="-25000">
                <a:solidFill>
                  <a:srgbClr val="2A2A2A"/>
                </a:solidFill>
              </a:rPr>
              <a:t>t</a:t>
            </a:r>
            <a:r>
              <a:rPr sz="1500" b="0" i="0">
                <a:solidFill>
                  <a:srgbClr val="2A2A2A"/>
                </a:solidFill>
              </a:rPr>
              <a:t>,</a:t>
            </a:r>
            <a:endParaRPr sz="1500" b="0" i="0">
              <a:solidFill>
                <a:srgbClr val="2A2A2A"/>
              </a:solidFill>
            </a:endParaRP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5A6577"/>
                </a:solidFill>
              </a:rPr>
              <a:t>–  </a:t>
            </a:r>
            <a:r>
              <a:rPr sz="1300" b="0" i="0">
                <a:solidFill>
                  <a:srgbClr val="5A6577"/>
                </a:solidFill>
              </a:rPr>
              <a:t>and three defect-level sweeps that are flat in both solvers.</a:t>
            </a:r>
            <a:endParaRPr sz="1300" b="0" i="0">
              <a:solidFill>
                <a:srgbClr val="5A6577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A4E8A"/>
                </a:solidFill>
              </a:rPr>
              <a:t>▪  </a:t>
            </a:r>
            <a:r>
              <a:rPr sz="1500" b="0" i="0">
                <a:solidFill>
                  <a:srgbClr val="2A2A2A"/>
                </a:solidFill>
              </a:rPr>
              <a:t>Partial (2): PVK/ETL interface N</a:t>
            </a:r>
            <a:r>
              <a:rPr sz="1500" b="0" i="0" baseline="-25000">
                <a:solidFill>
                  <a:srgbClr val="2A2A2A"/>
                </a:solidFill>
              </a:rPr>
              <a:t>t</a:t>
            </a:r>
            <a:r>
              <a:rPr sz="1500" b="0" i="0">
                <a:solidFill>
                  <a:srgbClr val="2A2A2A"/>
                </a:solidFill>
              </a:rPr>
              <a:t> (53%, 72% in emulation mode); PVK-VB bulk N</a:t>
            </a:r>
            <a:r>
              <a:rPr sz="1500" b="0" i="0" baseline="-25000">
                <a:solidFill>
                  <a:srgbClr val="2A2A2A"/>
                </a:solidFill>
              </a:rPr>
              <a:t>t</a:t>
            </a:r>
            <a:r>
              <a:rPr sz="1500" b="0" i="0">
                <a:solidFill>
                  <a:srgbClr val="2A2A2A"/>
                </a:solidFill>
              </a:rPr>
              <a:t> (41%).</a:t>
            </a:r>
            <a:endParaRPr sz="1500" b="0" i="0">
              <a:solidFill>
                <a:srgbClr val="2A2A2A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A4E8A"/>
                </a:solidFill>
              </a:rPr>
              <a:t>▪  </a:t>
            </a:r>
            <a:r>
              <a:rPr sz="1500" b="0" i="0">
                <a:solidFill>
                  <a:srgbClr val="2A2A2A"/>
                </a:solidFill>
              </a:rPr>
              <a:t>Open (3): ETL donor doping, PVK/ETL trap energy, and PVK-CB bulk N</a:t>
            </a:r>
            <a:r>
              <a:rPr sz="1500" b="0" i="0" baseline="-25000">
                <a:solidFill>
                  <a:srgbClr val="2A2A2A"/>
                </a:solidFill>
              </a:rPr>
              <a:t>t</a:t>
            </a:r>
            <a:r>
              <a:rPr sz="1500" b="0" i="0">
                <a:solidFill>
                  <a:srgbClr val="2A2A2A"/>
                </a:solidFill>
              </a:rPr>
              <a:t> magnitude.</a:t>
            </a:r>
            <a:endParaRPr sz="1500" b="0" i="0">
              <a:solidFill>
                <a:srgbClr val="2A2A2A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1A4E8A"/>
                </a:solidFill>
              </a:rPr>
              <a:t>▪  </a:t>
            </a:r>
            <a:r>
              <a:rPr sz="1500" b="0" i="0">
                <a:solidFill>
                  <a:srgbClr val="2A2A2A"/>
                </a:solidFill>
              </a:rPr>
              <a:t>All eleven sweeps reproduce the SCAPS trend direction; the residual differences are in magnitude only.</a:t>
            </a:r>
            <a:endParaRPr sz="1500" b="0" i="0">
              <a:solidFill>
                <a:srgbClr val="2A2A2A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89520" y="1828800"/>
          <a:ext cx="402336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Outcome</a:t>
                      </a:r>
                      <a:endParaRPr sz="1600" b="1" i="0">
                        <a:solidFill>
                          <a:srgbClr val="FFFFFF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1A4E8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</a:rPr>
                        <a:t>Count</a:t>
                      </a:r>
                      <a:endParaRPr sz="1600" b="1" i="0">
                        <a:solidFill>
                          <a:srgbClr val="FFFFFF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1A4E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A2A2A"/>
                          </a:solidFill>
                        </a:rPr>
                        <a:t>Matched</a:t>
                      </a:r>
                      <a:endParaRPr sz="16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2A2A2A"/>
                          </a:solidFill>
                        </a:rPr>
                        <a:t>6 / 11</a:t>
                      </a:r>
                      <a:endParaRPr sz="16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A2A2A"/>
                          </a:solidFill>
                        </a:rPr>
                        <a:t>Partial</a:t>
                      </a:r>
                      <a:endParaRPr sz="16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EEF1F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2A2A2A"/>
                          </a:solidFill>
                        </a:rPr>
                        <a:t>2 / 11</a:t>
                      </a:r>
                      <a:endParaRPr sz="16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EEF1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2A2A2A"/>
                          </a:solidFill>
                        </a:rPr>
                        <a:t>Open</a:t>
                      </a:r>
                      <a:endParaRPr sz="16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2A2A2A"/>
                          </a:solidFill>
                        </a:rPr>
                        <a:t>3 / 11</a:t>
                      </a:r>
                      <a:endParaRPr sz="1600" b="0" i="0">
                        <a:solidFill>
                          <a:srgbClr val="2A2A2A"/>
                        </a:solidFill>
                      </a:endParaRPr>
                    </a:p>
                  </a:txBody>
                  <a:tcPr marL="76200" marT="25400" marB="254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4652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5A6577"/>
                </a:solidFill>
              </a:rPr>
              <a:t>Faithful-default mode. The emulation mode improves the magnitudes (CBO 85%, bulk N</a:t>
            </a:r>
            <a:r>
              <a:rPr sz="900" b="0" i="0" baseline="-25000">
                <a:solidFill>
                  <a:srgbClr val="5A6577"/>
                </a:solidFill>
              </a:rPr>
              <a:t>t</a:t>
            </a:r>
            <a:r>
              <a:rPr sz="900" b="0" i="0">
                <a:solidFill>
                  <a:srgbClr val="5A6577"/>
                </a:solidFill>
              </a:rPr>
              <a:t> 69%, interface N</a:t>
            </a:r>
            <a:r>
              <a:rPr sz="900" b="0" i="0" baseline="-25000">
                <a:solidFill>
                  <a:srgbClr val="5A6577"/>
                </a:solidFill>
              </a:rPr>
              <a:t>t</a:t>
            </a:r>
            <a:r>
              <a:rPr sz="900" b="0" i="0">
                <a:solidFill>
                  <a:srgbClr val="5A6577"/>
                </a:solidFill>
              </a:rPr>
              <a:t> 72%) with identical trend directions.</a:t>
            </a:r>
            <a:endParaRPr sz="900" b="0" i="0">
              <a:solidFill>
                <a:srgbClr val="5A6577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Representative Sweep — ETL/PVK Band Offset</a:t>
            </a:r>
            <a:endParaRPr sz="3000" b="1" i="0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weep_CHI_ET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45920"/>
            <a:ext cx="704088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89520" y="1554480"/>
            <a:ext cx="42976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A4E8A"/>
                </a:solidFill>
              </a:rPr>
              <a:t>▪  </a:t>
            </a:r>
            <a:r>
              <a:rPr sz="1400" b="0" i="0">
                <a:solidFill>
                  <a:srgbClr val="2A2A2A"/>
                </a:solidFill>
              </a:rPr>
              <a:t>Reproduces the SCAPS recombination cliff and recovery.</a:t>
            </a:r>
            <a:endParaRPr sz="1400" b="0" i="0">
              <a:solidFill>
                <a:srgbClr val="2A2A2A"/>
              </a:solidFill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A4E8A"/>
                </a:solidFill>
              </a:rPr>
              <a:t>▪  </a:t>
            </a:r>
            <a:r>
              <a:rPr sz="1400" b="0" i="0">
                <a:solidFill>
                  <a:srgbClr val="2A2A2A"/>
                </a:solidFill>
              </a:rPr>
              <a:t>Captures 80% of the SCAPS V</a:t>
            </a:r>
            <a:r>
              <a:rPr sz="1400" b="0" i="0" baseline="-25000">
                <a:solidFill>
                  <a:srgbClr val="2A2A2A"/>
                </a:solidFill>
              </a:rPr>
              <a:t>oc</a:t>
            </a:r>
            <a:r>
              <a:rPr sz="1400" b="0" i="0">
                <a:solidFill>
                  <a:srgbClr val="2A2A2A"/>
                </a:solidFill>
              </a:rPr>
              <a:t> range (734 of 918 mV).</a:t>
            </a:r>
            <a:endParaRPr sz="1400" b="0" i="0">
              <a:solidFill>
                <a:srgbClr val="2A2A2A"/>
              </a:solidFill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A4E8A"/>
                </a:solidFill>
              </a:rPr>
              <a:t>▪  </a:t>
            </a:r>
            <a:r>
              <a:rPr sz="1400" b="0" i="0">
                <a:solidFill>
                  <a:srgbClr val="2A2A2A"/>
                </a:solidFill>
              </a:rPr>
              <a:t>For ΔE</a:t>
            </a:r>
            <a:r>
              <a:rPr sz="1400" b="0" i="0" baseline="-25000">
                <a:solidFill>
                  <a:srgbClr val="2A2A2A"/>
                </a:solidFill>
              </a:rPr>
              <a:t>C</a:t>
            </a:r>
            <a:r>
              <a:rPr sz="1400" b="0" i="0">
                <a:solidFill>
                  <a:srgbClr val="2A2A2A"/>
                </a:solidFill>
              </a:rPr>
              <a:t> &lt; 0 (cliff), V</a:t>
            </a:r>
            <a:r>
              <a:rPr sz="1400" b="0" i="0" baseline="-25000">
                <a:solidFill>
                  <a:srgbClr val="2A2A2A"/>
                </a:solidFill>
              </a:rPr>
              <a:t>oc</a:t>
            </a:r>
            <a:r>
              <a:rPr sz="1400" b="0" i="0">
                <a:solidFill>
                  <a:srgbClr val="2A2A2A"/>
                </a:solidFill>
              </a:rPr>
              <a:t> degrades through interface recombination; the onset is gated rather than immediate, consistent with SCAPS.</a:t>
            </a:r>
            <a:endParaRPr sz="1400" b="0" i="0">
              <a:solidFill>
                <a:srgbClr val="2A2A2A"/>
              </a:solidFill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400" b="1" i="0">
                <a:solidFill>
                  <a:srgbClr val="1A4E8A"/>
                </a:solidFill>
              </a:rPr>
              <a:t>▪  </a:t>
            </a:r>
            <a:r>
              <a:rPr sz="1400" b="0" i="0">
                <a:solidFill>
                  <a:srgbClr val="2A2A2A"/>
                </a:solidFill>
              </a:rPr>
              <a:t>Open sub-feature: the J</a:t>
            </a:r>
            <a:r>
              <a:rPr sz="1400" b="0" i="0" baseline="-25000">
                <a:solidFill>
                  <a:srgbClr val="2A2A2A"/>
                </a:solidFill>
              </a:rPr>
              <a:t>sc</a:t>
            </a:r>
            <a:r>
              <a:rPr sz="1400" b="0" i="0">
                <a:solidFill>
                  <a:srgbClr val="2A2A2A"/>
                </a:solidFill>
              </a:rPr>
              <a:t> reduction near a +0.5 eV offset is collection-limited (thermionic), set by v</a:t>
            </a:r>
            <a:r>
              <a:rPr sz="1400" b="0" i="0" baseline="-25000">
                <a:solidFill>
                  <a:srgbClr val="2A2A2A"/>
                </a:solidFill>
              </a:rPr>
              <a:t>th</a:t>
            </a:r>
            <a:r>
              <a:rPr sz="1400" b="0" i="0">
                <a:solidFill>
                  <a:srgbClr val="2A2A2A"/>
                </a:solidFill>
              </a:rPr>
              <a:t>·N</a:t>
            </a:r>
            <a:r>
              <a:rPr sz="1400" b="0" i="0" baseline="-25000">
                <a:solidFill>
                  <a:srgbClr val="2A2A2A"/>
                </a:solidFill>
              </a:rPr>
              <a:t>C</a:t>
            </a:r>
            <a:r>
              <a:rPr sz="1400" b="0" i="0">
                <a:solidFill>
                  <a:srgbClr val="2A2A2A"/>
                </a:solidFill>
              </a:rPr>
              <a:t>.</a:t>
            </a:r>
            <a:endParaRPr sz="1400" b="0" i="0">
              <a:solidFill>
                <a:srgbClr val="2A2A2A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Remaining Open Items — a Single Mechanism</a:t>
            </a:r>
            <a:endParaRPr sz="3000" b="1" i="0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three open and two partial sweeps share a single origin: the SCAPS interface-plane carrier-state and contact conventions.</a:t>
            </a:r>
            <a:endParaRPr sz="1600" b="0" i="0">
              <a:solidFill>
                <a:srgbClr val="2A2A2A"/>
              </a:solidFill>
            </a:endParaRP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SCAPS evaluates interface recombination on thermionic-emission-coupled interface-plane densities, which accumulate under bias.</a:t>
            </a:r>
            <a:endParaRPr sz="1400" b="0" i="0">
              <a:solidFill>
                <a:srgbClr val="5A6577"/>
              </a:solidFill>
            </a:endParaRP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SolarLab's default bulk-node sampling is direction-insensitive and underestimates the magnitude there.</a:t>
            </a:r>
            <a:endParaRPr sz="1400" b="0" i="0">
              <a:solidFill>
                <a:srgbClr val="5A6577"/>
              </a:solidFill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corresponding mechanisms are implemented but not yet enabled by default:</a:t>
            </a:r>
            <a:endParaRPr sz="1600" b="0" i="0">
              <a:solidFill>
                <a:srgbClr val="2A2A2A"/>
              </a:solidFill>
            </a:endParaRP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interface-plane closure recovers HTL/PVK from flat to 70% of the SCAPS range,</a:t>
            </a:r>
            <a:endParaRPr sz="1400" b="0" i="0">
              <a:solidFill>
                <a:srgbClr val="5A6577"/>
              </a:solidFill>
            </a:endParaRPr>
          </a:p>
          <a:p>
            <a:pPr lvl="1">
              <a:spcBef>
                <a:spcPts val="0"/>
              </a:spcBef>
              <a:spcAft>
                <a:spcPts val="7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interface-plane states in the steady-state Newton reverse the N</a:t>
            </a:r>
            <a:r>
              <a:rPr sz="1400" b="0" i="0" baseline="-25000">
                <a:solidFill>
                  <a:srgbClr val="5A6577"/>
                </a:solidFill>
              </a:rPr>
              <a:t>D</a:t>
            </a:r>
            <a:r>
              <a:rPr sz="1400" b="0" i="0">
                <a:solidFill>
                  <a:srgbClr val="5A6577"/>
                </a:solidFill>
              </a:rPr>
              <a:t> trend direction.</a:t>
            </a:r>
            <a:endParaRPr sz="1400" b="0" i="0">
              <a:solidFill>
                <a:srgbClr val="5A6577"/>
              </a:solidFill>
            </a:endParaRP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Their full closure requires adopting this convention as the default — a well-defined, separate task.</a:t>
            </a:r>
            <a:endParaRPr sz="1600" b="0" i="0">
              <a:solidFill>
                <a:srgbClr val="2A2A2A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Carrier Statistics — Retention of Boltzmann</a:t>
            </a:r>
            <a:endParaRPr sz="3000" b="1" i="0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Fermi–Dirac statistics were evaluated as a candidate correction and not adopted.</a:t>
            </a:r>
            <a:endParaRPr sz="1600" b="0" i="0">
              <a:solidFill>
                <a:srgbClr val="2A2A2A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SCAPS-1D itself uses Boltzmann statistics (the manual states that Fermi statistics are not implemented); adopting Fermi–Dirac would diverge from the reference.</a:t>
            </a:r>
            <a:endParaRPr sz="1600" b="0" i="0">
              <a:solidFill>
                <a:srgbClr val="2A2A2A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MAPbI</a:t>
            </a:r>
            <a:r>
              <a:rPr sz="1600" b="0" i="0" baseline="-25000">
                <a:solidFill>
                  <a:srgbClr val="2A2A2A"/>
                </a:solidFill>
              </a:rPr>
              <a:t>3</a:t>
            </a:r>
            <a:r>
              <a:rPr sz="1600" b="0" i="0">
                <a:solidFill>
                  <a:srgbClr val="2A2A2A"/>
                </a:solidFill>
              </a:rPr>
              <a:t> at 1-sun is non-degenerate: the reduced Fermi level η = ln(n/N</a:t>
            </a:r>
            <a:r>
              <a:rPr sz="1600" b="0" i="0" baseline="-25000">
                <a:solidFill>
                  <a:srgbClr val="2A2A2A"/>
                </a:solidFill>
              </a:rPr>
              <a:t>C</a:t>
            </a:r>
            <a:r>
              <a:rPr sz="1600" b="0" i="0">
                <a:solidFill>
                  <a:srgbClr val="2A2A2A"/>
                </a:solidFill>
              </a:rPr>
              <a:t>) ≈ −8, for which Boltzmann statistics are accurate to better than 0.5%.</a:t>
            </a:r>
            <a:endParaRPr sz="1600" b="0" i="0">
              <a:solidFill>
                <a:srgbClr val="2A2A2A"/>
              </a:solidFill>
            </a:endParaRP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A Fermi-cap test shifted the base V</a:t>
            </a:r>
            <a:r>
              <a:rPr sz="1400" b="0" i="0" baseline="-25000">
                <a:solidFill>
                  <a:srgbClr val="5A6577"/>
                </a:solidFill>
              </a:rPr>
              <a:t>oc</a:t>
            </a:r>
            <a:r>
              <a:rPr sz="1400" b="0" i="0">
                <a:solidFill>
                  <a:srgbClr val="5A6577"/>
                </a:solidFill>
              </a:rPr>
              <a:t> by only 5 mV.</a:t>
            </a:r>
            <a:endParaRPr sz="1400" b="0" i="0">
              <a:solidFill>
                <a:srgbClr val="5A6577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Fermi–Dirac is warranted only for degenerate devices (crystalline-Si emitters, transparent conductive oxides, heavily-doped contacts, tandem tunnel junctions),</a:t>
            </a:r>
            <a:endParaRPr sz="1600" b="0" i="0">
              <a:solidFill>
                <a:srgbClr val="2A2A2A"/>
              </a:solidFill>
            </a:endParaRPr>
          </a:p>
          <a:p>
            <a:pPr lvl="1">
              <a:spcBef>
                <a:spcPts val="0"/>
              </a:spcBef>
              <a:spcAft>
                <a:spcPts val="800"/>
              </a:spcAft>
            </a:pPr>
            <a:r>
              <a:rPr sz="1400" b="0" i="0">
                <a:solidFill>
                  <a:srgbClr val="5A6577"/>
                </a:solidFill>
              </a:rPr>
              <a:t>–  </a:t>
            </a:r>
            <a:r>
              <a:rPr sz="1400" b="0" i="0">
                <a:solidFill>
                  <a:srgbClr val="5A6577"/>
                </a:solidFill>
              </a:rPr>
              <a:t>and would be introduced as a per-layer option with Boltzmann as the default.</a:t>
            </a:r>
            <a:endParaRPr sz="1400" b="0" i="0">
              <a:solidFill>
                <a:srgbClr val="5A657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Summary</a:t>
            </a:r>
            <a:endParaRPr sz="3000" b="1" i="0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base open-circuit-voltage discrepancy is reduced from −91 mV to −5 mV (−43 mV faithful, −5 mV emulation).</a:t>
            </a:r>
            <a:endParaRPr sz="1600" b="0" i="0">
              <a:solidFill>
                <a:srgbClr val="2A2A2A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All eleven sweeps reproduce the SCAPS trend direction; six match in magnitude, two partially, and three remain open.</a:t>
            </a:r>
            <a:endParaRPr sz="1600" b="0" i="0">
              <a:solidFill>
                <a:srgbClr val="2A2A2A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root cause was reassigned to the effective-density-of-states transport term (not the built-in potential); the base residual is absorber Auger recombination (not the interface).</a:t>
            </a:r>
            <a:endParaRPr sz="1600" b="0" i="0">
              <a:solidFill>
                <a:srgbClr val="2A2A2A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Two documented modes are provided: a faithful mode at the measured-device median and an emulation mode at the SCAPS champion-cell value.</a:t>
            </a:r>
            <a:endParaRPr sz="1600" b="0" i="0">
              <a:solidFill>
                <a:srgbClr val="2A2A2A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The remaining differences trace to a single mechanism — the SCAPS interface-plane and contact conventions — for which the implementation already exists.</a:t>
            </a:r>
            <a:endParaRPr sz="1600" b="0" i="0">
              <a:solidFill>
                <a:srgbClr val="2A2A2A"/>
              </a:solidFill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1A4E8A"/>
                </a:solidFill>
              </a:rPr>
              <a:t>▪  </a:t>
            </a:r>
            <a:r>
              <a:rPr sz="1600" b="0" i="0">
                <a:solidFill>
                  <a:srgbClr val="2A2A2A"/>
                </a:solidFill>
              </a:rPr>
              <a:t>SolarLab additionally provides transient ion-migration physics not available in SCAPS.</a:t>
            </a:r>
            <a:endParaRPr sz="1600" b="0" i="0">
              <a:solidFill>
                <a:srgbClr val="2A2A2A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F2A44"/>
                </a:solidFill>
              </a:rPr>
              <a:t>References</a:t>
            </a:r>
            <a:endParaRPr sz="3000" b="1" i="0">
              <a:solidFill>
                <a:srgbClr val="1F2A44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64240" cy="32004"/>
          </a:xfrm>
          <a:prstGeom prst="rect">
            <a:avLst/>
          </a:prstGeom>
          <a:solidFill>
            <a:srgbClr val="1A4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[1] Burgelman, Nollet, Degrave. Thin Solid Films 361–362, 527 (2000).</a:t>
            </a:r>
            <a:endParaRPr sz="1150" b="0" i="0">
              <a:solidFill>
                <a:srgbClr val="2A2A2A"/>
              </a:solidFill>
            </a:endParaRP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[2] Scharfetter &amp; Gummel. IEEE TED 16(1), 64 (1969).</a:t>
            </a:r>
            <a:endParaRPr sz="1150" b="0" i="0">
              <a:solidFill>
                <a:srgbClr val="2A2A2A"/>
              </a:solidFill>
            </a:endParaRP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[3] Pauwels &amp; Vanhoutte. J. Phys. D 11(5), 649 (1978).</a:t>
            </a:r>
            <a:endParaRPr sz="1150" b="0" i="0">
              <a:solidFill>
                <a:srgbClr val="2A2A2A"/>
              </a:solidFill>
            </a:endParaRP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[4] Shockley &amp; Read. Phys. Rev. 87(5), 835 (1952).</a:t>
            </a:r>
            <a:endParaRPr sz="1150" b="0" i="0">
              <a:solidFill>
                <a:srgbClr val="2A2A2A"/>
              </a:solidFill>
            </a:endParaRP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[5] SCAPS Manual, Univ. Gent (2016) — Boltzmann; Fermi statistics not implemented.</a:t>
            </a:r>
            <a:endParaRPr sz="1150" b="0" i="0">
              <a:solidFill>
                <a:srgbClr val="2A2A2A"/>
              </a:solidFill>
            </a:endParaRP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[6] Niemegeers &amp; Burgelman. Thermionic-emission interface transport (1998).</a:t>
            </a:r>
            <a:endParaRPr sz="1150" b="0" i="0">
              <a:solidFill>
                <a:srgbClr val="2A2A2A"/>
              </a:solidFill>
            </a:endParaRP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[7] Calado et al. Nat. Commun. 7, 13831 (2016) / Driftfusion.</a:t>
            </a:r>
            <a:endParaRPr sz="1150" b="0" i="0">
              <a:solidFill>
                <a:srgbClr val="2A2A2A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309360" y="1417320"/>
            <a:ext cx="54864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[8] Courtier et al. IonMonger. J. Comput. Electron. 18, 1435 (2019).</a:t>
            </a:r>
            <a:endParaRPr sz="1150" b="0" i="0">
              <a:solidFill>
                <a:srgbClr val="2A2A2A"/>
              </a:solidFill>
            </a:endParaRP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[9] Clarke et al. IonMonger 2.0. J. Comput. Electron. 21, 1226 (2022).</a:t>
            </a:r>
            <a:endParaRPr sz="1150" b="0" i="0">
              <a:solidFill>
                <a:srgbClr val="2A2A2A"/>
              </a:solidFill>
            </a:endParaRP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[10] Abdel et al. WIAS Preprint 2780 (2021) — PSC models use Boltzmann.</a:t>
            </a:r>
            <a:endParaRPr sz="1150" b="0" i="0">
              <a:solidFill>
                <a:srgbClr val="2A2A2A"/>
              </a:solidFill>
            </a:endParaRP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[11] Sha et al. Appl. Phys. Lett. 106, 221104 (2015) — SQ limit MAPbI</a:t>
            </a:r>
            <a:r>
              <a:rPr sz="1150" b="0" i="0" baseline="-25000">
                <a:solidFill>
                  <a:srgbClr val="2A2A2A"/>
                </a:solidFill>
              </a:rPr>
              <a:t>3</a:t>
            </a:r>
            <a:r>
              <a:rPr sz="1150" b="0" i="0">
                <a:solidFill>
                  <a:srgbClr val="2A2A2A"/>
                </a:solidFill>
              </a:rPr>
              <a:t>.</a:t>
            </a:r>
            <a:endParaRPr sz="1150" b="0" i="0">
              <a:solidFill>
                <a:srgbClr val="2A2A2A"/>
              </a:solidFill>
            </a:endParaRP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[12] Tvingstedt et al. Sci. Rep. 4, 6071 (2014).</a:t>
            </a:r>
            <a:endParaRPr sz="1150" b="0" i="0">
              <a:solidFill>
                <a:srgbClr val="2A2A2A"/>
              </a:solidFill>
            </a:endParaRP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[13] Single-crystal MAPbI</a:t>
            </a:r>
            <a:r>
              <a:rPr sz="1150" b="0" i="0" baseline="-25000">
                <a:solidFill>
                  <a:srgbClr val="2A2A2A"/>
                </a:solidFill>
              </a:rPr>
              <a:t>3</a:t>
            </a:r>
            <a:r>
              <a:rPr sz="1150" b="0" i="0">
                <a:solidFill>
                  <a:srgbClr val="2A2A2A"/>
                </a:solidFill>
              </a:rPr>
              <a:t> &gt;21% PCE. ACS Energy Lett. 4, 1258 (2019).</a:t>
            </a:r>
            <a:endParaRPr sz="1150" b="0" i="0">
              <a:solidFill>
                <a:srgbClr val="2A2A2A"/>
              </a:solidFill>
            </a:endParaRPr>
          </a:p>
          <a:p>
            <a:pPr>
              <a:spcAft>
                <a:spcPts val="700"/>
              </a:spcAft>
            </a:pPr>
            <a:r>
              <a:rPr sz="1150" b="0" i="0">
                <a:solidFill>
                  <a:srgbClr val="2A2A2A"/>
                </a:solidFill>
              </a:rPr>
              <a:t>[14] Low-loss MAPbI</a:t>
            </a:r>
            <a:r>
              <a:rPr sz="1150" b="0" i="0" baseline="-25000">
                <a:solidFill>
                  <a:srgbClr val="2A2A2A"/>
                </a:solidFill>
              </a:rPr>
              <a:t>3</a:t>
            </a:r>
            <a:r>
              <a:rPr sz="1150" b="0" i="0">
                <a:solidFill>
                  <a:srgbClr val="2A2A2A"/>
                </a:solidFill>
              </a:rPr>
              <a:t>: V</a:t>
            </a:r>
            <a:r>
              <a:rPr sz="1150" b="0" i="0" baseline="-25000">
                <a:solidFill>
                  <a:srgbClr val="2A2A2A"/>
                </a:solidFill>
              </a:rPr>
              <a:t>oc</a:t>
            </a:r>
            <a:r>
              <a:rPr sz="1150" b="0" i="0">
                <a:solidFill>
                  <a:srgbClr val="2A2A2A"/>
                </a:solidFill>
              </a:rPr>
              <a:t> 1.21 V, 23.09%. Sci. China Mater. (2025).</a:t>
            </a:r>
            <a:endParaRPr sz="1150" b="0" i="0">
              <a:solidFill>
                <a:srgbClr val="2A2A2A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8922</Words>
  <Application>WPS 演示</Application>
  <PresentationFormat>On-screen Show (4:3)</PresentationFormat>
  <Paragraphs>214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Arial</vt:lpstr>
      <vt:lpstr>Calibri</vt:lpstr>
      <vt:lpstr>Helvetica Neue</vt:lpstr>
      <vt:lpstr>微软雅黑</vt:lpstr>
      <vt:lpstr>汉仪旗黑</vt:lpstr>
      <vt:lpstr>宋体</vt:lpstr>
      <vt:lpstr>Arial Unicode MS</vt:lpstr>
      <vt:lpstr>汉仪书宋二KW</vt:lpstr>
      <vt:lpstr>宋体-简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陈宣言</cp:lastModifiedBy>
  <cp:revision>3</cp:revision>
  <dcterms:created xsi:type="dcterms:W3CDTF">2026-06-21T06:09:17Z</dcterms:created>
  <dcterms:modified xsi:type="dcterms:W3CDTF">2026-06-21T06:09:17Z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2052-12.1.26016.26016</vt:lpwstr>
  </property>
  <property fmtid="{D5CDD505-2E9C-101B-9397-08002B2CF9AE}" pid="3" name="ICV">
    <vt:lpwstr>4634EDE7B5D1D9E0FE30366A41E3DC87_42</vt:lpwstr>
  </property>
</Properties>
</file>