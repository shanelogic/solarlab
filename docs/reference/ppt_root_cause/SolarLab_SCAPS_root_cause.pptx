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reports a cross-validation of two 1D drift-diffusion solvers, not a comparison against experiment. Neither code is "truth"; we anchor realism against the literature. The headline question is why SolarLab's Voc sits 96 mV below SCAPS, and what is actually fixable.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SCAPS-1D (Gent) is the de-facto reference; SolarLab is our Python perovskite_sim library. Both solve Poisson plus two continuity equations with SG flux. The divergences live in boundary conditions, interface recombination, and optics, not in the core formulation.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candidate root cause was attacked from three independent angles. We deliberately avoid chasing absolute parity; the house rule prizes sweep direction and shape fidelity. This is why a 96 mV absolute gap can be acceptable while a single direction reversal is the real finding.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quoted Jsc=25.73 is a contaminant spliced from a separate N_grid=30 run; the genuine self-consistent value is 23.96. Using the real Jsc, all four FOMs lock algebraically. SCAPS obeys PCE = Voc*Jsc*FF to within rounding; so does the genuine SolarLab tuple.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CBO sweep is SCAPS's dominant Voc lever and SolarLab tracks it well. Most divergences trace to the interface-SRH model or carrier-density suppression. The one qualitatively wrong result, a direction reversal, is the donor-doping sweep, and that is where the robust root cause lives.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donor-doping direction reversal survived all three lenses. The 96 mV deficit is real but its mechanism could not be pinned. Several headline claims, including the prior 37x J0 story and the "-2% optical" framing, did not survive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donor-doping lever is severed because the built-in potential is frozen at the boundary. The only residual N_D channel is the ohmic pin p_R = ni^2/N_D, which actually suppresses splitting, giving the wrong sign. Projection ON keeps the wrong sign, confirming it is not an interface-recombination effect.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deficit were driven by QFL loss across the band offset, removing the offset would close it. Instead the gap grows to ~163 mV at flat-band. SolarLab saturates near 1.085 V while SCAPS keeps climbing. This falsifies the prior mechanism and redirects attention to the interface-SRH model difference.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symptom, a ~40x effective J0 mapping to ~96 mV, is robust. But the contact-sink mechanism fails the physics and data lenses; the gap is monotone in CBO and moves under interface-projection toggles. The most likely origin is the interface-SRH-model difference, which was not independently confirmed.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FOMs must satisfy PCE = Voc*Jsc*FF in any single run. The reference table glued a coarse-grid Jsc onto a fine-grid Voc/FF/PCE triple. The fix is to re-extract all four from one J-V array; this alone erases the headline -4.6 pp PCE gap.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model-level differences feed the base-point discrepancy. The frozen Vbi drives the donor reversal; the interface-SRH difference is the leading suspect for the 96 mV deficit and the sweep shape mismatches; the optics difference explains the Jsc gap. Each is real, mostly by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Neither solver is experiment, so we ask which absolute better represents a fabricated cell. SolarLab's 1.072 V implies a ~230-260 mV non-radiative deficit, typical for a routine stack. SCAPS's value implies champion-grade passivation. Tuning SolarLab up to match SCAPS would move it away from the experimental median.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near-zero-risk fix is the FOM re-extraction, which removes both the PCE artifact and the self-consistency violation. The frozen-Vbi reversal is a real defect worth documenting but not worth a multi-week boundary-condition rework that would tune SolarLab off the experimental median.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numbered list of 18 entries; numbering matches the report's Section 7 exactly. The inline [n] brackets placed on slides 2, 9, 11 and 12 all resolve into this list: [1,5] solver formulation and SG flux, [2] tunnelling-off, [4] thermionic-emission interface BC, [6] SCAPS contacts/flatband, [7,8] Shockley-Read-Hall and Pauwels-Vanhoutte interface SRH, and [12-18] the experimental MAPbI3 Voc / SQ realism cluster. Literature values are used only for realism-positioning and are flagged as such in the report.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737360"/>
            <a:ext cx="11064240" cy="1828800"/>
          </a:xfrm>
          <a:prstGeom prst="rect">
            <a:avLst/>
          </a:prstGeom>
          <a:noFill/>
        </p:spPr>
        <p:txBody>
          <a:bodyPr wrap="square">
            <a:spAutoFit/>
          </a:bodyPr>
          <a:lstStyle/>
          <a:p>
            <a:pPr algn="l"/>
            <a:r>
              <a:rPr sz="4000" b="1">
                <a:solidFill>
                  <a:srgbClr val="1F2A44"/>
                </a:solidFill>
              </a:rPr>
              <a:t>SolarLab vs. SCAPS-1D</a:t>
            </a:r>
          </a:p>
          <a:p>
            <a:pPr>
              <a:spcBef>
                <a:spcPts val="400"/>
              </a:spcBef>
            </a:pPr>
            <a:r>
              <a:rPr sz="2700" b="1">
                <a:solidFill>
                  <a:srgbClr val="1A4E8A"/>
                </a:solidFill>
              </a:rPr>
              <a:t>Root-Cause Analysis of the Base-Model V</a:t>
            </a:r>
            <a:r>
              <a:rPr sz="1943" baseline="-25000" b="1">
                <a:solidFill>
                  <a:srgbClr val="1A4E8A"/>
                </a:solidFill>
              </a:rPr>
              <a:t>oc</a:t>
            </a:r>
            <a:r>
              <a:rPr sz="2700" b="1">
                <a:solidFill>
                  <a:srgbClr val="1A4E8A"/>
                </a:solidFill>
              </a:rPr>
              <a:t> Discrepancy</a:t>
            </a:r>
          </a:p>
        </p:txBody>
      </p:sp>
      <p:sp>
        <p:nvSpPr>
          <p:cNvPr id="3" name="TextBox 2"/>
          <p:cNvSpPr txBox="1"/>
          <p:nvPr/>
        </p:nvSpPr>
        <p:spPr>
          <a:xfrm>
            <a:off x="548640" y="3703320"/>
            <a:ext cx="11064240" cy="2011680"/>
          </a:xfrm>
          <a:prstGeom prst="rect">
            <a:avLst/>
          </a:prstGeom>
          <a:noFill/>
        </p:spPr>
        <p:txBody>
          <a:bodyPr wrap="square">
            <a:spAutoFit/>
          </a:bodyPr>
          <a:lstStyle/>
          <a:p>
            <a:pPr>
              <a:spcAft>
                <a:spcPts val="600"/>
              </a:spcAft>
            </a:pPr>
            <a:r>
              <a:rPr sz="1800" b="0">
                <a:solidFill>
                  <a:srgbClr val="1A4E8A"/>
                </a:solidFill>
              </a:rPr>
              <a:t>•  </a:t>
            </a:r>
            <a:r>
              <a:rPr sz="1800" b="0">
                <a:solidFill>
                  <a:srgbClr val="333A4A"/>
                </a:solidFill>
              </a:rPr>
              <a:t>Drift-diffusion cross-validation on the reference MAPbI</a:t>
            </a:r>
            <a:r>
              <a:rPr sz="1296" baseline="-25000" b="0">
                <a:solidFill>
                  <a:srgbClr val="333A4A"/>
                </a:solidFill>
              </a:rPr>
              <a:t>3</a:t>
            </a:r>
            <a:r>
              <a:rPr sz="1800" b="0">
                <a:solidFill>
                  <a:srgbClr val="333A4A"/>
                </a:solidFill>
              </a:rPr>
              <a:t> base stack</a:t>
            </a:r>
          </a:p>
          <a:p>
            <a:pPr>
              <a:spcAft>
                <a:spcPts val="600"/>
              </a:spcAft>
            </a:pPr>
            <a:r>
              <a:rPr sz="1800" b="0">
                <a:solidFill>
                  <a:srgbClr val="1A4E8A"/>
                </a:solidFill>
              </a:rPr>
              <a:t>•  </a:t>
            </a:r>
            <a:r>
              <a:rPr sz="1800" b="0">
                <a:solidFill>
                  <a:srgbClr val="333A4A"/>
                </a:solidFill>
              </a:rPr>
              <a:t>Primary discrepancy: V</a:t>
            </a:r>
            <a:r>
              <a:rPr sz="1296" baseline="-25000" b="0">
                <a:solidFill>
                  <a:srgbClr val="333A4A"/>
                </a:solidFill>
              </a:rPr>
              <a:t>oc</a:t>
            </a:r>
            <a:r>
              <a:rPr sz="1800" b="0">
                <a:solidFill>
                  <a:srgbClr val="333A4A"/>
                </a:solidFill>
              </a:rPr>
              <a:t> 1.072 V vs. 1.1676 V (−96 mV)</a:t>
            </a:r>
          </a:p>
          <a:p>
            <a:pPr>
              <a:spcAft>
                <a:spcPts val="600"/>
              </a:spcAft>
            </a:pPr>
            <a:r>
              <a:rPr sz="1800" b="0">
                <a:solidFill>
                  <a:srgbClr val="1A4E8A"/>
                </a:solidFill>
              </a:rPr>
              <a:t>•  </a:t>
            </a:r>
            <a:r>
              <a:rPr sz="1800" b="0">
                <a:solidFill>
                  <a:srgbClr val="333A4A"/>
                </a:solidFill>
              </a:rPr>
              <a:t>Multi-agent adversarial review; trend-first evaluation standard</a:t>
            </a:r>
          </a:p>
          <a:p>
            <a:pPr>
              <a:spcAft>
                <a:spcPts val="600"/>
              </a:spcAft>
            </a:pPr>
            <a:r>
              <a:rPr sz="1800" b="0">
                <a:solidFill>
                  <a:srgbClr val="1A4E8A"/>
                </a:solidFill>
              </a:rPr>
              <a:t>•  </a:t>
            </a:r>
            <a:r>
              <a:rPr sz="1800" b="0">
                <a:solidFill>
                  <a:srgbClr val="333A4A"/>
                </a:solidFill>
              </a:rPr>
              <a:t>One survivor of seven candidate root causes</a:t>
            </a:r>
          </a:p>
        </p:txBody>
      </p:sp>
      <p:sp>
        <p:nvSpPr>
          <p:cNvPr id="4" name="TextBox 3"/>
          <p:cNvSpPr txBox="1"/>
          <p:nvPr/>
        </p:nvSpPr>
        <p:spPr>
          <a:xfrm>
            <a:off x="548640" y="6263640"/>
            <a:ext cx="11064240" cy="365760"/>
          </a:xfrm>
          <a:prstGeom prst="rect">
            <a:avLst/>
          </a:prstGeom>
          <a:noFill/>
        </p:spPr>
        <p:txBody>
          <a:bodyPr wrap="none">
            <a:spAutoFit/>
          </a:bodyPr>
          <a:lstStyle/>
          <a:p>
            <a:r>
              <a:rPr sz="1200" b="0">
                <a:solidFill>
                  <a:srgbClr val="5A606A"/>
                </a:solidFill>
              </a:rPr>
              <a:t>Generated 2026-06-04  ·  SolarLab perovskite_sim cross-validation</a:t>
            </a:r>
          </a:p>
        </p:txBody>
      </p:sp>
      <p:sp>
        <p:nvSpPr>
          <p:cNvPr id="5" name="Rectangle 4"/>
          <p:cNvSpPr/>
          <p:nvPr/>
        </p:nvSpPr>
        <p:spPr>
          <a:xfrm>
            <a:off x="548640" y="1554480"/>
            <a:ext cx="3840480" cy="5080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Context: Two DD Solvers on the Reference MAPbI</a:t>
            </a:r>
            <a:r>
              <a:rPr sz="2160" baseline="-25000" b="1">
                <a:solidFill>
                  <a:srgbClr val="1F2A44"/>
                </a:solidFill>
              </a:rPr>
              <a:t>3</a:t>
            </a:r>
            <a:r>
              <a:rPr sz="3000" b="1">
                <a:solidFill>
                  <a:srgbClr val="1F2A44"/>
                </a:solidFill>
              </a:rPr>
              <a:t> Base Model</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Stack: glass / spiro HTL 20 nm / MAPbI</a:t>
            </a:r>
            <a:r>
              <a:rPr sz="1152" baseline="-25000" b="0">
                <a:solidFill>
                  <a:srgbClr val="333A4A"/>
                </a:solidFill>
              </a:rPr>
              <a:t>3</a:t>
            </a:r>
            <a:r>
              <a:rPr sz="1600" b="0">
                <a:solidFill>
                  <a:srgbClr val="333A4A"/>
                </a:solidFill>
              </a:rPr>
              <a:t> 800 nm (E</a:t>
            </a:r>
            <a:r>
              <a:rPr sz="1152" baseline="-25000" b="0">
                <a:solidFill>
                  <a:srgbClr val="333A4A"/>
                </a:solidFill>
              </a:rPr>
              <a:t>g</a:t>
            </a:r>
            <a:r>
              <a:rPr sz="1600" b="0">
                <a:solidFill>
                  <a:srgbClr val="333A4A"/>
                </a:solidFill>
              </a:rPr>
              <a:t>=1.53 eV) / TiO</a:t>
            </a:r>
            <a:r>
              <a:rPr sz="1152" baseline="-25000" b="0">
                <a:solidFill>
                  <a:srgbClr val="333A4A"/>
                </a:solidFill>
              </a:rPr>
              <a:t>2</a:t>
            </a:r>
            <a:r>
              <a:rPr sz="1600" b="0">
                <a:solidFill>
                  <a:srgbClr val="333A4A"/>
                </a:solidFill>
              </a:rPr>
              <a:t> ETL 25 nm</a:t>
            </a:r>
          </a:p>
          <a:p>
            <a:pPr>
              <a:lnSpc>
                <a:spcPct val="105000"/>
              </a:lnSpc>
              <a:spcBef>
                <a:spcPts val="0"/>
              </a:spcBef>
              <a:spcAft>
                <a:spcPts val="800"/>
              </a:spcAft>
            </a:pPr>
            <a:r>
              <a:rPr sz="1600" b="0">
                <a:solidFill>
                  <a:srgbClr val="1A4E8A"/>
                </a:solidFill>
              </a:rPr>
              <a:t>•  </a:t>
            </a:r>
            <a:r>
              <a:rPr sz="1600" b="0">
                <a:solidFill>
                  <a:srgbClr val="333A4A"/>
                </a:solidFill>
              </a:rPr>
              <a:t>Conduction-band offset Delta-E</a:t>
            </a:r>
            <a:r>
              <a:rPr sz="1152" baseline="-25000" b="0">
                <a:solidFill>
                  <a:srgbClr val="333A4A"/>
                </a:solidFill>
              </a:rPr>
              <a:t>C</a:t>
            </a:r>
            <a:r>
              <a:rPr sz="1600" b="0">
                <a:solidFill>
                  <a:srgbClr val="333A4A"/>
                </a:solidFill>
              </a:rPr>
              <a:t> = −0.16 eV (a "cliff")</a:t>
            </a:r>
          </a:p>
          <a:p>
            <a:pPr>
              <a:lnSpc>
                <a:spcPct val="105000"/>
              </a:lnSpc>
              <a:spcBef>
                <a:spcPts val="0"/>
              </a:spcBef>
              <a:spcAft>
                <a:spcPts val="800"/>
              </a:spcAft>
            </a:pPr>
            <a:r>
              <a:rPr sz="1600" b="0">
                <a:solidFill>
                  <a:srgbClr val="1A4E8A"/>
                </a:solidFill>
              </a:rPr>
              <a:t>•  </a:t>
            </a:r>
            <a:r>
              <a:rPr sz="1600" b="0">
                <a:solidFill>
                  <a:srgbClr val="333A4A"/>
                </a:solidFill>
              </a:rPr>
              <a:t>SCAPS: Gummel+Newton, (psi, E</a:t>
            </a:r>
            <a:r>
              <a:rPr sz="1152" baseline="-25000" b="0">
                <a:solidFill>
                  <a:srgbClr val="333A4A"/>
                </a:solidFill>
              </a:rPr>
              <a:t>Fn</a:t>
            </a:r>
            <a:r>
              <a:rPr sz="1600" b="0">
                <a:solidFill>
                  <a:srgbClr val="333A4A"/>
                </a:solidFill>
              </a:rPr>
              <a:t>, E</a:t>
            </a:r>
            <a:r>
              <a:rPr sz="1152" baseline="-25000" b="0">
                <a:solidFill>
                  <a:srgbClr val="333A4A"/>
                </a:solidFill>
              </a:rPr>
              <a:t>Fp</a:t>
            </a:r>
            <a:r>
              <a:rPr sz="1600" b="0">
                <a:solidFill>
                  <a:srgbClr val="333A4A"/>
                </a:solidFill>
              </a:rPr>
              <a:t>) [1]; SolarLab: method-of-lines Radau</a:t>
            </a:r>
          </a:p>
          <a:p>
            <a:pPr>
              <a:lnSpc>
                <a:spcPct val="105000"/>
              </a:lnSpc>
              <a:spcBef>
                <a:spcPts val="0"/>
              </a:spcBef>
              <a:spcAft>
                <a:spcPts val="800"/>
              </a:spcAft>
            </a:pPr>
            <a:r>
              <a:rPr sz="1600" b="0">
                <a:solidFill>
                  <a:srgbClr val="1A4E8A"/>
                </a:solidFill>
              </a:rPr>
              <a:t>•  </a:t>
            </a:r>
            <a:r>
              <a:rPr sz="1600" b="0">
                <a:solidFill>
                  <a:srgbClr val="333A4A"/>
                </a:solidFill>
              </a:rPr>
              <a:t>Both Boltzmann, Scharfetter–Gummel flux [5], tunnelling OFF [2]</a:t>
            </a:r>
          </a:p>
          <a:p>
            <a:pPr>
              <a:lnSpc>
                <a:spcPct val="105000"/>
              </a:lnSpc>
              <a:spcBef>
                <a:spcPts val="0"/>
              </a:spcBef>
              <a:spcAft>
                <a:spcPts val="800"/>
              </a:spcAft>
            </a:pPr>
            <a:r>
              <a:rPr sz="1600" b="0">
                <a:solidFill>
                  <a:srgbClr val="1A4E8A"/>
                </a:solidFill>
              </a:rPr>
              <a:t>•  </a:t>
            </a:r>
            <a:r>
              <a:rPr sz="1600" b="0">
                <a:solidFill>
                  <a:srgbClr val="333A4A"/>
                </a:solidFill>
              </a:rPr>
              <a:t>Same physics class; differ in boundary and interface treatments</a:t>
            </a:r>
          </a:p>
        </p:txBody>
      </p:sp>
      <p:pic>
        <p:nvPicPr>
          <p:cNvPr id="5" name="Picture 4" descr="f4_solver_arch.png"/>
          <p:cNvPicPr>
            <a:picLocks noChangeAspect="1"/>
          </p:cNvPicPr>
          <p:nvPr/>
        </p:nvPicPr>
        <p:blipFill>
          <a:blip r:embed="rId2"/>
          <a:stretch>
            <a:fillRect/>
          </a:stretch>
        </p:blipFill>
        <p:spPr>
          <a:xfrm>
            <a:off x="5806440" y="2023208"/>
            <a:ext cx="5852160" cy="372598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Method: Multi-Agent Adversarial Review, Trend-First Standard</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4846320"/>
          </a:xfrm>
          <a:prstGeom prst="rect">
            <a:avLst/>
          </a:prstGeom>
          <a:noFill/>
        </p:spPr>
        <p:txBody>
          <a:bodyPr wrap="square"/>
          <a:lstStyle/>
          <a:p>
            <a:pPr>
              <a:lnSpc>
                <a:spcPct val="105000"/>
              </a:lnSpc>
              <a:spcBef>
                <a:spcPts val="0"/>
              </a:spcBef>
              <a:spcAft>
                <a:spcPts val="800"/>
              </a:spcAft>
            </a:pPr>
            <a:r>
              <a:rPr sz="1900" b="0">
                <a:solidFill>
                  <a:srgbClr val="1A4E8A"/>
                </a:solidFill>
              </a:rPr>
              <a:t>•  </a:t>
            </a:r>
            <a:r>
              <a:rPr sz="1900" b="0">
                <a:solidFill>
                  <a:srgbClr val="333A4A"/>
                </a:solidFill>
              </a:rPr>
              <a:t>Three lenses: physics-correctness, numerical-algorithm, data-consistency</a:t>
            </a:r>
          </a:p>
          <a:p>
            <a:pPr>
              <a:lnSpc>
                <a:spcPct val="105000"/>
              </a:lnSpc>
              <a:spcBef>
                <a:spcPts val="0"/>
              </a:spcBef>
              <a:spcAft>
                <a:spcPts val="800"/>
              </a:spcAft>
            </a:pPr>
            <a:r>
              <a:rPr sz="1900" b="0">
                <a:solidFill>
                  <a:srgbClr val="1A4E8A"/>
                </a:solidFill>
              </a:rPr>
              <a:t>•  </a:t>
            </a:r>
            <a:r>
              <a:rPr sz="1900" b="0">
                <a:solidFill>
                  <a:srgbClr val="333A4A"/>
                </a:solidFill>
              </a:rPr>
              <a:t>A cause must survive a majority of lenses to "hold"</a:t>
            </a:r>
          </a:p>
          <a:p>
            <a:pPr>
              <a:lnSpc>
                <a:spcPct val="105000"/>
              </a:lnSpc>
              <a:spcBef>
                <a:spcPts val="0"/>
              </a:spcBef>
              <a:spcAft>
                <a:spcPts val="800"/>
              </a:spcAft>
            </a:pPr>
            <a:r>
              <a:rPr sz="1900" b="0">
                <a:solidFill>
                  <a:srgbClr val="1A4E8A"/>
                </a:solidFill>
              </a:rPr>
              <a:t>•  </a:t>
            </a:r>
            <a:r>
              <a:rPr sz="1900" b="0">
                <a:solidFill>
                  <a:srgbClr val="333A4A"/>
                </a:solidFill>
              </a:rPr>
              <a:t>Parity judged by trend (direction + shape) first, absolutes second</a:t>
            </a:r>
          </a:p>
          <a:p>
            <a:pPr>
              <a:lnSpc>
                <a:spcPct val="105000"/>
              </a:lnSpc>
              <a:spcBef>
                <a:spcPts val="0"/>
              </a:spcBef>
              <a:spcAft>
                <a:spcPts val="800"/>
              </a:spcAft>
            </a:pPr>
            <a:r>
              <a:rPr sz="1900" b="0">
                <a:solidFill>
                  <a:srgbClr val="1A4E8A"/>
                </a:solidFill>
              </a:rPr>
              <a:t>•  </a:t>
            </a:r>
            <a:r>
              <a:rPr sz="1900" b="0">
                <a:solidFill>
                  <a:srgbClr val="333A4A"/>
                </a:solidFill>
              </a:rPr>
              <a:t>Closure = SolarLab V</a:t>
            </a:r>
            <a:r>
              <a:rPr sz="1368" baseline="-25000" b="0">
                <a:solidFill>
                  <a:srgbClr val="333A4A"/>
                </a:solidFill>
              </a:rPr>
              <a:t>oc</a:t>
            </a:r>
            <a:r>
              <a:rPr sz="1900" b="0">
                <a:solidFill>
                  <a:srgbClr val="333A4A"/>
                </a:solidFill>
              </a:rPr>
              <a:t> span ÷ SCAPS V</a:t>
            </a:r>
            <a:r>
              <a:rPr sz="1368" baseline="-25000" b="0">
                <a:solidFill>
                  <a:srgbClr val="333A4A"/>
                </a:solidFill>
              </a:rPr>
              <a:t>oc</a:t>
            </a:r>
            <a:r>
              <a:rPr sz="1900" b="0">
                <a:solidFill>
                  <a:srgbClr val="333A4A"/>
                </a:solidFill>
              </a:rPr>
              <a:t> span per sweep</a:t>
            </a:r>
          </a:p>
          <a:p>
            <a:pPr>
              <a:lnSpc>
                <a:spcPct val="105000"/>
              </a:lnSpc>
              <a:spcBef>
                <a:spcPts val="0"/>
              </a:spcBef>
              <a:spcAft>
                <a:spcPts val="800"/>
              </a:spcAft>
            </a:pPr>
            <a:r>
              <a:rPr sz="1900" b="0">
                <a:solidFill>
                  <a:srgbClr val="1A4E8A"/>
                </a:solidFill>
              </a:rPr>
              <a:t>•  </a:t>
            </a:r>
            <a:r>
              <a:rPr sz="1900" b="0">
                <a:solidFill>
                  <a:srgbClr val="333A4A"/>
                </a:solidFill>
              </a:rPr>
              <a:t>Every claim traced to source data or a cited reference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Base-Model Figures of Merit: V</a:t>
            </a:r>
            <a:r>
              <a:rPr sz="2160" baseline="-25000" b="1">
                <a:solidFill>
                  <a:srgbClr val="1F2A44"/>
                </a:solidFill>
              </a:rPr>
              <a:t>oc</a:t>
            </a:r>
            <a:r>
              <a:rPr sz="3000" b="1">
                <a:solidFill>
                  <a:srgbClr val="1F2A44"/>
                </a:solidFill>
              </a:rPr>
              <a:t>, J</a:t>
            </a:r>
            <a:r>
              <a:rPr sz="2160" baseline="-25000" b="1">
                <a:solidFill>
                  <a:srgbClr val="1F2A44"/>
                </a:solidFill>
              </a:rPr>
              <a:t>sc</a:t>
            </a:r>
            <a:r>
              <a:rPr sz="3000" b="1">
                <a:solidFill>
                  <a:srgbClr val="1F2A44"/>
                </a:solidFill>
              </a:rPr>
              <a:t>, FF, PCE</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V</a:t>
            </a:r>
            <a:r>
              <a:rPr sz="1152" baseline="-25000" b="0">
                <a:solidFill>
                  <a:srgbClr val="333A4A"/>
                </a:solidFill>
              </a:rPr>
              <a:t>oc</a:t>
            </a:r>
            <a:r>
              <a:rPr sz="1600" b="0">
                <a:solidFill>
                  <a:srgbClr val="333A4A"/>
                </a:solidFill>
              </a:rPr>
              <a:t>: 1.072 vs. 1.1676 V (−96 mV, −8.2%) — primary gap</a:t>
            </a:r>
          </a:p>
          <a:p>
            <a:pPr>
              <a:lnSpc>
                <a:spcPct val="105000"/>
              </a:lnSpc>
              <a:spcBef>
                <a:spcPts val="0"/>
              </a:spcBef>
              <a:spcAft>
                <a:spcPts val="800"/>
              </a:spcAft>
            </a:pPr>
            <a:r>
              <a:rPr sz="1600" b="0">
                <a:solidFill>
                  <a:srgbClr val="1A4E8A"/>
                </a:solidFill>
              </a:rPr>
              <a:t>•  </a:t>
            </a:r>
            <a:r>
              <a:rPr sz="1600" b="0">
                <a:solidFill>
                  <a:srgbClr val="333A4A"/>
                </a:solidFill>
              </a:rPr>
              <a:t>J</a:t>
            </a:r>
            <a:r>
              <a:rPr sz="1152" baseline="-25000" b="0">
                <a:solidFill>
                  <a:srgbClr val="333A4A"/>
                </a:solidFill>
              </a:rPr>
              <a:t>sc</a:t>
            </a:r>
            <a:r>
              <a:rPr sz="1600" b="0">
                <a:solidFill>
                  <a:srgbClr val="333A4A"/>
                </a:solidFill>
              </a:rPr>
              <a:t> genuine: 23.96 vs. 26.282 mA/cm</a:t>
            </a:r>
            <a:r>
              <a:rPr sz="1152" baseline="30000" b="0">
                <a:solidFill>
                  <a:srgbClr val="333A4A"/>
                </a:solidFill>
              </a:rPr>
              <a:t>2</a:t>
            </a:r>
            <a:r>
              <a:rPr sz="1600" b="0">
                <a:solidFill>
                  <a:srgbClr val="333A4A"/>
                </a:solidFill>
              </a:rPr>
              <a:t> (table 25.73 is foreign)</a:t>
            </a:r>
          </a:p>
          <a:p>
            <a:pPr>
              <a:lnSpc>
                <a:spcPct val="105000"/>
              </a:lnSpc>
              <a:spcBef>
                <a:spcPts val="0"/>
              </a:spcBef>
              <a:spcAft>
                <a:spcPts val="800"/>
              </a:spcAft>
            </a:pPr>
            <a:r>
              <a:rPr sz="1600" b="0">
                <a:solidFill>
                  <a:srgbClr val="1A4E8A"/>
                </a:solidFill>
              </a:rPr>
              <a:t>•  </a:t>
            </a:r>
            <a:r>
              <a:rPr sz="1600" b="0">
                <a:solidFill>
                  <a:srgbClr val="333A4A"/>
                </a:solidFill>
              </a:rPr>
              <a:t>FF: ~86.2% vs. 86.99% (−1.4 pp)</a:t>
            </a:r>
          </a:p>
          <a:p>
            <a:pPr>
              <a:lnSpc>
                <a:spcPct val="105000"/>
              </a:lnSpc>
              <a:spcBef>
                <a:spcPts val="0"/>
              </a:spcBef>
              <a:spcAft>
                <a:spcPts val="800"/>
              </a:spcAft>
            </a:pPr>
            <a:r>
              <a:rPr sz="1600" b="0">
                <a:solidFill>
                  <a:srgbClr val="1A4E8A"/>
                </a:solidFill>
              </a:rPr>
              <a:t>•  </a:t>
            </a:r>
            <a:r>
              <a:rPr sz="1600" b="0">
                <a:solidFill>
                  <a:srgbClr val="333A4A"/>
                </a:solidFill>
              </a:rPr>
              <a:t>PCE genuine: 22.1% vs. 26.69% (the 25.73 splice inflates the table)</a:t>
            </a:r>
          </a:p>
          <a:p>
            <a:pPr>
              <a:lnSpc>
                <a:spcPct val="105000"/>
              </a:lnSpc>
              <a:spcBef>
                <a:spcPts val="0"/>
              </a:spcBef>
              <a:spcAft>
                <a:spcPts val="800"/>
              </a:spcAft>
            </a:pPr>
            <a:r>
              <a:rPr sz="1600" b="0">
                <a:solidFill>
                  <a:srgbClr val="1A4E8A"/>
                </a:solidFill>
              </a:rPr>
              <a:t>•  </a:t>
            </a:r>
            <a:r>
              <a:rPr sz="1600" b="0">
                <a:solidFill>
                  <a:srgbClr val="333A4A"/>
                </a:solidFill>
              </a:rPr>
              <a:t>Self-consistent SolarLab: 1.0709·23.957·0.862 = 22.1%</a:t>
            </a:r>
          </a:p>
        </p:txBody>
      </p:sp>
      <p:pic>
        <p:nvPicPr>
          <p:cNvPr id="5" name="Picture 4" descr="f5_fom_bars.png"/>
          <p:cNvPicPr>
            <a:picLocks noChangeAspect="1"/>
          </p:cNvPicPr>
          <p:nvPr/>
        </p:nvPicPr>
        <p:blipFill>
          <a:blip r:embed="rId2"/>
          <a:stretch>
            <a:fillRect/>
          </a:stretch>
        </p:blipFill>
        <p:spPr>
          <a:xfrm>
            <a:off x="5806440" y="2372097"/>
            <a:ext cx="5852160" cy="302820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The Ten-Sweep Landscape: Which Levers Diverge</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Ten parameter sweeps inherited from the SCAPS reference</a:t>
            </a:r>
          </a:p>
          <a:p>
            <a:pPr>
              <a:lnSpc>
                <a:spcPct val="105000"/>
              </a:lnSpc>
              <a:spcBef>
                <a:spcPts val="0"/>
              </a:spcBef>
              <a:spcAft>
                <a:spcPts val="800"/>
              </a:spcAft>
            </a:pPr>
            <a:r>
              <a:rPr sz="1600" b="0">
                <a:solidFill>
                  <a:srgbClr val="1A4E8A"/>
                </a:solidFill>
              </a:rPr>
              <a:t>•  </a:t>
            </a:r>
            <a:r>
              <a:rPr sz="1600" b="0">
                <a:solidFill>
                  <a:srgbClr val="333A4A"/>
                </a:solidFill>
              </a:rPr>
              <a:t>Matched: CHI</a:t>
            </a:r>
            <a:r>
              <a:rPr sz="1152" baseline="-25000" b="0">
                <a:solidFill>
                  <a:srgbClr val="333A4A"/>
                </a:solidFill>
              </a:rPr>
              <a:t>ETL</a:t>
            </a:r>
            <a:r>
              <a:rPr sz="1600" b="0">
                <a:solidFill>
                  <a:srgbClr val="333A4A"/>
                </a:solidFill>
              </a:rPr>
              <a:t> (CBO) 83% span, correct direction</a:t>
            </a:r>
          </a:p>
          <a:p>
            <a:pPr>
              <a:lnSpc>
                <a:spcPct val="105000"/>
              </a:lnSpc>
              <a:spcBef>
                <a:spcPts val="0"/>
              </a:spcBef>
              <a:spcAft>
                <a:spcPts val="800"/>
              </a:spcAft>
            </a:pPr>
            <a:r>
              <a:rPr sz="1600" b="0">
                <a:solidFill>
                  <a:srgbClr val="1A4E8A"/>
                </a:solidFill>
              </a:rPr>
              <a:t>•  </a:t>
            </a:r>
            <a:r>
              <a:rPr sz="1600" b="0">
                <a:solidFill>
                  <a:srgbClr val="333A4A"/>
                </a:solidFill>
              </a:rPr>
              <a:t>Direction reversal: Nd</a:t>
            </a:r>
            <a:r>
              <a:rPr sz="1152" baseline="-25000" b="0">
                <a:solidFill>
                  <a:srgbClr val="333A4A"/>
                </a:solidFill>
              </a:rPr>
              <a:t>ETL</a:t>
            </a:r>
            <a:r>
              <a:rPr sz="1600" b="0">
                <a:solidFill>
                  <a:srgbClr val="333A4A"/>
                </a:solidFill>
              </a:rPr>
              <a:t> donor doping — the key anomaly</a:t>
            </a:r>
          </a:p>
          <a:p>
            <a:pPr>
              <a:lnSpc>
                <a:spcPct val="105000"/>
              </a:lnSpc>
              <a:spcBef>
                <a:spcPts val="0"/>
              </a:spcBef>
              <a:spcAft>
                <a:spcPts val="800"/>
              </a:spcAft>
            </a:pPr>
            <a:r>
              <a:rPr sz="1600" b="0">
                <a:solidFill>
                  <a:srgbClr val="1A4E8A"/>
                </a:solidFill>
              </a:rPr>
              <a:t>•  </a:t>
            </a:r>
            <a:r>
              <a:rPr sz="1600" b="0">
                <a:solidFill>
                  <a:srgbClr val="333A4A"/>
                </a:solidFill>
              </a:rPr>
              <a:t>Dead: bulk N</a:t>
            </a:r>
            <a:r>
              <a:rPr sz="1152" baseline="-25000" b="0">
                <a:solidFill>
                  <a:srgbClr val="333A4A"/>
                </a:solidFill>
              </a:rPr>
              <a:t>t</a:t>
            </a:r>
            <a:r>
              <a:rPr sz="1600" b="0">
                <a:solidFill>
                  <a:srgbClr val="333A4A"/>
                </a:solidFill>
              </a:rPr>
              <a:t> (Nt</a:t>
            </a:r>
            <a:r>
              <a:rPr sz="1152" baseline="-25000" b="0">
                <a:solidFill>
                  <a:srgbClr val="333A4A"/>
                </a:solidFill>
              </a:rPr>
              <a:t>C</a:t>
            </a:r>
            <a:r>
              <a:rPr sz="1600" b="0">
                <a:solidFill>
                  <a:srgbClr val="333A4A"/>
                </a:solidFill>
              </a:rPr>
              <a:t>/Nt</a:t>
            </a:r>
            <a:r>
              <a:rPr sz="1152" baseline="-25000" b="0">
                <a:solidFill>
                  <a:srgbClr val="333A4A"/>
                </a:solidFill>
              </a:rPr>
              <a:t>V</a:t>
            </a:r>
            <a:r>
              <a:rPr sz="1600" b="0">
                <a:solidFill>
                  <a:srgbClr val="333A4A"/>
                </a:solidFill>
              </a:rPr>
              <a:t>_PVK), iface trap energy</a:t>
            </a:r>
          </a:p>
          <a:p>
            <a:pPr>
              <a:lnSpc>
                <a:spcPct val="105000"/>
              </a:lnSpc>
              <a:spcBef>
                <a:spcPts val="0"/>
              </a:spcBef>
              <a:spcAft>
                <a:spcPts val="800"/>
              </a:spcAft>
            </a:pPr>
            <a:r>
              <a:rPr sz="1600" b="0">
                <a:solidFill>
                  <a:srgbClr val="1A4E8A"/>
                </a:solidFill>
              </a:rPr>
              <a:t>•  </a:t>
            </a:r>
            <a:r>
              <a:rPr sz="1600" b="0">
                <a:solidFill>
                  <a:srgbClr val="333A4A"/>
                </a:solidFill>
              </a:rPr>
              <a:t>Over-sensitive: Nt</a:t>
            </a:r>
            <a:r>
              <a:rPr sz="1152" baseline="-25000" b="0">
                <a:solidFill>
                  <a:srgbClr val="333A4A"/>
                </a:solidFill>
              </a:rPr>
              <a:t>HTL</a:t>
            </a:r>
            <a:r>
              <a:rPr sz="1600" b="0">
                <a:solidFill>
                  <a:srgbClr val="333A4A"/>
                </a:solidFill>
              </a:rPr>
              <a:t>_PVK, bulk E</a:t>
            </a:r>
            <a:r>
              <a:rPr sz="1152" baseline="-25000" b="0">
                <a:solidFill>
                  <a:srgbClr val="333A4A"/>
                </a:solidFill>
              </a:rPr>
              <a:t>t</a:t>
            </a:r>
            <a:r>
              <a:rPr sz="1600" b="0">
                <a:solidFill>
                  <a:srgbClr val="333A4A"/>
                </a:solidFill>
              </a:rPr>
              <a:t> (~8x)</a:t>
            </a:r>
          </a:p>
          <a:p>
            <a:pPr>
              <a:lnSpc>
                <a:spcPct val="105000"/>
              </a:lnSpc>
              <a:spcBef>
                <a:spcPts val="0"/>
              </a:spcBef>
              <a:spcAft>
                <a:spcPts val="800"/>
              </a:spcAft>
            </a:pPr>
            <a:r>
              <a:rPr sz="1600" b="0">
                <a:solidFill>
                  <a:srgbClr val="1A4E8A"/>
                </a:solidFill>
              </a:rPr>
              <a:t>•  </a:t>
            </a:r>
            <a:r>
              <a:rPr sz="1600" b="0">
                <a:solidFill>
                  <a:srgbClr val="333A4A"/>
                </a:solidFill>
              </a:rPr>
              <a:t>Span-ratio "closure" can mask a shape mismatch (Nt</a:t>
            </a:r>
            <a:r>
              <a:rPr sz="1152" baseline="-25000" b="0">
                <a:solidFill>
                  <a:srgbClr val="333A4A"/>
                </a:solidFill>
              </a:rPr>
              <a:t>PVK</a:t>
            </a:r>
            <a:r>
              <a:rPr sz="1600" b="0">
                <a:solidFill>
                  <a:srgbClr val="333A4A"/>
                </a:solidFill>
              </a:rPr>
              <a:t>_ETL)</a:t>
            </a:r>
          </a:p>
        </p:txBody>
      </p:sp>
      <p:pic>
        <p:nvPicPr>
          <p:cNvPr id="5" name="Picture 4" descr="f6_survival.png"/>
          <p:cNvPicPr>
            <a:picLocks noChangeAspect="1"/>
          </p:cNvPicPr>
          <p:nvPr/>
        </p:nvPicPr>
        <p:blipFill>
          <a:blip r:embed="rId2"/>
          <a:stretch>
            <a:fillRect/>
          </a:stretch>
        </p:blipFill>
        <p:spPr>
          <a:xfrm>
            <a:off x="5806440" y="2486706"/>
            <a:ext cx="5852160" cy="279898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Adversarial Survival: One of Seven Root Causes Holds</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Nd</a:t>
            </a:r>
            <a:r>
              <a:rPr sz="1152" baseline="-25000" b="0">
                <a:solidFill>
                  <a:srgbClr val="333A4A"/>
                </a:solidFill>
              </a:rPr>
              <a:t>ETL</a:t>
            </a:r>
            <a:r>
              <a:rPr sz="1600" b="0">
                <a:solidFill>
                  <a:srgbClr val="333A4A"/>
                </a:solidFill>
              </a:rPr>
              <a:t> donor-doping reversal: 3/3 lenses — THE SURVIVOR</a:t>
            </a:r>
          </a:p>
          <a:p>
            <a:pPr>
              <a:lnSpc>
                <a:spcPct val="105000"/>
              </a:lnSpc>
              <a:spcBef>
                <a:spcPts val="0"/>
              </a:spcBef>
              <a:spcAft>
                <a:spcPts val="800"/>
              </a:spcAft>
            </a:pPr>
            <a:r>
              <a:rPr sz="1600" b="0">
                <a:solidFill>
                  <a:srgbClr val="1A4E8A"/>
                </a:solidFill>
              </a:rPr>
              <a:t>•  </a:t>
            </a:r>
            <a:r>
              <a:rPr sz="1600" b="0">
                <a:solidFill>
                  <a:srgbClr val="333A4A"/>
                </a:solidFill>
              </a:rPr>
              <a:t>V</a:t>
            </a:r>
            <a:r>
              <a:rPr sz="1152" baseline="-25000" b="0">
                <a:solidFill>
                  <a:srgbClr val="333A4A"/>
                </a:solidFill>
              </a:rPr>
              <a:t>oc</a:t>
            </a:r>
            <a:r>
              <a:rPr sz="1600" b="0">
                <a:solidFill>
                  <a:srgbClr val="333A4A"/>
                </a:solidFill>
              </a:rPr>
              <a:t> −96 mV deficit: 1/3 (mechanism contested)</a:t>
            </a:r>
          </a:p>
          <a:p>
            <a:pPr>
              <a:lnSpc>
                <a:spcPct val="105000"/>
              </a:lnSpc>
              <a:spcBef>
                <a:spcPts val="0"/>
              </a:spcBef>
              <a:spcAft>
                <a:spcPts val="800"/>
              </a:spcAft>
            </a:pPr>
            <a:r>
              <a:rPr sz="1600" b="0">
                <a:solidFill>
                  <a:srgbClr val="1A4E8A"/>
                </a:solidFill>
              </a:rPr>
              <a:t>•  </a:t>
            </a:r>
            <a:r>
              <a:rPr sz="1600" b="0">
                <a:solidFill>
                  <a:srgbClr val="333A4A"/>
                </a:solidFill>
              </a:rPr>
              <a:t>Nt</a:t>
            </a:r>
            <a:r>
              <a:rPr sz="1152" baseline="-25000" b="0">
                <a:solidFill>
                  <a:srgbClr val="333A4A"/>
                </a:solidFill>
              </a:rPr>
              <a:t>C</a:t>
            </a:r>
            <a:r>
              <a:rPr sz="1600" b="0">
                <a:solidFill>
                  <a:srgbClr val="333A4A"/>
                </a:solidFill>
              </a:rPr>
              <a:t>/Nt</a:t>
            </a:r>
            <a:r>
              <a:rPr sz="1152" baseline="-25000" b="0">
                <a:solidFill>
                  <a:srgbClr val="333A4A"/>
                </a:solidFill>
              </a:rPr>
              <a:t>V</a:t>
            </a:r>
            <a:r>
              <a:rPr sz="1600" b="0">
                <a:solidFill>
                  <a:srgbClr val="333A4A"/>
                </a:solidFill>
              </a:rPr>
              <a:t> bulk insensitivity: 1/3; CHI</a:t>
            </a:r>
            <a:r>
              <a:rPr sz="1152" baseline="-25000" b="0">
                <a:solidFill>
                  <a:srgbClr val="333A4A"/>
                </a:solidFill>
              </a:rPr>
              <a:t>ETL</a:t>
            </a:r>
            <a:r>
              <a:rPr sz="1600" b="0">
                <a:solidFill>
                  <a:srgbClr val="333A4A"/>
                </a:solidFill>
              </a:rPr>
              <a:t> CBO: 1/3</a:t>
            </a:r>
          </a:p>
          <a:p>
            <a:pPr>
              <a:lnSpc>
                <a:spcPct val="105000"/>
              </a:lnSpc>
              <a:spcBef>
                <a:spcPts val="0"/>
              </a:spcBef>
              <a:spcAft>
                <a:spcPts val="800"/>
              </a:spcAft>
            </a:pPr>
            <a:r>
              <a:rPr sz="1600" b="0">
                <a:solidFill>
                  <a:srgbClr val="1A4E8A"/>
                </a:solidFill>
              </a:rPr>
              <a:t>•  </a:t>
            </a:r>
            <a:r>
              <a:rPr sz="1600" b="0">
                <a:solidFill>
                  <a:srgbClr val="333A4A"/>
                </a:solidFill>
              </a:rPr>
              <a:t>PCE/FF self-consistency: 1/3 (reporting artifact)</a:t>
            </a:r>
          </a:p>
          <a:p>
            <a:pPr>
              <a:lnSpc>
                <a:spcPct val="105000"/>
              </a:lnSpc>
              <a:spcBef>
                <a:spcPts val="0"/>
              </a:spcBef>
              <a:spcAft>
                <a:spcPts val="800"/>
              </a:spcAft>
            </a:pPr>
            <a:r>
              <a:rPr sz="1600" b="0">
                <a:solidFill>
                  <a:srgbClr val="1A4E8A"/>
                </a:solidFill>
              </a:rPr>
              <a:t>•  </a:t>
            </a:r>
            <a:r>
              <a:rPr sz="1600" b="0">
                <a:solidFill>
                  <a:srgbClr val="333A4A"/>
                </a:solidFill>
              </a:rPr>
              <a:t>Nt</a:t>
            </a:r>
            <a:r>
              <a:rPr sz="1152" baseline="-25000" b="0">
                <a:solidFill>
                  <a:srgbClr val="333A4A"/>
                </a:solidFill>
              </a:rPr>
              <a:t>PVK</a:t>
            </a:r>
            <a:r>
              <a:rPr sz="1600" b="0">
                <a:solidFill>
                  <a:srgbClr val="333A4A"/>
                </a:solidFill>
              </a:rPr>
              <a:t>_ETL interface channel: 0/3; J</a:t>
            </a:r>
            <a:r>
              <a:rPr sz="1152" baseline="-25000" b="0">
                <a:solidFill>
                  <a:srgbClr val="333A4A"/>
                </a:solidFill>
              </a:rPr>
              <a:t>sc</a:t>
            </a:r>
            <a:r>
              <a:rPr sz="1600" b="0">
                <a:solidFill>
                  <a:srgbClr val="333A4A"/>
                </a:solidFill>
              </a:rPr>
              <a:t> −2% optical: 0/3</a:t>
            </a:r>
          </a:p>
        </p:txBody>
      </p:sp>
      <p:pic>
        <p:nvPicPr>
          <p:cNvPr id="5" name="Picture 4" descr="f6_survival.png"/>
          <p:cNvPicPr>
            <a:picLocks noChangeAspect="1"/>
          </p:cNvPicPr>
          <p:nvPr/>
        </p:nvPicPr>
        <p:blipFill>
          <a:blip r:embed="rId2"/>
          <a:stretch>
            <a:fillRect/>
          </a:stretch>
        </p:blipFill>
        <p:spPr>
          <a:xfrm>
            <a:off x="5806440" y="2486706"/>
            <a:ext cx="5852160" cy="279898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Root Cause: Frozen V</a:t>
            </a:r>
            <a:r>
              <a:rPr sz="2160" baseline="-25000" b="1">
                <a:solidFill>
                  <a:srgbClr val="1F2A44"/>
                </a:solidFill>
              </a:rPr>
              <a:t>bi</a:t>
            </a:r>
            <a:r>
              <a:rPr sz="3000" b="1">
                <a:solidFill>
                  <a:srgbClr val="1F2A44"/>
                </a:solidFill>
              </a:rPr>
              <a:t> Severs the ETL-Doping Lever</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Poisson boundary hard-wired to V</a:t>
            </a:r>
            <a:r>
              <a:rPr sz="1152" baseline="-25000" b="0">
                <a:solidFill>
                  <a:srgbClr val="333A4A"/>
                </a:solidFill>
              </a:rPr>
              <a:t>bi</a:t>
            </a:r>
            <a:r>
              <a:rPr sz="1600" b="0">
                <a:solidFill>
                  <a:srgbClr val="333A4A"/>
                </a:solidFill>
              </a:rPr>
              <a:t>=1.30 V (config line 40)</a:t>
            </a:r>
          </a:p>
          <a:p>
            <a:pPr>
              <a:lnSpc>
                <a:spcPct val="105000"/>
              </a:lnSpc>
              <a:spcBef>
                <a:spcPts val="0"/>
              </a:spcBef>
              <a:spcAft>
                <a:spcPts val="800"/>
              </a:spcAft>
            </a:pPr>
            <a:r>
              <a:rPr sz="1600" b="0">
                <a:solidFill>
                  <a:srgbClr val="1A4E8A"/>
                </a:solidFill>
              </a:rPr>
              <a:t>•  </a:t>
            </a:r>
            <a:r>
              <a:rPr sz="1600" b="0">
                <a:solidFill>
                  <a:srgbClr val="333A4A"/>
                </a:solidFill>
              </a:rPr>
              <a:t>Band-derived V</a:t>
            </a:r>
            <a:r>
              <a:rPr sz="1152" baseline="-25000" b="0">
                <a:solidFill>
                  <a:srgbClr val="333A4A"/>
                </a:solidFill>
              </a:rPr>
              <a:t>bi,eff</a:t>
            </a:r>
            <a:r>
              <a:rPr sz="1600" b="0">
                <a:solidFill>
                  <a:srgbClr val="333A4A"/>
                </a:solidFill>
              </a:rPr>
              <a:t> computed but routed only to sweep range</a:t>
            </a:r>
          </a:p>
          <a:p>
            <a:pPr>
              <a:lnSpc>
                <a:spcPct val="105000"/>
              </a:lnSpc>
              <a:spcBef>
                <a:spcPts val="0"/>
              </a:spcBef>
              <a:spcAft>
                <a:spcPts val="800"/>
              </a:spcAft>
            </a:pPr>
            <a:r>
              <a:rPr sz="1600" b="0">
                <a:solidFill>
                  <a:srgbClr val="1A4E8A"/>
                </a:solidFill>
              </a:rPr>
              <a:t>•  </a:t>
            </a:r>
            <a:r>
              <a:rPr sz="1600" b="0">
                <a:solidFill>
                  <a:srgbClr val="333A4A"/>
                </a:solidFill>
              </a:rPr>
              <a:t>Raising N</a:t>
            </a:r>
            <a:r>
              <a:rPr sz="1152" baseline="-25000" b="0">
                <a:solidFill>
                  <a:srgbClr val="333A4A"/>
                </a:solidFill>
              </a:rPr>
              <a:t>D</a:t>
            </a:r>
            <a:r>
              <a:rPr sz="1600" b="0">
                <a:solidFill>
                  <a:srgbClr val="333A4A"/>
                </a:solidFill>
              </a:rPr>
              <a:t> cannot lift built-in potential → V</a:t>
            </a:r>
            <a:r>
              <a:rPr sz="1152" baseline="-25000" b="0">
                <a:solidFill>
                  <a:srgbClr val="333A4A"/>
                </a:solidFill>
              </a:rPr>
              <a:t>oc</a:t>
            </a:r>
            <a:r>
              <a:rPr sz="1600" b="0">
                <a:solidFill>
                  <a:srgbClr val="333A4A"/>
                </a:solidFill>
              </a:rPr>
              <a:t> flat</a:t>
            </a:r>
          </a:p>
          <a:p>
            <a:pPr>
              <a:lnSpc>
                <a:spcPct val="105000"/>
              </a:lnSpc>
              <a:spcBef>
                <a:spcPts val="0"/>
              </a:spcBef>
              <a:spcAft>
                <a:spcPts val="800"/>
              </a:spcAft>
            </a:pPr>
            <a:r>
              <a:rPr sz="1600" b="0">
                <a:solidFill>
                  <a:srgbClr val="1A4E8A"/>
                </a:solidFill>
              </a:rPr>
              <a:t>•  </a:t>
            </a:r>
            <a:r>
              <a:rPr sz="1600" b="0">
                <a:solidFill>
                  <a:srgbClr val="333A4A"/>
                </a:solidFill>
              </a:rPr>
              <a:t>SCAPS rises +100 mV; SolarLab nets −11 mV (direction reversal)</a:t>
            </a:r>
          </a:p>
          <a:p>
            <a:pPr>
              <a:lnSpc>
                <a:spcPct val="105000"/>
              </a:lnSpc>
              <a:spcBef>
                <a:spcPts val="0"/>
              </a:spcBef>
              <a:spcAft>
                <a:spcPts val="800"/>
              </a:spcAft>
            </a:pPr>
            <a:r>
              <a:rPr sz="1600" b="0">
                <a:solidFill>
                  <a:srgbClr val="1A4E8A"/>
                </a:solidFill>
              </a:rPr>
              <a:t>•  </a:t>
            </a:r>
            <a:r>
              <a:rPr sz="1600" b="0">
                <a:solidFill>
                  <a:srgbClr val="333A4A"/>
                </a:solidFill>
              </a:rPr>
              <a:t>Signature: V</a:t>
            </a:r>
            <a:r>
              <a:rPr sz="1152" baseline="-25000" b="0">
                <a:solidFill>
                  <a:srgbClr val="333A4A"/>
                </a:solidFill>
              </a:rPr>
              <a:t>oc</a:t>
            </a:r>
            <a:r>
              <a:rPr sz="1600" b="0">
                <a:solidFill>
                  <a:srgbClr val="333A4A"/>
                </a:solidFill>
              </a:rPr>
              <a:t> falls 1.0954→1.0656 V then drifts to 1.0844 V</a:t>
            </a:r>
          </a:p>
          <a:p>
            <a:pPr>
              <a:lnSpc>
                <a:spcPct val="105000"/>
              </a:lnSpc>
              <a:spcBef>
                <a:spcPts val="0"/>
              </a:spcBef>
              <a:spcAft>
                <a:spcPts val="800"/>
              </a:spcAft>
            </a:pPr>
            <a:r>
              <a:rPr sz="1600" b="0">
                <a:solidFill>
                  <a:srgbClr val="1A4E8A"/>
                </a:solidFill>
              </a:rPr>
              <a:t>•  </a:t>
            </a:r>
            <a:r>
              <a:rPr sz="1600" b="0">
                <a:solidFill>
                  <a:srgbClr val="333A4A"/>
                </a:solidFill>
              </a:rPr>
              <a:t>Classification: numerical boundary, not interface recombination</a:t>
            </a:r>
          </a:p>
        </p:txBody>
      </p:sp>
      <p:pic>
        <p:nvPicPr>
          <p:cNvPr id="5" name="Picture 4" descr="f1_voc_lever.png"/>
          <p:cNvPicPr>
            <a:picLocks noChangeAspect="1"/>
          </p:cNvPicPr>
          <p:nvPr/>
        </p:nvPicPr>
        <p:blipFill>
          <a:blip r:embed="rId2"/>
          <a:stretch>
            <a:fillRect/>
          </a:stretch>
        </p:blipFill>
        <p:spPr>
          <a:xfrm>
            <a:off x="5806440" y="2423160"/>
            <a:ext cx="5852160" cy="29260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Refuting the Prior 37x-J</a:t>
            </a:r>
            <a:r>
              <a:rPr sz="2160" baseline="-25000" b="1">
                <a:solidFill>
                  <a:srgbClr val="1F2A44"/>
                </a:solidFill>
              </a:rPr>
              <a:t>0</a:t>
            </a:r>
            <a:r>
              <a:rPr sz="3000" b="1">
                <a:solidFill>
                  <a:srgbClr val="1F2A44"/>
                </a:solidFill>
              </a:rPr>
              <a:t> Claim: The CBO Gap Persists</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Prior report: 37x J</a:t>
            </a:r>
            <a:r>
              <a:rPr sz="1152" baseline="-25000" b="0">
                <a:solidFill>
                  <a:srgbClr val="333A4A"/>
                </a:solidFill>
              </a:rPr>
              <a:t>0</a:t>
            </a:r>
            <a:r>
              <a:rPr sz="1600" b="0">
                <a:solidFill>
                  <a:srgbClr val="333A4A"/>
                </a:solidFill>
              </a:rPr>
              <a:t> from QFL dissipated across band offsets</a:t>
            </a:r>
          </a:p>
          <a:p>
            <a:pPr>
              <a:lnSpc>
                <a:spcPct val="105000"/>
              </a:lnSpc>
              <a:spcBef>
                <a:spcPts val="0"/>
              </a:spcBef>
              <a:spcAft>
                <a:spcPts val="800"/>
              </a:spcAft>
            </a:pPr>
            <a:r>
              <a:rPr sz="1600" b="0">
                <a:solidFill>
                  <a:srgbClr val="1A4E8A"/>
                </a:solidFill>
              </a:rPr>
              <a:t>•  </a:t>
            </a:r>
            <a:r>
              <a:rPr sz="1600" b="0">
                <a:solidFill>
                  <a:srgbClr val="333A4A"/>
                </a:solidFill>
              </a:rPr>
              <a:t>Test: sweep the conduction-band offset to Delta-E</a:t>
            </a:r>
            <a:r>
              <a:rPr sz="1152" baseline="-25000" b="0">
                <a:solidFill>
                  <a:srgbClr val="333A4A"/>
                </a:solidFill>
              </a:rPr>
              <a:t>C</a:t>
            </a:r>
            <a:r>
              <a:rPr sz="1600" b="0">
                <a:solidFill>
                  <a:srgbClr val="333A4A"/>
                </a:solidFill>
              </a:rPr>
              <a:t> → 0</a:t>
            </a:r>
          </a:p>
          <a:p>
            <a:pPr>
              <a:lnSpc>
                <a:spcPct val="105000"/>
              </a:lnSpc>
              <a:spcBef>
                <a:spcPts val="0"/>
              </a:spcBef>
              <a:spcAft>
                <a:spcPts val="800"/>
              </a:spcAft>
            </a:pPr>
            <a:r>
              <a:rPr sz="1600" b="0">
                <a:solidFill>
                  <a:srgbClr val="1A4E8A"/>
                </a:solidFill>
              </a:rPr>
              <a:t>•  </a:t>
            </a:r>
            <a:r>
              <a:rPr sz="1600" b="0">
                <a:solidFill>
                  <a:srgbClr val="333A4A"/>
                </a:solidFill>
              </a:rPr>
              <a:t>Removing the offset does NOT close the gap</a:t>
            </a:r>
          </a:p>
          <a:p>
            <a:pPr>
              <a:lnSpc>
                <a:spcPct val="105000"/>
              </a:lnSpc>
              <a:spcBef>
                <a:spcPts val="0"/>
              </a:spcBef>
              <a:spcAft>
                <a:spcPts val="800"/>
              </a:spcAft>
            </a:pPr>
            <a:r>
              <a:rPr sz="1600" b="0">
                <a:solidFill>
                  <a:srgbClr val="1A4E8A"/>
                </a:solidFill>
              </a:rPr>
              <a:t>•  </a:t>
            </a:r>
            <a:r>
              <a:rPr sz="1600" b="0">
                <a:solidFill>
                  <a:srgbClr val="333A4A"/>
                </a:solidFill>
              </a:rPr>
              <a:t>At Delta-E</a:t>
            </a:r>
            <a:r>
              <a:rPr sz="1152" baseline="-25000" b="0">
                <a:solidFill>
                  <a:srgbClr val="333A4A"/>
                </a:solidFill>
              </a:rPr>
              <a:t>C</a:t>
            </a:r>
            <a:r>
              <a:rPr sz="1600" b="0">
                <a:solidFill>
                  <a:srgbClr val="333A4A"/>
                </a:solidFill>
              </a:rPr>
              <a:t>=0: SolarLab ~1.085 V vs. SCAPS ~1.248 V (~163 mV)</a:t>
            </a:r>
          </a:p>
          <a:p>
            <a:pPr>
              <a:lnSpc>
                <a:spcPct val="105000"/>
              </a:lnSpc>
              <a:spcBef>
                <a:spcPts val="0"/>
              </a:spcBef>
              <a:spcAft>
                <a:spcPts val="800"/>
              </a:spcAft>
            </a:pPr>
            <a:r>
              <a:rPr sz="1600" b="0">
                <a:solidFill>
                  <a:srgbClr val="1A4E8A"/>
                </a:solidFill>
              </a:rPr>
              <a:t>•  </a:t>
            </a:r>
            <a:r>
              <a:rPr sz="1600" b="0">
                <a:solidFill>
                  <a:srgbClr val="333A4A"/>
                </a:solidFill>
              </a:rPr>
              <a:t>Gap widens, not closes — the offset is not the seat of the deficit</a:t>
            </a:r>
          </a:p>
          <a:p>
            <a:pPr>
              <a:lnSpc>
                <a:spcPct val="105000"/>
              </a:lnSpc>
              <a:spcBef>
                <a:spcPts val="0"/>
              </a:spcBef>
              <a:spcAft>
                <a:spcPts val="800"/>
              </a:spcAft>
            </a:pPr>
            <a:r>
              <a:rPr sz="1600" b="0">
                <a:solidFill>
                  <a:srgbClr val="1A4E8A"/>
                </a:solidFill>
              </a:rPr>
              <a:t>•  </a:t>
            </a:r>
            <a:r>
              <a:rPr sz="1600" b="0">
                <a:solidFill>
                  <a:srgbClr val="333A4A"/>
                </a:solidFill>
              </a:rPr>
              <a:t>Prior central physical claim should be retracted</a:t>
            </a:r>
          </a:p>
        </p:txBody>
      </p:sp>
      <p:pic>
        <p:nvPicPr>
          <p:cNvPr id="5" name="Picture 4" descr="f2_cbo_refute.png"/>
          <p:cNvPicPr>
            <a:picLocks noChangeAspect="1"/>
          </p:cNvPicPr>
          <p:nvPr/>
        </p:nvPicPr>
        <p:blipFill>
          <a:blip r:embed="rId2"/>
          <a:stretch>
            <a:fillRect/>
          </a:stretch>
        </p:blipFill>
        <p:spPr>
          <a:xfrm>
            <a:off x="5806440" y="2474730"/>
            <a:ext cx="5852160" cy="282293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The −96 mV V</a:t>
            </a:r>
            <a:r>
              <a:rPr sz="2160" baseline="-25000" b="1">
                <a:solidFill>
                  <a:srgbClr val="1F2A44"/>
                </a:solidFill>
              </a:rPr>
              <a:t>oc</a:t>
            </a:r>
            <a:r>
              <a:rPr sz="3000" b="1">
                <a:solidFill>
                  <a:srgbClr val="1F2A44"/>
                </a:solidFill>
              </a:rPr>
              <a:t> Deficit: Physical but Contested Mechanism</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Deficit is real and physical (FF healthy ~0.878, not an artifact)</a:t>
            </a:r>
          </a:p>
          <a:p>
            <a:pPr>
              <a:lnSpc>
                <a:spcPct val="105000"/>
              </a:lnSpc>
              <a:spcBef>
                <a:spcPts val="0"/>
              </a:spcBef>
              <a:spcAft>
                <a:spcPts val="800"/>
              </a:spcAft>
            </a:pPr>
            <a:r>
              <a:rPr sz="1600" b="0">
                <a:solidFill>
                  <a:srgbClr val="1A4E8A"/>
                </a:solidFill>
              </a:rPr>
              <a:t>•  </a:t>
            </a:r>
            <a:r>
              <a:rPr sz="1600" b="0">
                <a:solidFill>
                  <a:srgbClr val="333A4A"/>
                </a:solidFill>
              </a:rPr>
              <a:t>Effective J</a:t>
            </a:r>
            <a:r>
              <a:rPr sz="1152" baseline="-25000" b="0">
                <a:solidFill>
                  <a:srgbClr val="333A4A"/>
                </a:solidFill>
              </a:rPr>
              <a:t>0</a:t>
            </a:r>
            <a:r>
              <a:rPr sz="1600" b="0">
                <a:solidFill>
                  <a:srgbClr val="333A4A"/>
                </a:solidFill>
              </a:rPr>
              <a:t> ratio ~40x → V</a:t>
            </a:r>
            <a:r>
              <a:rPr sz="1152" baseline="-25000" b="0">
                <a:solidFill>
                  <a:srgbClr val="333A4A"/>
                </a:solidFill>
              </a:rPr>
              <a:t>T</a:t>
            </a:r>
            <a:r>
              <a:rPr sz="1600" b="0">
                <a:solidFill>
                  <a:srgbClr val="333A4A"/>
                </a:solidFill>
              </a:rPr>
              <a:t>·ln(41.7) = 96.5 mV</a:t>
            </a:r>
          </a:p>
          <a:p>
            <a:pPr>
              <a:lnSpc>
                <a:spcPct val="105000"/>
              </a:lnSpc>
              <a:spcBef>
                <a:spcPts val="0"/>
              </a:spcBef>
              <a:spcAft>
                <a:spcPts val="800"/>
              </a:spcAft>
            </a:pPr>
            <a:r>
              <a:rPr sz="1600" b="0">
                <a:solidFill>
                  <a:srgbClr val="1A4E8A"/>
                </a:solidFill>
              </a:rPr>
              <a:t>•  </a:t>
            </a:r>
            <a:r>
              <a:rPr sz="1600" b="0">
                <a:solidFill>
                  <a:srgbClr val="333A4A"/>
                </a:solidFill>
              </a:rPr>
              <a:t>Contact-sink attribution REFUTED: same S→infinity limit as SCAPS</a:t>
            </a:r>
          </a:p>
          <a:p>
            <a:pPr>
              <a:lnSpc>
                <a:spcPct val="105000"/>
              </a:lnSpc>
              <a:spcBef>
                <a:spcPts val="0"/>
              </a:spcBef>
              <a:spcAft>
                <a:spcPts val="800"/>
              </a:spcAft>
            </a:pPr>
            <a:r>
              <a:rPr sz="1600" b="0">
                <a:solidFill>
                  <a:srgbClr val="1A4E8A"/>
                </a:solidFill>
              </a:rPr>
              <a:t>•  </a:t>
            </a:r>
            <a:r>
              <a:rPr sz="1600" b="0">
                <a:solidFill>
                  <a:srgbClr val="333A4A"/>
                </a:solidFill>
              </a:rPr>
              <a:t>Better candidate: SolarLab vs. SCAPS Pauwels–Vanhoutte interface SRH [7,8]</a:t>
            </a:r>
          </a:p>
          <a:p>
            <a:pPr>
              <a:lnSpc>
                <a:spcPct val="105000"/>
              </a:lnSpc>
              <a:spcBef>
                <a:spcPts val="0"/>
              </a:spcBef>
              <a:spcAft>
                <a:spcPts val="800"/>
              </a:spcAft>
            </a:pPr>
            <a:r>
              <a:rPr sz="1600" b="0">
                <a:solidFill>
                  <a:srgbClr val="1A4E8A"/>
                </a:solidFill>
              </a:rPr>
              <a:t>•  </a:t>
            </a:r>
            <a:r>
              <a:rPr sz="1600" b="0">
                <a:solidFill>
                  <a:srgbClr val="333A4A"/>
                </a:solidFill>
              </a:rPr>
              <a:t>Exonerated as drivers: V</a:t>
            </a:r>
            <a:r>
              <a:rPr sz="1152" baseline="-25000" b="0">
                <a:solidFill>
                  <a:srgbClr val="333A4A"/>
                </a:solidFill>
              </a:rPr>
              <a:t>bi</a:t>
            </a:r>
            <a:r>
              <a:rPr sz="1600" b="0">
                <a:solidFill>
                  <a:srgbClr val="333A4A"/>
                </a:solidFill>
              </a:rPr>
              <a:t>, n_i, TE flux cap, FOM extraction</a:t>
            </a:r>
          </a:p>
          <a:p>
            <a:pPr>
              <a:lnSpc>
                <a:spcPct val="105000"/>
              </a:lnSpc>
              <a:spcBef>
                <a:spcPts val="0"/>
              </a:spcBef>
              <a:spcAft>
                <a:spcPts val="800"/>
              </a:spcAft>
            </a:pPr>
            <a:r>
              <a:rPr sz="1600" b="0">
                <a:solidFill>
                  <a:srgbClr val="1A4E8A"/>
                </a:solidFill>
              </a:rPr>
              <a:t>•  </a:t>
            </a:r>
            <a:r>
              <a:rPr sz="1600" b="0">
                <a:solidFill>
                  <a:srgbClr val="333A4A"/>
                </a:solidFill>
              </a:rPr>
              <a:t>Confidence: medium interface-SRH; low contact-BC specifically</a:t>
            </a:r>
          </a:p>
        </p:txBody>
      </p:sp>
      <p:pic>
        <p:nvPicPr>
          <p:cNvPr id="5" name="Picture 4" descr="f7_experiment_voc.png"/>
          <p:cNvPicPr>
            <a:picLocks noChangeAspect="1"/>
          </p:cNvPicPr>
          <p:nvPr/>
        </p:nvPicPr>
        <p:blipFill>
          <a:blip r:embed="rId2"/>
          <a:stretch>
            <a:fillRect/>
          </a:stretch>
        </p:blipFill>
        <p:spPr>
          <a:xfrm>
            <a:off x="5806440" y="2455143"/>
            <a:ext cx="5852160" cy="286211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PCE Anomaly = A J</a:t>
            </a:r>
            <a:r>
              <a:rPr sz="2160" baseline="-25000" b="1">
                <a:solidFill>
                  <a:srgbClr val="1F2A44"/>
                </a:solidFill>
              </a:rPr>
              <a:t>sc</a:t>
            </a:r>
            <a:r>
              <a:rPr sz="3000" b="1">
                <a:solidFill>
                  <a:srgbClr val="1F2A44"/>
                </a:solidFill>
              </a:rPr>
              <a:t> Cell-Splice, Not a Solver Bug</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PCE ≡ V</a:t>
            </a:r>
            <a:r>
              <a:rPr sz="1152" baseline="-25000" b="0">
                <a:solidFill>
                  <a:srgbClr val="333A4A"/>
                </a:solidFill>
              </a:rPr>
              <a:t>oc</a:t>
            </a:r>
            <a:r>
              <a:rPr sz="1600" b="0">
                <a:solidFill>
                  <a:srgbClr val="333A4A"/>
                </a:solidFill>
              </a:rPr>
              <a:t>·J</a:t>
            </a:r>
            <a:r>
              <a:rPr sz="1152" baseline="-25000" b="0">
                <a:solidFill>
                  <a:srgbClr val="333A4A"/>
                </a:solidFill>
              </a:rPr>
              <a:t>sc</a:t>
            </a:r>
            <a:r>
              <a:rPr sz="1600" b="0">
                <a:solidFill>
                  <a:srgbClr val="333A4A"/>
                </a:solidFill>
              </a:rPr>
              <a:t>·FF is algebraically locked per run</a:t>
            </a:r>
          </a:p>
          <a:p>
            <a:pPr>
              <a:lnSpc>
                <a:spcPct val="105000"/>
              </a:lnSpc>
              <a:spcBef>
                <a:spcPts val="0"/>
              </a:spcBef>
              <a:spcAft>
                <a:spcPts val="800"/>
              </a:spcAft>
            </a:pPr>
            <a:r>
              <a:rPr sz="1600" b="0">
                <a:solidFill>
                  <a:srgbClr val="1A4E8A"/>
                </a:solidFill>
              </a:rPr>
              <a:t>•  </a:t>
            </a:r>
            <a:r>
              <a:rPr sz="1600" b="0">
                <a:solidFill>
                  <a:srgbClr val="333A4A"/>
                </a:solidFill>
              </a:rPr>
              <a:t>Task tuple violates the lock by +1.51 pp → multi-source pairing</a:t>
            </a:r>
          </a:p>
          <a:p>
            <a:pPr>
              <a:lnSpc>
                <a:spcPct val="105000"/>
              </a:lnSpc>
              <a:spcBef>
                <a:spcPts val="0"/>
              </a:spcBef>
              <a:spcAft>
                <a:spcPts val="800"/>
              </a:spcAft>
            </a:pPr>
            <a:r>
              <a:rPr sz="1600" b="0">
                <a:solidFill>
                  <a:srgbClr val="1A4E8A"/>
                </a:solidFill>
              </a:rPr>
              <a:t>•  </a:t>
            </a:r>
            <a:r>
              <a:rPr sz="1600" b="0">
                <a:solidFill>
                  <a:srgbClr val="333A4A"/>
                </a:solidFill>
              </a:rPr>
              <a:t>Foreign cell is J</a:t>
            </a:r>
            <a:r>
              <a:rPr sz="1152" baseline="-25000" b="0">
                <a:solidFill>
                  <a:srgbClr val="333A4A"/>
                </a:solidFill>
              </a:rPr>
              <a:t>sc</a:t>
            </a:r>
            <a:r>
              <a:rPr sz="1600" b="0">
                <a:solidFill>
                  <a:srgbClr val="333A4A"/>
                </a:solidFill>
              </a:rPr>
              <a:t>=25.73 (an N</a:t>
            </a:r>
            <a:r>
              <a:rPr sz="1152" baseline="-25000" b="0">
                <a:solidFill>
                  <a:srgbClr val="333A4A"/>
                </a:solidFill>
              </a:rPr>
              <a:t>grid</a:t>
            </a:r>
            <a:r>
              <a:rPr sz="1600" b="0">
                <a:solidFill>
                  <a:srgbClr val="333A4A"/>
                </a:solidFill>
              </a:rPr>
              <a:t>=30 run), not PCE</a:t>
            </a:r>
          </a:p>
          <a:p>
            <a:pPr>
              <a:lnSpc>
                <a:spcPct val="105000"/>
              </a:lnSpc>
              <a:spcBef>
                <a:spcPts val="0"/>
              </a:spcBef>
              <a:spcAft>
                <a:spcPts val="800"/>
              </a:spcAft>
            </a:pPr>
            <a:r>
              <a:rPr sz="1600" b="0">
                <a:solidFill>
                  <a:srgbClr val="1A4E8A"/>
                </a:solidFill>
              </a:rPr>
              <a:t>•  </a:t>
            </a:r>
            <a:r>
              <a:rPr sz="1600" b="0">
                <a:solidFill>
                  <a:srgbClr val="333A4A"/>
                </a:solidFill>
              </a:rPr>
              <a:t>Genuine J</a:t>
            </a:r>
            <a:r>
              <a:rPr sz="1152" baseline="-25000" b="0">
                <a:solidFill>
                  <a:srgbClr val="333A4A"/>
                </a:solidFill>
              </a:rPr>
              <a:t>sc</a:t>
            </a:r>
            <a:r>
              <a:rPr sz="1600" b="0">
                <a:solidFill>
                  <a:srgbClr val="333A4A"/>
                </a:solidFill>
              </a:rPr>
              <a:t>=23.96 → locked PCE = 22.1%</a:t>
            </a:r>
          </a:p>
          <a:p>
            <a:pPr>
              <a:lnSpc>
                <a:spcPct val="105000"/>
              </a:lnSpc>
              <a:spcBef>
                <a:spcPts val="0"/>
              </a:spcBef>
              <a:spcAft>
                <a:spcPts val="800"/>
              </a:spcAft>
            </a:pPr>
            <a:r>
              <a:rPr sz="1600" b="0">
                <a:solidFill>
                  <a:srgbClr val="1A4E8A"/>
                </a:solidFill>
              </a:rPr>
              <a:t>•  </a:t>
            </a:r>
            <a:r>
              <a:rPr sz="1600" b="0">
                <a:solidFill>
                  <a:srgbClr val="333A4A"/>
                </a:solidFill>
              </a:rPr>
              <a:t>Prior "true PCE ~23.6%" re-commits the splice — also wrong</a:t>
            </a:r>
          </a:p>
          <a:p>
            <a:pPr>
              <a:lnSpc>
                <a:spcPct val="105000"/>
              </a:lnSpc>
              <a:spcBef>
                <a:spcPts val="0"/>
              </a:spcBef>
              <a:spcAft>
                <a:spcPts val="800"/>
              </a:spcAft>
            </a:pPr>
            <a:r>
              <a:rPr sz="1600" b="0">
                <a:solidFill>
                  <a:srgbClr val="1A4E8A"/>
                </a:solidFill>
              </a:rPr>
              <a:t>•  </a:t>
            </a:r>
            <a:r>
              <a:rPr sz="1600" b="0">
                <a:solidFill>
                  <a:srgbClr val="333A4A"/>
                </a:solidFill>
              </a:rPr>
              <a:t>Classification: reporting artifact (held 3/3 at top level)</a:t>
            </a:r>
          </a:p>
        </p:txBody>
      </p:sp>
      <p:pic>
        <p:nvPicPr>
          <p:cNvPr id="5" name="Picture 4" descr="f3_pce_splice.png"/>
          <p:cNvPicPr>
            <a:picLocks noChangeAspect="1"/>
          </p:cNvPicPr>
          <p:nvPr/>
        </p:nvPicPr>
        <p:blipFill>
          <a:blip r:embed="rId2"/>
          <a:stretch>
            <a:fillRect/>
          </a:stretch>
        </p:blipFill>
        <p:spPr>
          <a:xfrm>
            <a:off x="5806440" y="2376361"/>
            <a:ext cx="5852160" cy="301967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Two Engines: Where SolarLab and SCAPS Diverge</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V</a:t>
            </a:r>
            <a:r>
              <a:rPr sz="1152" baseline="-25000" b="0">
                <a:solidFill>
                  <a:srgbClr val="333A4A"/>
                </a:solidFill>
              </a:rPr>
              <a:t>bi</a:t>
            </a:r>
            <a:r>
              <a:rPr sz="1600" b="0">
                <a:solidFill>
                  <a:srgbClr val="333A4A"/>
                </a:solidFill>
              </a:rPr>
              <a:t>: frozen scalar (SolarLab) vs. doping/band-tracking flatband (SCAPS) [1,6]</a:t>
            </a:r>
          </a:p>
          <a:p>
            <a:pPr>
              <a:lnSpc>
                <a:spcPct val="105000"/>
              </a:lnSpc>
              <a:spcBef>
                <a:spcPts val="0"/>
              </a:spcBef>
              <a:spcAft>
                <a:spcPts val="800"/>
              </a:spcAft>
            </a:pPr>
            <a:r>
              <a:rPr sz="1600" b="0">
                <a:solidFill>
                  <a:srgbClr val="1A4E8A"/>
                </a:solidFill>
              </a:rPr>
              <a:t>•  </a:t>
            </a:r>
            <a:r>
              <a:rPr sz="1600" b="0">
                <a:solidFill>
                  <a:srgbClr val="333A4A"/>
                </a:solidFill>
              </a:rPr>
              <a:t>Interface SRH: bulk-projected cross-carrier vs. single-plane Pauwels–Vanhoutte [8]</a:t>
            </a:r>
          </a:p>
          <a:p>
            <a:pPr>
              <a:lnSpc>
                <a:spcPct val="105000"/>
              </a:lnSpc>
              <a:spcBef>
                <a:spcPts val="0"/>
              </a:spcBef>
              <a:spcAft>
                <a:spcPts val="800"/>
              </a:spcAft>
            </a:pPr>
            <a:r>
              <a:rPr sz="1600" b="0">
                <a:solidFill>
                  <a:srgbClr val="1A4E8A"/>
                </a:solidFill>
              </a:rPr>
              <a:t>•  </a:t>
            </a:r>
            <a:r>
              <a:rPr sz="1600" b="0">
                <a:solidFill>
                  <a:srgbClr val="333A4A"/>
                </a:solidFill>
              </a:rPr>
              <a:t>Contacts: hard-Dirichlet ohmic vs. flatband work-function [6]</a:t>
            </a:r>
          </a:p>
          <a:p>
            <a:pPr>
              <a:lnSpc>
                <a:spcPct val="105000"/>
              </a:lnSpc>
              <a:spcBef>
                <a:spcPts val="0"/>
              </a:spcBef>
              <a:spcAft>
                <a:spcPts val="800"/>
              </a:spcAft>
            </a:pPr>
            <a:r>
              <a:rPr sz="1600" b="0">
                <a:solidFill>
                  <a:srgbClr val="1A4E8A"/>
                </a:solidFill>
              </a:rPr>
              <a:t>•  </a:t>
            </a:r>
            <a:r>
              <a:rPr sz="1600" b="0">
                <a:solidFill>
                  <a:srgbClr val="333A4A"/>
                </a:solidFill>
              </a:rPr>
              <a:t>Transport: TE flux-cap on SG vs. TE as the interface BC [4]</a:t>
            </a:r>
          </a:p>
          <a:p>
            <a:pPr>
              <a:lnSpc>
                <a:spcPct val="105000"/>
              </a:lnSpc>
              <a:spcBef>
                <a:spcPts val="0"/>
              </a:spcBef>
              <a:spcAft>
                <a:spcPts val="800"/>
              </a:spcAft>
            </a:pPr>
            <a:r>
              <a:rPr sz="1600" b="0">
                <a:solidFill>
                  <a:srgbClr val="1A4E8A"/>
                </a:solidFill>
              </a:rPr>
              <a:t>•  </a:t>
            </a:r>
            <a:r>
              <a:rPr sz="1600" b="0">
                <a:solidFill>
                  <a:srgbClr val="333A4A"/>
                </a:solidFill>
              </a:rPr>
              <a:t>Optics: TMM front reflection + finite absorber vs. R=0 ideal</a:t>
            </a:r>
          </a:p>
        </p:txBody>
      </p:sp>
      <p:pic>
        <p:nvPicPr>
          <p:cNvPr id="5" name="Picture 4" descr="f4_solver_arch.png"/>
          <p:cNvPicPr>
            <a:picLocks noChangeAspect="1"/>
          </p:cNvPicPr>
          <p:nvPr/>
        </p:nvPicPr>
        <p:blipFill>
          <a:blip r:embed="rId2"/>
          <a:stretch>
            <a:fillRect/>
          </a:stretch>
        </p:blipFill>
        <p:spPr>
          <a:xfrm>
            <a:off x="5806440" y="2023208"/>
            <a:ext cx="5852160" cy="372598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Which Absolute Is Realistic? SolarLab Sits at the Measured Median</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029200" cy="4937760"/>
          </a:xfrm>
          <a:prstGeom prst="rect">
            <a:avLst/>
          </a:prstGeom>
          <a:noFill/>
        </p:spPr>
        <p:txBody>
          <a:bodyPr wrap="square"/>
          <a:lstStyle/>
          <a:p>
            <a:pPr>
              <a:lnSpc>
                <a:spcPct val="105000"/>
              </a:lnSpc>
              <a:spcBef>
                <a:spcPts val="0"/>
              </a:spcBef>
              <a:spcAft>
                <a:spcPts val="800"/>
              </a:spcAft>
            </a:pPr>
            <a:r>
              <a:rPr sz="1600" b="0">
                <a:solidFill>
                  <a:srgbClr val="1A4E8A"/>
                </a:solidFill>
              </a:rPr>
              <a:t>•  </a:t>
            </a:r>
            <a:r>
              <a:rPr sz="1600" b="0">
                <a:solidFill>
                  <a:srgbClr val="333A4A"/>
                </a:solidFill>
              </a:rPr>
              <a:t>Shockley–Queisser ceiling at E</a:t>
            </a:r>
            <a:r>
              <a:rPr sz="1152" baseline="-25000" b="0">
                <a:solidFill>
                  <a:srgbClr val="333A4A"/>
                </a:solidFill>
              </a:rPr>
              <a:t>g</a:t>
            </a:r>
            <a:r>
              <a:rPr sz="1600" b="0">
                <a:solidFill>
                  <a:srgbClr val="333A4A"/>
                </a:solidFill>
              </a:rPr>
              <a:t>=1.53 eV: ~1.28–1.33 V [12,14,15]</a:t>
            </a:r>
          </a:p>
          <a:p>
            <a:pPr>
              <a:lnSpc>
                <a:spcPct val="105000"/>
              </a:lnSpc>
              <a:spcBef>
                <a:spcPts val="0"/>
              </a:spcBef>
              <a:spcAft>
                <a:spcPts val="800"/>
              </a:spcAft>
            </a:pPr>
            <a:r>
              <a:rPr sz="1600" b="0">
                <a:solidFill>
                  <a:srgbClr val="1A4E8A"/>
                </a:solidFill>
              </a:rPr>
              <a:t>•  </a:t>
            </a:r>
            <a:r>
              <a:rPr sz="1600" b="0">
                <a:solidFill>
                  <a:srgbClr val="333A4A"/>
                </a:solidFill>
              </a:rPr>
              <a:t>Measured-device V</a:t>
            </a:r>
            <a:r>
              <a:rPr sz="1152" baseline="-25000" b="0">
                <a:solidFill>
                  <a:srgbClr val="333A4A"/>
                </a:solidFill>
              </a:rPr>
              <a:t>oc</a:t>
            </a:r>
            <a:r>
              <a:rPr sz="1600" b="0">
                <a:solidFill>
                  <a:srgbClr val="333A4A"/>
                </a:solidFill>
              </a:rPr>
              <a:t> median: ~1.05–1.13 V; champions to ~1.17 V [16,18]</a:t>
            </a:r>
          </a:p>
          <a:p>
            <a:pPr>
              <a:lnSpc>
                <a:spcPct val="105000"/>
              </a:lnSpc>
              <a:spcBef>
                <a:spcPts val="0"/>
              </a:spcBef>
              <a:spcAft>
                <a:spcPts val="800"/>
              </a:spcAft>
            </a:pPr>
            <a:r>
              <a:rPr sz="1600" b="0">
                <a:solidFill>
                  <a:srgbClr val="1A4E8A"/>
                </a:solidFill>
              </a:rPr>
              <a:t>•  </a:t>
            </a:r>
            <a:r>
              <a:rPr sz="1600" b="0">
                <a:solidFill>
                  <a:srgbClr val="333A4A"/>
                </a:solidFill>
              </a:rPr>
              <a:t>SolarLab 1.072 V sits inside the measured median band [13,18]</a:t>
            </a:r>
          </a:p>
          <a:p>
            <a:pPr>
              <a:lnSpc>
                <a:spcPct val="105000"/>
              </a:lnSpc>
              <a:spcBef>
                <a:spcPts val="0"/>
              </a:spcBef>
              <a:spcAft>
                <a:spcPts val="800"/>
              </a:spcAft>
            </a:pPr>
            <a:r>
              <a:rPr sz="1600" b="0">
                <a:solidFill>
                  <a:srgbClr val="1A4E8A"/>
                </a:solidFill>
              </a:rPr>
              <a:t>•  </a:t>
            </a:r>
            <a:r>
              <a:rPr sz="1600" b="0">
                <a:solidFill>
                  <a:srgbClr val="333A4A"/>
                </a:solidFill>
              </a:rPr>
              <a:t>SCAPS 1.1676 V is at the published champion ceiling [16,17]</a:t>
            </a:r>
          </a:p>
          <a:p>
            <a:pPr>
              <a:lnSpc>
                <a:spcPct val="105000"/>
              </a:lnSpc>
              <a:spcBef>
                <a:spcPts val="0"/>
              </a:spcBef>
              <a:spcAft>
                <a:spcPts val="800"/>
              </a:spcAft>
            </a:pPr>
            <a:r>
              <a:rPr sz="1600" b="0">
                <a:solidFill>
                  <a:srgbClr val="1A4E8A"/>
                </a:solidFill>
              </a:rPr>
              <a:t>•  </a:t>
            </a:r>
            <a:r>
              <a:rPr sz="1600" b="0">
                <a:solidFill>
                  <a:srgbClr val="333A4A"/>
                </a:solidFill>
              </a:rPr>
              <a:t>SCAPS PCE 26.69% exceeds the certified MAPbI</a:t>
            </a:r>
            <a:r>
              <a:rPr sz="1152" baseline="-25000" b="0">
                <a:solidFill>
                  <a:srgbClr val="333A4A"/>
                </a:solidFill>
              </a:rPr>
              <a:t>3</a:t>
            </a:r>
            <a:r>
              <a:rPr sz="1600" b="0">
                <a:solidFill>
                  <a:srgbClr val="333A4A"/>
                </a:solidFill>
              </a:rPr>
              <a:t> record (~21–23%) [16,17]</a:t>
            </a:r>
          </a:p>
          <a:p>
            <a:pPr>
              <a:lnSpc>
                <a:spcPct val="105000"/>
              </a:lnSpc>
              <a:spcBef>
                <a:spcPts val="0"/>
              </a:spcBef>
              <a:spcAft>
                <a:spcPts val="800"/>
              </a:spcAft>
            </a:pPr>
            <a:r>
              <a:rPr sz="1600" b="0">
                <a:solidFill>
                  <a:srgbClr val="1A4E8A"/>
                </a:solidFill>
              </a:rPr>
              <a:t>•  </a:t>
            </a:r>
            <a:r>
              <a:rPr sz="1600" b="0">
                <a:solidFill>
                  <a:srgbClr val="333A4A"/>
                </a:solidFill>
              </a:rPr>
              <a:t>On absolutes, SolarLab is the more conservative, representative value</a:t>
            </a:r>
          </a:p>
        </p:txBody>
      </p:sp>
      <p:pic>
        <p:nvPicPr>
          <p:cNvPr id="5" name="Picture 4" descr="f7_experiment_voc.png"/>
          <p:cNvPicPr>
            <a:picLocks noChangeAspect="1"/>
          </p:cNvPicPr>
          <p:nvPr/>
        </p:nvPicPr>
        <p:blipFill>
          <a:blip r:embed="rId2"/>
          <a:stretch>
            <a:fillRect/>
          </a:stretch>
        </p:blipFill>
        <p:spPr>
          <a:xfrm>
            <a:off x="5806440" y="2455143"/>
            <a:ext cx="5852160" cy="286211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Recommendations: One Cheap Fix, No V</a:t>
            </a:r>
            <a:r>
              <a:rPr sz="2160" baseline="-25000" b="1">
                <a:solidFill>
                  <a:srgbClr val="1F2A44"/>
                </a:solidFill>
              </a:rPr>
              <a:t>bi</a:t>
            </a:r>
            <a:r>
              <a:rPr sz="3000" b="1">
                <a:solidFill>
                  <a:srgbClr val="1F2A44"/>
                </a:solidFill>
              </a:rPr>
              <a:t> Refactor</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4846320"/>
          </a:xfrm>
          <a:prstGeom prst="rect">
            <a:avLst/>
          </a:prstGeom>
          <a:noFill/>
        </p:spPr>
        <p:txBody>
          <a:bodyPr wrap="square"/>
          <a:lstStyle/>
          <a:p>
            <a:pPr>
              <a:lnSpc>
                <a:spcPct val="105000"/>
              </a:lnSpc>
              <a:spcBef>
                <a:spcPts val="0"/>
              </a:spcBef>
              <a:spcAft>
                <a:spcPts val="800"/>
              </a:spcAft>
            </a:pPr>
            <a:r>
              <a:rPr sz="1800" b="0">
                <a:solidFill>
                  <a:srgbClr val="1A4E8A"/>
                </a:solidFill>
              </a:rPr>
              <a:t>•  </a:t>
            </a:r>
            <a:r>
              <a:rPr sz="1800" b="0">
                <a:solidFill>
                  <a:srgbClr val="333A4A"/>
                </a:solidFill>
              </a:rPr>
              <a:t>P0: re-extract all four FOM from one J–V array; quote PCE 22.1%</a:t>
            </a:r>
          </a:p>
          <a:p>
            <a:pPr>
              <a:lnSpc>
                <a:spcPct val="105000"/>
              </a:lnSpc>
              <a:spcBef>
                <a:spcPts val="0"/>
              </a:spcBef>
              <a:spcAft>
                <a:spcPts val="800"/>
              </a:spcAft>
            </a:pPr>
            <a:r>
              <a:rPr sz="1800" b="0">
                <a:solidFill>
                  <a:srgbClr val="1A4E8A"/>
                </a:solidFill>
              </a:rPr>
              <a:t>•  </a:t>
            </a:r>
            <a:r>
              <a:rPr sz="1800" b="0">
                <a:solidFill>
                  <a:srgbClr val="333A4A"/>
                </a:solidFill>
              </a:rPr>
              <a:t>P0: stop quoting J</a:t>
            </a:r>
            <a:r>
              <a:rPr sz="1296" baseline="-25000" b="0">
                <a:solidFill>
                  <a:srgbClr val="333A4A"/>
                </a:solidFill>
              </a:rPr>
              <a:t>sc</a:t>
            </a:r>
            <a:r>
              <a:rPr sz="1800" b="0">
                <a:solidFill>
                  <a:srgbClr val="333A4A"/>
                </a:solidFill>
              </a:rPr>
              <a:t>=25.73 (the foreign N</a:t>
            </a:r>
            <a:r>
              <a:rPr sz="1296" baseline="-25000" b="0">
                <a:solidFill>
                  <a:srgbClr val="333A4A"/>
                </a:solidFill>
              </a:rPr>
              <a:t>grid</a:t>
            </a:r>
            <a:r>
              <a:rPr sz="1800" b="0">
                <a:solidFill>
                  <a:srgbClr val="333A4A"/>
                </a:solidFill>
              </a:rPr>
              <a:t>=30 cell)</a:t>
            </a:r>
          </a:p>
          <a:p>
            <a:pPr>
              <a:lnSpc>
                <a:spcPct val="105000"/>
              </a:lnSpc>
              <a:spcBef>
                <a:spcPts val="0"/>
              </a:spcBef>
              <a:spcAft>
                <a:spcPts val="800"/>
              </a:spcAft>
            </a:pPr>
            <a:r>
              <a:rPr sz="1800" b="0">
                <a:solidFill>
                  <a:srgbClr val="1A4E8A"/>
                </a:solidFill>
              </a:rPr>
              <a:t>•  </a:t>
            </a:r>
            <a:r>
              <a:rPr sz="1800" b="0">
                <a:solidFill>
                  <a:srgbClr val="333A4A"/>
                </a:solidFill>
              </a:rPr>
              <a:t>P1: standardize swept current on charge-conserving median face</a:t>
            </a:r>
          </a:p>
          <a:p>
            <a:pPr>
              <a:lnSpc>
                <a:spcPct val="105000"/>
              </a:lnSpc>
              <a:spcBef>
                <a:spcPts val="0"/>
              </a:spcBef>
              <a:spcAft>
                <a:spcPts val="800"/>
              </a:spcAft>
            </a:pPr>
            <a:r>
              <a:rPr sz="1800" b="0">
                <a:solidFill>
                  <a:srgbClr val="1A4E8A"/>
                </a:solidFill>
              </a:rPr>
              <a:t>•  </a:t>
            </a:r>
            <a:r>
              <a:rPr sz="1800" b="0">
                <a:solidFill>
                  <a:srgbClr val="333A4A"/>
                </a:solidFill>
              </a:rPr>
              <a:t>Document frozen-V</a:t>
            </a:r>
            <a:r>
              <a:rPr sz="1296" baseline="-25000" b="0">
                <a:solidFill>
                  <a:srgbClr val="333A4A"/>
                </a:solidFill>
              </a:rPr>
              <a:t>bi</a:t>
            </a:r>
            <a:r>
              <a:rPr sz="1800" b="0">
                <a:solidFill>
                  <a:srgbClr val="333A4A"/>
                </a:solidFill>
              </a:rPr>
              <a:t> as the Nd</a:t>
            </a:r>
            <a:r>
              <a:rPr sz="1296" baseline="-25000" b="0">
                <a:solidFill>
                  <a:srgbClr val="333A4A"/>
                </a:solidFill>
              </a:rPr>
              <a:t>ETL</a:t>
            </a:r>
            <a:r>
              <a:rPr sz="1800" b="0">
                <a:solidFill>
                  <a:srgbClr val="333A4A"/>
                </a:solidFill>
              </a:rPr>
              <a:t> reversal cause; do not hot-fix</a:t>
            </a:r>
          </a:p>
          <a:p>
            <a:pPr>
              <a:lnSpc>
                <a:spcPct val="105000"/>
              </a:lnSpc>
              <a:spcBef>
                <a:spcPts val="0"/>
              </a:spcBef>
              <a:spcAft>
                <a:spcPts val="800"/>
              </a:spcAft>
            </a:pPr>
            <a:r>
              <a:rPr sz="1800" b="0">
                <a:solidFill>
                  <a:srgbClr val="1A4E8A"/>
                </a:solidFill>
              </a:rPr>
              <a:t>•  </a:t>
            </a:r>
            <a:r>
              <a:rPr sz="1800" b="0">
                <a:solidFill>
                  <a:srgbClr val="333A4A"/>
                </a:solidFill>
              </a:rPr>
              <a:t>AVOID: routing V</a:t>
            </a:r>
            <a:r>
              <a:rPr sz="1296" baseline="-25000" b="0">
                <a:solidFill>
                  <a:srgbClr val="333A4A"/>
                </a:solidFill>
              </a:rPr>
              <a:t>bi,eff</a:t>
            </a:r>
            <a:r>
              <a:rPr sz="1800" b="0">
                <a:solidFill>
                  <a:srgbClr val="333A4A"/>
                </a:solidFill>
              </a:rPr>
              <a:t> to boundary or finite-S contact refactor</a:t>
            </a:r>
          </a:p>
          <a:p>
            <a:pPr>
              <a:lnSpc>
                <a:spcPct val="105000"/>
              </a:lnSpc>
              <a:spcBef>
                <a:spcPts val="0"/>
              </a:spcBef>
              <a:spcAft>
                <a:spcPts val="800"/>
              </a:spcAft>
            </a:pPr>
            <a:r>
              <a:rPr sz="1800" b="0">
                <a:solidFill>
                  <a:srgbClr val="1A4E8A"/>
                </a:solidFill>
              </a:rPr>
              <a:t>•  </a:t>
            </a:r>
            <a:r>
              <a:rPr sz="1800" b="0">
                <a:solidFill>
                  <a:srgbClr val="333A4A"/>
                </a:solidFill>
              </a:rPr>
              <a:t>Refactor re-baselines 17/17 guards, chases champion-ceiling parity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nchor="ctr">
            <a:spAutoFit/>
          </a:bodyPr>
          <a:lstStyle/>
          <a:p>
            <a:pPr algn="l"/>
            <a:r>
              <a:rPr sz="3000" b="1">
                <a:solidFill>
                  <a:srgbClr val="1F2A44"/>
                </a:solidFill>
              </a:rPr>
              <a:t>References</a:t>
            </a:r>
          </a:p>
        </p:txBody>
      </p:sp>
      <p:sp>
        <p:nvSpPr>
          <p:cNvPr id="3" name="Rectangle 2"/>
          <p:cNvSpPr/>
          <p:nvPr/>
        </p:nvSpPr>
        <p:spPr>
          <a:xfrm>
            <a:off x="548640" y="1207008"/>
            <a:ext cx="11064240" cy="31750"/>
          </a:xfrm>
          <a:prstGeom prst="rect">
            <a:avLst/>
          </a:prstGeom>
          <a:solidFill>
            <a:srgbClr val="1A4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5577840" cy="5120640"/>
          </a:xfrm>
          <a:prstGeom prst="rect">
            <a:avLst/>
          </a:prstGeom>
          <a:noFill/>
        </p:spPr>
        <p:txBody>
          <a:bodyPr wrap="square">
            <a:spAutoFit/>
          </a:bodyPr>
          <a:lstStyle/>
          <a:p>
            <a:pPr>
              <a:lnSpc>
                <a:spcPct val="100000"/>
              </a:lnSpc>
              <a:spcAft>
                <a:spcPts val="400"/>
              </a:spcAft>
            </a:pPr>
            <a:r>
              <a:rPr sz="1100" b="0">
                <a:solidFill>
                  <a:srgbClr val="333A4A"/>
                </a:solidFill>
              </a:rPr>
              <a:t>[1] M. Burgelman, P. Nollet, S. Degrave. Modelling polycrystalline semiconductor solar cells. Thin Solid Films 361–362, 527–532 (2000).</a:t>
            </a:r>
          </a:p>
          <a:p>
            <a:pPr>
              <a:lnSpc>
                <a:spcPct val="100000"/>
              </a:lnSpc>
              <a:spcAft>
                <a:spcPts val="400"/>
              </a:spcAft>
            </a:pPr>
            <a:r>
              <a:rPr sz="1100" b="0">
                <a:solidFill>
                  <a:srgbClr val="333A4A"/>
                </a:solidFill>
              </a:rPr>
              <a:t>[2] M. Burgelman, J. Marlein. Analysis of graded band gap solar cells with SCAPS. Thin Solid Films 515(15), 6276–6278 (2007).</a:t>
            </a:r>
          </a:p>
          <a:p>
            <a:pPr>
              <a:lnSpc>
                <a:spcPct val="100000"/>
              </a:lnSpc>
              <a:spcAft>
                <a:spcPts val="400"/>
              </a:spcAft>
            </a:pPr>
            <a:r>
              <a:rPr sz="1100" b="0">
                <a:solidFill>
                  <a:srgbClr val="333A4A"/>
                </a:solidFill>
              </a:rPr>
              <a:t>[3] K. Decock, S. Khelifi, M. Burgelman. Modelling multivalent defects in thin-film solar cells. Thin Solid Films 519(21), 7481–7484 (2011).</a:t>
            </a:r>
          </a:p>
          <a:p>
            <a:pPr>
              <a:lnSpc>
                <a:spcPct val="100000"/>
              </a:lnSpc>
              <a:spcAft>
                <a:spcPts val="400"/>
              </a:spcAft>
            </a:pPr>
            <a:r>
              <a:rPr sz="1100" b="0">
                <a:solidFill>
                  <a:srgbClr val="333A4A"/>
                </a:solidFill>
              </a:rPr>
              <a:t>[4] J. Niemegeers, M. Burgelman. Thermionic-emission interface transport and numerical scheme (1998).</a:t>
            </a:r>
          </a:p>
          <a:p>
            <a:pPr>
              <a:lnSpc>
                <a:spcPct val="100000"/>
              </a:lnSpc>
              <a:spcAft>
                <a:spcPts val="400"/>
              </a:spcAft>
            </a:pPr>
            <a:r>
              <a:rPr sz="1100" b="0">
                <a:solidFill>
                  <a:srgbClr val="333A4A"/>
                </a:solidFill>
              </a:rPr>
              <a:t>[5] D. L. Scharfetter, H. K. Gummel. Large-signal analysis of a silicon Read diode oscillator. IEEE TED 16(1), 64–77 (1969).</a:t>
            </a:r>
          </a:p>
          <a:p>
            <a:pPr>
              <a:lnSpc>
                <a:spcPct val="100000"/>
              </a:lnSpc>
              <a:spcAft>
                <a:spcPts val="400"/>
              </a:spcAft>
            </a:pPr>
            <a:r>
              <a:rPr sz="1100" b="0">
                <a:solidFill>
                  <a:srgbClr val="333A4A"/>
                </a:solidFill>
              </a:rPr>
              <a:t>[6] SCAPS Manual (Feb 2016), University of Gent. pp. 9–10, 24/26, 30–31, 36–37, 39–41.</a:t>
            </a:r>
          </a:p>
          <a:p>
            <a:pPr>
              <a:lnSpc>
                <a:spcPct val="100000"/>
              </a:lnSpc>
              <a:spcAft>
                <a:spcPts val="400"/>
              </a:spcAft>
            </a:pPr>
            <a:r>
              <a:rPr sz="1100" b="0">
                <a:solidFill>
                  <a:srgbClr val="333A4A"/>
                </a:solidFill>
              </a:rPr>
              <a:t>[7] W. Shockley, W. T. Read. Statistics of the recombinations of holes and electrons. Phys. Rev. 87(5), 835–842 (1952).</a:t>
            </a:r>
          </a:p>
          <a:p>
            <a:pPr>
              <a:lnSpc>
                <a:spcPct val="100000"/>
              </a:lnSpc>
              <a:spcAft>
                <a:spcPts val="400"/>
              </a:spcAft>
            </a:pPr>
            <a:r>
              <a:rPr sz="1100" b="0">
                <a:solidFill>
                  <a:srgbClr val="333A4A"/>
                </a:solidFill>
              </a:rPr>
              <a:t>[8] R. J. Pauwels, G. Vanhoutte. Influence of interface state and energy barriers on heterojunction solar cell efficiency. J. Phys. D 11(5), 649 (1978).</a:t>
            </a:r>
          </a:p>
          <a:p>
            <a:pPr>
              <a:lnSpc>
                <a:spcPct val="100000"/>
              </a:lnSpc>
              <a:spcAft>
                <a:spcPts val="400"/>
              </a:spcAft>
            </a:pPr>
            <a:r>
              <a:rPr sz="1100" b="0">
                <a:solidFill>
                  <a:srgbClr val="333A4A"/>
                </a:solidFill>
              </a:rPr>
              <a:t>[9] J. Nelson. The Physics of Solar Cells. Imperial College Press (2003).</a:t>
            </a:r>
          </a:p>
        </p:txBody>
      </p:sp>
      <p:sp>
        <p:nvSpPr>
          <p:cNvPr id="5" name="TextBox 4"/>
          <p:cNvSpPr txBox="1"/>
          <p:nvPr/>
        </p:nvSpPr>
        <p:spPr>
          <a:xfrm>
            <a:off x="6263640" y="1417320"/>
            <a:ext cx="5577840" cy="5120640"/>
          </a:xfrm>
          <a:prstGeom prst="rect">
            <a:avLst/>
          </a:prstGeom>
          <a:noFill/>
        </p:spPr>
        <p:txBody>
          <a:bodyPr wrap="square">
            <a:spAutoFit/>
          </a:bodyPr>
          <a:lstStyle/>
          <a:p>
            <a:pPr>
              <a:lnSpc>
                <a:spcPct val="100000"/>
              </a:lnSpc>
              <a:spcAft>
                <a:spcPts val="400"/>
              </a:spcAft>
            </a:pPr>
            <a:r>
              <a:rPr sz="1100" b="0">
                <a:solidFill>
                  <a:srgbClr val="333A4A"/>
                </a:solidFill>
              </a:rPr>
              <a:t>[10] P. Calado et al. Evidence for ion migration in hybrid perovskite solar cells. Nat. Commun. 7, 13831 (2016) / Driftfusion.</a:t>
            </a:r>
          </a:p>
          <a:p>
            <a:pPr>
              <a:lnSpc>
                <a:spcPct val="100000"/>
              </a:lnSpc>
              <a:spcAft>
                <a:spcPts val="400"/>
              </a:spcAft>
            </a:pPr>
            <a:r>
              <a:rPr sz="1100" b="0">
                <a:solidFill>
                  <a:srgbClr val="333A4A"/>
                </a:solidFill>
              </a:rPr>
              <a:t>[11] N. E. Courtier et al. IonMonger: a free and fast planar perovskite solar cell simulator. J. Comput. Electron. 18, 1435–1449 (2019).</a:t>
            </a:r>
          </a:p>
          <a:p>
            <a:pPr>
              <a:lnSpc>
                <a:spcPct val="100000"/>
              </a:lnSpc>
              <a:spcAft>
                <a:spcPts val="400"/>
              </a:spcAft>
            </a:pPr>
            <a:r>
              <a:rPr sz="1100" b="0">
                <a:solidFill>
                  <a:srgbClr val="333A4A"/>
                </a:solidFill>
              </a:rPr>
              <a:t>[12] Effect of perovskite thickness on EL and conversion efficiency. J. Phys. Chem. Lett. (2020). doi:10.1021/acs.jpclett.0c02363.</a:t>
            </a:r>
          </a:p>
          <a:p>
            <a:pPr>
              <a:lnSpc>
                <a:spcPct val="100000"/>
              </a:lnSpc>
              <a:spcAft>
                <a:spcPts val="400"/>
              </a:spcAft>
            </a:pPr>
            <a:r>
              <a:rPr sz="1100" b="0">
                <a:solidFill>
                  <a:srgbClr val="333A4A"/>
                </a:solidFill>
              </a:rPr>
              <a:t>[13] K. Tvingstedt et al. Radiative efficiency of lead iodide perovskite solar cells. Sci. Rep. 4, 6071 (2014). doi:10.1038/srep06071.</a:t>
            </a:r>
          </a:p>
          <a:p>
            <a:pPr>
              <a:lnSpc>
                <a:spcPct val="100000"/>
              </a:lnSpc>
              <a:spcAft>
                <a:spcPts val="400"/>
              </a:spcAft>
            </a:pPr>
            <a:r>
              <a:rPr sz="1100" b="0">
                <a:solidFill>
                  <a:srgbClr val="333A4A"/>
                </a:solidFill>
              </a:rPr>
              <a:t>[14] L. M. Pazos-Outón et al. Fundamental efficiency limit of lead iodide perovskite. J. Phys. Chem. Lett. 9(7), 1703–1711 (2018).</a:t>
            </a:r>
          </a:p>
          <a:p>
            <a:pPr>
              <a:lnSpc>
                <a:spcPct val="100000"/>
              </a:lnSpc>
              <a:spcAft>
                <a:spcPts val="400"/>
              </a:spcAft>
            </a:pPr>
            <a:r>
              <a:rPr sz="1100" b="0">
                <a:solidFill>
                  <a:srgbClr val="333A4A"/>
                </a:solidFill>
              </a:rPr>
              <a:t>[15] W. E. I. Sha et al. The efficiency limit of CH₃NH₃PbI₃ perovskite solar cells. Appl. Phys. Lett. 106, 221104 (2015). arXiv:1506.09003.</a:t>
            </a:r>
          </a:p>
          <a:p>
            <a:pPr>
              <a:lnSpc>
                <a:spcPct val="100000"/>
              </a:lnSpc>
              <a:spcAft>
                <a:spcPts val="400"/>
              </a:spcAft>
            </a:pPr>
            <a:r>
              <a:rPr sz="1100" b="0">
                <a:solidFill>
                  <a:srgbClr val="333A4A"/>
                </a:solidFill>
              </a:rPr>
              <a:t>[16] Mesoporous-TiO₂/spiro champion. Energy Environ. Sci. (2016); PMC4705040. J</a:t>
            </a:r>
            <a:r>
              <a:rPr sz="792" baseline="-25000" b="0">
                <a:solidFill>
                  <a:srgbClr val="333A4A"/>
                </a:solidFill>
              </a:rPr>
              <a:t>sc</a:t>
            </a:r>
            <a:r>
              <a:rPr sz="1100" b="0">
                <a:solidFill>
                  <a:srgbClr val="333A4A"/>
                </a:solidFill>
              </a:rPr>
              <a:t> 24.6, V</a:t>
            </a:r>
            <a:r>
              <a:rPr sz="792" baseline="-25000" b="0">
                <a:solidFill>
                  <a:srgbClr val="333A4A"/>
                </a:solidFill>
              </a:rPr>
              <a:t>oc</a:t>
            </a:r>
            <a:r>
              <a:rPr sz="1100" b="0">
                <a:solidFill>
                  <a:srgbClr val="333A4A"/>
                </a:solidFill>
              </a:rPr>
              <a:t> 1.16 V, FF 0.73, PCE 20.8%.</a:t>
            </a:r>
          </a:p>
          <a:p>
            <a:pPr>
              <a:lnSpc>
                <a:spcPct val="100000"/>
              </a:lnSpc>
              <a:spcAft>
                <a:spcPts val="400"/>
              </a:spcAft>
            </a:pPr>
            <a:r>
              <a:rPr sz="1100" b="0">
                <a:solidFill>
                  <a:srgbClr val="333A4A"/>
                </a:solidFill>
              </a:rPr>
              <a:t>[17] Low-loss MAPbI₃ stack: V</a:t>
            </a:r>
            <a:r>
              <a:rPr sz="792" baseline="-25000" b="0">
                <a:solidFill>
                  <a:srgbClr val="333A4A"/>
                </a:solidFill>
              </a:rPr>
              <a:t>oc</a:t>
            </a:r>
            <a:r>
              <a:rPr sz="1100" b="0">
                <a:solidFill>
                  <a:srgbClr val="333A4A"/>
                </a:solidFill>
              </a:rPr>
              <a:t> 1.21 V at 1.53 eV, certified 23.09% PCE. Sci. China Mater. (2025). doi:10.1007/s40843-025-3457-3.</a:t>
            </a:r>
          </a:p>
          <a:p>
            <a:pPr>
              <a:lnSpc>
                <a:spcPct val="100000"/>
              </a:lnSpc>
              <a:spcAft>
                <a:spcPts val="400"/>
              </a:spcAft>
            </a:pPr>
            <a:r>
              <a:rPr sz="1100" b="0">
                <a:solidFill>
                  <a:srgbClr val="333A4A"/>
                </a:solidFill>
              </a:rPr>
              <a:t>[18] Single-crystal MAPbI₃ cells &gt; 21% PCE, V</a:t>
            </a:r>
            <a:r>
              <a:rPr sz="792" baseline="-25000" b="0">
                <a:solidFill>
                  <a:srgbClr val="333A4A"/>
                </a:solidFill>
              </a:rPr>
              <a:t>oc</a:t>
            </a:r>
            <a:r>
              <a:rPr sz="1100" b="0">
                <a:solidFill>
                  <a:srgbClr val="333A4A"/>
                </a:solidFill>
              </a:rPr>
              <a:t> 1.0–1.1 V. ACS Energy Lett. 4(5), 1258 (2019). doi:10.1021/acsenergylett.9b00847.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