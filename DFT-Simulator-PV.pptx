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7"/>
  </p:notesMasterIdLst>
  <p:handoutMasterIdLst>
    <p:handoutMasterId r:id="rId56"/>
  </p:handoutMasterIdLst>
  <p:sldIdLst>
    <p:sldId id="256" r:id="rId3"/>
    <p:sldId id="257" r:id="rId4"/>
    <p:sldId id="294" r:id="rId5"/>
    <p:sldId id="260" r:id="rId6"/>
    <p:sldId id="259" r:id="rId8"/>
    <p:sldId id="258" r:id="rId9"/>
    <p:sldId id="261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5" r:id="rId22"/>
    <p:sldId id="276" r:id="rId23"/>
    <p:sldId id="277" r:id="rId24"/>
    <p:sldId id="278" r:id="rId25"/>
    <p:sldId id="279" r:id="rId26"/>
    <p:sldId id="280" r:id="rId27"/>
    <p:sldId id="308" r:id="rId28"/>
    <p:sldId id="295" r:id="rId29"/>
    <p:sldId id="296" r:id="rId30"/>
    <p:sldId id="304" r:id="rId31"/>
    <p:sldId id="303" r:id="rId32"/>
    <p:sldId id="307" r:id="rId33"/>
    <p:sldId id="306" r:id="rId34"/>
    <p:sldId id="305" r:id="rId35"/>
    <p:sldId id="301" r:id="rId36"/>
    <p:sldId id="302" r:id="rId37"/>
    <p:sldId id="300" r:id="rId38"/>
    <p:sldId id="297" r:id="rId39"/>
    <p:sldId id="298" r:id="rId40"/>
    <p:sldId id="299" r:id="rId41"/>
    <p:sldId id="309" r:id="rId42"/>
    <p:sldId id="281" r:id="rId43"/>
    <p:sldId id="282" r:id="rId44"/>
    <p:sldId id="283" r:id="rId45"/>
    <p:sldId id="284" r:id="rId46"/>
    <p:sldId id="285" r:id="rId47"/>
    <p:sldId id="286" r:id="rId48"/>
    <p:sldId id="287" r:id="rId49"/>
    <p:sldId id="288" r:id="rId50"/>
    <p:sldId id="289" r:id="rId51"/>
    <p:sldId id="290" r:id="rId52"/>
    <p:sldId id="291" r:id="rId53"/>
    <p:sldId id="292" r:id="rId54"/>
    <p:sldId id="293" r:id="rId5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/>
    <p:restoredTop sz="94659"/>
  </p:normalViewPr>
  <p:slideViewPr>
    <p:cSldViewPr snapToGrid="0" snapToObjects="1" showGuides="1">
      <p:cViewPr>
        <p:scale>
          <a:sx n="195" d="100"/>
          <a:sy n="195" d="100"/>
        </p:scale>
        <p:origin x="1176" y="168"/>
      </p:cViewPr>
      <p:guideLst>
        <p:guide orient="horz" pos="213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9" Type="http://schemas.openxmlformats.org/officeDocument/2006/relationships/tableStyles" Target="tableStyles.xml"/><Relationship Id="rId58" Type="http://schemas.openxmlformats.org/officeDocument/2006/relationships/viewProps" Target="viewProps.xml"/><Relationship Id="rId57" Type="http://schemas.openxmlformats.org/officeDocument/2006/relationships/presProps" Target="presProps.xml"/><Relationship Id="rId56" Type="http://schemas.openxmlformats.org/officeDocument/2006/relationships/handoutMaster" Target="handoutMasters/handoutMaster1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"/>
          <c:y val="0.08"/>
          <c:w val="0.82"/>
          <c:h val="0.7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light</c:v>
                </c:pt>
              </c:strCache>
            </c:strRef>
          </c:tx>
          <c:spPr>
            <a:ln w="26035" cap="flat" cmpd="sng" algn="ctr">
              <a:solidFill>
                <a:srgbClr val="B42318"/>
              </a:solidFill>
              <a:prstDash val="solid"/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Sheet1!$A$2:$A$9</c:f>
              <c:numCache>
                <c:formatCode>General</c:formatCode>
                <c:ptCount val="8"/>
                <c:pt idx="0">
                  <c:v>0</c:v>
                </c:pt>
                <c:pt idx="1">
                  <c:v>0.2</c:v>
                </c:pt>
                <c:pt idx="2">
                  <c:v>0.4</c:v>
                </c:pt>
                <c:pt idx="3">
                  <c:v>0.6</c:v>
                </c:pt>
                <c:pt idx="4">
                  <c:v>0.8</c:v>
                </c:pt>
                <c:pt idx="5">
                  <c:v>1</c:v>
                </c:pt>
                <c:pt idx="6">
                  <c:v>1.15</c:v>
                </c:pt>
                <c:pt idx="7">
                  <c:v>1.3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23.8</c:v>
                </c:pt>
                <c:pt idx="1">
                  <c:v>23.7</c:v>
                </c:pt>
                <c:pt idx="2">
                  <c:v>23.2</c:v>
                </c:pt>
                <c:pt idx="3">
                  <c:v>21.7</c:v>
                </c:pt>
                <c:pt idx="4">
                  <c:v>17.2</c:v>
                </c:pt>
                <c:pt idx="5">
                  <c:v>8.4</c:v>
                </c:pt>
                <c:pt idx="6">
                  <c:v>0</c:v>
                </c:pt>
                <c:pt idx="7">
                  <c:v>-6.8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dark</c:v>
                </c:pt>
              </c:strCache>
            </c:strRef>
          </c:tx>
          <c:spPr>
            <a:ln w="26035" cap="flat" cmpd="sng" algn="ctr">
              <a:solidFill>
                <a:srgbClr val="334155"/>
              </a:solidFill>
              <a:prstDash val="solid"/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Sheet1!$A$2:$A$9</c:f>
              <c:numCache>
                <c:formatCode>General</c:formatCode>
                <c:ptCount val="8"/>
                <c:pt idx="0">
                  <c:v>0</c:v>
                </c:pt>
                <c:pt idx="1">
                  <c:v>0.2</c:v>
                </c:pt>
                <c:pt idx="2">
                  <c:v>0.4</c:v>
                </c:pt>
                <c:pt idx="3">
                  <c:v>0.6</c:v>
                </c:pt>
                <c:pt idx="4">
                  <c:v>0.8</c:v>
                </c:pt>
                <c:pt idx="5">
                  <c:v>1</c:v>
                </c:pt>
                <c:pt idx="6">
                  <c:v>1.15</c:v>
                </c:pt>
                <c:pt idx="7">
                  <c:v>1.3</c:v>
                </c:pt>
              </c:numCache>
            </c:num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0.1</c:v>
                </c:pt>
                <c:pt idx="3">
                  <c:v>0.4</c:v>
                </c:pt>
                <c:pt idx="4">
                  <c:v>1.5</c:v>
                </c:pt>
                <c:pt idx="5">
                  <c:v>5.4</c:v>
                </c:pt>
                <c:pt idx="6">
                  <c:v>15</c:v>
                </c:pt>
                <c:pt idx="7">
                  <c:v>26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7620" cap="flat" cmpd="sng" algn="ctr">
            <a:solidFill>
              <a:srgbClr val="334155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540" b="0" i="0" u="none" strike="noStrike" kern="1200" baseline="0">
                <a:solidFill>
                  <a:srgbClr val="64748B"/>
                </a:solidFill>
                <a:latin typeface="Arial" panose="020B060402020209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8"/>
          <c:min val="-8"/>
        </c:scaling>
        <c:delete val="0"/>
        <c:axPos val="l"/>
        <c:majorGridlines>
          <c:spPr>
            <a:ln w="5715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7620" cap="flat" cmpd="sng" algn="ctr">
            <a:solidFill>
              <a:srgbClr val="334155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540" b="0" i="0" u="none" strike="noStrike" kern="1200" baseline="0">
                <a:solidFill>
                  <a:srgbClr val="64748B"/>
                </a:solidFill>
                <a:latin typeface="Arial" panose="020B060402020209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  <c:majorUnit val="6"/>
      </c:valAx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f54f4d6f-628c-4dab-a8d5-40379c5fcfc8}"/>
      </c:ext>
    </c:extLst>
  </c:chart>
  <c:spPr>
    <a:solidFill>
      <a:srgbClr val="FFFFFF">
        <a:alpha val="0"/>
      </a:srgbClr>
    </a:solidFill>
    <a:ln w="12700" cap="flat">
      <a:solidFill>
        <a:srgbClr val="FFFFFF"/>
      </a:solidFill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"/>
          <c:y val="0.08"/>
          <c:w val="0.82"/>
          <c:h val="0.7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</c:v>
                </c:pt>
              </c:strCache>
            </c:strRef>
          </c:tx>
          <c:spPr>
            <a:ln w="26035" cap="flat" cmpd="sng" algn="ctr">
              <a:solidFill>
                <a:srgbClr val="2563EB"/>
              </a:solidFill>
              <a:prstDash val="solid"/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Sheet1!$A$2:$A$9</c:f>
              <c:numCache>
                <c:formatCode>General</c:formatCode>
                <c:ptCount val="8"/>
                <c:pt idx="0">
                  <c:v>-0.4</c:v>
                </c:pt>
                <c:pt idx="1">
                  <c:v>-0.2</c:v>
                </c:pt>
                <c:pt idx="2">
                  <c:v>0</c:v>
                </c:pt>
                <c:pt idx="3">
                  <c:v>0.2</c:v>
                </c:pt>
                <c:pt idx="4">
                  <c:v>0.4</c:v>
                </c:pt>
                <c:pt idx="5">
                  <c:v>0.6</c:v>
                </c:pt>
                <c:pt idx="6">
                  <c:v>0.8</c:v>
                </c:pt>
                <c:pt idx="7">
                  <c:v>1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0.92</c:v>
                </c:pt>
                <c:pt idx="1">
                  <c:v>0.82</c:v>
                </c:pt>
                <c:pt idx="2">
                  <c:v>0.7</c:v>
                </c:pt>
                <c:pt idx="3">
                  <c:v>0.59</c:v>
                </c:pt>
                <c:pt idx="4">
                  <c:v>0.49</c:v>
                </c:pt>
                <c:pt idx="5">
                  <c:v>0.42</c:v>
                </c:pt>
                <c:pt idx="6">
                  <c:v>0.38</c:v>
                </c:pt>
                <c:pt idx="7">
                  <c:v>0.37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1/C2</c:v>
                </c:pt>
              </c:strCache>
            </c:strRef>
          </c:tx>
          <c:spPr>
            <a:ln w="26035" cap="flat" cmpd="sng" algn="ctr">
              <a:solidFill>
                <a:srgbClr val="16803C"/>
              </a:solidFill>
              <a:prstDash val="solid"/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Sheet1!$A$2:$A$9</c:f>
              <c:numCache>
                <c:formatCode>General</c:formatCode>
                <c:ptCount val="8"/>
                <c:pt idx="0">
                  <c:v>-0.4</c:v>
                </c:pt>
                <c:pt idx="1">
                  <c:v>-0.2</c:v>
                </c:pt>
                <c:pt idx="2">
                  <c:v>0</c:v>
                </c:pt>
                <c:pt idx="3">
                  <c:v>0.2</c:v>
                </c:pt>
                <c:pt idx="4">
                  <c:v>0.4</c:v>
                </c:pt>
                <c:pt idx="5">
                  <c:v>0.6</c:v>
                </c:pt>
                <c:pt idx="6">
                  <c:v>0.8</c:v>
                </c:pt>
                <c:pt idx="7">
                  <c:v>1</c:v>
                </c:pt>
              </c:numCache>
            </c:num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0.12</c:v>
                </c:pt>
                <c:pt idx="1">
                  <c:v>0.2</c:v>
                </c:pt>
                <c:pt idx="2">
                  <c:v>0.31</c:v>
                </c:pt>
                <c:pt idx="3">
                  <c:v>0.43</c:v>
                </c:pt>
                <c:pt idx="4">
                  <c:v>0.57</c:v>
                </c:pt>
                <c:pt idx="5">
                  <c:v>0.7</c:v>
                </c:pt>
                <c:pt idx="6">
                  <c:v>0.82</c:v>
                </c:pt>
                <c:pt idx="7">
                  <c:v>0.88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7620" cap="flat" cmpd="sng" algn="ctr">
            <a:solidFill>
              <a:srgbClr val="334155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540" b="0" i="0" u="none" strike="noStrike" kern="1200" baseline="0">
                <a:solidFill>
                  <a:srgbClr val="64748B"/>
                </a:solidFill>
                <a:latin typeface="Arial" panose="020B060402020209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5715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0.0" sourceLinked="0"/>
        <c:majorTickMark val="none"/>
        <c:minorTickMark val="none"/>
        <c:tickLblPos val="nextTo"/>
        <c:spPr>
          <a:ln w="7620" cap="flat" cmpd="sng" algn="ctr">
            <a:solidFill>
              <a:srgbClr val="334155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540" b="0" i="0" u="none" strike="noStrike" kern="1200" baseline="0">
                <a:solidFill>
                  <a:srgbClr val="64748B"/>
                </a:solidFill>
                <a:latin typeface="Arial" panose="020B060402020209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  <c:majorUnit val="0.2"/>
      </c:valAx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079bf0cd-9f88-4821-b851-44bac96f5b2a}"/>
      </c:ext>
    </c:extLst>
  </c:chart>
  <c:spPr>
    <a:solidFill>
      <a:srgbClr val="FFFFFF">
        <a:alpha val="0"/>
      </a:srgbClr>
    </a:solidFill>
    <a:ln w="12700" cap="flat">
      <a:solidFill>
        <a:srgbClr val="FFFFFF"/>
      </a:solidFill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"/>
          <c:y val="0.08"/>
          <c:w val="0.82"/>
          <c:h val="0.7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</c:v>
                </c:pt>
              </c:strCache>
            </c:strRef>
          </c:tx>
          <c:spPr>
            <a:ln w="26035" cap="flat" cmpd="sng" algn="ctr">
              <a:solidFill>
                <a:srgbClr val="16803C"/>
              </a:solidFill>
              <a:prstDash val="solid"/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Sheet1!$A$2:$A$9</c:f>
              <c:strCache>
                <c:ptCount val="8"/>
                <c:pt idx="0">
                  <c:v>10</c:v>
                </c:pt>
                <c:pt idx="1">
                  <c:v>10²</c:v>
                </c:pt>
                <c:pt idx="2">
                  <c:v>10³</c:v>
                </c:pt>
                <c:pt idx="3">
                  <c:v>10⁴</c:v>
                </c:pt>
                <c:pt idx="4">
                  <c:v>10⁵</c:v>
                </c:pt>
                <c:pt idx="5">
                  <c:v>10⁶</c:v>
                </c:pt>
                <c:pt idx="6">
                  <c:v>10⁷</c:v>
                </c:pt>
                <c:pt idx="7">
                  <c:v>10⁸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0.95</c:v>
                </c:pt>
                <c:pt idx="1">
                  <c:v>0.94</c:v>
                </c:pt>
                <c:pt idx="2">
                  <c:v>0.91</c:v>
                </c:pt>
                <c:pt idx="3">
                  <c:v>0.83</c:v>
                </c:pt>
                <c:pt idx="4">
                  <c:v>0.63</c:v>
                </c:pt>
                <c:pt idx="5">
                  <c:v>0.42</c:v>
                </c:pt>
                <c:pt idx="6">
                  <c:v>0.31</c:v>
                </c:pt>
                <c:pt idx="7">
                  <c:v>0.28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</c:v>
                </c:pt>
              </c:strCache>
            </c:strRef>
          </c:tx>
          <c:spPr>
            <a:ln w="26035" cap="flat" cmpd="sng" algn="ctr">
              <a:solidFill>
                <a:srgbClr val="A16207"/>
              </a:solidFill>
              <a:prstDash val="solid"/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Sheet1!$A$2:$A$9</c:f>
              <c:strCache>
                <c:ptCount val="8"/>
                <c:pt idx="0">
                  <c:v>10</c:v>
                </c:pt>
                <c:pt idx="1">
                  <c:v>10²</c:v>
                </c:pt>
                <c:pt idx="2">
                  <c:v>10³</c:v>
                </c:pt>
                <c:pt idx="3">
                  <c:v>10⁴</c:v>
                </c:pt>
                <c:pt idx="4">
                  <c:v>10⁵</c:v>
                </c:pt>
                <c:pt idx="5">
                  <c:v>10⁶</c:v>
                </c:pt>
                <c:pt idx="6">
                  <c:v>10⁷</c:v>
                </c:pt>
                <c:pt idx="7">
                  <c:v>10⁸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0.12</c:v>
                </c:pt>
                <c:pt idx="1">
                  <c:v>0.17</c:v>
                </c:pt>
                <c:pt idx="2">
                  <c:v>0.29</c:v>
                </c:pt>
                <c:pt idx="3">
                  <c:v>0.56</c:v>
                </c:pt>
                <c:pt idx="4">
                  <c:v>0.82</c:v>
                </c:pt>
                <c:pt idx="5">
                  <c:v>0.63</c:v>
                </c:pt>
                <c:pt idx="6">
                  <c:v>0.34</c:v>
                </c:pt>
                <c:pt idx="7">
                  <c:v>0.16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7620" cap="flat" cmpd="sng" algn="ctr">
            <a:solidFill>
              <a:srgbClr val="334155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540" b="0" i="0" u="none" strike="noStrike" kern="1200" baseline="0">
                <a:solidFill>
                  <a:srgbClr val="64748B"/>
                </a:solidFill>
                <a:latin typeface="Arial" panose="020B060402020209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5715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0.0" sourceLinked="0"/>
        <c:majorTickMark val="none"/>
        <c:minorTickMark val="none"/>
        <c:tickLblPos val="nextTo"/>
        <c:spPr>
          <a:ln w="7620" cap="flat" cmpd="sng" algn="ctr">
            <a:solidFill>
              <a:srgbClr val="334155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540" b="0" i="0" u="none" strike="noStrike" kern="1200" baseline="0">
                <a:solidFill>
                  <a:srgbClr val="64748B"/>
                </a:solidFill>
                <a:latin typeface="Arial" panose="020B060402020209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  <c:majorUnit val="0.2"/>
      </c:valAx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d3f68afe-cbf6-43a3-b210-1ebd0cf5d73f}"/>
      </c:ext>
    </c:extLst>
  </c:chart>
  <c:spPr>
    <a:solidFill>
      <a:srgbClr val="FFFFFF">
        <a:alpha val="0"/>
      </a:srgbClr>
    </a:solidFill>
    <a:ln w="12700" cap="flat">
      <a:solidFill>
        <a:srgbClr val="FFFFFF"/>
      </a:solidFill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"/>
          <c:y val="0.08"/>
          <c:w val="0.82"/>
          <c:h val="0.7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QE</c:v>
                </c:pt>
              </c:strCache>
            </c:strRef>
          </c:tx>
          <c:spPr>
            <a:ln w="26035" cap="flat" cmpd="sng" algn="ctr">
              <a:solidFill>
                <a:srgbClr val="6D28D9"/>
              </a:solidFill>
              <a:prstDash val="solid"/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300</c:v>
                </c:pt>
                <c:pt idx="1">
                  <c:v>400</c:v>
                </c:pt>
                <c:pt idx="2">
                  <c:v>500</c:v>
                </c:pt>
                <c:pt idx="3">
                  <c:v>600</c:v>
                </c:pt>
                <c:pt idx="4">
                  <c:v>700</c:v>
                </c:pt>
                <c:pt idx="5">
                  <c:v>800</c:v>
                </c:pt>
                <c:pt idx="6">
                  <c:v>850</c:v>
                </c:pt>
                <c:pt idx="7">
                  <c:v>900</c:v>
                </c:pt>
                <c:pt idx="8">
                  <c:v>950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</c:v>
                </c:pt>
                <c:pt idx="1">
                  <c:v>35</c:v>
                </c:pt>
                <c:pt idx="2">
                  <c:v>70</c:v>
                </c:pt>
                <c:pt idx="3">
                  <c:v>86</c:v>
                </c:pt>
                <c:pt idx="4">
                  <c:v>88</c:v>
                </c:pt>
                <c:pt idx="5">
                  <c:v>82</c:v>
                </c:pt>
                <c:pt idx="6">
                  <c:v>62</c:v>
                </c:pt>
                <c:pt idx="7">
                  <c:v>20</c:v>
                </c:pt>
                <c:pt idx="8">
                  <c:v>2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7620" cap="flat" cmpd="sng" algn="ctr">
            <a:solidFill>
              <a:srgbClr val="334155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540" b="0" i="0" u="none" strike="noStrike" kern="1200" baseline="0">
                <a:solidFill>
                  <a:srgbClr val="64748B"/>
                </a:solidFill>
                <a:latin typeface="Arial" panose="020B060402020209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5715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7620" cap="flat" cmpd="sng" algn="ctr">
            <a:solidFill>
              <a:srgbClr val="334155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540" b="0" i="0" u="none" strike="noStrike" kern="1200" baseline="0">
                <a:solidFill>
                  <a:srgbClr val="64748B"/>
                </a:solidFill>
                <a:latin typeface="Arial" panose="020B060402020209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  <c:majorUnit val="20"/>
      </c:valAx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88939837-0120-449b-8bbb-62f942e54adb}"/>
      </c:ext>
    </c:extLst>
  </c:chart>
  <c:spPr>
    <a:solidFill>
      <a:srgbClr val="FFFFFF">
        <a:alpha val="0"/>
      </a:srgbClr>
    </a:solidFill>
    <a:ln w="12700" cap="flat">
      <a:solidFill>
        <a:srgbClr val="FFFFFF"/>
      </a:solidFill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051DBA-FC7B-5544-9873-48C238844A1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8505BF-32D3-184A-9A45-60D1A7A19E5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D5129-8AAE-B347-9685-D02B7BAA232C}" type="datetime1">
              <a:rPr lang="zh-CN" alt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DDD53-5707-3A4F-A22B-259FC96D3FE3}" type="datetime1">
              <a:rPr lang="zh-CN" alt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264C1-CE8A-0149-988D-C3D60C40AA1D}" type="datetime1">
              <a:rPr lang="zh-CN" alt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64BCF-0CC1-764B-98AB-03AD934C509F}" type="datetime1">
              <a:rPr lang="zh-CN" alt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83A8A-811B-B14E-84DA-827BA1FD46EF}" type="datetime1">
              <a:rPr lang="zh-CN" alt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EC446-ADC7-7D49-9845-D19E0CE9F8A8}" type="datetime1">
              <a:rPr lang="zh-CN" alt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EED92-73DC-9E44-893B-59DCAC4D3C12}" type="datetime1">
              <a:rPr lang="zh-CN" alt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E9F7-60F8-C144-B988-3D0EBA7DFB21}" type="datetime1">
              <a:rPr lang="zh-CN" alt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BFF8F-4453-3B49-9C05-D95CFEAFDBEF}" type="datetime1">
              <a:rPr lang="zh-CN" alt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14FB6-70BE-2C4D-84A1-FFEAADB1F10C}" type="datetime1">
              <a:rPr lang="zh-CN" alt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A0582-A13F-B34D-9F58-D75B51A11D81}" type="datetime1">
              <a:rPr lang="zh-CN" alt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A98307-38F8-5844-94FC-9AD62202E772}" type="datetime1">
              <a:rPr lang="zh-CN" alt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7.xml"/><Relationship Id="rId4" Type="http://schemas.openxmlformats.org/officeDocument/2006/relationships/chart" Target="../charts/chart4.xml"/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1" Type="http://schemas.openxmlformats.org/officeDocument/2006/relationships/image" Target="../media/image24.GI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GI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7.png"/><Relationship Id="rId2" Type="http://schemas.openxmlformats.org/officeDocument/2006/relationships/image" Target="../media/image36.GIF"/><Relationship Id="rId1" Type="http://schemas.openxmlformats.org/officeDocument/2006/relationships/image" Target="../media/image3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2.GI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3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5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6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7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8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9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0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1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398336"/>
            <a:ext cx="9144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solidFill>
                  <a:srgbClr val="1C2533"/>
                </a:solidFill>
                <a:latin typeface="Arial" panose="020B0604020202090204"/>
              </a:rPr>
              <a:t>High-throughput DFT and small-sample ML for PV absorber discovery, with device-scale validation</a:t>
            </a:r>
            <a:endParaRPr sz="2800" b="1" dirty="0">
              <a:solidFill>
                <a:srgbClr val="1C2533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2828925"/>
            <a:ext cx="9144000" cy="1245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dirty="0">
                <a:solidFill>
                  <a:srgbClr val="475569"/>
                </a:solidFill>
                <a:latin typeface="Arial" panose="020B0604020202090204"/>
              </a:rPr>
              <a:t>Xuanyan Chen</a:t>
            </a:r>
            <a:br>
              <a:rPr lang="en-US" sz="1500" b="0" dirty="0">
                <a:solidFill>
                  <a:srgbClr val="475569"/>
                </a:solidFill>
                <a:latin typeface="Arial" panose="020B0604020202090204"/>
              </a:rPr>
            </a:br>
            <a:endParaRPr lang="en-US" sz="1500" b="0" dirty="0">
              <a:solidFill>
                <a:srgbClr val="475569"/>
              </a:solidFill>
              <a:latin typeface="Arial" panose="020B0604020202090204"/>
            </a:endParaRPr>
          </a:p>
          <a:p>
            <a:pPr algn="ctr"/>
            <a:r>
              <a:rPr lang="en-US" sz="1500" b="1" dirty="0">
                <a:solidFill>
                  <a:srgbClr val="475569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Supervisor: </a:t>
            </a:r>
            <a:endParaRPr lang="en-US" sz="1500" b="1" dirty="0">
              <a:solidFill>
                <a:srgbClr val="475569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algn="ctr"/>
            <a:r>
              <a:rPr lang="en-US" sz="1500" b="0" dirty="0">
                <a:solidFill>
                  <a:srgbClr val="475569"/>
                </a:solidFill>
                <a:latin typeface="Arial" panose="020B0604020202090204"/>
              </a:rPr>
              <a:t>Prof. GAN </a:t>
            </a:r>
            <a:r>
              <a:rPr lang="en-US" sz="1500" b="0" dirty="0" err="1">
                <a:solidFill>
                  <a:srgbClr val="475569"/>
                </a:solidFill>
                <a:latin typeface="Arial" panose="020B0604020202090204"/>
              </a:rPr>
              <a:t>Zecheng</a:t>
            </a:r>
            <a:endParaRPr lang="en-US" sz="1500" b="0" dirty="0" err="1">
              <a:solidFill>
                <a:srgbClr val="475569"/>
              </a:solidFill>
              <a:latin typeface="Arial" panose="020B0604020202090204"/>
            </a:endParaRPr>
          </a:p>
          <a:p>
            <a:pPr algn="ctr"/>
            <a:r>
              <a:rPr lang="en-US" sz="1500" b="0" dirty="0">
                <a:solidFill>
                  <a:srgbClr val="475569"/>
                </a:solidFill>
                <a:latin typeface="Arial" panose="020B0604020202090204"/>
              </a:rPr>
              <a:t>Prof. YAN Chang</a:t>
            </a:r>
            <a:endParaRPr lang="en-US" sz="1500" b="0" dirty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1435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0" b="1">
                <a:solidFill>
                  <a:srgbClr val="C0392B"/>
                </a:solidFill>
                <a:latin typeface="Arial" panose="020B0604020202090204"/>
              </a:rPr>
              <a:t>01</a:t>
            </a:r>
            <a:endParaRPr sz="25000" b="1">
              <a:solidFill>
                <a:srgbClr val="C0392B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401193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475569"/>
                </a:solidFill>
                <a:latin typeface="Arial" panose="020B0604020202090204"/>
              </a:rPr>
              <a:t>PROBLEM</a:t>
            </a:r>
            <a:endParaRPr sz="3600" b="1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55600"/>
            <a:ext cx="9144000" cy="4431665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 panose="020B0604020202090204"/>
              </a:rPr>
              <a:t>01 · PROBLEM</a:t>
            </a:r>
            <a:endParaRPr sz="110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5060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 panose="020B0604020202090204"/>
              </a:rPr>
              <a:t>Perovskite — ABX</a:t>
            </a:r>
            <a:r>
              <a:rPr sz="2200" b="1" baseline="-25000">
                <a:solidFill>
                  <a:srgbClr val="1C2533"/>
                </a:solidFill>
                <a:latin typeface="Arial" panose="020B0604020202090204"/>
              </a:rPr>
              <a:t>3</a:t>
            </a:r>
            <a:r>
              <a:rPr sz="2200" b="1">
                <a:solidFill>
                  <a:srgbClr val="1C2533"/>
                </a:solidFill>
                <a:latin typeface="Arial" panose="020B0604020202090204"/>
              </a:rPr>
              <a:t> structural family</a:t>
            </a:r>
            <a:endParaRPr sz="2200" b="1">
              <a:solidFill>
                <a:srgbClr val="1C2533"/>
              </a:solidFill>
              <a:latin typeface="Arial" panose="020B060402020209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rgbClr val="475569"/>
                </a:solidFill>
                <a:latin typeface="Arial" panose="020B0604020202090204"/>
              </a:rPr>
              <a:t>Pm-3m cubic parent · corner-sharing BX</a:t>
            </a:r>
            <a:r>
              <a:rPr sz="1500" b="0" baseline="-25000" dirty="0">
                <a:solidFill>
                  <a:srgbClr val="475569"/>
                </a:solidFill>
                <a:latin typeface="Arial" panose="020B0604020202090204"/>
              </a:rPr>
              <a:t>6</a:t>
            </a:r>
            <a:r>
              <a:rPr sz="1500" b="0" dirty="0">
                <a:solidFill>
                  <a:srgbClr val="475569"/>
                </a:solidFill>
                <a:latin typeface="Arial" panose="020B0604020202090204"/>
              </a:rPr>
              <a:t> octahedral framework</a:t>
            </a:r>
            <a:endParaRPr sz="1500" b="0" dirty="0">
              <a:solidFill>
                <a:srgbClr val="475569"/>
              </a:solidFill>
              <a:latin typeface="Arial" panose="020B0604020202090204"/>
            </a:endParaRPr>
          </a:p>
        </p:txBody>
      </p:sp>
      <p:pic>
        <p:nvPicPr>
          <p:cNvPr id="6" name="Picture 5" descr="s4_perovskite_stru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005" y="1672158"/>
            <a:ext cx="4937760" cy="2019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0" y="1828800"/>
            <a:ext cx="3367628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General formula ABX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3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: A = Cs</a:t>
            </a:r>
            <a:r>
              <a:rPr sz="1100" b="0" baseline="30000" dirty="0">
                <a:solidFill>
                  <a:srgbClr val="475569"/>
                </a:solidFill>
                <a:latin typeface="Arial" panose="020B0604020202090204"/>
              </a:rPr>
              <a:t>+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/ MA</a:t>
            </a:r>
            <a:r>
              <a:rPr sz="1100" b="0" baseline="30000" dirty="0">
                <a:solidFill>
                  <a:srgbClr val="475569"/>
                </a:solidFill>
                <a:latin typeface="Arial" panose="020B0604020202090204"/>
              </a:rPr>
              <a:t>+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(CH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3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NH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3</a:t>
            </a:r>
            <a:r>
              <a:rPr sz="1100" b="0" baseline="30000" dirty="0">
                <a:solidFill>
                  <a:srgbClr val="475569"/>
                </a:solidFill>
                <a:latin typeface="Arial" panose="020B0604020202090204"/>
              </a:rPr>
              <a:t>+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) / FA</a:t>
            </a:r>
            <a:r>
              <a:rPr sz="1100" b="0" baseline="30000" dirty="0">
                <a:solidFill>
                  <a:srgbClr val="475569"/>
                </a:solidFill>
                <a:latin typeface="Arial" panose="020B0604020202090204"/>
              </a:rPr>
              <a:t>+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· B = Pb</a:t>
            </a:r>
            <a:r>
              <a:rPr sz="1100" b="0" baseline="30000" dirty="0">
                <a:solidFill>
                  <a:srgbClr val="475569"/>
                </a:solidFill>
                <a:latin typeface="Arial" panose="020B0604020202090204"/>
              </a:rPr>
              <a:t>2+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/ Sn</a:t>
            </a:r>
            <a:r>
              <a:rPr sz="1100" b="0" baseline="30000" dirty="0">
                <a:solidFill>
                  <a:srgbClr val="475569"/>
                </a:solidFill>
                <a:latin typeface="Arial" panose="020B0604020202090204"/>
              </a:rPr>
              <a:t>2+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· X = I / Br / Cl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BX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6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octahedra share corners; A cation occupies the 12-coordinated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cuboctahedral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void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Stability set by Goldschmidt tolerance factor t = (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r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A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+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r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X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) / (√2 (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r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B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+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r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X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)); cubic perovskite for 0.9 ≤ t ≤ 1.0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Direct band gap, strong absorption (α ≈ 10</a:t>
            </a:r>
            <a:r>
              <a:rPr sz="1100" b="0" baseline="30000" dirty="0">
                <a:solidFill>
                  <a:srgbClr val="475569"/>
                </a:solidFill>
                <a:latin typeface="Arial" panose="020B0604020202090204"/>
              </a:rPr>
              <a:t>5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cm</a:t>
            </a:r>
            <a:r>
              <a:rPr sz="1100" b="0" baseline="30000" dirty="0">
                <a:solidFill>
                  <a:srgbClr val="475569"/>
                </a:solidFill>
                <a:latin typeface="Arial" panose="020B0604020202090204"/>
              </a:rPr>
              <a:t>−1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near band edge), long carrier diffusion lengths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Champion single-junction PCE 26.7 % (UNIST 2024); inverted PSC 22.3 % via ligand anchoring [Hou et al. Nat. Energy 2020]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Tandem records: monolithic perovskite / Si tandem and 24.2 % all-perovskite tandem [Hou et al. Science 2020 · Nat. Energy 2020]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 panose="020B0604020202090204"/>
              </a:rPr>
              <a:t>SOLARLAB</a:t>
            </a:r>
            <a:endParaRPr sz="1000" b="0">
              <a:solidFill>
                <a:srgbClr val="C0392B"/>
              </a:solidFill>
              <a:latin typeface="Arial" panose="020B0604020202090204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875" y="3632886"/>
            <a:ext cx="1794265" cy="1428235"/>
          </a:xfrm>
          <a:prstGeom prst="rect">
            <a:avLst/>
          </a:prstGeom>
        </p:spPr>
      </p:pic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 panose="020B0604020202090204"/>
              </a:rPr>
              <a:t>01 · PROBLEM</a:t>
            </a:r>
            <a:endParaRPr sz="110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 panose="020B0604020202090204"/>
              </a:rPr>
              <a:t>CIGS — Cu(In,Ga)Se</a:t>
            </a:r>
            <a:r>
              <a:rPr sz="2200" b="1" baseline="-25000">
                <a:solidFill>
                  <a:srgbClr val="1C2533"/>
                </a:solidFill>
                <a:latin typeface="Arial" panose="020B0604020202090204"/>
              </a:rPr>
              <a:t>2</a:t>
            </a:r>
            <a:r>
              <a:rPr sz="2200" b="1">
                <a:solidFill>
                  <a:srgbClr val="1C2533"/>
                </a:solidFill>
                <a:latin typeface="Arial" panose="020B0604020202090204"/>
              </a:rPr>
              <a:t> chalcopyrite absorber</a:t>
            </a:r>
            <a:endParaRPr sz="2200" b="1">
              <a:solidFill>
                <a:srgbClr val="1C2533"/>
              </a:solidFill>
              <a:latin typeface="Arial" panose="020B060402020209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rgbClr val="475569"/>
                </a:solidFill>
                <a:latin typeface="Arial" panose="020B0604020202090204"/>
              </a:rPr>
              <a:t>Tetragonal I-42d · cation-ordered diamond-like sublattice · tunable direct gap</a:t>
            </a:r>
            <a:endParaRPr sz="1500" b="0" dirty="0">
              <a:solidFill>
                <a:srgbClr val="475569"/>
              </a:solidFill>
              <a:latin typeface="Arial" panose="020B0604020202090204"/>
            </a:endParaRPr>
          </a:p>
        </p:txBody>
      </p:sp>
      <p:pic>
        <p:nvPicPr>
          <p:cNvPr id="6" name="Picture 5" descr="s3_cigs_stru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65781"/>
            <a:ext cx="4937760" cy="2019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0" y="1828800"/>
            <a:ext cx="3293488" cy="2056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Stoichiometry Cu(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In,Ga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)Se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2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; In and Ga share a single cation site at composition x = Ga / (In + Ga)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Lattice parameters a ≈ 5.78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Å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· c ≈ 11.62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Å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with c / a ≈ 2 (chalcopyrite = doubled zincblende)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Direct band gap tunable approximately linearly from 1.04 eV (CuInSe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2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) to 1.68 eV (CuGaSe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2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)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Polycrystalline thin-film absorber 1–3 µm on a Mo back contact;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CdS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/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ZnO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buffer + window stack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Champion lab cell PCE 23.4 % (Solar Frontier 2019); module reliability T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80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</a:t>
            </a:r>
            <a:r>
              <a:rPr lang="en-US" sz="1100" dirty="0">
                <a:solidFill>
                  <a:srgbClr val="475569"/>
                </a:solidFill>
                <a:latin typeface="Arial" panose="020B0604020202090204"/>
                <a:sym typeface="+mn-ea"/>
              </a:rPr>
              <a:t>&gt;</a:t>
            </a:r>
            <a:r>
              <a:rPr sz="1100" dirty="0">
                <a:solidFill>
                  <a:srgbClr val="475569"/>
                </a:solidFill>
                <a:latin typeface="Arial" panose="020B0604020202090204"/>
                <a:sym typeface="+mn-ea"/>
              </a:rPr>
              <a:t> 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25 yr in field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 panose="020B0604020202090204"/>
              </a:rPr>
              <a:t>SOLARLAB</a:t>
            </a:r>
            <a:endParaRPr sz="1000" b="0">
              <a:solidFill>
                <a:srgbClr val="C0392B"/>
              </a:solidFill>
              <a:latin typeface="Arial" panose="020B0604020202090204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rcRect l="22821" r="21992"/>
          <a:stretch>
            <a:fillRect/>
          </a:stretch>
        </p:blipFill>
        <p:spPr>
          <a:xfrm>
            <a:off x="1954146" y="3534032"/>
            <a:ext cx="929096" cy="1691846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4289870"/>
            <a:ext cx="908263" cy="265955"/>
          </a:xfrm>
          <a:prstGeom prst="rect">
            <a:avLst/>
          </a:prstGeom>
        </p:spPr>
      </p:pic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 panose="020B0604020202090204"/>
              </a:rPr>
              <a:t>01 · PROBLEM</a:t>
            </a:r>
            <a:endParaRPr sz="110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 panose="020B0604020202090204"/>
              </a:rPr>
              <a:t>Efficiency–stability design space for thin-film photovoltaics</a:t>
            </a:r>
            <a:endParaRPr sz="2200" b="1">
              <a:solidFill>
                <a:srgbClr val="1C2533"/>
              </a:solidFill>
              <a:latin typeface="Arial" panose="020B060402020209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 panose="020B0604020202090204"/>
              </a:rPr>
              <a:t>Two established regimes, one unoccupied region</a:t>
            </a:r>
            <a:endParaRPr sz="1500" b="0">
              <a:solidFill>
                <a:srgbClr val="475569"/>
              </a:solidFill>
              <a:latin typeface="Arial" panose="020B0604020202090204"/>
            </a:endParaRPr>
          </a:p>
        </p:txBody>
      </p:sp>
      <p:pic>
        <p:nvPicPr>
          <p:cNvPr id="6" name="Picture 5" descr="s2_eff_stabilit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45720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0" y="1828800"/>
            <a:ext cx="3017520" cy="2251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Si: indirect band gap, ~22 % single-junction PCE ceiling, T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80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</a:t>
            </a:r>
            <a:r>
              <a:rPr lang="en-US" sz="1100" b="0" dirty="0">
                <a:solidFill>
                  <a:srgbClr val="475569"/>
                </a:solidFill>
                <a:latin typeface="Arial" panose="020B0604020202090204"/>
              </a:rPr>
              <a:t>&gt;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10</a:t>
            </a:r>
            <a:r>
              <a:rPr sz="1100" b="0" baseline="30000" dirty="0">
                <a:solidFill>
                  <a:srgbClr val="475569"/>
                </a:solidFill>
                <a:latin typeface="Arial" panose="020B0604020202090204"/>
              </a:rPr>
              <a:t>4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h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CIGS: direct-gap chalcogenide, 23.4 % record, constrained by In and Ga reserves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Perovskite: PCE </a:t>
            </a:r>
            <a:r>
              <a:rPr lang="en-US" sz="1100" dirty="0">
                <a:solidFill>
                  <a:srgbClr val="475569"/>
                </a:solidFill>
                <a:latin typeface="Arial" panose="020B0604020202090204"/>
                <a:sym typeface="+mn-ea"/>
              </a:rPr>
              <a:t>&gt;</a:t>
            </a:r>
            <a:r>
              <a:rPr sz="1100" dirty="0">
                <a:solidFill>
                  <a:srgbClr val="475569"/>
                </a:solidFill>
                <a:latin typeface="Arial" panose="020B0604020202090204"/>
                <a:sym typeface="+mn-ea"/>
              </a:rPr>
              <a:t> 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26 %, T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80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frequently &lt; 500 h under 1-sun, 85 °C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Detailed-balance limit at E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g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≈ 1.34 eV reaches 33.7 % [Shockley &amp;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Queisser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1961]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Target region: PCE </a:t>
            </a:r>
            <a:r>
              <a:rPr lang="en-US" sz="1100" dirty="0">
                <a:solidFill>
                  <a:srgbClr val="475569"/>
                </a:solidFill>
                <a:latin typeface="Arial" panose="020B0604020202090204"/>
                <a:sym typeface="+mn-ea"/>
              </a:rPr>
              <a:t>&gt;</a:t>
            </a:r>
            <a:r>
              <a:rPr sz="1100" dirty="0">
                <a:solidFill>
                  <a:srgbClr val="475569"/>
                </a:solidFill>
                <a:latin typeface="Arial" panose="020B0604020202090204"/>
                <a:sym typeface="+mn-ea"/>
              </a:rPr>
              <a:t> 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25 % combined with T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80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</a:t>
            </a:r>
            <a:r>
              <a:rPr lang="en-US" sz="1100" dirty="0">
                <a:solidFill>
                  <a:srgbClr val="475569"/>
                </a:solidFill>
                <a:latin typeface="Arial" panose="020B0604020202090204"/>
                <a:sym typeface="+mn-ea"/>
              </a:rPr>
              <a:t>&gt;</a:t>
            </a:r>
            <a:r>
              <a:rPr sz="1100" dirty="0">
                <a:solidFill>
                  <a:srgbClr val="475569"/>
                </a:solidFill>
                <a:latin typeface="Arial" panose="020B0604020202090204"/>
                <a:sym typeface="+mn-ea"/>
              </a:rPr>
              <a:t> 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10</a:t>
            </a:r>
            <a:r>
              <a:rPr sz="1100" b="0" baseline="30000" dirty="0">
                <a:solidFill>
                  <a:srgbClr val="475569"/>
                </a:solidFill>
                <a:latin typeface="Arial" panose="020B0604020202090204"/>
              </a:rPr>
              <a:t>5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h is currently unoccupied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These constraints motivate a third absorber class with a direct or near-direct gap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 panose="020B0604020202090204"/>
              </a:rPr>
              <a:t>SOLARLAB</a:t>
            </a:r>
            <a:endParaRPr sz="1000" b="0">
              <a:solidFill>
                <a:srgbClr val="C0392B"/>
              </a:solidFill>
              <a:latin typeface="Arial" panose="020B0604020202090204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 panose="020B0604020202090204"/>
              </a:rPr>
              <a:t>01 · PROBLEM</a:t>
            </a:r>
            <a:endParaRPr sz="110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 panose="020B0604020202090204"/>
              </a:rPr>
              <a:t>Limitations of the established absorbers</a:t>
            </a:r>
            <a:endParaRPr sz="2200" b="1">
              <a:solidFill>
                <a:srgbClr val="1C2533"/>
              </a:solidFill>
              <a:latin typeface="Arial" panose="020B060402020209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 panose="020B0604020202090204"/>
              </a:rPr>
              <a:t>Record-cell PCE timeline and accelerated-aging stability gap</a:t>
            </a:r>
            <a:endParaRPr sz="150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 panose="020B0604020202090204"/>
              </a:rPr>
              <a:t>•  Si record 27.6 % (UNSW 2024) — five decades of incremental improvement</a:t>
            </a:r>
            <a:endParaRPr sz="1300" b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 panose="020B0604020202090204"/>
              </a:rPr>
              <a:t>•  Perovskite record 26.7 % (UNIST 2024) — single-junction parity with Si in under a decade</a:t>
            </a:r>
            <a:endParaRPr sz="1300" b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 panose="020B0604020202090204"/>
              </a:rPr>
              <a:t>•  Stability gap remains </a:t>
            </a:r>
            <a:r>
              <a:rPr sz="1300" b="0" baseline="30000">
                <a:solidFill>
                  <a:srgbClr val="475569"/>
                </a:solidFill>
                <a:latin typeface="Arial" panose="020B0604020202090204"/>
              </a:rPr>
              <a:t>&gt;</a:t>
            </a:r>
            <a:r>
              <a:rPr sz="1300" b="0">
                <a:solidFill>
                  <a:srgbClr val="475569"/>
                </a:solidFill>
                <a:latin typeface="Arial" panose="020B0604020202090204"/>
              </a:rPr>
              <a:t> 100× under operating stress (ion migration, A-site loss, photo-induced degradation)</a:t>
            </a:r>
            <a:endParaRPr sz="1300" b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 panose="020B0604020202090204"/>
              </a:rPr>
              <a:t>•  Encapsulation mitigates ingress but does not address intrinsic absorber-side instability [Boyd et al. 2019]</a:t>
            </a:r>
            <a:endParaRPr sz="1300" b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 panose="020B0604020202090204"/>
              </a:rPr>
              <a:t>•  Module-scale commercial deployment requires both record-class efficiency and outdoor lifetime</a:t>
            </a:r>
            <a:endParaRPr sz="1300" b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 panose="020B0604020202090204"/>
              </a:rPr>
              <a:t>•  Motivates the discovery of new absorber chemistries that satisfy both criteria simultaneously</a:t>
            </a:r>
            <a:endParaRPr sz="130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 panose="020B0604020202090204"/>
              </a:rPr>
              <a:t>SOLARLAB</a:t>
            </a:r>
            <a:endParaRPr sz="1000" b="0">
              <a:solidFill>
                <a:srgbClr val="C0392B"/>
              </a:solidFill>
              <a:latin typeface="Arial" panose="020B0604020202090204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1435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0" b="1">
                <a:solidFill>
                  <a:srgbClr val="C0392B"/>
                </a:solidFill>
                <a:latin typeface="Arial" panose="020B0604020202090204"/>
              </a:rPr>
              <a:t>02</a:t>
            </a:r>
            <a:endParaRPr sz="25000" b="1">
              <a:solidFill>
                <a:srgbClr val="C0392B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401193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475569"/>
                </a:solidFill>
                <a:latin typeface="Arial" panose="020B0604020202090204"/>
              </a:rPr>
              <a:t>STRATEGY</a:t>
            </a:r>
            <a:endParaRPr sz="3600" b="1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 panose="020B0604020202090204"/>
              </a:rPr>
              <a:t>02 · STRATEGY</a:t>
            </a:r>
            <a:endParaRPr sz="110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 panose="020B0604020202090204"/>
              </a:rPr>
              <a:t>Chalcogenide templates as the structural prior</a:t>
            </a:r>
            <a:endParaRPr sz="2200" b="1">
              <a:solidFill>
                <a:srgbClr val="1C2533"/>
              </a:solidFill>
              <a:latin typeface="Arial" panose="020B060402020209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 panose="020B0604020202090204"/>
              </a:rPr>
              <a:t>AB</a:t>
            </a:r>
            <a:r>
              <a:rPr sz="1500" b="0" baseline="-25000">
                <a:solidFill>
                  <a:srgbClr val="475569"/>
                </a:solidFill>
                <a:latin typeface="Arial" panose="020B0604020202090204"/>
              </a:rPr>
              <a:t>2</a:t>
            </a:r>
            <a:r>
              <a:rPr sz="1500" b="0">
                <a:solidFill>
                  <a:srgbClr val="475569"/>
                </a:solidFill>
                <a:latin typeface="Arial" panose="020B0604020202090204"/>
              </a:rPr>
              <a:t>C</a:t>
            </a:r>
            <a:r>
              <a:rPr sz="1500" b="0" baseline="-25000">
                <a:solidFill>
                  <a:srgbClr val="475569"/>
                </a:solidFill>
                <a:latin typeface="Arial" panose="020B0604020202090204"/>
              </a:rPr>
              <a:t>4</a:t>
            </a:r>
            <a:r>
              <a:rPr sz="1500" b="0">
                <a:solidFill>
                  <a:srgbClr val="475569"/>
                </a:solidFill>
                <a:latin typeface="Arial" panose="020B0604020202090204"/>
              </a:rPr>
              <a:t> and ABC</a:t>
            </a:r>
            <a:r>
              <a:rPr sz="1500" b="0" baseline="-25000">
                <a:solidFill>
                  <a:srgbClr val="475569"/>
                </a:solidFill>
                <a:latin typeface="Arial" panose="020B0604020202090204"/>
              </a:rPr>
              <a:t>3</a:t>
            </a:r>
            <a:r>
              <a:rPr sz="1500" b="0">
                <a:solidFill>
                  <a:srgbClr val="475569"/>
                </a:solidFill>
                <a:latin typeface="Arial" panose="020B0604020202090204"/>
              </a:rPr>
              <a:t> frameworks with heavy-p-block cations on chalcogen anions</a:t>
            </a:r>
            <a:endParaRPr sz="150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 panose="020B0604020202090204"/>
              </a:rPr>
              <a:t>•  Anion sublattice: S, Se, Te. Selenides comprise 11 of 14 shortlisted candidates, including the top six</a:t>
            </a:r>
            <a:endParaRPr sz="1300" b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 panose="020B0604020202090204"/>
              </a:rPr>
              <a:t>•  Active cation: Sb, Sn, Bi (6s</a:t>
            </a:r>
            <a:r>
              <a:rPr sz="1300" b="0" baseline="30000">
                <a:solidFill>
                  <a:srgbClr val="475569"/>
                </a:solidFill>
                <a:latin typeface="Arial" panose="020B0604020202090204"/>
              </a:rPr>
              <a:t>2</a:t>
            </a:r>
            <a:r>
              <a:rPr sz="1300" b="0">
                <a:solidFill>
                  <a:srgbClr val="475569"/>
                </a:solidFill>
                <a:latin typeface="Arial" panose="020B0604020202090204"/>
              </a:rPr>
              <a:t> / 5s</a:t>
            </a:r>
            <a:r>
              <a:rPr sz="1300" b="0" baseline="30000">
                <a:solidFill>
                  <a:srgbClr val="475569"/>
                </a:solidFill>
                <a:latin typeface="Arial" panose="020B0604020202090204"/>
              </a:rPr>
              <a:t>2</a:t>
            </a:r>
            <a:r>
              <a:rPr sz="1300" b="0">
                <a:solidFill>
                  <a:srgbClr val="475569"/>
                </a:solidFill>
                <a:latin typeface="Arial" panose="020B0604020202090204"/>
              </a:rPr>
              <a:t> lone pair) producing dispersive valence-band maxima</a:t>
            </a:r>
            <a:endParaRPr sz="1300" b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 panose="020B0604020202090204"/>
              </a:rPr>
              <a:t>•  Spectator cation: Cs, Ca, Sr, K donate charge without contracting the valence-band dispersion</a:t>
            </a:r>
            <a:endParaRPr sz="1300" b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 panose="020B0604020202090204"/>
              </a:rPr>
              <a:t>•  Stoichiometry preference: AB</a:t>
            </a:r>
            <a:r>
              <a:rPr sz="1300" b="0" baseline="-25000">
                <a:solidFill>
                  <a:srgbClr val="475569"/>
                </a:solidFill>
                <a:latin typeface="Arial" panose="020B0604020202090204"/>
              </a:rPr>
              <a:t>2</a:t>
            </a:r>
            <a:r>
              <a:rPr sz="1300" b="0">
                <a:solidFill>
                  <a:srgbClr val="475569"/>
                </a:solidFill>
                <a:latin typeface="Arial" panose="020B0604020202090204"/>
              </a:rPr>
              <a:t>C</a:t>
            </a:r>
            <a:r>
              <a:rPr sz="1300" b="0" baseline="-25000">
                <a:solidFill>
                  <a:srgbClr val="475569"/>
                </a:solidFill>
                <a:latin typeface="Arial" panose="020B0604020202090204"/>
              </a:rPr>
              <a:t>4</a:t>
            </a:r>
            <a:r>
              <a:rPr sz="1300" b="0">
                <a:solidFill>
                  <a:srgbClr val="475569"/>
                </a:solidFill>
                <a:latin typeface="Arial" panose="020B0604020202090204"/>
              </a:rPr>
              <a:t> </a:t>
            </a:r>
            <a:r>
              <a:rPr sz="1300" b="0" baseline="30000">
                <a:solidFill>
                  <a:srgbClr val="475569"/>
                </a:solidFill>
                <a:latin typeface="Arial" panose="020B0604020202090204"/>
              </a:rPr>
              <a:t>≫</a:t>
            </a:r>
            <a:r>
              <a:rPr sz="1300" b="0">
                <a:solidFill>
                  <a:srgbClr val="475569"/>
                </a:solidFill>
                <a:latin typeface="Arial" panose="020B0604020202090204"/>
              </a:rPr>
              <a:t> ABC</a:t>
            </a:r>
            <a:r>
              <a:rPr sz="1300" b="0" baseline="-25000">
                <a:solidFill>
                  <a:srgbClr val="475569"/>
                </a:solidFill>
                <a:latin typeface="Arial" panose="020B0604020202090204"/>
              </a:rPr>
              <a:t>3</a:t>
            </a:r>
            <a:r>
              <a:rPr sz="1300" b="0">
                <a:solidFill>
                  <a:srgbClr val="475569"/>
                </a:solidFill>
                <a:latin typeface="Arial" panose="020B0604020202090204"/>
              </a:rPr>
              <a:t> ≈ ABC</a:t>
            </a:r>
            <a:r>
              <a:rPr sz="1300" b="0" baseline="-25000">
                <a:solidFill>
                  <a:srgbClr val="475569"/>
                </a:solidFill>
                <a:latin typeface="Arial" panose="020B0604020202090204"/>
              </a:rPr>
              <a:t>2</a:t>
            </a:r>
            <a:r>
              <a:rPr sz="1300" b="0">
                <a:solidFill>
                  <a:srgbClr val="475569"/>
                </a:solidFill>
                <a:latin typeface="Arial" panose="020B0604020202090204"/>
              </a:rPr>
              <a:t> in the screened subset</a:t>
            </a:r>
            <a:endParaRPr sz="1300" b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 panose="020B0604020202090204"/>
              </a:rPr>
              <a:t>•  Symmetry distribution: Pnma (SG 62) is dominant; followed by SG 12, 14, 72 and 15</a:t>
            </a:r>
            <a:endParaRPr sz="1300" b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 panose="020B0604020202090204"/>
              </a:rPr>
              <a:t>•  Constrains the &gt; 10</a:t>
            </a:r>
            <a:r>
              <a:rPr sz="1300" b="0" baseline="30000">
                <a:solidFill>
                  <a:srgbClr val="475569"/>
                </a:solidFill>
                <a:latin typeface="Arial" panose="020B0604020202090204"/>
              </a:rPr>
              <a:t>5</a:t>
            </a:r>
            <a:r>
              <a:rPr sz="1300" b="0">
                <a:solidFill>
                  <a:srgbClr val="475569"/>
                </a:solidFill>
                <a:latin typeface="Arial" panose="020B0604020202090204"/>
              </a:rPr>
              <a:t> candidate pool to a physically plausible, synthetically accessible subspace</a:t>
            </a:r>
            <a:endParaRPr sz="130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 panose="020B0604020202090204"/>
              </a:rPr>
              <a:t>SOLARLAB</a:t>
            </a:r>
            <a:endParaRPr sz="1000" b="0">
              <a:solidFill>
                <a:srgbClr val="C0392B"/>
              </a:solidFill>
              <a:latin typeface="Arial" panose="020B0604020202090204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 panose="020B0604020202090204"/>
              </a:rPr>
              <a:t>02 · STRATEGY</a:t>
            </a:r>
            <a:endParaRPr sz="110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 panose="020B0604020202090204"/>
              </a:rPr>
              <a:t>End-to-end pipeline</a:t>
            </a:r>
            <a:endParaRPr sz="2200" b="1">
              <a:solidFill>
                <a:srgbClr val="1C2533"/>
              </a:solidFill>
              <a:latin typeface="Arial" panose="020B060402020209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 panose="020B0604020202090204"/>
              </a:rPr>
              <a:t>MP / OQMD → ML surrogate → DFT validation → device sim → expt</a:t>
            </a:r>
            <a:endParaRPr sz="1500" b="0">
              <a:solidFill>
                <a:srgbClr val="475569"/>
              </a:solidFill>
              <a:latin typeface="Arial" panose="020B0604020202090204"/>
            </a:endParaRPr>
          </a:p>
        </p:txBody>
      </p:sp>
      <p:pic>
        <p:nvPicPr>
          <p:cNvPr id="6" name="Picture 5" descr="s6_pipe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30552"/>
            <a:ext cx="8229600" cy="21396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 panose="020B0604020202090204"/>
              </a:rPr>
              <a:t>SOLARLAB</a:t>
            </a:r>
            <a:endParaRPr sz="1000" b="0">
              <a:solidFill>
                <a:srgbClr val="C0392B"/>
              </a:solidFill>
              <a:latin typeface="Arial" panose="020B0604020202090204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1435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0" b="1">
                <a:solidFill>
                  <a:srgbClr val="C0392B"/>
                </a:solidFill>
                <a:latin typeface="Arial" panose="020B0604020202090204"/>
              </a:rPr>
              <a:t>03</a:t>
            </a:r>
            <a:endParaRPr sz="25000" b="1">
              <a:solidFill>
                <a:srgbClr val="C0392B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401193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475569"/>
                </a:solidFill>
                <a:latin typeface="Arial" panose="020B0604020202090204"/>
              </a:rPr>
              <a:t>ML + FEATURES</a:t>
            </a:r>
            <a:endParaRPr sz="3600" b="1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 panose="020B0604020202090204"/>
              </a:rPr>
              <a:t>03 · ML + FEATURES</a:t>
            </a:r>
            <a:endParaRPr sz="110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 panose="020B0604020202090204"/>
              </a:rPr>
              <a:t>Motivation for a learned surrogate</a:t>
            </a:r>
            <a:endParaRPr sz="2200" b="1">
              <a:solidFill>
                <a:srgbClr val="1C2533"/>
              </a:solidFill>
              <a:latin typeface="Arial" panose="020B060402020209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 panose="020B0604020202090204"/>
              </a:rPr>
              <a:t>Four-stage HSE06 and DFPT workflow executed in VASP for each candidate</a:t>
            </a:r>
            <a:endParaRPr sz="150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199" y="1828800"/>
            <a:ext cx="8604423" cy="2021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dirty="0">
                <a:solidFill>
                  <a:srgbClr val="475569"/>
                </a:solidFill>
                <a:latin typeface="Arial" panose="020B0604020202090204"/>
              </a:rPr>
              <a:t>•  Stage 1 PBE relaxation → Stage 2 SCF → Stage 3 DFPT dielectric tensor → Stage 4 HSE06 band structure</a:t>
            </a:r>
            <a:endParaRPr sz="13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300" b="0" dirty="0">
                <a:solidFill>
                  <a:srgbClr val="475569"/>
                </a:solidFill>
                <a:latin typeface="Arial" panose="020B0604020202090204"/>
              </a:rPr>
              <a:t>•  DFPT and HSE06 dominate runtime, requiring 10</a:t>
            </a:r>
            <a:r>
              <a:rPr sz="1300" b="0" baseline="30000" dirty="0">
                <a:solidFill>
                  <a:srgbClr val="475569"/>
                </a:solidFill>
                <a:latin typeface="Arial" panose="020B0604020202090204"/>
              </a:rPr>
              <a:t>0</a:t>
            </a:r>
            <a:r>
              <a:rPr sz="1300" b="0" dirty="0">
                <a:solidFill>
                  <a:srgbClr val="475569"/>
                </a:solidFill>
                <a:latin typeface="Arial" panose="020B0604020202090204"/>
              </a:rPr>
              <a:t>–10</a:t>
            </a:r>
            <a:r>
              <a:rPr sz="1300" b="0" baseline="30000" dirty="0">
                <a:solidFill>
                  <a:srgbClr val="475569"/>
                </a:solidFill>
                <a:latin typeface="Arial" panose="020B0604020202090204"/>
              </a:rPr>
              <a:t>2</a:t>
            </a:r>
            <a:r>
              <a:rPr sz="1300" b="0" dirty="0">
                <a:solidFill>
                  <a:srgbClr val="475569"/>
                </a:solidFill>
                <a:latin typeface="Arial" panose="020B0604020202090204"/>
              </a:rPr>
              <a:t> CPU-hours per structure on a 64-core node</a:t>
            </a:r>
            <a:endParaRPr sz="13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300" b="0" dirty="0">
                <a:solidFill>
                  <a:srgbClr val="475569"/>
                </a:solidFill>
                <a:latin typeface="Arial" panose="020B0604020202090204"/>
              </a:rPr>
              <a:t>•  PBE relaxation scales as O(N</a:t>
            </a:r>
            <a:r>
              <a:rPr sz="1300" b="0" baseline="30000" dirty="0">
                <a:solidFill>
                  <a:srgbClr val="475569"/>
                </a:solidFill>
                <a:latin typeface="Arial" panose="020B0604020202090204"/>
              </a:rPr>
              <a:t>3</a:t>
            </a:r>
            <a:r>
              <a:rPr sz="1300" b="0" dirty="0">
                <a:solidFill>
                  <a:srgbClr val="475569"/>
                </a:solidFill>
                <a:latin typeface="Arial" panose="020B0604020202090204"/>
              </a:rPr>
              <a:t>) in plane-wave </a:t>
            </a:r>
            <a:r>
              <a:rPr sz="1300" b="0" dirty="0" err="1">
                <a:solidFill>
                  <a:srgbClr val="475569"/>
                </a:solidFill>
                <a:latin typeface="Arial" panose="020B0604020202090204"/>
              </a:rPr>
              <a:t>eigensolve</a:t>
            </a:r>
            <a:r>
              <a:rPr sz="1300" b="0" dirty="0">
                <a:solidFill>
                  <a:srgbClr val="475569"/>
                </a:solidFill>
                <a:latin typeface="Arial" panose="020B0604020202090204"/>
              </a:rPr>
              <a:t>; HSE06 adds ~10× overhead via exact exchange [Heyd et al. 2003]</a:t>
            </a:r>
            <a:endParaRPr sz="13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300" b="0" dirty="0">
                <a:solidFill>
                  <a:srgbClr val="475569"/>
                </a:solidFill>
                <a:latin typeface="Arial" panose="020B0604020202090204"/>
              </a:rPr>
              <a:t>•  DFPT dielectric tensor obtained from the linear-response Sternheimer equation at ~2× SCF cost [Baroni et al. 2001]</a:t>
            </a:r>
            <a:endParaRPr sz="13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300" b="0" dirty="0">
                <a:solidFill>
                  <a:srgbClr val="475569"/>
                </a:solidFill>
                <a:latin typeface="Arial" panose="020B0604020202090204"/>
              </a:rPr>
              <a:t>•  Combined MP and OQMD pool exceeds 10</a:t>
            </a:r>
            <a:r>
              <a:rPr sz="1300" b="0" baseline="30000" dirty="0">
                <a:solidFill>
                  <a:srgbClr val="475569"/>
                </a:solidFill>
                <a:latin typeface="Arial" panose="020B0604020202090204"/>
              </a:rPr>
              <a:t>5</a:t>
            </a:r>
            <a:r>
              <a:rPr sz="1300" b="0" dirty="0">
                <a:solidFill>
                  <a:srgbClr val="475569"/>
                </a:solidFill>
                <a:latin typeface="Arial" panose="020B0604020202090204"/>
              </a:rPr>
              <a:t> candidates, rendering full-DFT enumeration computationally infeasible</a:t>
            </a:r>
            <a:endParaRPr sz="13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300" b="0" dirty="0">
                <a:solidFill>
                  <a:srgbClr val="475569"/>
                </a:solidFill>
                <a:latin typeface="Arial" panose="020B0604020202090204"/>
              </a:rPr>
              <a:t>•  Approach: train a learned surrogate on 473 DFT-labelled materials and use it to rank the </a:t>
            </a:r>
            <a:r>
              <a:rPr sz="1300" b="0" dirty="0" err="1">
                <a:solidFill>
                  <a:srgbClr val="475569"/>
                </a:solidFill>
                <a:latin typeface="Arial" panose="020B0604020202090204"/>
              </a:rPr>
              <a:t>unlabelled</a:t>
            </a:r>
            <a:r>
              <a:rPr sz="1300" b="0" dirty="0">
                <a:solidFill>
                  <a:srgbClr val="475569"/>
                </a:solidFill>
                <a:latin typeface="Arial" panose="020B0604020202090204"/>
              </a:rPr>
              <a:t> pool</a:t>
            </a:r>
            <a:endParaRPr sz="1300" b="0" dirty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 panose="020B0604020202090204"/>
              </a:rPr>
              <a:t>SOLARLAB</a:t>
            </a:r>
            <a:endParaRPr sz="1000" b="0">
              <a:solidFill>
                <a:srgbClr val="C0392B"/>
              </a:solidFill>
              <a:latin typeface="Arial" panose="020B0604020202090204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 panose="020B0604020202090204"/>
              </a:rPr>
              <a:t>03 · ML + FEATURES</a:t>
            </a:r>
            <a:endParaRPr sz="110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 panose="020B0604020202090204"/>
              </a:rPr>
              <a:t>Hand-crafted feature set (167 D)</a:t>
            </a:r>
            <a:endParaRPr sz="2200" b="1">
              <a:solidFill>
                <a:srgbClr val="1C2533"/>
              </a:solidFill>
              <a:latin typeface="Arial" panose="020B060402020209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 panose="020B0604020202090204"/>
              </a:rPr>
              <a:t>Composition · structure · symmetry — Magpie + matminer</a:t>
            </a:r>
            <a:endParaRPr sz="1500" b="0">
              <a:solidFill>
                <a:srgbClr val="475569"/>
              </a:solidFill>
              <a:latin typeface="Arial" panose="020B0604020202090204"/>
            </a:endParaRPr>
          </a:p>
        </p:txBody>
      </p:sp>
      <p:pic>
        <p:nvPicPr>
          <p:cNvPr id="6" name="Picture 5" descr="s8_featur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275" y="1751330"/>
            <a:ext cx="4246245" cy="32486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0" y="1828800"/>
            <a:ext cx="3017520" cy="2929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Composition (~27 D): Magpie statistics over Z,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χ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, atomic radius, row, group, mass [Ward et al. 2016]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Magpie reduces a formula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A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a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B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b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C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c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to mean / std / min / max / mode of element properties weighted by stoichiometry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Structure (140 D):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CrystalNN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site-fingerprint (122) + RDF + density + packing [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matminer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· Ward et al. 2018]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All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featurisers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tolerate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NaN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— routed to the appropriate side of every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HistGBR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split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Cached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numpy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matrices on disk → re-fits run in seconds, not minutes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Frozen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MEGNet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16-D embeddings give R</a:t>
            </a:r>
            <a:r>
              <a:rPr sz="1100" b="0" baseline="30000" dirty="0">
                <a:solidFill>
                  <a:srgbClr val="475569"/>
                </a:solidFill>
                <a:latin typeface="Arial" panose="020B0604020202090204"/>
              </a:rPr>
              <a:t>2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= 0.366 — below hand-features baseline [Chen et al. 2019]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 panose="020B0604020202090204"/>
              </a:rPr>
              <a:t>SOLARLAB</a:t>
            </a:r>
            <a:endParaRPr sz="1000" b="0">
              <a:solidFill>
                <a:srgbClr val="C0392B"/>
              </a:solidFill>
              <a:latin typeface="Arial" panose="020B0604020202090204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 panose="020B0604020202090204"/>
              </a:rPr>
              <a:t>03 · ML + FEATURES</a:t>
            </a:r>
            <a:endParaRPr sz="110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 panose="020B0604020202090204"/>
              </a:rPr>
              <a:t>Composite photovoltaic figure of merit</a:t>
            </a:r>
            <a:endParaRPr sz="2200" b="1">
              <a:solidFill>
                <a:srgbClr val="1C2533"/>
              </a:solidFill>
              <a:latin typeface="Arial" panose="020B060402020209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 panose="020B0604020202090204"/>
              </a:rPr>
              <a:t>Four physically motivated factors combined into a single scalar target y ∈ [0, 1]</a:t>
            </a:r>
            <a:endParaRPr sz="1500" b="0">
              <a:solidFill>
                <a:srgbClr val="475569"/>
              </a:solidFill>
              <a:latin typeface="Arial" panose="020B0604020202090204"/>
            </a:endParaRPr>
          </a:p>
        </p:txBody>
      </p:sp>
      <p:pic>
        <p:nvPicPr>
          <p:cNvPr id="6" name="Picture 5" descr="s11_pv_score_factor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00989"/>
            <a:ext cx="4937760" cy="25988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0" y="1828800"/>
            <a:ext cx="3145206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y =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f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gap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(E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g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) · 1 / (1 +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m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avg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) · tanh(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ε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/ 10) · 1 / (1 + E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b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/ 0.1)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f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gap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(E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g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): triangular Shockley–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Queisser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window peaked at 1.34 eV, vanishing at 0.5 and 2.5 eV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1 / (1 +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m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avg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): monotonic decay rewarding low effective mass and therefore high mobility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tanh(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ε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/ 10): saturates above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ε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≈ 10 to reflect diminishing returns from dielectric screening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1 / (1 + E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b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/ 0.1):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favours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Wannier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–Mott regimes (E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b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&lt; 0.1 eV) and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penalises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Frenkel-exciton systems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Bounded, differentiable, physically interpretable; replaces four independent regression heads with one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 panose="020B0604020202090204"/>
              </a:rPr>
              <a:t>SOLARLAB</a:t>
            </a:r>
            <a:endParaRPr sz="1000" b="0">
              <a:solidFill>
                <a:srgbClr val="C0392B"/>
              </a:solidFill>
              <a:latin typeface="Arial" panose="020B0604020202090204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 panose="020B0604020202090204"/>
              </a:rPr>
              <a:t>03 · ML + FEATURES</a:t>
            </a:r>
            <a:endParaRPr sz="110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 panose="020B0604020202090204"/>
              </a:rPr>
              <a:t>Histogram-based gradient boosting regression</a:t>
            </a:r>
            <a:endParaRPr sz="2200" b="1">
              <a:solidFill>
                <a:srgbClr val="1C2533"/>
              </a:solidFill>
              <a:latin typeface="Arial" panose="020B060402020209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 panose="020B0604020202090204"/>
              </a:rPr>
              <a:t>Stage-wise additive function approximation [Friedman 2001 · Ke et al. 2017]</a:t>
            </a:r>
            <a:endParaRPr sz="1500" b="0">
              <a:solidFill>
                <a:srgbClr val="475569"/>
              </a:solidFill>
              <a:latin typeface="Arial" panose="020B0604020202090204"/>
            </a:endParaRPr>
          </a:p>
        </p:txBody>
      </p:sp>
      <p:pic>
        <p:nvPicPr>
          <p:cNvPr id="6" name="Picture 5" descr="s12_histgbr_schemati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00989"/>
            <a:ext cx="4937760" cy="25988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94960" y="1828800"/>
            <a:ext cx="3633710" cy="2590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F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m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(x) = F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m-1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(x) +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ν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· h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m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(x), where h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m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fits the negative gradient of the loss at F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m-1</a:t>
            </a:r>
            <a:endParaRPr sz="1100" b="0" baseline="-2500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Histogram binning into 256 discrete buckets reduces a split scan from O(N) to O(B), yielding ~3× speedup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Native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NaN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handling: missing values learn an independent split direction at each tree node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Hyperparameters: 600 boosting iterations · maximum depth 4 · learning rate 0.05 · minimum samples per leaf 10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Target wrapped in log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1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p(y / 0.08) by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TransformedTargetRegressor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; inverse via 0.08 · expm1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Logarithmic transform compresses the heavy-tailed PV-score distribution and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equalises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booster resolution near peak (y ≈ 0.5) and bulk (y ≈ 0.01)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 panose="020B0604020202090204"/>
              </a:rPr>
              <a:t>SOLARLAB</a:t>
            </a:r>
            <a:endParaRPr sz="1000" b="0">
              <a:solidFill>
                <a:srgbClr val="C0392B"/>
              </a:solidFill>
              <a:latin typeface="Arial" panose="020B0604020202090204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 panose="020B0604020202090204"/>
              </a:rPr>
              <a:t>03 · ML + FEATURES</a:t>
            </a:r>
            <a:endParaRPr sz="110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 panose="020B0604020202090204"/>
              </a:rPr>
              <a:t>Gaussian-process and random-forest uncertainty stack</a:t>
            </a:r>
            <a:endParaRPr sz="2200" b="1">
              <a:solidFill>
                <a:srgbClr val="1C2533"/>
              </a:solidFill>
              <a:latin typeface="Arial" panose="020B060402020209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 panose="020B0604020202090204"/>
              </a:rPr>
              <a:t>Matérn-5/2 kernel with additive white noise [Rasmussen &amp; Williams 2006]</a:t>
            </a:r>
            <a:endParaRPr sz="1500" b="0">
              <a:solidFill>
                <a:srgbClr val="475569"/>
              </a:solidFill>
              <a:latin typeface="Arial" panose="020B0604020202090204"/>
            </a:endParaRPr>
          </a:p>
        </p:txBody>
      </p:sp>
      <p:pic>
        <p:nvPicPr>
          <p:cNvPr id="6" name="Picture 5" descr="s13_gp_rf_uncertaint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00989"/>
            <a:ext cx="4937760" cy="25988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53449" y="1828800"/>
            <a:ext cx="3233351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k(x, x</a:t>
            </a:r>
            <a:r>
              <a:rPr sz="1100" b="0" baseline="30000" dirty="0">
                <a:solidFill>
                  <a:srgbClr val="475569"/>
                </a:solidFill>
                <a:latin typeface="Arial" panose="020B0604020202090204"/>
              </a:rPr>
              <a:t>'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) = σ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f</a:t>
            </a:r>
            <a:r>
              <a:rPr sz="1100" b="0" baseline="30000" dirty="0">
                <a:solidFill>
                  <a:srgbClr val="475569"/>
                </a:solidFill>
                <a:latin typeface="Arial" panose="020B0604020202090204"/>
              </a:rPr>
              <a:t>2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(1 + √5 r + (5/3) r</a:t>
            </a:r>
            <a:r>
              <a:rPr sz="1100" b="0" baseline="30000" dirty="0">
                <a:solidFill>
                  <a:srgbClr val="475569"/>
                </a:solidFill>
                <a:latin typeface="Arial" panose="020B0604020202090204"/>
              </a:rPr>
              <a:t>2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) exp(−√5 r) + σ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n</a:t>
            </a:r>
            <a:r>
              <a:rPr sz="1100" b="0" baseline="30000" dirty="0">
                <a:solidFill>
                  <a:srgbClr val="475569"/>
                </a:solidFill>
                <a:latin typeface="Arial" panose="020B0604020202090204"/>
              </a:rPr>
              <a:t>2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δ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(x − x</a:t>
            </a:r>
            <a:r>
              <a:rPr sz="1100" b="0" baseline="30000" dirty="0">
                <a:solidFill>
                  <a:srgbClr val="475569"/>
                </a:solidFill>
                <a:latin typeface="Arial" panose="020B0604020202090204"/>
              </a:rPr>
              <a:t>'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)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r = ‖x − x</a:t>
            </a:r>
            <a:r>
              <a:rPr sz="1100" b="0" baseline="30000" dirty="0">
                <a:solidFill>
                  <a:srgbClr val="475569"/>
                </a:solidFill>
                <a:latin typeface="Arial" panose="020B0604020202090204"/>
              </a:rPr>
              <a:t>'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‖ / ℓ; the anisotropic length-scale ℓ is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optimised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by L-BFGS-B on the marginal log-likelihood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White-noise variance σ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n</a:t>
            </a:r>
            <a:r>
              <a:rPr sz="1100" b="0" baseline="30000" dirty="0">
                <a:solidFill>
                  <a:srgbClr val="475569"/>
                </a:solidFill>
                <a:latin typeface="Arial" panose="020B0604020202090204"/>
              </a:rPr>
              <a:t>2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absorbs DFT scatter, typically 0.02 – 0.05 on the log target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A random-forest predictor (300 trees) compensates for GP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underconfidence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in sparsely sampled regions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Stack mean: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μ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(x) =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w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GP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μ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GPR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+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w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RF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μ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RF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· variance: σ</a:t>
            </a:r>
            <a:r>
              <a:rPr sz="1100" b="0" baseline="30000" dirty="0">
                <a:solidFill>
                  <a:srgbClr val="475569"/>
                </a:solidFill>
                <a:latin typeface="Arial" panose="020B0604020202090204"/>
              </a:rPr>
              <a:t>2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(x) = w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GP</a:t>
            </a:r>
            <a:r>
              <a:rPr sz="1100" b="0" baseline="30000" dirty="0">
                <a:solidFill>
                  <a:srgbClr val="475569"/>
                </a:solidFill>
                <a:latin typeface="Arial" panose="020B0604020202090204"/>
              </a:rPr>
              <a:t>2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σ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GPR</a:t>
            </a:r>
            <a:r>
              <a:rPr sz="1100" b="0" baseline="30000" dirty="0">
                <a:solidFill>
                  <a:srgbClr val="475569"/>
                </a:solidFill>
                <a:latin typeface="Arial" panose="020B0604020202090204"/>
              </a:rPr>
              <a:t>2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+ w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RF</a:t>
            </a:r>
            <a:r>
              <a:rPr sz="1100" b="0" baseline="30000" dirty="0">
                <a:solidFill>
                  <a:srgbClr val="475569"/>
                </a:solidFill>
                <a:latin typeface="Arial" panose="020B0604020202090204"/>
              </a:rPr>
              <a:t>2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σ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RF</a:t>
            </a:r>
            <a:r>
              <a:rPr sz="1100" b="0" baseline="30000" dirty="0">
                <a:solidFill>
                  <a:srgbClr val="475569"/>
                </a:solidFill>
                <a:latin typeface="Arial" panose="020B0604020202090204"/>
              </a:rPr>
              <a:t>2</a:t>
            </a:r>
            <a:endParaRPr sz="1100" b="0" baseline="3000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Mixing weights are obtained via non-negative ridge regression on out-of-fold predictions, ensuring calibration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 panose="020B0604020202090204"/>
              </a:rPr>
              <a:t>SOLARLAB</a:t>
            </a:r>
            <a:endParaRPr sz="1000" b="0">
              <a:solidFill>
                <a:srgbClr val="C0392B"/>
              </a:solidFill>
              <a:latin typeface="Arial" panose="020B0604020202090204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 panose="020B0604020202090204"/>
              </a:rPr>
              <a:t>03 · ML + FEATURES</a:t>
            </a:r>
            <a:endParaRPr sz="110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 panose="020B0604020202090204"/>
              </a:rPr>
              <a:t>Upper-confidence-bound acquisition for active learning</a:t>
            </a:r>
            <a:endParaRPr sz="2200" b="1">
              <a:solidFill>
                <a:srgbClr val="1C2533"/>
              </a:solidFill>
              <a:latin typeface="Arial" panose="020B060402020209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 panose="020B0604020202090204"/>
              </a:rPr>
              <a:t>Sequential selection of the next DFT batch [Snoek et al. 2012]</a:t>
            </a:r>
            <a:endParaRPr sz="1500" b="0">
              <a:solidFill>
                <a:srgbClr val="475569"/>
              </a:solidFill>
              <a:latin typeface="Arial" panose="020B0604020202090204"/>
            </a:endParaRPr>
          </a:p>
        </p:txBody>
      </p:sp>
      <p:pic>
        <p:nvPicPr>
          <p:cNvPr id="6" name="Picture 5" descr="s14_ucb_acquisi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00989"/>
            <a:ext cx="4937760" cy="25988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0" y="1828800"/>
            <a:ext cx="3375866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α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UCB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(x) =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μ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(x) +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κ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·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σ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(x), with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κ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= 2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Posterior mean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μ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(x) is taken from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HistGBR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, the more accurate mean predictor on labelled data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Posterior standard deviation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σ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(x) is taken from the GPR + RF stack as a calibrated uncertainty source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κ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= 2 balances exploitation (high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μ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) and exploration (high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σ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) and is standard in Bayesian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optimisation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Decoupling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μ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and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σ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between two models prevents GP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underconfidence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from suppressing the high-score tail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Top-N entries by α become the next active-learning DFT batch; returned labels are fed back into both models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 panose="020B0604020202090204"/>
              </a:rPr>
              <a:t>SOLARLAB</a:t>
            </a:r>
            <a:endParaRPr sz="1000" b="0">
              <a:solidFill>
                <a:srgbClr val="C0392B"/>
              </a:solidFill>
              <a:latin typeface="Arial" panose="020B0604020202090204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 panose="020B0604020202090204"/>
              </a:rPr>
              <a:t>03 · ML + FEATURES</a:t>
            </a:r>
            <a:endParaRPr sz="110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 panose="020B0604020202090204"/>
              </a:rPr>
              <a:t>Validation under random and grouped cross-validation</a:t>
            </a:r>
            <a:endParaRPr sz="2200" b="1">
              <a:solidFill>
                <a:srgbClr val="1C2533"/>
              </a:solidFill>
              <a:latin typeface="Arial" panose="020B060402020209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4035" y="1325880"/>
            <a:ext cx="8404225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 panose="020B0604020202090204"/>
              </a:rPr>
              <a:t>5-fold × 5-seed random CV on n = 473 labelled materials</a:t>
            </a:r>
            <a:endParaRPr sz="1500" b="0">
              <a:solidFill>
                <a:srgbClr val="475569"/>
              </a:solidFill>
              <a:latin typeface="Arial" panose="020B0604020202090204"/>
            </a:endParaRPr>
          </a:p>
        </p:txBody>
      </p:sp>
      <p:pic>
        <p:nvPicPr>
          <p:cNvPr id="6" name="Picture 5" descr="s10_parit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470" y="1769745"/>
            <a:ext cx="6447155" cy="20897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75020" y="2519680"/>
            <a:ext cx="3268774" cy="169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dirty="0">
                <a:solidFill>
                  <a:srgbClr val="475569"/>
                </a:solidFill>
                <a:latin typeface="Arial" panose="020B0604020202090204"/>
              </a:rPr>
              <a:t>•  </a:t>
            </a:r>
            <a:r>
              <a:rPr sz="800" b="0" dirty="0" err="1">
                <a:solidFill>
                  <a:srgbClr val="475569"/>
                </a:solidFill>
                <a:latin typeface="Arial" panose="020B0604020202090204"/>
              </a:rPr>
              <a:t>HistGBR</a:t>
            </a:r>
            <a:r>
              <a:rPr sz="800" b="0" dirty="0">
                <a:solidFill>
                  <a:srgbClr val="475569"/>
                </a:solidFill>
                <a:latin typeface="Arial" panose="020B0604020202090204"/>
              </a:rPr>
              <a:t> achieves R</a:t>
            </a:r>
            <a:r>
              <a:rPr sz="800" b="0" baseline="30000" dirty="0">
                <a:solidFill>
                  <a:srgbClr val="475569"/>
                </a:solidFill>
                <a:latin typeface="Arial" panose="020B0604020202090204"/>
              </a:rPr>
              <a:t>2</a:t>
            </a:r>
            <a:r>
              <a:rPr sz="800" b="0" dirty="0">
                <a:solidFill>
                  <a:srgbClr val="475569"/>
                </a:solidFill>
                <a:latin typeface="Arial" panose="020B0604020202090204"/>
              </a:rPr>
              <a:t> = 0.466 ± 0.035 · MAE = 0.012 · top-20 recall 0.50</a:t>
            </a:r>
            <a:endParaRPr sz="8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800" b="0" dirty="0">
                <a:solidFill>
                  <a:srgbClr val="475569"/>
                </a:solidFill>
                <a:latin typeface="Arial" panose="020B0604020202090204"/>
              </a:rPr>
              <a:t>•  Improves over the prior GPR / GB / </a:t>
            </a:r>
            <a:r>
              <a:rPr sz="800" b="0" dirty="0" err="1">
                <a:solidFill>
                  <a:srgbClr val="475569"/>
                </a:solidFill>
                <a:latin typeface="Arial" panose="020B0604020202090204"/>
              </a:rPr>
              <a:t>ExtraTrees</a:t>
            </a:r>
            <a:r>
              <a:rPr sz="800" b="0" dirty="0">
                <a:solidFill>
                  <a:srgbClr val="475569"/>
                </a:solidFill>
                <a:latin typeface="Arial" panose="020B0604020202090204"/>
              </a:rPr>
              <a:t> baseline by +50 % in R</a:t>
            </a:r>
            <a:r>
              <a:rPr sz="800" b="0" baseline="30000" dirty="0">
                <a:solidFill>
                  <a:srgbClr val="475569"/>
                </a:solidFill>
                <a:latin typeface="Arial" panose="020B0604020202090204"/>
              </a:rPr>
              <a:t>2</a:t>
            </a:r>
            <a:r>
              <a:rPr sz="800" b="0" dirty="0">
                <a:solidFill>
                  <a:srgbClr val="475569"/>
                </a:solidFill>
                <a:latin typeface="Arial" panose="020B0604020202090204"/>
              </a:rPr>
              <a:t> (0.31 → 0.466)</a:t>
            </a:r>
            <a:endParaRPr sz="8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800" b="0" dirty="0">
                <a:solidFill>
                  <a:srgbClr val="475569"/>
                </a:solidFill>
                <a:latin typeface="Arial" panose="020B0604020202090204"/>
              </a:rPr>
              <a:t>•  Ablation: GBR 0.399 · </a:t>
            </a:r>
            <a:r>
              <a:rPr sz="800" b="0" dirty="0" err="1">
                <a:solidFill>
                  <a:srgbClr val="475569"/>
                </a:solidFill>
                <a:latin typeface="Arial" panose="020B0604020202090204"/>
              </a:rPr>
              <a:t>ExtraTrees</a:t>
            </a:r>
            <a:r>
              <a:rPr sz="800" b="0" dirty="0">
                <a:solidFill>
                  <a:srgbClr val="475569"/>
                </a:solidFill>
                <a:latin typeface="Arial" panose="020B0604020202090204"/>
              </a:rPr>
              <a:t> 0.234 · </a:t>
            </a:r>
            <a:r>
              <a:rPr sz="800" b="0" dirty="0" err="1">
                <a:solidFill>
                  <a:srgbClr val="475569"/>
                </a:solidFill>
                <a:latin typeface="Arial" panose="020B0604020202090204"/>
              </a:rPr>
              <a:t>MEGNet</a:t>
            </a:r>
            <a:r>
              <a:rPr sz="800" b="0" dirty="0">
                <a:solidFill>
                  <a:srgbClr val="475569"/>
                </a:solidFill>
                <a:latin typeface="Arial" panose="020B0604020202090204"/>
              </a:rPr>
              <a:t> fine-tuned 0.307 · </a:t>
            </a:r>
            <a:r>
              <a:rPr sz="800" b="0" dirty="0" err="1">
                <a:solidFill>
                  <a:srgbClr val="475569"/>
                </a:solidFill>
                <a:latin typeface="Arial" panose="020B0604020202090204"/>
              </a:rPr>
              <a:t>MEGNet</a:t>
            </a:r>
            <a:r>
              <a:rPr sz="800" b="0" dirty="0">
                <a:solidFill>
                  <a:srgbClr val="475569"/>
                </a:solidFill>
                <a:latin typeface="Arial" panose="020B0604020202090204"/>
              </a:rPr>
              <a:t> frozen 0.366</a:t>
            </a:r>
            <a:endParaRPr sz="8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800" b="0" dirty="0">
                <a:solidFill>
                  <a:srgbClr val="475569"/>
                </a:solidFill>
                <a:latin typeface="Arial" panose="020B0604020202090204"/>
              </a:rPr>
              <a:t>•  Repeated out-of-fold averaging across seeds yields global R</a:t>
            </a:r>
            <a:r>
              <a:rPr sz="800" b="0" baseline="30000" dirty="0">
                <a:solidFill>
                  <a:srgbClr val="475569"/>
                </a:solidFill>
                <a:latin typeface="Arial" panose="020B0604020202090204"/>
              </a:rPr>
              <a:t>2</a:t>
            </a:r>
            <a:r>
              <a:rPr sz="800" b="0" dirty="0">
                <a:solidFill>
                  <a:srgbClr val="475569"/>
                </a:solidFill>
                <a:latin typeface="Arial" panose="020B0604020202090204"/>
              </a:rPr>
              <a:t> = 0.492 and top-20 recall 0.50</a:t>
            </a:r>
            <a:endParaRPr sz="8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800" b="0" dirty="0">
                <a:solidFill>
                  <a:srgbClr val="475569"/>
                </a:solidFill>
                <a:latin typeface="Arial" panose="020B0604020202090204"/>
              </a:rPr>
              <a:t>•  Prototype-grouped CV gives R</a:t>
            </a:r>
            <a:r>
              <a:rPr sz="800" b="0" baseline="30000" dirty="0">
                <a:solidFill>
                  <a:srgbClr val="475569"/>
                </a:solidFill>
                <a:latin typeface="Arial" panose="020B0604020202090204"/>
              </a:rPr>
              <a:t>2</a:t>
            </a:r>
            <a:r>
              <a:rPr sz="800" b="0" dirty="0">
                <a:solidFill>
                  <a:srgbClr val="475569"/>
                </a:solidFill>
                <a:latin typeface="Arial" panose="020B0604020202090204"/>
              </a:rPr>
              <a:t> ≈ 0, indicating poor extrapolation to unseen structural prototypes</a:t>
            </a:r>
            <a:endParaRPr sz="8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800" b="0" dirty="0">
                <a:solidFill>
                  <a:srgbClr val="475569"/>
                </a:solidFill>
                <a:latin typeface="Arial" panose="020B0604020202090204"/>
              </a:rPr>
              <a:t>•  Chalcogen-family-grouped CV gives R</a:t>
            </a:r>
            <a:r>
              <a:rPr sz="800" b="0" baseline="30000" dirty="0">
                <a:solidFill>
                  <a:srgbClr val="475569"/>
                </a:solidFill>
                <a:latin typeface="Arial" panose="020B0604020202090204"/>
              </a:rPr>
              <a:t>2</a:t>
            </a:r>
            <a:r>
              <a:rPr sz="800" b="0" dirty="0">
                <a:solidFill>
                  <a:srgbClr val="475569"/>
                </a:solidFill>
                <a:latin typeface="Arial" panose="020B0604020202090204"/>
              </a:rPr>
              <a:t> ≈ 0.15, with Se the most challenging hold-out</a:t>
            </a:r>
            <a:endParaRPr sz="800" b="0" dirty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 panose="020B0604020202090204"/>
              </a:rPr>
              <a:t>SOLARLAB</a:t>
            </a:r>
            <a:endParaRPr sz="1000" b="0">
              <a:solidFill>
                <a:srgbClr val="C0392B"/>
              </a:solidFill>
              <a:latin typeface="Arial" panose="020B0604020202090204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1435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0" b="1">
                <a:solidFill>
                  <a:srgbClr val="C0392B"/>
                </a:solidFill>
                <a:latin typeface="Arial" panose="020B0604020202090204"/>
              </a:rPr>
              <a:t>04</a:t>
            </a:r>
            <a:endParaRPr sz="25000" b="1">
              <a:solidFill>
                <a:srgbClr val="C0392B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401193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475569"/>
                </a:solidFill>
                <a:latin typeface="Arial" panose="020B0604020202090204"/>
              </a:rPr>
              <a:t>CANDIDATES</a:t>
            </a:r>
            <a:endParaRPr sz="3600" b="1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 panose="020B0604020202090204"/>
              </a:rPr>
              <a:t>04 · CANDIDATES</a:t>
            </a:r>
            <a:endParaRPr sz="110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 panose="020B0604020202090204"/>
              </a:rPr>
              <a:t>Top-fourteen candidates (PV score y &gt; 0.10)</a:t>
            </a:r>
            <a:endParaRPr sz="2200" b="1">
              <a:solidFill>
                <a:srgbClr val="1C2533"/>
              </a:solidFill>
              <a:latin typeface="Arial" panose="020B060402020209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 panose="020B0604020202090204"/>
              </a:rPr>
              <a:t>All entries are chalcogenides; eleven of fourteen are selenides; AB</a:t>
            </a:r>
            <a:r>
              <a:rPr sz="1500" b="0" baseline="-25000">
                <a:solidFill>
                  <a:srgbClr val="475569"/>
                </a:solidFill>
                <a:latin typeface="Arial" panose="020B0604020202090204"/>
              </a:rPr>
              <a:t>2</a:t>
            </a:r>
            <a:r>
              <a:rPr sz="1500" b="0">
                <a:solidFill>
                  <a:srgbClr val="475569"/>
                </a:solidFill>
                <a:latin typeface="Arial" panose="020B0604020202090204"/>
              </a:rPr>
              <a:t>C</a:t>
            </a:r>
            <a:r>
              <a:rPr sz="1500" b="0" baseline="-25000">
                <a:solidFill>
                  <a:srgbClr val="475569"/>
                </a:solidFill>
                <a:latin typeface="Arial" panose="020B0604020202090204"/>
              </a:rPr>
              <a:t>4</a:t>
            </a:r>
            <a:r>
              <a:rPr sz="1500" b="0">
                <a:solidFill>
                  <a:srgbClr val="475569"/>
                </a:solidFill>
                <a:latin typeface="Arial" panose="020B0604020202090204"/>
              </a:rPr>
              <a:t> is the dominant prototype</a:t>
            </a:r>
            <a:endParaRPr sz="1500" b="0">
              <a:solidFill>
                <a:srgbClr val="475569"/>
              </a:solidFill>
              <a:latin typeface="Arial" panose="020B0604020202090204"/>
            </a:endParaRPr>
          </a:p>
        </p:txBody>
      </p:sp>
      <p:pic>
        <p:nvPicPr>
          <p:cNvPr id="6" name="Picture 5" descr="s11_top_candidat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696" y="1828800"/>
            <a:ext cx="4374767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0" y="1828800"/>
            <a:ext cx="3017520" cy="2421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Selenides preferred: 11 of 14 are Se-based and the top six are all Se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AB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2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C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4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supplies 7 of 14 entries; the remainder is split between ABC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3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and ABC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2</a:t>
            </a:r>
            <a:endParaRPr sz="1100" b="0" baseline="-2500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Pnma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(SG 62) accounts for 7 of 14; remaining entries fall in SG 12, 14, 72 and 15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PV-score distribution spans 0.10 to 0.49 across the shortlist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Aggregate descriptors: ⟨E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g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⟩ = 1.32 eV · ⟨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ε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⟩ = 12.5 · ⟨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m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avg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⟩ = 0.58 m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0</a:t>
            </a:r>
            <a:endParaRPr sz="1100" b="0" baseline="-2500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24 % are direct-gap; the remaining 76 % are retained for combined low m</a:t>
            </a:r>
            <a:r>
              <a:rPr sz="1100" b="0" baseline="30000" dirty="0">
                <a:solidFill>
                  <a:srgbClr val="475569"/>
                </a:solidFill>
                <a:latin typeface="Arial" panose="020B0604020202090204"/>
              </a:rPr>
              <a:t>*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, high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ε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and low E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b</a:t>
            </a:r>
            <a:endParaRPr sz="1100" b="0" baseline="-25000" dirty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 panose="020B0604020202090204"/>
              </a:rPr>
              <a:t>SOLARLAB</a:t>
            </a:r>
            <a:endParaRPr sz="1000" b="0">
              <a:solidFill>
                <a:srgbClr val="C0392B"/>
              </a:solidFill>
              <a:latin typeface="Arial" panose="020B0604020202090204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 panose="020B0604020202090204"/>
              </a:rPr>
              <a:t>04 · CANDIDATES</a:t>
            </a:r>
            <a:endParaRPr sz="110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 panose="020B0604020202090204"/>
              </a:rPr>
              <a:t>Screening funnel</a:t>
            </a:r>
            <a:endParaRPr sz="2200" b="1">
              <a:solidFill>
                <a:srgbClr val="1C2533"/>
              </a:solidFill>
              <a:latin typeface="Arial" panose="020B060402020209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 panose="020B0604020202090204"/>
              </a:rPr>
              <a:t>&gt;10</a:t>
            </a:r>
            <a:r>
              <a:rPr sz="1500" b="0" baseline="30000">
                <a:solidFill>
                  <a:srgbClr val="475569"/>
                </a:solidFill>
                <a:latin typeface="Arial" panose="020B0604020202090204"/>
              </a:rPr>
              <a:t>5</a:t>
            </a:r>
            <a:r>
              <a:rPr sz="1500" b="0">
                <a:solidFill>
                  <a:srgbClr val="475569"/>
                </a:solidFill>
                <a:latin typeface="Arial" panose="020B0604020202090204"/>
              </a:rPr>
              <a:t> MP / OQMD → 647 DFT-screened → 473 ML-ready → 41 PV-promising → 14 shortlist</a:t>
            </a:r>
            <a:endParaRPr sz="1500" b="0">
              <a:solidFill>
                <a:srgbClr val="475569"/>
              </a:solidFill>
              <a:latin typeface="Arial" panose="020B0604020202090204"/>
            </a:endParaRPr>
          </a:p>
        </p:txBody>
      </p:sp>
      <p:pic>
        <p:nvPicPr>
          <p:cNvPr id="6" name="Picture 5" descr="s12_funnel_popula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16401"/>
            <a:ext cx="4937760" cy="9679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79" y="1828800"/>
            <a:ext cx="3136969" cy="2589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Stage 1: &gt; 10</a:t>
            </a:r>
            <a:r>
              <a:rPr sz="1100" b="0" baseline="30000" dirty="0">
                <a:solidFill>
                  <a:srgbClr val="475569"/>
                </a:solidFill>
                <a:latin typeface="Arial" panose="020B0604020202090204"/>
              </a:rPr>
              <a:t>5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structures sourced from Materials Project and OQMD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Stage 2: 647 candidates with HSE band structure and DFPT dielectric tensor completed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Stage 3: 473 ML-ready candidates after removing metallic-band and missing-CONTCAR entries (174 excluded)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Stage 4: 41 PV-promising candidates with composite score y </a:t>
            </a:r>
            <a:r>
              <a:rPr lang="en-US" sz="1100" dirty="0">
                <a:solidFill>
                  <a:srgbClr val="475569"/>
                </a:solidFill>
                <a:latin typeface="Arial" panose="020B0604020202090204"/>
                <a:sym typeface="+mn-ea"/>
              </a:rPr>
              <a:t>&gt;</a:t>
            </a:r>
            <a:r>
              <a:rPr sz="1100" dirty="0">
                <a:solidFill>
                  <a:srgbClr val="475569"/>
                </a:solidFill>
                <a:latin typeface="Arial" panose="020B0604020202090204"/>
                <a:sym typeface="+mn-ea"/>
              </a:rPr>
              <a:t> 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0.05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Stage 5: 14-candidate shortlist with y </a:t>
            </a:r>
            <a:r>
              <a:rPr lang="en-US" sz="1100" dirty="0">
                <a:solidFill>
                  <a:srgbClr val="475569"/>
                </a:solidFill>
                <a:latin typeface="Arial" panose="020B0604020202090204"/>
                <a:sym typeface="+mn-ea"/>
              </a:rPr>
              <a:t>&gt;</a:t>
            </a:r>
            <a:r>
              <a:rPr sz="1100" dirty="0">
                <a:solidFill>
                  <a:srgbClr val="475569"/>
                </a:solidFill>
                <a:latin typeface="Arial" panose="020B0604020202090204"/>
                <a:sym typeface="+mn-ea"/>
              </a:rPr>
              <a:t> 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0.10 feeding the next active-learning DFT round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Funnel narrows by approximately four orders of magnitude into a tractable shortlist for experimental verification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 panose="020B0604020202090204"/>
              </a:rPr>
              <a:t>SOLARLAB</a:t>
            </a:r>
            <a:endParaRPr sz="1000" b="0">
              <a:solidFill>
                <a:srgbClr val="C0392B"/>
              </a:solidFill>
              <a:latin typeface="Arial" panose="020B0604020202090204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 panose="020B0604020202090204"/>
              </a:rPr>
              <a:t>04 · CANDIDATES</a:t>
            </a:r>
            <a:endParaRPr sz="110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 panose="020B0604020202090204"/>
              </a:rPr>
              <a:t>Lead candidate — Se</a:t>
            </a:r>
            <a:r>
              <a:rPr sz="2200" b="1" baseline="-25000">
                <a:solidFill>
                  <a:srgbClr val="1C2533"/>
                </a:solidFill>
                <a:latin typeface="Arial" panose="020B0604020202090204"/>
              </a:rPr>
              <a:t>16</a:t>
            </a:r>
            <a:r>
              <a:rPr sz="2200" b="1">
                <a:solidFill>
                  <a:srgbClr val="1C2533"/>
                </a:solidFill>
                <a:latin typeface="Arial" panose="020B0604020202090204"/>
              </a:rPr>
              <a:t>Sn</a:t>
            </a:r>
            <a:r>
              <a:rPr sz="2200" b="1" baseline="-25000">
                <a:solidFill>
                  <a:srgbClr val="1C2533"/>
                </a:solidFill>
                <a:latin typeface="Arial" panose="020B0604020202090204"/>
              </a:rPr>
              <a:t>8</a:t>
            </a:r>
            <a:r>
              <a:rPr sz="2200" b="1">
                <a:solidFill>
                  <a:srgbClr val="1C2533"/>
                </a:solidFill>
                <a:latin typeface="Arial" panose="020B0604020202090204"/>
              </a:rPr>
              <a:t>Zr</a:t>
            </a:r>
            <a:r>
              <a:rPr sz="2200" b="1" baseline="-25000">
                <a:solidFill>
                  <a:srgbClr val="1C2533"/>
                </a:solidFill>
                <a:latin typeface="Arial" panose="020B0604020202090204"/>
              </a:rPr>
              <a:t>4</a:t>
            </a:r>
            <a:endParaRPr sz="2200" b="1" baseline="-25000">
              <a:solidFill>
                <a:srgbClr val="1C2533"/>
              </a:solidFill>
              <a:latin typeface="Arial" panose="020B060402020209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 panose="020B0604020202090204"/>
              </a:rPr>
              <a:t>AB</a:t>
            </a:r>
            <a:r>
              <a:rPr sz="1500" b="0" baseline="-25000">
                <a:solidFill>
                  <a:srgbClr val="475569"/>
                </a:solidFill>
                <a:latin typeface="Arial" panose="020B0604020202090204"/>
              </a:rPr>
              <a:t>2</a:t>
            </a:r>
            <a:r>
              <a:rPr sz="1500" b="0">
                <a:solidFill>
                  <a:srgbClr val="475569"/>
                </a:solidFill>
                <a:latin typeface="Arial" panose="020B0604020202090204"/>
              </a:rPr>
              <a:t>C</a:t>
            </a:r>
            <a:r>
              <a:rPr sz="1500" b="0" baseline="-25000">
                <a:solidFill>
                  <a:srgbClr val="475569"/>
                </a:solidFill>
                <a:latin typeface="Arial" panose="020B0604020202090204"/>
              </a:rPr>
              <a:t>4</a:t>
            </a:r>
            <a:r>
              <a:rPr sz="1500" b="0">
                <a:solidFill>
                  <a:srgbClr val="475569"/>
                </a:solidFill>
                <a:latin typeface="Arial" panose="020B0604020202090204"/>
              </a:rPr>
              <a:t> prototype · Pnma (SG 62) · near-optimal Shockley–Queisser gap</a:t>
            </a:r>
            <a:endParaRPr sz="1500" b="0">
              <a:solidFill>
                <a:srgbClr val="475569"/>
              </a:solidFill>
              <a:latin typeface="Arial" panose="020B0604020202090204"/>
            </a:endParaRPr>
          </a:p>
        </p:txBody>
      </p:sp>
      <p:pic>
        <p:nvPicPr>
          <p:cNvPr id="6" name="Picture 5" descr="s13_hit1_Se16Sn8Zr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8039" y="1828800"/>
            <a:ext cx="257608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71070" y="1828800"/>
            <a:ext cx="3315730" cy="2421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E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g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= 1.12 eV, within 0.22 eV of the Shockley–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Queisser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optimum at 1.34 eV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m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avg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= 0.43 m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0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, indicating low effective mass and high carrier mobility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ε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avg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= 19.5, providing strong dielectric screening and suppressing Frenkel-exciton formation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E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b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= 7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meV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, well below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k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B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T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at 300 K, placing the absorber in the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Wannier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–Mott regime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Composite PV score y = 0.487, the highest in the screened set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Sn–Zr–Se ternary phases have reported synthesis routes; no photovoltaic-device demonstration to date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 panose="020B0604020202090204"/>
              </a:rPr>
              <a:t>SOLARLAB</a:t>
            </a:r>
            <a:endParaRPr sz="1000" b="0">
              <a:solidFill>
                <a:srgbClr val="C0392B"/>
              </a:solidFill>
              <a:latin typeface="Arial" panose="020B0604020202090204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 panose="020B0604020202090204"/>
              </a:rPr>
              <a:t>04 · CANDIDATES</a:t>
            </a:r>
            <a:endParaRPr sz="110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 panose="020B0604020202090204"/>
              </a:rPr>
              <a:t>Secondary candidate — Cs</a:t>
            </a:r>
            <a:r>
              <a:rPr sz="2200" b="1" baseline="-25000">
                <a:solidFill>
                  <a:srgbClr val="1C2533"/>
                </a:solidFill>
                <a:latin typeface="Arial" panose="020B0604020202090204"/>
              </a:rPr>
              <a:t>2</a:t>
            </a:r>
            <a:r>
              <a:rPr sz="2200" b="1">
                <a:solidFill>
                  <a:srgbClr val="1C2533"/>
                </a:solidFill>
                <a:latin typeface="Arial" panose="020B0604020202090204"/>
              </a:rPr>
              <a:t>Sb</a:t>
            </a:r>
            <a:r>
              <a:rPr sz="2200" b="1" baseline="-25000">
                <a:solidFill>
                  <a:srgbClr val="1C2533"/>
                </a:solidFill>
                <a:latin typeface="Arial" panose="020B0604020202090204"/>
              </a:rPr>
              <a:t>6</a:t>
            </a:r>
            <a:r>
              <a:rPr sz="2200" b="1">
                <a:solidFill>
                  <a:srgbClr val="1C2533"/>
                </a:solidFill>
                <a:latin typeface="Arial" panose="020B0604020202090204"/>
              </a:rPr>
              <a:t>Se</a:t>
            </a:r>
            <a:r>
              <a:rPr sz="2200" b="1" baseline="-25000">
                <a:solidFill>
                  <a:srgbClr val="1C2533"/>
                </a:solidFill>
                <a:latin typeface="Arial" panose="020B0604020202090204"/>
              </a:rPr>
              <a:t>2</a:t>
            </a:r>
            <a:endParaRPr sz="2200" b="1" baseline="-25000">
              <a:solidFill>
                <a:srgbClr val="1C2533"/>
              </a:solidFill>
              <a:latin typeface="Arial" panose="020B060402020209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 panose="020B0604020202090204"/>
              </a:rPr>
              <a:t>ABC</a:t>
            </a:r>
            <a:r>
              <a:rPr sz="1500" b="0" baseline="-25000">
                <a:solidFill>
                  <a:srgbClr val="475569"/>
                </a:solidFill>
                <a:latin typeface="Arial" panose="020B0604020202090204"/>
              </a:rPr>
              <a:t>3</a:t>
            </a:r>
            <a:r>
              <a:rPr sz="1500" b="0">
                <a:solidFill>
                  <a:srgbClr val="475569"/>
                </a:solidFill>
                <a:latin typeface="Arial" panose="020B0604020202090204"/>
              </a:rPr>
              <a:t> prototype · C2/m (SG 12) · Sb 5s</a:t>
            </a:r>
            <a:r>
              <a:rPr sz="1500" b="0" baseline="30000">
                <a:solidFill>
                  <a:srgbClr val="475569"/>
                </a:solidFill>
                <a:latin typeface="Arial" panose="020B0604020202090204"/>
              </a:rPr>
              <a:t>2</a:t>
            </a:r>
            <a:r>
              <a:rPr sz="1500" b="0">
                <a:solidFill>
                  <a:srgbClr val="475569"/>
                </a:solidFill>
                <a:latin typeface="Arial" panose="020B0604020202090204"/>
              </a:rPr>
              <a:t> lone-pair active cation</a:t>
            </a:r>
            <a:endParaRPr sz="1500" b="0">
              <a:solidFill>
                <a:srgbClr val="475569"/>
              </a:solidFill>
              <a:latin typeface="Arial" panose="020B0604020202090204"/>
            </a:endParaRPr>
          </a:p>
        </p:txBody>
      </p:sp>
      <p:pic>
        <p:nvPicPr>
          <p:cNvPr id="6" name="Picture 5" descr="s14_hit2_Cs2Sb6S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6491" y="1828800"/>
            <a:ext cx="2279176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14551" y="1828800"/>
            <a:ext cx="3472249" cy="2251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E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g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= 1.28 eV, near the Shockley–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Queisser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optimum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m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avg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= 0.81 m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0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, heavier than the lead candidate but within the device-relevant range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ε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avg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= 12.6, indicating moderate dielectric screening; E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b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= 56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meV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Composite PV score y = 0.298, complementing the lead candidate from a distinct structural prototype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Sb 5s</a:t>
            </a:r>
            <a:r>
              <a:rPr sz="1100" b="0" baseline="30000" dirty="0">
                <a:solidFill>
                  <a:srgbClr val="475569"/>
                </a:solidFill>
                <a:latin typeface="Arial" panose="020B0604020202090204"/>
              </a:rPr>
              <a:t>2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lone-pair character produces a deep, dispersive valence-band maximum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Cs–Sb–Se ternary phases have established solution-processing synthesis routes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 panose="020B0604020202090204"/>
              </a:rPr>
              <a:t>SOLARLAB</a:t>
            </a:r>
            <a:endParaRPr sz="1000" b="0">
              <a:solidFill>
                <a:srgbClr val="C0392B"/>
              </a:solidFill>
              <a:latin typeface="Arial" panose="020B0604020202090204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1435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0" b="1">
                <a:solidFill>
                  <a:srgbClr val="C0392B"/>
                </a:solidFill>
                <a:latin typeface="Arial" panose="020B0604020202090204"/>
              </a:rPr>
              <a:t>05</a:t>
            </a:r>
            <a:endParaRPr sz="25000" b="1">
              <a:solidFill>
                <a:srgbClr val="C0392B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4011930"/>
            <a:ext cx="804672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475569"/>
                </a:solidFill>
                <a:latin typeface="Arial" panose="020B0604020202090204"/>
              </a:rPr>
              <a:t>DEVICE SIM</a:t>
            </a:r>
            <a:endParaRPr sz="3600" b="1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4008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 panose="020B0604020202090204"/>
              </a:rPr>
              <a:t>05 · </a:t>
            </a:r>
            <a:r>
              <a:rPr sz="1100">
                <a:solidFill>
                  <a:srgbClr val="475569"/>
                </a:solidFill>
                <a:latin typeface="Arial" panose="020B0604020202090204"/>
                <a:sym typeface="+mn-ea"/>
              </a:rPr>
              <a:t>DEVICE SIM</a:t>
            </a:r>
            <a:endParaRPr sz="1100">
              <a:solidFill>
                <a:srgbClr val="475569"/>
              </a:solidFill>
              <a:latin typeface="Arial" panose="020B0604020202090204"/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200" b="1">
                <a:solidFill>
                  <a:srgbClr val="1C2533"/>
                </a:solidFill>
                <a:latin typeface="Arial" panose="020B0604020202090204"/>
              </a:rPr>
              <a:t>SCAPS-1D Input Parameters</a:t>
            </a:r>
            <a:endParaRPr lang="en-US" altLang="zh-CN" sz="2200" b="1">
              <a:solidFill>
                <a:srgbClr val="1C2533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 panose="020B0604020202090204"/>
              </a:rPr>
              <a:t>SOLARLAB</a:t>
            </a:r>
            <a:endParaRPr sz="1000" b="0">
              <a:solidFill>
                <a:srgbClr val="C0392B"/>
              </a:solidFill>
              <a:latin typeface="Arial" panose="020B0604020202090204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4008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 panose="020B0604020202090204"/>
              </a:rPr>
              <a:t>05 · </a:t>
            </a:r>
            <a:r>
              <a:rPr sz="1100">
                <a:solidFill>
                  <a:srgbClr val="475569"/>
                </a:solidFill>
                <a:latin typeface="Arial" panose="020B0604020202090204"/>
                <a:sym typeface="+mn-ea"/>
              </a:rPr>
              <a:t>DEVICE SIM</a:t>
            </a:r>
            <a:endParaRPr sz="1100">
              <a:solidFill>
                <a:srgbClr val="475569"/>
              </a:solidFill>
              <a:latin typeface="Arial" panose="020B0604020202090204"/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200" b="1">
                <a:solidFill>
                  <a:srgbClr val="1C2533"/>
                </a:solidFill>
                <a:latin typeface="Arial" panose="020B0604020202090204"/>
              </a:rPr>
              <a:t>SCAPS-1D Input Parameters</a:t>
            </a:r>
            <a:endParaRPr lang="en-US" altLang="zh-CN" sz="2200" b="1">
              <a:solidFill>
                <a:srgbClr val="1C2533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 panose="020B0604020202090204"/>
              </a:rPr>
              <a:t>SOLARLAB</a:t>
            </a:r>
            <a:endParaRPr sz="1000" b="0">
              <a:solidFill>
                <a:srgbClr val="C0392B"/>
              </a:solidFill>
              <a:latin typeface="Arial" panose="020B0604020202090204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69975"/>
            <a:ext cx="7772400" cy="34671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63440"/>
            <a:ext cx="7772400" cy="1397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4008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 panose="020B0604020202090204"/>
              </a:rPr>
              <a:t>05 · </a:t>
            </a:r>
            <a:r>
              <a:rPr sz="1100">
                <a:solidFill>
                  <a:srgbClr val="475569"/>
                </a:solidFill>
                <a:latin typeface="Arial" panose="020B0604020202090204"/>
                <a:sym typeface="+mn-ea"/>
              </a:rPr>
              <a:t>DEVICE SIM</a:t>
            </a:r>
            <a:endParaRPr sz="110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203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  <a:sym typeface="+mn-ea"/>
              </a:rPr>
              <a:t>SCAPS-1D Main Output Modules</a:t>
            </a:r>
            <a:endParaRPr lang="en-US" sz="1400" b="1">
              <a:solidFill>
                <a:srgbClr val="1C2533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 panose="020B0604020202090204"/>
              </a:rPr>
              <a:t>SOLARLAB</a:t>
            </a:r>
            <a:endParaRPr sz="1000" b="0">
              <a:solidFill>
                <a:srgbClr val="C0392B"/>
              </a:solidFill>
              <a:latin typeface="Arial" panose="020B0604020202090204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grpSp>
        <p:nvGrpSpPr>
          <p:cNvPr id="107" name="组合 106"/>
          <p:cNvGrpSpPr/>
          <p:nvPr/>
        </p:nvGrpSpPr>
        <p:grpSpPr>
          <a:xfrm>
            <a:off x="457200" y="1132840"/>
            <a:ext cx="8115935" cy="3557905"/>
            <a:chOff x="720" y="1584"/>
            <a:chExt cx="17770" cy="7790"/>
          </a:xfrm>
        </p:grpSpPr>
        <p:sp>
          <p:nvSpPr>
            <p:cNvPr id="3" name="Shape 6"/>
            <p:cNvSpPr/>
            <p:nvPr/>
          </p:nvSpPr>
          <p:spPr>
            <a:xfrm>
              <a:off x="720" y="1584"/>
              <a:ext cx="8640" cy="3672"/>
            </a:xfrm>
            <a:prstGeom prst="roundRect">
              <a:avLst>
                <a:gd name="adj" fmla="val 3137"/>
              </a:avLst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720" y="1584"/>
              <a:ext cx="115" cy="3672"/>
            </a:xfrm>
            <a:prstGeom prst="rect">
              <a:avLst/>
            </a:prstGeom>
            <a:solidFill>
              <a:srgbClr val="B42318"/>
            </a:solidFill>
            <a:ln w="12700">
              <a:solidFill>
                <a:srgbClr val="B4231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979" y="1800"/>
              <a:ext cx="547" cy="346"/>
            </a:xfrm>
            <a:prstGeom prst="roundRect">
              <a:avLst>
                <a:gd name="adj" fmla="val 25000"/>
              </a:avLst>
            </a:prstGeom>
            <a:solidFill>
              <a:srgbClr val="FEE4E2"/>
            </a:solidFill>
            <a:ln w="12700">
              <a:solidFill>
                <a:srgbClr val="B42318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1051" y="1875"/>
              <a:ext cx="403" cy="14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 fontScale="75000" lnSpcReduction="20000"/>
            </a:bodyPr>
            <a:lstStyle/>
            <a:p>
              <a:pPr marL="0" indent="0" algn="ctr">
                <a:buNone/>
              </a:pPr>
              <a:r>
                <a:rPr lang="en-US" sz="660" b="1" dirty="0">
                  <a:solidFill>
                    <a:srgbClr val="B42318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A</a:t>
              </a:r>
              <a:endParaRPr lang="en-US" sz="66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670" y="1814"/>
              <a:ext cx="7402" cy="28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 fontScale="90000" lnSpcReduction="10000"/>
            </a:bodyPr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I-V / J-V characteristics</a:t>
              </a:r>
              <a:endParaRPr lang="en-US" sz="1000" dirty="0"/>
            </a:p>
          </p:txBody>
        </p:sp>
        <p:graphicFrame>
          <p:nvGraphicFramePr>
            <p:cNvPr id="13" name="Chart 0"/>
            <p:cNvGraphicFramePr/>
            <p:nvPr/>
          </p:nvGraphicFramePr>
          <p:xfrm>
            <a:off x="1066" y="2419"/>
            <a:ext cx="4464" cy="246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  <p:sp>
          <p:nvSpPr>
            <p:cNvPr id="14" name="Text 11"/>
            <p:cNvSpPr/>
            <p:nvPr/>
          </p:nvSpPr>
          <p:spPr>
            <a:xfrm>
              <a:off x="2592" y="4766"/>
              <a:ext cx="1238" cy="17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 fontScale="90000"/>
            </a:bodyPr>
            <a:lstStyle/>
            <a:p>
              <a:pPr marL="0" indent="0" algn="ctr">
                <a:buNone/>
              </a:pPr>
              <a:r>
                <a:rPr lang="en-US" sz="610" dirty="0">
                  <a:solidFill>
                    <a:srgbClr val="64748B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Voltage </a:t>
              </a:r>
              <a:r>
                <a:rPr lang="en-US" sz="610" i="1" dirty="0">
                  <a:solidFill>
                    <a:srgbClr val="64748B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V</a:t>
              </a:r>
              <a:r>
                <a:rPr lang="en-US" sz="610" dirty="0">
                  <a:solidFill>
                    <a:srgbClr val="64748B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 (V)</a:t>
              </a:r>
              <a:endParaRPr lang="en-US" sz="610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1022" y="2266"/>
              <a:ext cx="2808" cy="16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64748B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Current density </a:t>
              </a:r>
              <a:r>
                <a:rPr lang="en-US" sz="800" i="1" dirty="0">
                  <a:solidFill>
                    <a:srgbClr val="64748B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J</a:t>
              </a:r>
              <a:r>
                <a:rPr lang="en-US" sz="800" dirty="0">
                  <a:solidFill>
                    <a:srgbClr val="64748B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 (mA cm</a:t>
              </a:r>
              <a:r>
                <a:rPr lang="en-US" sz="800" baseline="30000" dirty="0">
                  <a:solidFill>
                    <a:srgbClr val="64748B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−2</a:t>
              </a:r>
              <a:r>
                <a:rPr lang="en-US" sz="800" dirty="0">
                  <a:solidFill>
                    <a:srgbClr val="64748B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)</a:t>
              </a:r>
              <a:endParaRPr lang="en-US" sz="8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16" name="Shape 13"/>
            <p:cNvSpPr/>
            <p:nvPr/>
          </p:nvSpPr>
          <p:spPr>
            <a:xfrm>
              <a:off x="5933" y="2419"/>
              <a:ext cx="1296" cy="446"/>
            </a:xfrm>
            <a:prstGeom prst="roundRect">
              <a:avLst>
                <a:gd name="adj" fmla="val 12903"/>
              </a:avLst>
            </a:prstGeom>
            <a:solidFill>
              <a:srgbClr val="F8FAFC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 14"/>
            <p:cNvSpPr/>
            <p:nvPr/>
          </p:nvSpPr>
          <p:spPr>
            <a:xfrm>
              <a:off x="6019" y="2485"/>
              <a:ext cx="490" cy="14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800" i="1" dirty="0">
                  <a:solidFill>
                    <a:srgbClr val="64748B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V</a:t>
              </a:r>
              <a:r>
                <a:rPr lang="en-US" sz="800" baseline="-40000" dirty="0">
                  <a:solidFill>
                    <a:srgbClr val="64748B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oc</a:t>
              </a:r>
              <a:endParaRPr lang="en-US" sz="800" baseline="-40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18" name="Text 15"/>
            <p:cNvSpPr/>
            <p:nvPr/>
          </p:nvSpPr>
          <p:spPr>
            <a:xfrm>
              <a:off x="6336" y="2481"/>
              <a:ext cx="792" cy="16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r">
                <a:buNone/>
              </a:pPr>
              <a:r>
                <a:rPr lang="en-US" sz="800" b="1" dirty="0">
                  <a:solidFill>
                    <a:srgbClr val="B42318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1.15 V</a:t>
              </a:r>
              <a:endParaRPr lang="en-US" sz="800" b="1" dirty="0">
                <a:solidFill>
                  <a:srgbClr val="B4231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19" name="Shape 16"/>
            <p:cNvSpPr/>
            <p:nvPr/>
          </p:nvSpPr>
          <p:spPr>
            <a:xfrm>
              <a:off x="7387" y="2419"/>
              <a:ext cx="1296" cy="446"/>
            </a:xfrm>
            <a:prstGeom prst="roundRect">
              <a:avLst>
                <a:gd name="adj" fmla="val 12903"/>
              </a:avLst>
            </a:prstGeom>
            <a:solidFill>
              <a:srgbClr val="F8FAFC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Text 17"/>
            <p:cNvSpPr/>
            <p:nvPr/>
          </p:nvSpPr>
          <p:spPr>
            <a:xfrm>
              <a:off x="7474" y="2485"/>
              <a:ext cx="490" cy="14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800" i="1" dirty="0">
                  <a:solidFill>
                    <a:srgbClr val="64748B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J</a:t>
              </a:r>
              <a:r>
                <a:rPr lang="en-US" sz="800" baseline="-40000" dirty="0">
                  <a:solidFill>
                    <a:srgbClr val="64748B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sc</a:t>
              </a:r>
              <a:endParaRPr lang="en-US" sz="800" baseline="-40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21" name="Text 18"/>
            <p:cNvSpPr/>
            <p:nvPr/>
          </p:nvSpPr>
          <p:spPr>
            <a:xfrm>
              <a:off x="7963" y="2481"/>
              <a:ext cx="619" cy="15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r">
                <a:buNone/>
              </a:pPr>
              <a:r>
                <a:rPr lang="en-US" sz="800" b="1" dirty="0">
                  <a:solidFill>
                    <a:srgbClr val="B42318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23.8</a:t>
              </a:r>
              <a:endParaRPr lang="en-US" sz="800" b="1" dirty="0">
                <a:solidFill>
                  <a:srgbClr val="B4231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22" name="Shape 19"/>
            <p:cNvSpPr/>
            <p:nvPr/>
          </p:nvSpPr>
          <p:spPr>
            <a:xfrm>
              <a:off x="5933" y="2981"/>
              <a:ext cx="1296" cy="446"/>
            </a:xfrm>
            <a:prstGeom prst="roundRect">
              <a:avLst>
                <a:gd name="adj" fmla="val 12903"/>
              </a:avLst>
            </a:prstGeom>
            <a:solidFill>
              <a:srgbClr val="F8FAFC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Text 20"/>
            <p:cNvSpPr/>
            <p:nvPr/>
          </p:nvSpPr>
          <p:spPr>
            <a:xfrm>
              <a:off x="6019" y="3047"/>
              <a:ext cx="490" cy="14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64748B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FF</a:t>
              </a:r>
              <a:endParaRPr lang="en-US" sz="8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24" name="Text 21"/>
            <p:cNvSpPr/>
            <p:nvPr/>
          </p:nvSpPr>
          <p:spPr>
            <a:xfrm>
              <a:off x="6509" y="3043"/>
              <a:ext cx="619" cy="15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r">
                <a:buNone/>
              </a:pPr>
              <a:r>
                <a:rPr lang="en-US" sz="800" b="1" dirty="0">
                  <a:solidFill>
                    <a:srgbClr val="B42318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78%</a:t>
              </a:r>
              <a:endParaRPr lang="en-US" sz="800" b="1" dirty="0">
                <a:solidFill>
                  <a:srgbClr val="B4231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25" name="Shape 22"/>
            <p:cNvSpPr/>
            <p:nvPr/>
          </p:nvSpPr>
          <p:spPr>
            <a:xfrm>
              <a:off x="7387" y="2981"/>
              <a:ext cx="1296" cy="446"/>
            </a:xfrm>
            <a:prstGeom prst="roundRect">
              <a:avLst>
                <a:gd name="adj" fmla="val 12903"/>
              </a:avLst>
            </a:prstGeom>
            <a:solidFill>
              <a:srgbClr val="F8FAFC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Text 23"/>
            <p:cNvSpPr/>
            <p:nvPr/>
          </p:nvSpPr>
          <p:spPr>
            <a:xfrm>
              <a:off x="7474" y="3047"/>
              <a:ext cx="490" cy="14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64748B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η</a:t>
              </a:r>
              <a:endParaRPr lang="en-US" sz="8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27" name="Text 24"/>
            <p:cNvSpPr/>
            <p:nvPr/>
          </p:nvSpPr>
          <p:spPr>
            <a:xfrm>
              <a:off x="7789" y="3042"/>
              <a:ext cx="792" cy="16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r">
                <a:buNone/>
              </a:pPr>
              <a:r>
                <a:rPr lang="en-US" sz="800" b="1" dirty="0">
                  <a:solidFill>
                    <a:srgbClr val="B42318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21.3%</a:t>
              </a:r>
              <a:endParaRPr lang="en-US" sz="800" b="1" dirty="0">
                <a:solidFill>
                  <a:srgbClr val="B4231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28" name="Shape 25"/>
            <p:cNvSpPr/>
            <p:nvPr/>
          </p:nvSpPr>
          <p:spPr>
            <a:xfrm>
              <a:off x="1728" y="3456"/>
              <a:ext cx="1411" cy="605"/>
            </a:xfrm>
            <a:prstGeom prst="roundRect">
              <a:avLst>
                <a:gd name="adj" fmla="val 8333"/>
              </a:avLst>
            </a:prstGeom>
            <a:solidFill>
              <a:srgbClr val="FFFFFF">
                <a:alpha val="94000"/>
              </a:srgbClr>
            </a:solidFill>
            <a:ln w="12700">
              <a:solidFill>
                <a:srgbClr val="B42318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Shape 26"/>
            <p:cNvSpPr/>
            <p:nvPr/>
          </p:nvSpPr>
          <p:spPr>
            <a:xfrm>
              <a:off x="1843" y="3614"/>
              <a:ext cx="274" cy="0"/>
            </a:xfrm>
            <a:prstGeom prst="line">
              <a:avLst/>
            </a:prstGeom>
            <a:noFill/>
            <a:ln w="12700">
              <a:solidFill>
                <a:srgbClr val="B42318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Text 27"/>
            <p:cNvSpPr/>
            <p:nvPr/>
          </p:nvSpPr>
          <p:spPr>
            <a:xfrm>
              <a:off x="2190" y="3471"/>
              <a:ext cx="1296" cy="21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light </a:t>
              </a:r>
              <a:r>
                <a:rPr lang="en-US" sz="800" i="1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J</a:t>
              </a:r>
              <a:r>
                <a:rPr lang="en-US" sz="800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-</a:t>
              </a:r>
              <a:r>
                <a:rPr lang="en-US" sz="800" i="1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V</a:t>
              </a:r>
              <a:endParaRPr lang="en-US" sz="800" i="1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31" name="Shape 28"/>
            <p:cNvSpPr/>
            <p:nvPr/>
          </p:nvSpPr>
          <p:spPr>
            <a:xfrm>
              <a:off x="1843" y="3823"/>
              <a:ext cx="274" cy="0"/>
            </a:xfrm>
            <a:prstGeom prst="line">
              <a:avLst/>
            </a:prstGeom>
            <a:noFill/>
            <a:ln w="12700">
              <a:solidFill>
                <a:srgbClr val="334155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Text 29"/>
            <p:cNvSpPr/>
            <p:nvPr/>
          </p:nvSpPr>
          <p:spPr>
            <a:xfrm>
              <a:off x="2175" y="3725"/>
              <a:ext cx="864" cy="13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dark </a:t>
              </a:r>
              <a:r>
                <a:rPr lang="en-US" sz="800" i="1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J</a:t>
              </a:r>
              <a:r>
                <a:rPr lang="en-US" sz="800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-</a:t>
              </a:r>
              <a:r>
                <a:rPr lang="en-US" sz="800" i="1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V</a:t>
              </a:r>
              <a:endParaRPr lang="en-US" sz="800" i="1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33" name="Shape 30"/>
            <p:cNvSpPr/>
            <p:nvPr/>
          </p:nvSpPr>
          <p:spPr>
            <a:xfrm>
              <a:off x="5933" y="3751"/>
              <a:ext cx="50" cy="50"/>
            </a:xfrm>
            <a:prstGeom prst="rect">
              <a:avLst/>
            </a:prstGeom>
            <a:solidFill>
              <a:srgbClr val="B42318"/>
            </a:solidFill>
            <a:ln w="12700">
              <a:solidFill>
                <a:srgbClr val="B4231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Text 31"/>
            <p:cNvSpPr/>
            <p:nvPr/>
          </p:nvSpPr>
          <p:spPr>
            <a:xfrm>
              <a:off x="6077" y="3686"/>
              <a:ext cx="3381" cy="48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algn="l">
                <a:buClrTx/>
                <a:buSzTx/>
                <a:buFontTx/>
                <a:buNone/>
              </a:pPr>
              <a:r>
                <a:rPr lang="en-US" sz="670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SCAPS core terminal output: light/dark curves and photovoltaic metrics.</a:t>
              </a:r>
              <a:endParaRPr lang="en-US" sz="67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35" name="Shape 32"/>
            <p:cNvSpPr/>
            <p:nvPr/>
          </p:nvSpPr>
          <p:spPr>
            <a:xfrm>
              <a:off x="5933" y="4327"/>
              <a:ext cx="50" cy="50"/>
            </a:xfrm>
            <a:prstGeom prst="rect">
              <a:avLst/>
            </a:prstGeom>
            <a:solidFill>
              <a:srgbClr val="334155"/>
            </a:solidFill>
            <a:ln w="12700">
              <a:solidFill>
                <a:srgbClr val="334155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Text 33"/>
            <p:cNvSpPr/>
            <p:nvPr/>
          </p:nvSpPr>
          <p:spPr>
            <a:xfrm>
              <a:off x="6077" y="4262"/>
              <a:ext cx="2938" cy="60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670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I = J × area; sign convention controls whether the curve appears upward or downward.</a:t>
              </a:r>
              <a:endParaRPr lang="en-US" sz="670" dirty="0"/>
            </a:p>
          </p:txBody>
        </p:sp>
        <p:sp>
          <p:nvSpPr>
            <p:cNvPr id="37" name="Shape 34"/>
            <p:cNvSpPr/>
            <p:nvPr/>
          </p:nvSpPr>
          <p:spPr>
            <a:xfrm>
              <a:off x="9850" y="1584"/>
              <a:ext cx="8640" cy="3672"/>
            </a:xfrm>
            <a:prstGeom prst="roundRect">
              <a:avLst>
                <a:gd name="adj" fmla="val 3137"/>
              </a:avLst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Shape 35"/>
            <p:cNvSpPr/>
            <p:nvPr/>
          </p:nvSpPr>
          <p:spPr>
            <a:xfrm>
              <a:off x="9850" y="1584"/>
              <a:ext cx="115" cy="3672"/>
            </a:xfrm>
            <a:prstGeom prst="rect">
              <a:avLst/>
            </a:prstGeom>
            <a:solidFill>
              <a:srgbClr val="2563EB"/>
            </a:solidFill>
            <a:ln w="12700">
              <a:solidFill>
                <a:srgbClr val="2563E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Shape 36"/>
            <p:cNvSpPr/>
            <p:nvPr/>
          </p:nvSpPr>
          <p:spPr>
            <a:xfrm>
              <a:off x="10109" y="1800"/>
              <a:ext cx="547" cy="346"/>
            </a:xfrm>
            <a:prstGeom prst="roundRect">
              <a:avLst>
                <a:gd name="adj" fmla="val 25000"/>
              </a:avLst>
            </a:prstGeom>
            <a:solidFill>
              <a:srgbClr val="DBEAFE"/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Text 37"/>
            <p:cNvSpPr/>
            <p:nvPr/>
          </p:nvSpPr>
          <p:spPr>
            <a:xfrm>
              <a:off x="10181" y="1875"/>
              <a:ext cx="403" cy="14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 fontScale="75000" lnSpcReduction="20000"/>
            </a:bodyPr>
            <a:lstStyle/>
            <a:p>
              <a:pPr marL="0" indent="0" algn="ctr">
                <a:buNone/>
              </a:pPr>
              <a:r>
                <a:rPr lang="en-US" sz="660" b="1" dirty="0">
                  <a:solidFill>
                    <a:srgbClr val="2563EB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B</a:t>
              </a:r>
              <a:endParaRPr lang="en-US" sz="660" dirty="0"/>
            </a:p>
          </p:txBody>
        </p:sp>
        <p:sp>
          <p:nvSpPr>
            <p:cNvPr id="41" name="Text 38"/>
            <p:cNvSpPr/>
            <p:nvPr/>
          </p:nvSpPr>
          <p:spPr>
            <a:xfrm>
              <a:off x="10800" y="1814"/>
              <a:ext cx="7402" cy="28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 fontScale="90000" lnSpcReduction="10000"/>
            </a:bodyPr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C-V and Mott-Schottky analysis</a:t>
              </a:r>
              <a:endParaRPr lang="en-US" sz="1000" dirty="0"/>
            </a:p>
          </p:txBody>
        </p:sp>
        <p:graphicFrame>
          <p:nvGraphicFramePr>
            <p:cNvPr id="42" name="Chart 1"/>
            <p:cNvGraphicFramePr/>
            <p:nvPr/>
          </p:nvGraphicFramePr>
          <p:xfrm>
            <a:off x="10195" y="2419"/>
            <a:ext cx="4464" cy="246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43" name="Text 39"/>
            <p:cNvSpPr/>
            <p:nvPr/>
          </p:nvSpPr>
          <p:spPr>
            <a:xfrm>
              <a:off x="11822" y="4766"/>
              <a:ext cx="1037" cy="17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 fontScale="90000"/>
            </a:bodyPr>
            <a:lstStyle/>
            <a:p>
              <a:pPr marL="0" indent="0" algn="ctr">
                <a:buNone/>
              </a:pPr>
              <a:r>
                <a:rPr lang="en-US" sz="610" dirty="0">
                  <a:solidFill>
                    <a:srgbClr val="64748B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Bias </a:t>
              </a:r>
              <a:r>
                <a:rPr lang="en-US" sz="610" i="1" dirty="0">
                  <a:solidFill>
                    <a:srgbClr val="64748B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V</a:t>
              </a:r>
              <a:r>
                <a:rPr lang="en-US" sz="610" dirty="0">
                  <a:solidFill>
                    <a:srgbClr val="64748B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 (V)</a:t>
              </a:r>
              <a:endParaRPr lang="en-US" sz="610" dirty="0"/>
            </a:p>
          </p:txBody>
        </p:sp>
        <p:sp>
          <p:nvSpPr>
            <p:cNvPr id="44" name="Text 40"/>
            <p:cNvSpPr/>
            <p:nvPr/>
          </p:nvSpPr>
          <p:spPr>
            <a:xfrm>
              <a:off x="10152" y="2257"/>
              <a:ext cx="2042" cy="17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64748B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Normalized </a:t>
              </a:r>
              <a:r>
                <a:rPr lang="en-US" sz="800" i="1" dirty="0">
                  <a:solidFill>
                    <a:srgbClr val="64748B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C</a:t>
              </a:r>
              <a:r>
                <a:rPr lang="en-US" sz="800" dirty="0">
                  <a:solidFill>
                    <a:srgbClr val="64748B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, 1/</a:t>
              </a:r>
              <a:r>
                <a:rPr lang="en-US" sz="800" i="1" dirty="0">
                  <a:solidFill>
                    <a:srgbClr val="64748B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C</a:t>
              </a:r>
              <a:r>
                <a:rPr lang="en-US" sz="800" baseline="30000" dirty="0">
                  <a:solidFill>
                    <a:srgbClr val="64748B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2</a:t>
              </a:r>
              <a:endParaRPr lang="en-US" sz="800" baseline="30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45" name="Shape 41"/>
            <p:cNvSpPr/>
            <p:nvPr/>
          </p:nvSpPr>
          <p:spPr>
            <a:xfrm>
              <a:off x="15062" y="2419"/>
              <a:ext cx="1296" cy="446"/>
            </a:xfrm>
            <a:prstGeom prst="roundRect">
              <a:avLst>
                <a:gd name="adj" fmla="val 12903"/>
              </a:avLst>
            </a:prstGeom>
            <a:solidFill>
              <a:srgbClr val="F8FAFC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Text 42"/>
            <p:cNvSpPr/>
            <p:nvPr/>
          </p:nvSpPr>
          <p:spPr>
            <a:xfrm>
              <a:off x="15149" y="2485"/>
              <a:ext cx="490" cy="14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800" i="1" dirty="0">
                  <a:solidFill>
                    <a:srgbClr val="64748B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V</a:t>
              </a:r>
              <a:r>
                <a:rPr lang="en-US" sz="800" baseline="-40000" dirty="0">
                  <a:solidFill>
                    <a:srgbClr val="64748B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bi</a:t>
              </a:r>
              <a:endParaRPr lang="en-US" sz="800" baseline="-40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47" name="Text 43"/>
            <p:cNvSpPr/>
            <p:nvPr/>
          </p:nvSpPr>
          <p:spPr>
            <a:xfrm>
              <a:off x="15466" y="2481"/>
              <a:ext cx="791" cy="16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r">
                <a:buNone/>
              </a:pPr>
              <a:r>
                <a:rPr lang="en-US" sz="800" b="1" dirty="0">
                  <a:solidFill>
                    <a:srgbClr val="2563EB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0.96 V</a:t>
              </a:r>
              <a:endParaRPr lang="en-US" sz="800" b="1" dirty="0">
                <a:solidFill>
                  <a:srgbClr val="2563E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48" name="Shape 44"/>
            <p:cNvSpPr/>
            <p:nvPr/>
          </p:nvSpPr>
          <p:spPr>
            <a:xfrm>
              <a:off x="16517" y="2419"/>
              <a:ext cx="1296" cy="446"/>
            </a:xfrm>
            <a:prstGeom prst="roundRect">
              <a:avLst>
                <a:gd name="adj" fmla="val 12903"/>
              </a:avLst>
            </a:prstGeom>
            <a:solidFill>
              <a:srgbClr val="F8FAFC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Text 45"/>
            <p:cNvSpPr/>
            <p:nvPr/>
          </p:nvSpPr>
          <p:spPr>
            <a:xfrm>
              <a:off x="16603" y="2485"/>
              <a:ext cx="490" cy="14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800" i="1" dirty="0">
                  <a:solidFill>
                    <a:srgbClr val="64748B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N</a:t>
              </a:r>
              <a:r>
                <a:rPr lang="en-US" sz="800" baseline="-40000" dirty="0">
                  <a:solidFill>
                    <a:srgbClr val="64748B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eff</a:t>
              </a:r>
              <a:endParaRPr lang="en-US" sz="800" baseline="-40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50" name="Text 46"/>
            <p:cNvSpPr/>
            <p:nvPr/>
          </p:nvSpPr>
          <p:spPr>
            <a:xfrm>
              <a:off x="16949" y="2481"/>
              <a:ext cx="863" cy="16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r">
                <a:buNone/>
              </a:pPr>
              <a:r>
                <a:rPr lang="zh-CN" altLang="en-US" sz="800" b="1" dirty="0">
                  <a:solidFill>
                    <a:srgbClr val="2563EB"/>
                  </a:solidFill>
                  <a:latin typeface="Arial" panose="020B0604020202090204" pitchFamily="34" charset="0"/>
                  <a:ea typeface="宋体" charset="0"/>
                  <a:cs typeface="Arial" panose="020B0604020202090204" pitchFamily="34" charset="-120"/>
                </a:rPr>
                <a:t>～</a:t>
              </a:r>
              <a:r>
                <a:rPr lang="en-US" sz="800" b="1" dirty="0">
                  <a:solidFill>
                    <a:srgbClr val="2563EB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10</a:t>
              </a:r>
              <a:r>
                <a:rPr lang="en-US" sz="800" b="1" baseline="30000" dirty="0">
                  <a:solidFill>
                    <a:srgbClr val="2563EB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16</a:t>
              </a:r>
              <a:endParaRPr lang="en-US" sz="800" b="1" baseline="30000" dirty="0">
                <a:solidFill>
                  <a:srgbClr val="2563E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51" name="Shape 47"/>
            <p:cNvSpPr/>
            <p:nvPr/>
          </p:nvSpPr>
          <p:spPr>
            <a:xfrm>
              <a:off x="13003" y="3960"/>
              <a:ext cx="1037" cy="605"/>
            </a:xfrm>
            <a:prstGeom prst="roundRect">
              <a:avLst>
                <a:gd name="adj" fmla="val 8333"/>
              </a:avLst>
            </a:prstGeom>
            <a:solidFill>
              <a:srgbClr val="FFFFFF">
                <a:alpha val="94000"/>
              </a:srgbClr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Shape 48"/>
            <p:cNvSpPr/>
            <p:nvPr/>
          </p:nvSpPr>
          <p:spPr>
            <a:xfrm>
              <a:off x="13118" y="4118"/>
              <a:ext cx="274" cy="0"/>
            </a:xfrm>
            <a:prstGeom prst="line">
              <a:avLst/>
            </a:prstGeom>
            <a:noFill/>
            <a:ln w="12700">
              <a:solidFill>
                <a:srgbClr val="2563EB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Text 49"/>
            <p:cNvSpPr/>
            <p:nvPr/>
          </p:nvSpPr>
          <p:spPr>
            <a:xfrm>
              <a:off x="13464" y="3992"/>
              <a:ext cx="490" cy="13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800" i="1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C</a:t>
              </a:r>
              <a:r>
                <a:rPr lang="en-US" sz="800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(</a:t>
              </a:r>
              <a:r>
                <a:rPr lang="en-US" sz="800" i="1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V</a:t>
              </a:r>
              <a:r>
                <a:rPr lang="en-US" sz="800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)</a:t>
              </a:r>
              <a:endParaRPr lang="en-US" sz="8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54" name="Shape 50"/>
            <p:cNvSpPr/>
            <p:nvPr/>
          </p:nvSpPr>
          <p:spPr>
            <a:xfrm>
              <a:off x="13118" y="4327"/>
              <a:ext cx="274" cy="0"/>
            </a:xfrm>
            <a:prstGeom prst="line">
              <a:avLst/>
            </a:prstGeom>
            <a:noFill/>
            <a:ln w="12700">
              <a:solidFill>
                <a:srgbClr val="16803C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Text 51"/>
            <p:cNvSpPr/>
            <p:nvPr/>
          </p:nvSpPr>
          <p:spPr>
            <a:xfrm>
              <a:off x="13464" y="4215"/>
              <a:ext cx="490" cy="13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1/</a:t>
              </a:r>
              <a:r>
                <a:rPr lang="en-US" sz="800" i="1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C</a:t>
              </a:r>
              <a:r>
                <a:rPr lang="en-US" sz="800" baseline="30000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2</a:t>
              </a:r>
              <a:endParaRPr lang="en-US" sz="800" baseline="300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56" name="Shape 52"/>
            <p:cNvSpPr/>
            <p:nvPr/>
          </p:nvSpPr>
          <p:spPr>
            <a:xfrm>
              <a:off x="15062" y="3290"/>
              <a:ext cx="50" cy="50"/>
            </a:xfrm>
            <a:prstGeom prst="rect">
              <a:avLst/>
            </a:prstGeom>
            <a:solidFill>
              <a:srgbClr val="2563EB"/>
            </a:solidFill>
            <a:ln w="12700">
              <a:solidFill>
                <a:srgbClr val="2563E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Text 53"/>
            <p:cNvSpPr/>
            <p:nvPr/>
          </p:nvSpPr>
          <p:spPr>
            <a:xfrm>
              <a:off x="15206" y="3226"/>
              <a:ext cx="2938" cy="53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 fontScale="90000"/>
            </a:bodyPr>
            <a:lstStyle/>
            <a:p>
              <a:pPr marL="0" algn="l">
                <a:buClrTx/>
                <a:buSzTx/>
                <a:buFontTx/>
                <a:buNone/>
              </a:pPr>
              <a:r>
                <a:rPr lang="en-US" sz="670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Extract depletion capacitance, built-in voltage, and apparent doping.</a:t>
              </a:r>
              <a:endParaRPr lang="en-US" sz="67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58" name="Shape 54"/>
            <p:cNvSpPr/>
            <p:nvPr/>
          </p:nvSpPr>
          <p:spPr>
            <a:xfrm>
              <a:off x="15062" y="3910"/>
              <a:ext cx="50" cy="50"/>
            </a:xfrm>
            <a:prstGeom prst="rect">
              <a:avLst/>
            </a:prstGeom>
            <a:solidFill>
              <a:srgbClr val="16803C"/>
            </a:solidFill>
            <a:ln w="12700">
              <a:solidFill>
                <a:srgbClr val="16803C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Text 55"/>
            <p:cNvSpPr/>
            <p:nvPr/>
          </p:nvSpPr>
          <p:spPr>
            <a:xfrm>
              <a:off x="15206" y="3845"/>
              <a:ext cx="2938" cy="60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670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Linear 1/</a:t>
              </a:r>
              <a:r>
                <a:rPr lang="en-US" sz="670" i="1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C</a:t>
              </a:r>
              <a:r>
                <a:rPr lang="en-US" sz="670" baseline="30000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2</a:t>
              </a:r>
              <a:r>
                <a:rPr lang="en-US" sz="670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 versus </a:t>
              </a:r>
              <a:r>
                <a:rPr lang="en-US" sz="670" i="1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V</a:t>
              </a:r>
              <a:r>
                <a:rPr lang="en-US" sz="670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 is used only in the depletion regime.</a:t>
              </a:r>
              <a:endParaRPr lang="en-US" sz="670" dirty="0"/>
            </a:p>
          </p:txBody>
        </p:sp>
        <p:sp>
          <p:nvSpPr>
            <p:cNvPr id="60" name="Shape 56"/>
            <p:cNvSpPr/>
            <p:nvPr/>
          </p:nvSpPr>
          <p:spPr>
            <a:xfrm>
              <a:off x="15062" y="4601"/>
              <a:ext cx="50" cy="50"/>
            </a:xfrm>
            <a:prstGeom prst="rect">
              <a:avLst/>
            </a:prstGeom>
            <a:solidFill>
              <a:srgbClr val="334155"/>
            </a:solidFill>
            <a:ln w="12700">
              <a:solidFill>
                <a:srgbClr val="334155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Text 57"/>
            <p:cNvSpPr/>
            <p:nvPr/>
          </p:nvSpPr>
          <p:spPr>
            <a:xfrm>
              <a:off x="15206" y="4536"/>
              <a:ext cx="2938" cy="41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635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Fully depleted thin absorbers need careful interpretation.</a:t>
              </a:r>
              <a:endParaRPr lang="en-US" sz="635" dirty="0"/>
            </a:p>
          </p:txBody>
        </p:sp>
        <p:sp>
          <p:nvSpPr>
            <p:cNvPr id="62" name="Shape 58"/>
            <p:cNvSpPr/>
            <p:nvPr/>
          </p:nvSpPr>
          <p:spPr>
            <a:xfrm>
              <a:off x="720" y="5702"/>
              <a:ext cx="8640" cy="3672"/>
            </a:xfrm>
            <a:prstGeom prst="roundRect">
              <a:avLst>
                <a:gd name="adj" fmla="val 3137"/>
              </a:avLst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Shape 59"/>
            <p:cNvSpPr/>
            <p:nvPr/>
          </p:nvSpPr>
          <p:spPr>
            <a:xfrm>
              <a:off x="720" y="5702"/>
              <a:ext cx="115" cy="3672"/>
            </a:xfrm>
            <a:prstGeom prst="rect">
              <a:avLst/>
            </a:prstGeom>
            <a:solidFill>
              <a:srgbClr val="16803C"/>
            </a:solidFill>
            <a:ln w="12700">
              <a:solidFill>
                <a:srgbClr val="16803C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Shape 60"/>
            <p:cNvSpPr/>
            <p:nvPr/>
          </p:nvSpPr>
          <p:spPr>
            <a:xfrm>
              <a:off x="979" y="5918"/>
              <a:ext cx="547" cy="346"/>
            </a:xfrm>
            <a:prstGeom prst="roundRect">
              <a:avLst>
                <a:gd name="adj" fmla="val 25000"/>
              </a:avLst>
            </a:prstGeom>
            <a:solidFill>
              <a:srgbClr val="DCFCE7"/>
            </a:solidFill>
            <a:ln w="12700">
              <a:solidFill>
                <a:srgbClr val="16803C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Text 61"/>
            <p:cNvSpPr/>
            <p:nvPr/>
          </p:nvSpPr>
          <p:spPr>
            <a:xfrm>
              <a:off x="1051" y="5993"/>
              <a:ext cx="403" cy="14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 fontScale="75000" lnSpcReduction="20000"/>
            </a:bodyPr>
            <a:lstStyle/>
            <a:p>
              <a:pPr marL="0" indent="0" algn="ctr">
                <a:buNone/>
              </a:pPr>
              <a:r>
                <a:rPr lang="en-US" sz="660" b="1" dirty="0">
                  <a:solidFill>
                    <a:srgbClr val="16803C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C</a:t>
              </a:r>
              <a:endParaRPr lang="en-US" sz="660" dirty="0"/>
            </a:p>
          </p:txBody>
        </p:sp>
        <p:sp>
          <p:nvSpPr>
            <p:cNvPr id="66" name="Text 62"/>
            <p:cNvSpPr/>
            <p:nvPr/>
          </p:nvSpPr>
          <p:spPr>
            <a:xfrm>
              <a:off x="1670" y="5933"/>
              <a:ext cx="7402" cy="28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 fontScale="90000" lnSpcReduction="10000"/>
            </a:bodyPr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C-f / admittance spectroscopy</a:t>
              </a:r>
              <a:endParaRPr lang="en-US" sz="1000" dirty="0"/>
            </a:p>
          </p:txBody>
        </p:sp>
        <p:graphicFrame>
          <p:nvGraphicFramePr>
            <p:cNvPr id="67" name="Chart 2"/>
            <p:cNvGraphicFramePr/>
            <p:nvPr/>
          </p:nvGraphicFramePr>
          <p:xfrm>
            <a:off x="1066" y="6538"/>
            <a:ext cx="4464" cy="246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68" name="Text 63"/>
            <p:cNvSpPr/>
            <p:nvPr/>
          </p:nvSpPr>
          <p:spPr>
            <a:xfrm>
              <a:off x="2534" y="8885"/>
              <a:ext cx="1296" cy="17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 fontScale="90000"/>
            </a:bodyPr>
            <a:lstStyle/>
            <a:p>
              <a:pPr marL="0" indent="0" algn="ctr">
                <a:buNone/>
              </a:pPr>
              <a:r>
                <a:rPr lang="en-US" sz="610" dirty="0">
                  <a:solidFill>
                    <a:srgbClr val="64748B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Frequency </a:t>
              </a:r>
              <a:r>
                <a:rPr lang="en-US" sz="610" i="1" dirty="0">
                  <a:solidFill>
                    <a:srgbClr val="64748B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f</a:t>
              </a:r>
              <a:r>
                <a:rPr lang="en-US" sz="610" dirty="0">
                  <a:solidFill>
                    <a:srgbClr val="64748B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 (Hz)</a:t>
              </a:r>
              <a:endParaRPr lang="en-US" sz="610" dirty="0"/>
            </a:p>
          </p:txBody>
        </p:sp>
        <p:sp>
          <p:nvSpPr>
            <p:cNvPr id="69" name="Text 64"/>
            <p:cNvSpPr/>
            <p:nvPr/>
          </p:nvSpPr>
          <p:spPr>
            <a:xfrm>
              <a:off x="1022" y="6397"/>
              <a:ext cx="1917" cy="17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64748B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Normalized </a:t>
              </a:r>
              <a:r>
                <a:rPr lang="en-US" sz="800" i="1" dirty="0">
                  <a:solidFill>
                    <a:srgbClr val="64748B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C</a:t>
              </a:r>
              <a:r>
                <a:rPr lang="en-US" sz="800" dirty="0">
                  <a:solidFill>
                    <a:srgbClr val="64748B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 / </a:t>
              </a:r>
              <a:r>
                <a:rPr lang="en-US" sz="800" i="1" dirty="0">
                  <a:solidFill>
                    <a:srgbClr val="64748B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G</a:t>
              </a:r>
              <a:endParaRPr lang="en-US" sz="800" i="1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70" name="Text 65"/>
            <p:cNvSpPr/>
            <p:nvPr/>
          </p:nvSpPr>
          <p:spPr>
            <a:xfrm>
              <a:off x="5442" y="6538"/>
              <a:ext cx="3810" cy="25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16803C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From admittance: </a:t>
              </a:r>
              <a:r>
                <a:rPr lang="en-US" sz="800" b="1" i="1" dirty="0">
                  <a:solidFill>
                    <a:srgbClr val="16803C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Y</a:t>
              </a:r>
              <a:r>
                <a:rPr lang="en-US" sz="800" b="1" dirty="0">
                  <a:solidFill>
                    <a:srgbClr val="16803C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 = 1/</a:t>
              </a:r>
              <a:r>
                <a:rPr lang="en-US" sz="800" b="1" i="1" dirty="0">
                  <a:solidFill>
                    <a:srgbClr val="16803C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Z</a:t>
              </a:r>
              <a:r>
                <a:rPr lang="en-US" sz="800" b="1" dirty="0">
                  <a:solidFill>
                    <a:srgbClr val="16803C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 = </a:t>
              </a:r>
              <a:r>
                <a:rPr lang="en-US" sz="800" b="1" i="1" dirty="0">
                  <a:solidFill>
                    <a:srgbClr val="16803C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G</a:t>
              </a:r>
              <a:r>
                <a:rPr lang="en-US" sz="800" b="1" dirty="0">
                  <a:solidFill>
                    <a:srgbClr val="16803C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 + jω</a:t>
              </a:r>
              <a:r>
                <a:rPr lang="en-US" sz="800" b="1" i="1" dirty="0">
                  <a:solidFill>
                    <a:srgbClr val="16803C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C</a:t>
              </a:r>
              <a:endParaRPr lang="en-US" sz="800" b="1" i="1" dirty="0">
                <a:solidFill>
                  <a:srgbClr val="16803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71" name="Shape 66"/>
            <p:cNvSpPr/>
            <p:nvPr/>
          </p:nvSpPr>
          <p:spPr>
            <a:xfrm>
              <a:off x="3701" y="6826"/>
              <a:ext cx="1008" cy="605"/>
            </a:xfrm>
            <a:prstGeom prst="roundRect">
              <a:avLst>
                <a:gd name="adj" fmla="val 8333"/>
              </a:avLst>
            </a:prstGeom>
            <a:solidFill>
              <a:srgbClr val="FFFFFF">
                <a:alpha val="94000"/>
              </a:srgbClr>
            </a:solidFill>
            <a:ln w="12700">
              <a:solidFill>
                <a:srgbClr val="16803C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Shape 67"/>
            <p:cNvSpPr/>
            <p:nvPr/>
          </p:nvSpPr>
          <p:spPr>
            <a:xfrm>
              <a:off x="3816" y="6984"/>
              <a:ext cx="274" cy="0"/>
            </a:xfrm>
            <a:prstGeom prst="line">
              <a:avLst/>
            </a:prstGeom>
            <a:noFill/>
            <a:ln w="12700">
              <a:solidFill>
                <a:srgbClr val="16803C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Text 68"/>
            <p:cNvSpPr/>
            <p:nvPr/>
          </p:nvSpPr>
          <p:spPr>
            <a:xfrm>
              <a:off x="4162" y="6857"/>
              <a:ext cx="461" cy="13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800" i="1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C</a:t>
              </a:r>
              <a:r>
                <a:rPr lang="en-US" sz="800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(</a:t>
              </a:r>
              <a:r>
                <a:rPr lang="en-US" sz="800" i="1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f</a:t>
              </a:r>
              <a:r>
                <a:rPr lang="en-US" sz="800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)</a:t>
              </a:r>
              <a:endParaRPr lang="en-US" sz="8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74" name="Shape 69"/>
            <p:cNvSpPr/>
            <p:nvPr/>
          </p:nvSpPr>
          <p:spPr>
            <a:xfrm>
              <a:off x="3816" y="7193"/>
              <a:ext cx="274" cy="0"/>
            </a:xfrm>
            <a:prstGeom prst="line">
              <a:avLst/>
            </a:prstGeom>
            <a:noFill/>
            <a:ln w="12700">
              <a:solidFill>
                <a:srgbClr val="A16207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Text 70"/>
            <p:cNvSpPr/>
            <p:nvPr/>
          </p:nvSpPr>
          <p:spPr>
            <a:xfrm>
              <a:off x="4162" y="7080"/>
              <a:ext cx="461" cy="13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800" i="1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G</a:t>
              </a:r>
              <a:r>
                <a:rPr lang="en-US" sz="800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(</a:t>
              </a:r>
              <a:r>
                <a:rPr lang="en-US" sz="800" i="1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f</a:t>
              </a:r>
              <a:r>
                <a:rPr lang="en-US" sz="800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)</a:t>
              </a:r>
              <a:endParaRPr lang="en-US" sz="8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76" name="Shape 71"/>
            <p:cNvSpPr/>
            <p:nvPr/>
          </p:nvSpPr>
          <p:spPr>
            <a:xfrm>
              <a:off x="5933" y="7222"/>
              <a:ext cx="50" cy="50"/>
            </a:xfrm>
            <a:prstGeom prst="rect">
              <a:avLst/>
            </a:prstGeom>
            <a:solidFill>
              <a:srgbClr val="16803C"/>
            </a:solidFill>
            <a:ln w="12700">
              <a:solidFill>
                <a:srgbClr val="16803C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Text 72"/>
            <p:cNvSpPr/>
            <p:nvPr/>
          </p:nvSpPr>
          <p:spPr>
            <a:xfrm>
              <a:off x="6077" y="7157"/>
              <a:ext cx="2938" cy="61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670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Frequency dispersion indicates slow traps, ions, or interfacial charging.</a:t>
              </a:r>
              <a:endParaRPr lang="en-US" sz="670" dirty="0"/>
            </a:p>
          </p:txBody>
        </p:sp>
        <p:sp>
          <p:nvSpPr>
            <p:cNvPr id="78" name="Shape 73"/>
            <p:cNvSpPr/>
            <p:nvPr/>
          </p:nvSpPr>
          <p:spPr>
            <a:xfrm>
              <a:off x="5933" y="7927"/>
              <a:ext cx="50" cy="50"/>
            </a:xfrm>
            <a:prstGeom prst="rect">
              <a:avLst/>
            </a:prstGeom>
            <a:solidFill>
              <a:srgbClr val="A16207"/>
            </a:solidFill>
            <a:ln w="12700">
              <a:solidFill>
                <a:srgbClr val="A16207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Text 74"/>
            <p:cNvSpPr/>
            <p:nvPr/>
          </p:nvSpPr>
          <p:spPr>
            <a:xfrm>
              <a:off x="6077" y="7862"/>
              <a:ext cx="2938" cy="56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 fontScale="92500"/>
            </a:bodyPr>
            <a:lstStyle/>
            <a:p>
              <a:pPr marL="0" indent="0" algn="l">
                <a:buNone/>
              </a:pPr>
              <a:r>
                <a:rPr lang="en-US" sz="670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Temperature-dependent C-f / G-f supports activation-energy analysis.</a:t>
              </a:r>
              <a:endParaRPr lang="en-US" sz="670" dirty="0"/>
            </a:p>
          </p:txBody>
        </p:sp>
        <p:sp>
          <p:nvSpPr>
            <p:cNvPr id="80" name="Shape 75"/>
            <p:cNvSpPr/>
            <p:nvPr/>
          </p:nvSpPr>
          <p:spPr>
            <a:xfrm>
              <a:off x="5933" y="8575"/>
              <a:ext cx="50" cy="50"/>
            </a:xfrm>
            <a:prstGeom prst="rect">
              <a:avLst/>
            </a:prstGeom>
            <a:solidFill>
              <a:srgbClr val="334155"/>
            </a:solidFill>
            <a:ln w="12700">
              <a:solidFill>
                <a:srgbClr val="334155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Text 76"/>
            <p:cNvSpPr/>
            <p:nvPr/>
          </p:nvSpPr>
          <p:spPr>
            <a:xfrm>
              <a:off x="6077" y="8510"/>
              <a:ext cx="2938" cy="38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635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Here, C-f is derived from impedance/admittance.</a:t>
              </a:r>
              <a:endParaRPr lang="en-US" sz="635" dirty="0"/>
            </a:p>
          </p:txBody>
        </p:sp>
        <p:sp>
          <p:nvSpPr>
            <p:cNvPr id="82" name="Shape 77"/>
            <p:cNvSpPr/>
            <p:nvPr/>
          </p:nvSpPr>
          <p:spPr>
            <a:xfrm>
              <a:off x="9850" y="5702"/>
              <a:ext cx="8640" cy="3672"/>
            </a:xfrm>
            <a:prstGeom prst="roundRect">
              <a:avLst>
                <a:gd name="adj" fmla="val 3137"/>
              </a:avLst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Shape 78"/>
            <p:cNvSpPr/>
            <p:nvPr/>
          </p:nvSpPr>
          <p:spPr>
            <a:xfrm>
              <a:off x="9850" y="5702"/>
              <a:ext cx="115" cy="3672"/>
            </a:xfrm>
            <a:prstGeom prst="rect">
              <a:avLst/>
            </a:prstGeom>
            <a:solidFill>
              <a:srgbClr val="6D28D9"/>
            </a:solidFill>
            <a:ln w="12700">
              <a:solidFill>
                <a:srgbClr val="6D28D9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Shape 79"/>
            <p:cNvSpPr/>
            <p:nvPr/>
          </p:nvSpPr>
          <p:spPr>
            <a:xfrm>
              <a:off x="10109" y="5918"/>
              <a:ext cx="547" cy="346"/>
            </a:xfrm>
            <a:prstGeom prst="roundRect">
              <a:avLst>
                <a:gd name="adj" fmla="val 25000"/>
              </a:avLst>
            </a:prstGeom>
            <a:solidFill>
              <a:srgbClr val="EDE9FE"/>
            </a:solidFill>
            <a:ln w="12700">
              <a:solidFill>
                <a:srgbClr val="6D28D9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Text 80"/>
            <p:cNvSpPr/>
            <p:nvPr/>
          </p:nvSpPr>
          <p:spPr>
            <a:xfrm>
              <a:off x="10181" y="5993"/>
              <a:ext cx="403" cy="14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 fontScale="75000" lnSpcReduction="20000"/>
            </a:bodyPr>
            <a:lstStyle/>
            <a:p>
              <a:pPr marL="0" indent="0" algn="ctr">
                <a:buNone/>
              </a:pPr>
              <a:r>
                <a:rPr lang="en-US" sz="660" b="1" dirty="0">
                  <a:solidFill>
                    <a:srgbClr val="6D28D9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D</a:t>
              </a:r>
              <a:endParaRPr lang="en-US" sz="660" dirty="0"/>
            </a:p>
          </p:txBody>
        </p:sp>
        <p:sp>
          <p:nvSpPr>
            <p:cNvPr id="86" name="Text 81"/>
            <p:cNvSpPr/>
            <p:nvPr/>
          </p:nvSpPr>
          <p:spPr>
            <a:xfrm>
              <a:off x="10800" y="5933"/>
              <a:ext cx="7402" cy="28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 fontScale="90000" lnSpcReduction="10000"/>
            </a:bodyPr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QE / spectral response</a:t>
              </a:r>
              <a:endParaRPr lang="en-US" sz="1000" dirty="0"/>
            </a:p>
          </p:txBody>
        </p:sp>
        <p:graphicFrame>
          <p:nvGraphicFramePr>
            <p:cNvPr id="87" name="Chart 3"/>
            <p:cNvGraphicFramePr/>
            <p:nvPr/>
          </p:nvGraphicFramePr>
          <p:xfrm>
            <a:off x="10195" y="6538"/>
            <a:ext cx="4464" cy="246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88" name="Text 82"/>
            <p:cNvSpPr/>
            <p:nvPr/>
          </p:nvSpPr>
          <p:spPr>
            <a:xfrm>
              <a:off x="11635" y="8885"/>
              <a:ext cx="1512" cy="17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 fontScale="90000"/>
            </a:bodyPr>
            <a:lstStyle/>
            <a:p>
              <a:pPr marL="0" indent="0" algn="ctr">
                <a:buNone/>
              </a:pPr>
              <a:r>
                <a:rPr lang="en-US" sz="610" dirty="0">
                  <a:solidFill>
                    <a:srgbClr val="64748B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Wavelength λ (nm)</a:t>
              </a:r>
              <a:endParaRPr lang="en-US" sz="610" dirty="0"/>
            </a:p>
          </p:txBody>
        </p:sp>
        <p:sp>
          <p:nvSpPr>
            <p:cNvPr id="89" name="Text 83"/>
            <p:cNvSpPr/>
            <p:nvPr/>
          </p:nvSpPr>
          <p:spPr>
            <a:xfrm>
              <a:off x="10166" y="6363"/>
              <a:ext cx="1037" cy="17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64748B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QE (%)</a:t>
              </a:r>
              <a:endParaRPr lang="en-US" sz="8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90" name="Shape 84"/>
            <p:cNvSpPr/>
            <p:nvPr/>
          </p:nvSpPr>
          <p:spPr>
            <a:xfrm>
              <a:off x="13133" y="6854"/>
              <a:ext cx="1037" cy="396"/>
            </a:xfrm>
            <a:prstGeom prst="roundRect">
              <a:avLst>
                <a:gd name="adj" fmla="val 12727"/>
              </a:avLst>
            </a:prstGeom>
            <a:solidFill>
              <a:srgbClr val="FFFFFF">
                <a:alpha val="94000"/>
              </a:srgbClr>
            </a:solidFill>
            <a:ln w="12700">
              <a:solidFill>
                <a:srgbClr val="6D28D9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Shape 85"/>
            <p:cNvSpPr/>
            <p:nvPr/>
          </p:nvSpPr>
          <p:spPr>
            <a:xfrm>
              <a:off x="13248" y="7013"/>
              <a:ext cx="274" cy="0"/>
            </a:xfrm>
            <a:prstGeom prst="line">
              <a:avLst/>
            </a:prstGeom>
            <a:noFill/>
            <a:ln w="12700">
              <a:solidFill>
                <a:srgbClr val="6D28D9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Text 86"/>
            <p:cNvSpPr/>
            <p:nvPr/>
          </p:nvSpPr>
          <p:spPr>
            <a:xfrm>
              <a:off x="13595" y="6872"/>
              <a:ext cx="792" cy="16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QE(λ)</a:t>
              </a:r>
              <a:endParaRPr lang="en-US" sz="8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93" name="Shape 87"/>
            <p:cNvSpPr/>
            <p:nvPr/>
          </p:nvSpPr>
          <p:spPr>
            <a:xfrm>
              <a:off x="15062" y="6538"/>
              <a:ext cx="1296" cy="446"/>
            </a:xfrm>
            <a:prstGeom prst="roundRect">
              <a:avLst>
                <a:gd name="adj" fmla="val 12903"/>
              </a:avLst>
            </a:prstGeom>
            <a:solidFill>
              <a:srgbClr val="F8FAFC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Text 88"/>
            <p:cNvSpPr/>
            <p:nvPr/>
          </p:nvSpPr>
          <p:spPr>
            <a:xfrm>
              <a:off x="15149" y="6604"/>
              <a:ext cx="546" cy="16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800" i="1" dirty="0">
                  <a:solidFill>
                    <a:srgbClr val="64748B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J</a:t>
              </a:r>
              <a:r>
                <a:rPr lang="en-US" sz="800" baseline="-40000" dirty="0">
                  <a:solidFill>
                    <a:srgbClr val="64748B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sc,QE</a:t>
              </a:r>
              <a:endParaRPr lang="en-US" sz="800" baseline="-40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95" name="Text 89"/>
            <p:cNvSpPr/>
            <p:nvPr/>
          </p:nvSpPr>
          <p:spPr>
            <a:xfrm>
              <a:off x="15638" y="6600"/>
              <a:ext cx="619" cy="15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r">
                <a:buNone/>
              </a:pPr>
              <a:r>
                <a:rPr lang="en-US" sz="800" b="1" dirty="0">
                  <a:solidFill>
                    <a:srgbClr val="6D28D9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23.5</a:t>
              </a:r>
              <a:endParaRPr lang="en-US" sz="800" b="1" dirty="0">
                <a:solidFill>
                  <a:srgbClr val="6D28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96" name="Shape 90"/>
            <p:cNvSpPr/>
            <p:nvPr/>
          </p:nvSpPr>
          <p:spPr>
            <a:xfrm>
              <a:off x="16517" y="6538"/>
              <a:ext cx="1296" cy="446"/>
            </a:xfrm>
            <a:prstGeom prst="roundRect">
              <a:avLst>
                <a:gd name="adj" fmla="val 12903"/>
              </a:avLst>
            </a:prstGeom>
            <a:solidFill>
              <a:srgbClr val="F8FAFC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Text 91"/>
            <p:cNvSpPr/>
            <p:nvPr/>
          </p:nvSpPr>
          <p:spPr>
            <a:xfrm>
              <a:off x="16603" y="6604"/>
              <a:ext cx="346" cy="14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800" i="1" dirty="0">
                  <a:solidFill>
                    <a:srgbClr val="64748B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E</a:t>
              </a:r>
              <a:r>
                <a:rPr lang="en-US" sz="800" baseline="-40000" dirty="0">
                  <a:solidFill>
                    <a:srgbClr val="64748B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g</a:t>
              </a:r>
              <a:endParaRPr lang="en-US" sz="800" baseline="-40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98" name="Text 92"/>
            <p:cNvSpPr/>
            <p:nvPr/>
          </p:nvSpPr>
          <p:spPr>
            <a:xfrm>
              <a:off x="17050" y="6600"/>
              <a:ext cx="662" cy="15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r">
                <a:buNone/>
              </a:pPr>
              <a:r>
                <a:rPr lang="en-US" sz="800" b="1" dirty="0">
                  <a:solidFill>
                    <a:srgbClr val="6D28D9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edge</a:t>
              </a:r>
              <a:endParaRPr lang="en-US" sz="800" b="1" dirty="0">
                <a:solidFill>
                  <a:srgbClr val="6D28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99" name="Shape 93"/>
            <p:cNvSpPr/>
            <p:nvPr/>
          </p:nvSpPr>
          <p:spPr>
            <a:xfrm>
              <a:off x="15062" y="7322"/>
              <a:ext cx="50" cy="50"/>
            </a:xfrm>
            <a:prstGeom prst="rect">
              <a:avLst/>
            </a:prstGeom>
            <a:solidFill>
              <a:srgbClr val="6D28D9"/>
            </a:solidFill>
            <a:ln w="12700">
              <a:solidFill>
                <a:srgbClr val="6D28D9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Text 94"/>
            <p:cNvSpPr/>
            <p:nvPr/>
          </p:nvSpPr>
          <p:spPr>
            <a:xfrm>
              <a:off x="15206" y="7258"/>
              <a:ext cx="2938" cy="54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 fontScale="90000" lnSpcReduction="10000"/>
            </a:bodyPr>
            <a:lstStyle/>
            <a:p>
              <a:pPr marL="0" indent="0" algn="l">
                <a:buNone/>
              </a:pPr>
              <a:r>
                <a:rPr lang="en-US" sz="670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QE is plotted versus wavelength λ or photon energy hν, not electrical frequency.</a:t>
              </a:r>
              <a:endParaRPr lang="en-US" sz="670" dirty="0"/>
            </a:p>
          </p:txBody>
        </p:sp>
        <p:sp>
          <p:nvSpPr>
            <p:cNvPr id="101" name="Shape 95"/>
            <p:cNvSpPr/>
            <p:nvPr/>
          </p:nvSpPr>
          <p:spPr>
            <a:xfrm>
              <a:off x="15062" y="7956"/>
              <a:ext cx="50" cy="50"/>
            </a:xfrm>
            <a:prstGeom prst="rect">
              <a:avLst/>
            </a:prstGeom>
            <a:solidFill>
              <a:srgbClr val="6D28D9"/>
            </a:solidFill>
            <a:ln w="12700">
              <a:solidFill>
                <a:srgbClr val="6D28D9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Text 96"/>
            <p:cNvSpPr/>
            <p:nvPr/>
          </p:nvSpPr>
          <p:spPr>
            <a:xfrm>
              <a:off x="15206" y="7891"/>
              <a:ext cx="2938" cy="51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 fontScale="90000" lnSpcReduction="20000"/>
            </a:bodyPr>
            <a:lstStyle/>
            <a:p>
              <a:pPr marL="0" indent="0" algn="l">
                <a:buNone/>
              </a:pPr>
              <a:r>
                <a:rPr lang="en-US" sz="670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Integrated QE gives a consistency check on </a:t>
              </a:r>
              <a:r>
                <a:rPr lang="en-US" sz="670" i="1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J</a:t>
              </a:r>
              <a:r>
                <a:rPr lang="en-US" sz="670" baseline="-40000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sc</a:t>
              </a:r>
              <a:r>
                <a:rPr lang="en-US" sz="670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 under AM1.5G illumination.</a:t>
              </a:r>
              <a:endParaRPr lang="en-US" sz="670" dirty="0"/>
            </a:p>
          </p:txBody>
        </p:sp>
        <p:sp>
          <p:nvSpPr>
            <p:cNvPr id="103" name="Shape 97"/>
            <p:cNvSpPr/>
            <p:nvPr/>
          </p:nvSpPr>
          <p:spPr>
            <a:xfrm>
              <a:off x="15062" y="8532"/>
              <a:ext cx="50" cy="50"/>
            </a:xfrm>
            <a:prstGeom prst="rect">
              <a:avLst/>
            </a:prstGeom>
            <a:solidFill>
              <a:srgbClr val="334155"/>
            </a:solidFill>
            <a:ln w="12700">
              <a:solidFill>
                <a:srgbClr val="334155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Text 98"/>
            <p:cNvSpPr/>
            <p:nvPr/>
          </p:nvSpPr>
          <p:spPr>
            <a:xfrm>
              <a:off x="15206" y="8467"/>
              <a:ext cx="2938" cy="44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670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Short- and long-wavelength roll-off locate optical and collection losses.</a:t>
              </a:r>
              <a:endParaRPr lang="en-US" sz="670" dirty="0"/>
            </a:p>
          </p:txBody>
        </p:sp>
      </p:grpSp>
      <p:sp>
        <p:nvSpPr>
          <p:cNvPr id="6" name="Text 1"/>
          <p:cNvSpPr/>
          <p:nvPr/>
        </p:nvSpPr>
        <p:spPr>
          <a:xfrm>
            <a:off x="576580" y="909320"/>
            <a:ext cx="6496685" cy="15811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Four primary characterization outputs used to evaluate solar-cell performance, junction electrostatics, defect response, and spectral collection.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4008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 panose="020B0604020202090204"/>
              </a:rPr>
              <a:t>05 · </a:t>
            </a:r>
            <a:r>
              <a:rPr sz="1100">
                <a:solidFill>
                  <a:srgbClr val="475569"/>
                </a:solidFill>
                <a:latin typeface="Arial" panose="020B0604020202090204"/>
                <a:sym typeface="+mn-ea"/>
              </a:rPr>
              <a:t>DEVICE SIM</a:t>
            </a:r>
            <a:endParaRPr sz="110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1C2533"/>
                </a:solidFill>
                <a:latin typeface="Arial" panose="020B0604020202090204"/>
              </a:rPr>
              <a:t>Initial Condition</a:t>
            </a:r>
            <a:endParaRPr lang="en-US" sz="2200" b="1" dirty="0">
              <a:solidFill>
                <a:srgbClr val="1C2533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 panose="020B0604020202090204"/>
              </a:rPr>
              <a:t>SOLARLAB</a:t>
            </a:r>
            <a:endParaRPr sz="1000" b="0">
              <a:solidFill>
                <a:srgbClr val="C0392B"/>
              </a:solidFill>
              <a:latin typeface="Arial" panose="020B0604020202090204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69975"/>
            <a:ext cx="7772400" cy="355656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4008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 panose="020B0604020202090204"/>
              </a:rPr>
              <a:t>05 · </a:t>
            </a:r>
            <a:r>
              <a:rPr sz="1100">
                <a:solidFill>
                  <a:srgbClr val="475569"/>
                </a:solidFill>
                <a:latin typeface="Arial" panose="020B0604020202090204"/>
                <a:sym typeface="+mn-ea"/>
              </a:rPr>
              <a:t>DEVICE SIM</a:t>
            </a:r>
            <a:endParaRPr sz="110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1C2533"/>
                </a:solidFill>
                <a:latin typeface="Arial" panose="020B0604020202090204"/>
              </a:rPr>
              <a:t>1D Initial Condition: Dark Equilibrium and Light-Soaked State</a:t>
            </a:r>
            <a:endParaRPr lang="en-US" sz="1600" b="1" dirty="0">
              <a:solidFill>
                <a:srgbClr val="1C2533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 panose="020B0604020202090204"/>
              </a:rPr>
              <a:t>SOLARLAB</a:t>
            </a:r>
            <a:endParaRPr sz="1000" b="0">
              <a:solidFill>
                <a:srgbClr val="C0392B"/>
              </a:solidFill>
              <a:latin typeface="Arial" panose="020B0604020202090204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200" y="942349"/>
            <a:ext cx="7772400" cy="168771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837542" y="4663440"/>
            <a:ext cx="34689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Arial" panose="020B0604020202090204" pitchFamily="34" charset="0"/>
                <a:cs typeface="Arial" panose="020B0604020202090204" pitchFamily="34" charset="0"/>
              </a:rPr>
              <a:t>1D starts from quasi-neutral dark equilibrium; </a:t>
            </a:r>
            <a:endParaRPr lang="en-US" altLang="zh-CN" sz="12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r>
              <a:rPr lang="zh-CN" altLang="en-US" sz="1200" dirty="0">
                <a:latin typeface="Arial" panose="020B0604020202090204" pitchFamily="34" charset="0"/>
                <a:cs typeface="Arial" panose="020B0604020202090204" pitchFamily="34" charset="0"/>
              </a:rPr>
              <a:t>illuminated runs first settle carriers under light.</a:t>
            </a:r>
            <a:endParaRPr lang="zh-CN" altLang="en-US" sz="1200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77550"/>
            <a:ext cx="7772400" cy="355656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4008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 panose="020B0604020202090204"/>
              </a:rPr>
              <a:t>05 · </a:t>
            </a:r>
            <a:r>
              <a:rPr sz="1100">
                <a:solidFill>
                  <a:srgbClr val="475569"/>
                </a:solidFill>
                <a:latin typeface="Arial" panose="020B0604020202090204"/>
                <a:sym typeface="+mn-ea"/>
              </a:rPr>
              <a:t>DEVICE SIM</a:t>
            </a:r>
            <a:endParaRPr sz="110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 panose="020B0604020202090204"/>
              </a:rPr>
              <a:t>SOLARLAB</a:t>
            </a:r>
            <a:endParaRPr sz="1000" b="0">
              <a:solidFill>
                <a:srgbClr val="C0392B"/>
              </a:solidFill>
              <a:latin typeface="Arial" panose="020B0604020202090204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8317" y="559001"/>
            <a:ext cx="4266483" cy="437875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5438" y="760396"/>
            <a:ext cx="3905124" cy="362270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4008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 panose="020B0604020202090204"/>
              </a:rPr>
              <a:t>05 · </a:t>
            </a:r>
            <a:r>
              <a:rPr sz="1100">
                <a:solidFill>
                  <a:srgbClr val="475569"/>
                </a:solidFill>
                <a:latin typeface="Arial" panose="020B0604020202090204"/>
                <a:sym typeface="+mn-ea"/>
              </a:rPr>
              <a:t>DEVICE SIM</a:t>
            </a:r>
            <a:endParaRPr sz="110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65785"/>
            <a:ext cx="7772400" cy="43719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dirty="0">
                <a:solidFill>
                  <a:srgbClr val="C0392B"/>
                </a:solidFill>
                <a:latin typeface="Arial" panose="020B0604020202090204"/>
              </a:rPr>
              <a:t>SOLARLAB</a:t>
            </a:r>
            <a:endParaRPr sz="1000" b="0" dirty="0">
              <a:solidFill>
                <a:srgbClr val="C0392B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4008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 panose="020B0604020202090204"/>
              </a:rPr>
              <a:t>05 · </a:t>
            </a:r>
            <a:r>
              <a:rPr sz="1100">
                <a:solidFill>
                  <a:srgbClr val="475569"/>
                </a:solidFill>
                <a:latin typeface="Arial" panose="020B0604020202090204"/>
                <a:sym typeface="+mn-ea"/>
              </a:rPr>
              <a:t>DEVICE SIM</a:t>
            </a:r>
            <a:endParaRPr sz="110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1C2533"/>
                </a:solidFill>
                <a:latin typeface="Arial" panose="020B0604020202090204"/>
              </a:rPr>
              <a:t>2D Initial Condition: Extrude the 1D State into a 2D Mesh</a:t>
            </a:r>
            <a:endParaRPr lang="en-US" sz="1600" b="1" dirty="0">
              <a:solidFill>
                <a:srgbClr val="1C2533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 panose="020B0604020202090204"/>
              </a:rPr>
              <a:t>SOLARLAB</a:t>
            </a:r>
            <a:endParaRPr sz="1000" b="0">
              <a:solidFill>
                <a:srgbClr val="C0392B"/>
              </a:solidFill>
              <a:latin typeface="Arial" panose="020B0604020202090204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915" y="978634"/>
            <a:ext cx="7772400" cy="16877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7405"/>
            <a:ext cx="7772400" cy="3556566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175168" y="4710436"/>
            <a:ext cx="47936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Arial" panose="020B0604020202090204" pitchFamily="34" charset="0"/>
                <a:cs typeface="Arial" panose="020B0604020202090204" pitchFamily="34" charset="0"/>
              </a:rPr>
              <a:t>2D begins as a laterally uniform extrusion of the 1D prepared state; </a:t>
            </a:r>
            <a:endParaRPr lang="en-US" altLang="zh-CN" sz="12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r>
              <a:rPr lang="zh-CN" altLang="en-US" sz="1200" dirty="0">
                <a:latin typeface="Arial" panose="020B0604020202090204" pitchFamily="34" charset="0"/>
                <a:cs typeface="Arial" panose="020B0604020202090204" pitchFamily="34" charset="0"/>
              </a:rPr>
              <a:t>2D physics then creates lateral variation.</a:t>
            </a:r>
            <a:endParaRPr lang="zh-CN" altLang="en-US" sz="1200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4008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 panose="020B0604020202090204"/>
              </a:rPr>
              <a:t>05 · </a:t>
            </a:r>
            <a:r>
              <a:rPr sz="1100">
                <a:solidFill>
                  <a:srgbClr val="475569"/>
                </a:solidFill>
                <a:latin typeface="Arial" panose="020B0604020202090204"/>
                <a:sym typeface="+mn-ea"/>
              </a:rPr>
              <a:t>DEVICE SIM</a:t>
            </a:r>
            <a:endParaRPr sz="110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1C2533"/>
                </a:solidFill>
                <a:latin typeface="Arial" panose="020B0604020202090204"/>
              </a:rPr>
              <a:t>External Contact BC: Ohmic Pinning and Selective Robin Flux</a:t>
            </a:r>
            <a:endParaRPr lang="en-US" sz="1600" b="1" dirty="0">
              <a:solidFill>
                <a:srgbClr val="1C2533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 panose="020B0604020202090204"/>
              </a:rPr>
              <a:t>SOLARLAB</a:t>
            </a:r>
            <a:endParaRPr sz="1000" b="0">
              <a:solidFill>
                <a:srgbClr val="C0392B"/>
              </a:solidFill>
              <a:latin typeface="Arial" panose="020B0604020202090204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824" y="967127"/>
            <a:ext cx="7772400" cy="16877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37652"/>
            <a:ext cx="7772400" cy="3556566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286001" y="4694218"/>
            <a:ext cx="44447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Arial" panose="020B0604020202090204" pitchFamily="34" charset="0"/>
                <a:cs typeface="Arial" panose="020B0604020202090204" pitchFamily="34" charset="0"/>
              </a:rPr>
              <a:t>E</a:t>
            </a:r>
            <a:r>
              <a:rPr lang="zh-CN" altLang="en-US" sz="1200" dirty="0">
                <a:latin typeface="Arial" panose="020B0604020202090204" pitchFamily="34" charset="0"/>
                <a:cs typeface="Arial" panose="020B0604020202090204" pitchFamily="34" charset="0"/>
              </a:rPr>
              <a:t>xternal contact BCs model carrier exchange with electrodes;</a:t>
            </a:r>
            <a:endParaRPr lang="en-US" altLang="zh-CN" sz="12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r>
              <a:rPr lang="zh-CN" altLang="en-US" sz="1200" dirty="0">
                <a:latin typeface="Arial" panose="020B0604020202090204" pitchFamily="34" charset="0"/>
                <a:cs typeface="Arial" panose="020B0604020202090204" pitchFamily="34" charset="0"/>
              </a:rPr>
              <a:t>Dirichlet pins densities, Robin uses finite surface velocity S.</a:t>
            </a:r>
            <a:endParaRPr lang="zh-CN" altLang="en-US" sz="1200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4008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 panose="020B0604020202090204"/>
              </a:rPr>
              <a:t>05 · </a:t>
            </a:r>
            <a:r>
              <a:rPr sz="1100">
                <a:solidFill>
                  <a:srgbClr val="475569"/>
                </a:solidFill>
                <a:latin typeface="Arial" panose="020B0604020202090204"/>
                <a:sym typeface="+mn-ea"/>
              </a:rPr>
              <a:t>DEVICE SIM</a:t>
            </a:r>
            <a:endParaRPr sz="110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C2533"/>
                </a:solidFill>
                <a:latin typeface="Arial" panose="020B0604020202090204"/>
              </a:rPr>
              <a:t>2D Lateral BC: Periodic Window and Zero-Flux Sidewalls</a:t>
            </a:r>
            <a:endParaRPr lang="en-US" b="1" dirty="0">
              <a:solidFill>
                <a:srgbClr val="1C2533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 panose="020B0604020202090204"/>
              </a:rPr>
              <a:t>SOLARLAB</a:t>
            </a:r>
            <a:endParaRPr sz="1000" b="0">
              <a:solidFill>
                <a:srgbClr val="C0392B"/>
              </a:solidFill>
              <a:latin typeface="Arial" panose="020B0604020202090204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545" y="990808"/>
            <a:ext cx="7772400" cy="16877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59579"/>
            <a:ext cx="7772400" cy="3556566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467467" y="4710575"/>
            <a:ext cx="38885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Arial" panose="020B0604020202090204" pitchFamily="34" charset="0"/>
                <a:cs typeface="Arial" panose="020B0604020202090204" pitchFamily="34" charset="0"/>
              </a:rPr>
              <a:t>P</a:t>
            </a:r>
            <a:r>
              <a:rPr lang="zh-CN" altLang="en-US" sz="1200" dirty="0">
                <a:latin typeface="Arial" panose="020B0604020202090204" pitchFamily="34" charset="0"/>
                <a:cs typeface="Arial" panose="020B0604020202090204" pitchFamily="34" charset="0"/>
              </a:rPr>
              <a:t>eriodic BC makes a repeating 2D unit cell; </a:t>
            </a:r>
            <a:endParaRPr lang="en-US" altLang="zh-CN" sz="12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r>
              <a:rPr lang="zh-CN" altLang="en-US" sz="1200" dirty="0">
                <a:latin typeface="Arial" panose="020B0604020202090204" pitchFamily="34" charset="0"/>
                <a:cs typeface="Arial" panose="020B0604020202090204" pitchFamily="34" charset="0"/>
              </a:rPr>
              <a:t>Neumann BC closes the sidewalls with zero lateral flux.</a:t>
            </a:r>
            <a:endParaRPr lang="zh-CN" altLang="en-US" sz="1200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4008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 panose="020B0604020202090204"/>
              </a:rPr>
              <a:t>05 · </a:t>
            </a:r>
            <a:r>
              <a:rPr sz="1100">
                <a:solidFill>
                  <a:srgbClr val="475569"/>
                </a:solidFill>
                <a:latin typeface="Arial" panose="020B0604020202090204"/>
                <a:sym typeface="+mn-ea"/>
              </a:rPr>
              <a:t>DEVICE SIM</a:t>
            </a:r>
            <a:endParaRPr sz="110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C2533"/>
                </a:solidFill>
                <a:latin typeface="Arial" panose="020B0604020202090204"/>
              </a:rPr>
              <a:t>2D Internal Interface: SG Face Flux</a:t>
            </a:r>
            <a:endParaRPr lang="en-US" b="1" dirty="0">
              <a:solidFill>
                <a:srgbClr val="1C2533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 panose="020B0604020202090204"/>
              </a:rPr>
              <a:t>SOLARLAB</a:t>
            </a:r>
            <a:endParaRPr sz="1000" b="0">
              <a:solidFill>
                <a:srgbClr val="C0392B"/>
              </a:solidFill>
              <a:latin typeface="Arial" panose="020B0604020202090204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81" y="963196"/>
            <a:ext cx="7772400" cy="18717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21115"/>
            <a:ext cx="7772400" cy="3582591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441650" y="4743390"/>
            <a:ext cx="42606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b="1" dirty="0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B</a:t>
            </a:r>
            <a:r>
              <a:rPr lang="zh-CN" altLang="en-US" sz="1000" b="1" dirty="0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and parameters χ and Eg</a:t>
            </a:r>
            <a:r>
              <a:rPr lang="zh-CN" altLang="en-US" sz="1000" dirty="0">
                <a:latin typeface="Arial" panose="020B0604020202090204" pitchFamily="34" charset="0"/>
                <a:cs typeface="Arial" panose="020B0604020202090204" pitchFamily="34" charset="0"/>
              </a:rPr>
              <a:t> turn offsets into SG driving-potential jumps; </a:t>
            </a:r>
            <a:br>
              <a:rPr lang="en-US" altLang="zh-CN" sz="1000" dirty="0">
                <a:latin typeface="Arial" panose="020B0604020202090204" pitchFamily="34" charset="0"/>
                <a:cs typeface="Arial" panose="020B0604020202090204" pitchFamily="34" charset="0"/>
              </a:rPr>
            </a:br>
            <a:r>
              <a:rPr lang="zh-CN" altLang="en-US" sz="1000" b="1" dirty="0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Bernoulli flux </a:t>
            </a:r>
            <a:r>
              <a:rPr lang="zh-CN" altLang="en-US" sz="1000" dirty="0">
                <a:latin typeface="Arial" panose="020B0604020202090204" pitchFamily="34" charset="0"/>
                <a:cs typeface="Arial" panose="020B0604020202090204" pitchFamily="34" charset="0"/>
              </a:rPr>
              <a:t>plus cap gives a conservative face current.</a:t>
            </a:r>
            <a:endParaRPr lang="zh-CN" altLang="en-US" sz="1000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4008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 panose="020B0604020202090204"/>
              </a:rPr>
              <a:t>05 · </a:t>
            </a:r>
            <a:r>
              <a:rPr sz="1100">
                <a:solidFill>
                  <a:srgbClr val="475569"/>
                </a:solidFill>
                <a:latin typeface="Arial" panose="020B0604020202090204"/>
                <a:sym typeface="+mn-ea"/>
              </a:rPr>
              <a:t>DEVICE SIM</a:t>
            </a:r>
            <a:endParaRPr sz="110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1C2533"/>
                </a:solidFill>
                <a:latin typeface="Arial" panose="020B0604020202090204"/>
              </a:rPr>
              <a:t>2D RHS Assembly: From Carrier Fields to Time Derivatives</a:t>
            </a:r>
            <a:endParaRPr lang="en-US" sz="2200" b="1" dirty="0">
              <a:solidFill>
                <a:srgbClr val="1C2533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 panose="020B0604020202090204"/>
              </a:rPr>
              <a:t>SOLARLAB</a:t>
            </a:r>
            <a:endParaRPr sz="1000" b="0">
              <a:solidFill>
                <a:srgbClr val="C0392B"/>
              </a:solidFill>
              <a:latin typeface="Arial" panose="020B0604020202090204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796" y="1089925"/>
            <a:ext cx="7772400" cy="17092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16825"/>
            <a:ext cx="4912822" cy="2763462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65760" y="1339826"/>
            <a:ext cx="12053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RHS pipeline</a:t>
            </a:r>
            <a:endParaRPr lang="zh-CN" altLang="en-US" sz="1200" b="1" dirty="0">
              <a:solidFill>
                <a:srgbClr val="C0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80011" y="4118677"/>
            <a:ext cx="4267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latin typeface="Arial" panose="020B0604020202090204" pitchFamily="34" charset="0"/>
                <a:cs typeface="Arial" panose="020B0604020202090204" pitchFamily="34" charset="0"/>
              </a:rPr>
              <a:t>Y -&gt; rho -&gt; phi -&gt; R,G -&gt; SG fluxes -&gt; div J -&gt; dn/dt, dp/dt -&gt; dY/dt</a:t>
            </a:r>
            <a:endParaRPr lang="zh-CN" altLang="en-US" sz="1100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4767" y="1339826"/>
            <a:ext cx="2749361" cy="3025833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1552401" y="4569767"/>
            <a:ext cx="57731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Arial" panose="020B0604020202090204" pitchFamily="34" charset="0"/>
                <a:cs typeface="Arial" panose="020B0604020202090204" pitchFamily="34" charset="0"/>
              </a:rPr>
              <a:t>RHS assembly is the physics-numerics operator F(Y); </a:t>
            </a:r>
            <a:br>
              <a:rPr lang="en-US" altLang="zh-CN" sz="1200" dirty="0">
                <a:latin typeface="Arial" panose="020B0604020202090204" pitchFamily="34" charset="0"/>
                <a:cs typeface="Arial" panose="020B0604020202090204" pitchFamily="34" charset="0"/>
              </a:rPr>
            </a:br>
            <a:r>
              <a:rPr lang="zh-CN" altLang="en-US" sz="1200" dirty="0">
                <a:latin typeface="Arial" panose="020B0604020202090204" pitchFamily="34" charset="0"/>
                <a:cs typeface="Arial" panose="020B0604020202090204" pitchFamily="34" charset="0"/>
              </a:rPr>
              <a:t>Radau repeatedly calls it to advance the 2D drift-diffusion-Poisson system in time.</a:t>
            </a:r>
            <a:endParaRPr lang="zh-CN" altLang="en-US" sz="1200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4008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 panose="020B0604020202090204"/>
              </a:rPr>
              <a:t>05 · </a:t>
            </a:r>
            <a:r>
              <a:rPr sz="1100">
                <a:solidFill>
                  <a:srgbClr val="475569"/>
                </a:solidFill>
                <a:latin typeface="Arial" panose="020B0604020202090204"/>
                <a:sym typeface="+mn-ea"/>
              </a:rPr>
              <a:t>DEVICE SIM</a:t>
            </a:r>
            <a:endParaRPr sz="110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1C2533"/>
                </a:solidFill>
                <a:latin typeface="Arial" panose="020B0604020202090204"/>
              </a:rPr>
              <a:t>Implicit </a:t>
            </a:r>
            <a:r>
              <a:rPr lang="en-US" sz="1600" b="1" dirty="0" err="1">
                <a:solidFill>
                  <a:srgbClr val="1C2533"/>
                </a:solidFill>
                <a:latin typeface="Arial" panose="020B0604020202090204"/>
              </a:rPr>
              <a:t>Radau</a:t>
            </a:r>
            <a:r>
              <a:rPr lang="en-US" sz="1600" b="1" dirty="0">
                <a:solidFill>
                  <a:srgbClr val="1C2533"/>
                </a:solidFill>
                <a:latin typeface="Arial" panose="020B0604020202090204"/>
              </a:rPr>
              <a:t> Time Integration of the Semi-Discrete 2D Drift-Diffusion System</a:t>
            </a:r>
            <a:endParaRPr lang="en-US" sz="1600" b="1" dirty="0">
              <a:solidFill>
                <a:srgbClr val="1C2533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 panose="020B0604020202090204"/>
              </a:rPr>
              <a:t>SOLARLAB</a:t>
            </a:r>
            <a:endParaRPr sz="1000" b="0">
              <a:solidFill>
                <a:srgbClr val="C0392B"/>
              </a:solidFill>
              <a:latin typeface="Arial" panose="020B0604020202090204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483" y="1193619"/>
            <a:ext cx="7772400" cy="346982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483" y="987585"/>
            <a:ext cx="7772400" cy="17092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903616" y="4698554"/>
            <a:ext cx="520376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latin typeface="Arial" panose="020B0604020202090204" pitchFamily="34" charset="0"/>
                <a:cs typeface="Arial" panose="020B0604020202090204" pitchFamily="34" charset="0"/>
              </a:rPr>
              <a:t>RHS assembly defines F(Y); Radau repeatedly evaluates F(Y) to advance the stiff 2D carrier-transport system toward a V</a:t>
            </a:r>
            <a:r>
              <a:rPr lang="zh-CN" altLang="en-US" sz="1100" baseline="-25000" dirty="0">
                <a:latin typeface="Arial" panose="020B0604020202090204" pitchFamily="34" charset="0"/>
                <a:cs typeface="Arial" panose="020B0604020202090204" pitchFamily="34" charset="0"/>
              </a:rPr>
              <a:t>app</a:t>
            </a:r>
            <a:r>
              <a:rPr lang="zh-CN" altLang="en-US" sz="1100" dirty="0">
                <a:latin typeface="Arial" panose="020B0604020202090204" pitchFamily="34" charset="0"/>
                <a:cs typeface="Arial" panose="020B0604020202090204" pitchFamily="34" charset="0"/>
              </a:rPr>
              <a:t>-specific </a:t>
            </a:r>
            <a:r>
              <a:rPr lang="zh-CN" altLang="en-US" sz="1100" b="1" dirty="0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quasi-steady state.</a:t>
            </a:r>
            <a:endParaRPr lang="zh-CN" altLang="en-US" sz="1100" b="1" dirty="0">
              <a:solidFill>
                <a:srgbClr val="C0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4008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 panose="020B0604020202090204"/>
              </a:rPr>
              <a:t>05 · </a:t>
            </a:r>
            <a:r>
              <a:rPr sz="1100">
                <a:solidFill>
                  <a:srgbClr val="475569"/>
                </a:solidFill>
                <a:latin typeface="Arial" panose="020B0604020202090204"/>
                <a:sym typeface="+mn-ea"/>
              </a:rPr>
              <a:t>DEVICE SIM</a:t>
            </a:r>
            <a:endParaRPr sz="110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1C2533"/>
                </a:solidFill>
                <a:latin typeface="Arial" panose="020B0604020202090204"/>
              </a:rPr>
              <a:t>Complete 2D Solver Workflow: RHS Assembly + </a:t>
            </a:r>
            <a:r>
              <a:rPr lang="en-US" sz="1600" b="1" dirty="0" err="1">
                <a:solidFill>
                  <a:srgbClr val="1C2533"/>
                </a:solidFill>
                <a:latin typeface="Arial" panose="020B0604020202090204"/>
              </a:rPr>
              <a:t>Radau</a:t>
            </a:r>
            <a:r>
              <a:rPr lang="en-US" sz="1600" b="1" dirty="0">
                <a:solidFill>
                  <a:srgbClr val="1C2533"/>
                </a:solidFill>
                <a:latin typeface="Arial" panose="020B0604020202090204"/>
              </a:rPr>
              <a:t> Integration</a:t>
            </a:r>
            <a:endParaRPr lang="en-US" sz="1600" b="1" dirty="0">
              <a:solidFill>
                <a:srgbClr val="1C2533"/>
              </a:solidFill>
              <a:latin typeface="Arial" panose="020B0604020202090204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143" y="990023"/>
            <a:ext cx="7772400" cy="18804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143" y="1178065"/>
            <a:ext cx="7772400" cy="358259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dirty="0">
                <a:solidFill>
                  <a:srgbClr val="C0392B"/>
                </a:solidFill>
                <a:latin typeface="Arial" panose="020B0604020202090204"/>
              </a:rPr>
              <a:t>SOLARLAB</a:t>
            </a:r>
            <a:endParaRPr sz="1000" b="0" dirty="0">
              <a:solidFill>
                <a:srgbClr val="C0392B"/>
              </a:solidFill>
              <a:latin typeface="Arial" panose="020B0604020202090204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10819" y="4754932"/>
            <a:ext cx="563104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latin typeface="Arial" panose="020B0604020202090204" pitchFamily="34" charset="0"/>
                <a:cs typeface="Arial" panose="020B0604020202090204" pitchFamily="34" charset="0"/>
              </a:rPr>
              <a:t>RHS Assembly is the inner physics operator; </a:t>
            </a:r>
            <a:r>
              <a:rPr lang="zh-CN" altLang="en-US" sz="1100" b="1" dirty="0">
                <a:latin typeface="Arial" panose="020B0604020202090204" pitchFamily="34" charset="0"/>
                <a:cs typeface="Arial" panose="020B0604020202090204" pitchFamily="34" charset="0"/>
              </a:rPr>
              <a:t>Radau is the transient time integrator; </a:t>
            </a:r>
            <a:r>
              <a:rPr lang="en-US" altLang="zh-CN" sz="1100" dirty="0">
                <a:latin typeface="Arial" panose="020B0604020202090204" pitchFamily="34" charset="0"/>
                <a:cs typeface="Arial" panose="020B0604020202090204" pitchFamily="34" charset="0"/>
              </a:rPr>
              <a:t>T</a:t>
            </a:r>
            <a:r>
              <a:rPr lang="zh-CN" altLang="en-US" sz="1100" dirty="0">
                <a:latin typeface="Arial" panose="020B0604020202090204" pitchFamily="34" charset="0"/>
                <a:cs typeface="Arial" panose="020B0604020202090204" pitchFamily="34" charset="0"/>
              </a:rPr>
              <a:t>he voltage sweep wraps both to produce the complete 2D J-V result.</a:t>
            </a:r>
            <a:endParaRPr lang="zh-CN" altLang="en-US" sz="1100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4008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 panose="020B0604020202090204"/>
              </a:rPr>
              <a:t>05 · </a:t>
            </a:r>
            <a:r>
              <a:rPr sz="1100">
                <a:solidFill>
                  <a:srgbClr val="475569"/>
                </a:solidFill>
                <a:latin typeface="Arial" panose="020B0604020202090204"/>
                <a:sym typeface="+mn-ea"/>
              </a:rPr>
              <a:t>DEVICE SIM</a:t>
            </a:r>
            <a:endParaRPr sz="1100">
              <a:solidFill>
                <a:srgbClr val="475569"/>
              </a:solidFill>
              <a:latin typeface="Arial" panose="020B0604020202090204"/>
              <a:sym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 panose="020B0604020202090204"/>
              </a:rPr>
              <a:t>SOLARLAB</a:t>
            </a:r>
            <a:endParaRPr sz="1000" b="0">
              <a:solidFill>
                <a:srgbClr val="C0392B"/>
              </a:solidFill>
              <a:latin typeface="Arial" panose="020B0604020202090204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rgbClr val="16203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J-V Sweep: Fixed-Voltage </a:t>
            </a:r>
            <a:r>
              <a:rPr lang="en-US" altLang="zh-CN" sz="1200" b="1" dirty="0" err="1">
                <a:solidFill>
                  <a:srgbClr val="16203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Radau</a:t>
            </a:r>
            <a:r>
              <a:rPr lang="en-US" altLang="zh-CN" sz="1200" b="1" dirty="0">
                <a:solidFill>
                  <a:srgbClr val="16203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Calls Chained in Time</a:t>
            </a:r>
            <a:endParaRPr lang="en-US" altLang="zh-CN" sz="1200" b="1" dirty="0">
              <a:solidFill>
                <a:srgbClr val="1C2533"/>
              </a:solidFill>
              <a:latin typeface="Arial" panose="020B0604020202090204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780329" y="4308627"/>
            <a:ext cx="7583342" cy="400110"/>
            <a:chOff x="548640" y="5650992"/>
            <a:chExt cx="11091672" cy="585216"/>
          </a:xfrm>
        </p:grpSpPr>
        <p:sp>
          <p:nvSpPr>
            <p:cNvPr id="6" name="Shape 5"/>
            <p:cNvSpPr/>
            <p:nvPr/>
          </p:nvSpPr>
          <p:spPr>
            <a:xfrm>
              <a:off x="548640" y="5650992"/>
              <a:ext cx="3520440" cy="585216"/>
            </a:xfrm>
            <a:prstGeom prst="roundRect">
              <a:avLst>
                <a:gd name="adj" fmla="val 12500"/>
              </a:avLst>
            </a:prstGeom>
            <a:solidFill>
              <a:srgbClr val="DBEAFE"/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Shape 6"/>
            <p:cNvSpPr/>
            <p:nvPr/>
          </p:nvSpPr>
          <p:spPr>
            <a:xfrm>
              <a:off x="548640" y="5650992"/>
              <a:ext cx="73152" cy="585216"/>
            </a:xfrm>
            <a:prstGeom prst="rect">
              <a:avLst/>
            </a:prstGeom>
            <a:solidFill>
              <a:srgbClr val="2563EB"/>
            </a:solidFill>
            <a:ln w="12700">
              <a:solidFill>
                <a:srgbClr val="2563E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 7"/>
            <p:cNvSpPr/>
            <p:nvPr/>
          </p:nvSpPr>
          <p:spPr>
            <a:xfrm>
              <a:off x="713232" y="5760720"/>
              <a:ext cx="3209544" cy="20116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960" b="1" dirty="0">
                  <a:solidFill>
                    <a:srgbClr val="2563EB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STAIRCASE VOLTAGE</a:t>
              </a:r>
              <a:endParaRPr lang="en-US" sz="960" dirty="0"/>
            </a:p>
          </p:txBody>
        </p:sp>
        <p:sp>
          <p:nvSpPr>
            <p:cNvPr id="12" name="Text 8"/>
            <p:cNvSpPr/>
            <p:nvPr/>
          </p:nvSpPr>
          <p:spPr>
            <a:xfrm>
              <a:off x="713232" y="5989320"/>
              <a:ext cx="3209544" cy="18288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880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sampled plateaus; not one continuous ramp</a:t>
              </a:r>
              <a:endParaRPr lang="en-US" sz="880" dirty="0"/>
            </a:p>
          </p:txBody>
        </p:sp>
        <p:sp>
          <p:nvSpPr>
            <p:cNvPr id="13" name="Shape 9"/>
            <p:cNvSpPr/>
            <p:nvPr/>
          </p:nvSpPr>
          <p:spPr>
            <a:xfrm>
              <a:off x="4334256" y="5650992"/>
              <a:ext cx="3520440" cy="585216"/>
            </a:xfrm>
            <a:prstGeom prst="roundRect">
              <a:avLst>
                <a:gd name="adj" fmla="val 12500"/>
              </a:avLst>
            </a:prstGeom>
            <a:solidFill>
              <a:srgbClr val="EDE9FE"/>
            </a:solidFill>
            <a:ln w="12700">
              <a:solidFill>
                <a:srgbClr val="6D28D9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Shape 10"/>
            <p:cNvSpPr/>
            <p:nvPr/>
          </p:nvSpPr>
          <p:spPr>
            <a:xfrm>
              <a:off x="4334256" y="5650992"/>
              <a:ext cx="73152" cy="585216"/>
            </a:xfrm>
            <a:prstGeom prst="rect">
              <a:avLst/>
            </a:prstGeom>
            <a:solidFill>
              <a:srgbClr val="6D28D9"/>
            </a:solidFill>
            <a:ln w="12700">
              <a:solidFill>
                <a:srgbClr val="6D28D9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 11"/>
            <p:cNvSpPr/>
            <p:nvPr/>
          </p:nvSpPr>
          <p:spPr>
            <a:xfrm>
              <a:off x="4498848" y="5760720"/>
              <a:ext cx="3209544" cy="20116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960" b="1" dirty="0">
                  <a:solidFill>
                    <a:srgbClr val="6D28D9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ONE RADAU CALL</a:t>
              </a:r>
              <a:endParaRPr lang="en-US" sz="960" dirty="0"/>
            </a:p>
          </p:txBody>
        </p:sp>
        <p:sp>
          <p:nvSpPr>
            <p:cNvPr id="16" name="Text 12"/>
            <p:cNvSpPr/>
            <p:nvPr/>
          </p:nvSpPr>
          <p:spPr>
            <a:xfrm>
              <a:off x="4498848" y="5989320"/>
              <a:ext cx="3209544" cy="18288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890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[t</a:t>
              </a:r>
              <a:r>
                <a:rPr lang="en-US" sz="890" baseline="-40000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k</a:t>
              </a:r>
              <a:r>
                <a:rPr lang="en-US" sz="890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, t</a:t>
              </a:r>
              <a:r>
                <a:rPr lang="en-US" sz="890" baseline="-40000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k+1</a:t>
              </a:r>
              <a:r>
                <a:rPr lang="en-US" sz="890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] at fixed V</a:t>
              </a:r>
              <a:r>
                <a:rPr lang="en-US" sz="890" baseline="-40000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k</a:t>
              </a:r>
              <a:endParaRPr lang="en-US" sz="890" dirty="0"/>
            </a:p>
          </p:txBody>
        </p:sp>
        <p:sp>
          <p:nvSpPr>
            <p:cNvPr id="17" name="Shape 13"/>
            <p:cNvSpPr/>
            <p:nvPr/>
          </p:nvSpPr>
          <p:spPr>
            <a:xfrm>
              <a:off x="8119872" y="5650992"/>
              <a:ext cx="3520440" cy="585216"/>
            </a:xfrm>
            <a:prstGeom prst="roundRect">
              <a:avLst>
                <a:gd name="adj" fmla="val 12500"/>
              </a:avLst>
            </a:prstGeom>
            <a:solidFill>
              <a:srgbClr val="DCFCE7"/>
            </a:solidFill>
            <a:ln w="12700">
              <a:solidFill>
                <a:srgbClr val="16803C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Shape 14"/>
            <p:cNvSpPr/>
            <p:nvPr/>
          </p:nvSpPr>
          <p:spPr>
            <a:xfrm>
              <a:off x="8119872" y="5650992"/>
              <a:ext cx="73152" cy="585216"/>
            </a:xfrm>
            <a:prstGeom prst="rect">
              <a:avLst/>
            </a:prstGeom>
            <a:solidFill>
              <a:srgbClr val="16803C"/>
            </a:solidFill>
            <a:ln w="12700">
              <a:solidFill>
                <a:srgbClr val="16803C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 15"/>
            <p:cNvSpPr/>
            <p:nvPr/>
          </p:nvSpPr>
          <p:spPr>
            <a:xfrm>
              <a:off x="8284464" y="5760720"/>
              <a:ext cx="3209544" cy="20116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960" b="1" dirty="0">
                  <a:solidFill>
                    <a:srgbClr val="16803C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STATE CARRY-OVER</a:t>
              </a:r>
              <a:endParaRPr lang="en-US" sz="960" dirty="0"/>
            </a:p>
          </p:txBody>
        </p:sp>
        <p:sp>
          <p:nvSpPr>
            <p:cNvPr id="20" name="Text 16"/>
            <p:cNvSpPr/>
            <p:nvPr/>
          </p:nvSpPr>
          <p:spPr>
            <a:xfrm>
              <a:off x="8284464" y="5989320"/>
              <a:ext cx="3209544" cy="18288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890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Y</a:t>
              </a:r>
              <a:r>
                <a:rPr lang="en-US" sz="890" baseline="-40000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k+1</a:t>
              </a:r>
              <a:r>
                <a:rPr lang="en-US" sz="890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 seeds the next voltage point</a:t>
              </a:r>
              <a:endParaRPr lang="en-US" sz="890" dirty="0"/>
            </a:p>
          </p:txBody>
        </p:sp>
      </p:grpSp>
      <p:sp>
        <p:nvSpPr>
          <p:cNvPr id="21" name="Text 18"/>
          <p:cNvSpPr/>
          <p:nvPr/>
        </p:nvSpPr>
        <p:spPr>
          <a:xfrm>
            <a:off x="830343" y="4836908"/>
            <a:ext cx="6799217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1620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Numerical mode: </a:t>
            </a:r>
            <a:r>
              <a:rPr lang="en-US" sz="900" b="1" dirty="0">
                <a:solidFill>
                  <a:srgbClr val="16203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piecewise-constant V</a:t>
            </a:r>
            <a:r>
              <a:rPr lang="en-US" sz="900" b="1" baseline="-40000" dirty="0">
                <a:solidFill>
                  <a:srgbClr val="16203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app</a:t>
            </a:r>
            <a:r>
              <a:rPr lang="en-US" sz="900" b="1" dirty="0">
                <a:solidFill>
                  <a:srgbClr val="16203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.  Δt = |V</a:t>
            </a:r>
            <a:r>
              <a:rPr lang="en-US" sz="900" b="1" baseline="-40000" dirty="0">
                <a:solidFill>
                  <a:srgbClr val="16203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k+1</a:t>
            </a:r>
            <a:r>
              <a:rPr lang="en-US" sz="900" b="1" dirty="0">
                <a:solidFill>
                  <a:srgbClr val="16203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- V</a:t>
            </a:r>
            <a:r>
              <a:rPr lang="en-US" sz="900" b="1" baseline="-40000" dirty="0">
                <a:solidFill>
                  <a:srgbClr val="16203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k</a:t>
            </a:r>
            <a:r>
              <a:rPr lang="en-US" sz="900" b="1" dirty="0">
                <a:solidFill>
                  <a:srgbClr val="16203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| / scan rate; forward 0 -&gt; V</a:t>
            </a:r>
            <a:r>
              <a:rPr lang="en-US" sz="900" b="1" baseline="-40000" dirty="0">
                <a:solidFill>
                  <a:srgbClr val="16203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max</a:t>
            </a:r>
            <a:r>
              <a:rPr lang="en-US" sz="900" b="1" dirty="0">
                <a:solidFill>
                  <a:srgbClr val="16203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, reverse V</a:t>
            </a:r>
            <a:r>
              <a:rPr lang="en-US" sz="900" b="1" baseline="-40000" dirty="0">
                <a:solidFill>
                  <a:srgbClr val="16203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max</a:t>
            </a:r>
            <a:r>
              <a:rPr lang="en-US" sz="900" b="1" dirty="0">
                <a:solidFill>
                  <a:srgbClr val="16203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-&gt; 0.</a:t>
            </a:r>
            <a:endParaRPr lang="en-US" sz="900" dirty="0"/>
          </a:p>
        </p:txBody>
      </p:sp>
      <p:sp>
        <p:nvSpPr>
          <p:cNvPr id="22" name="Text 1"/>
          <p:cNvSpPr/>
          <p:nvPr/>
        </p:nvSpPr>
        <p:spPr>
          <a:xfrm>
            <a:off x="542597" y="916232"/>
            <a:ext cx="7190232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Actual SolarLab mode: hold V</a:t>
            </a:r>
            <a:r>
              <a:rPr lang="en-US" sz="1220" baseline="-400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k</a:t>
            </a:r>
            <a:r>
              <a:rPr lang="en-US" sz="122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fixed, integrate one transient, record J, then warm-start the next voltage.</a:t>
            </a:r>
            <a:endParaRPr lang="en-US" sz="1220" dirty="0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9755" y="1130377"/>
            <a:ext cx="5582948" cy="3140409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006771" y="3942477"/>
            <a:ext cx="25692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800" b="1" dirty="0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V_arr = np.linspace(V_start, V_end, n_points)</a:t>
            </a:r>
            <a:endParaRPr lang="zh-CN" altLang="en-US" sz="800" b="1" dirty="0">
              <a:solidFill>
                <a:srgbClr val="C0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r>
              <a:rPr lang="zh-CN" altLang="en-US" sz="800" b="1" dirty="0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dt = abs(V_end - V_start) / (v_rate * (n_points - 1))</a:t>
            </a:r>
            <a:endParaRPr lang="zh-CN" altLang="en-US" sz="800" b="1" dirty="0">
              <a:solidFill>
                <a:srgbClr val="C0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4008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 panose="020B0604020202090204"/>
              </a:rPr>
              <a:t>05 · </a:t>
            </a:r>
            <a:r>
              <a:rPr sz="1100">
                <a:solidFill>
                  <a:srgbClr val="475569"/>
                </a:solidFill>
                <a:latin typeface="Arial" panose="020B0604020202090204"/>
                <a:sym typeface="+mn-ea"/>
              </a:rPr>
              <a:t>DEVICE SIM</a:t>
            </a:r>
            <a:endParaRPr sz="110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 panose="020B0604020202090204"/>
              </a:rPr>
              <a:t>Motivation for device-scale simulation</a:t>
            </a:r>
            <a:endParaRPr sz="2200" b="1">
              <a:solidFill>
                <a:srgbClr val="1C2533"/>
              </a:solidFill>
              <a:latin typeface="Arial" panose="020B060402020209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rgbClr val="475569"/>
                </a:solidFill>
                <a:latin typeface="Arial" panose="020B0604020202090204"/>
              </a:rPr>
              <a:t>Bulk material descriptors alone do not determine device-level performance</a:t>
            </a:r>
            <a:endParaRPr sz="1500" b="0" dirty="0">
              <a:solidFill>
                <a:srgbClr val="475569"/>
              </a:solidFill>
              <a:latin typeface="Arial" panose="020B0604020202090204"/>
            </a:endParaRPr>
          </a:p>
        </p:txBody>
      </p:sp>
      <p:pic>
        <p:nvPicPr>
          <p:cNvPr id="6" name="Picture 5" descr="s21_bulk_vs_devic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0"/>
            <a:ext cx="493776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05168" y="1828800"/>
            <a:ext cx="3381632" cy="2589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DFT delivers E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g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, m</a:t>
            </a:r>
            <a:r>
              <a:rPr sz="1100" b="0" baseline="30000" dirty="0">
                <a:solidFill>
                  <a:srgbClr val="475569"/>
                </a:solidFill>
                <a:latin typeface="Arial" panose="020B0604020202090204"/>
              </a:rPr>
              <a:t>*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,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ε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and E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b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as bulk material-level descriptors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Device performance additionally depends on stack geometry, contact selectivity, optical absorption and recombination kinetics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Drift-diffusion coupled to the Poisson equation is required across the full HTL / absorber / ETL stack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Coherent </a:t>
            </a:r>
            <a:r>
              <a:rPr sz="1100" b="1" dirty="0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transfer-matrix-method (TMM) optics 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are required for thin-film interference [Pettersson et al. 1999]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</a:t>
            </a:r>
            <a:r>
              <a:rPr sz="1100" b="1" dirty="0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Two-dimensional effects 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(grain boundaries, lateral non-uniformity) </a:t>
            </a:r>
            <a:r>
              <a:rPr sz="1100" b="1" dirty="0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cannot be captured in 1D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Mobile-ion transport must be included to reproduce hysteresis in perovskite-class absorbers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 panose="020B0604020202090204"/>
              </a:rPr>
              <a:t>SOLARLAB</a:t>
            </a:r>
            <a:endParaRPr sz="1000" b="0">
              <a:solidFill>
                <a:srgbClr val="C0392B"/>
              </a:solidFill>
              <a:latin typeface="Arial" panose="020B0604020202090204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4008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 panose="020B0604020202090204"/>
              </a:rPr>
              <a:t>05 · </a:t>
            </a:r>
            <a:r>
              <a:rPr sz="1100">
                <a:solidFill>
                  <a:srgbClr val="475569"/>
                </a:solidFill>
                <a:latin typeface="Arial" panose="020B0604020202090204"/>
                <a:sym typeface="+mn-ea"/>
              </a:rPr>
              <a:t>DEVICE SIM</a:t>
            </a:r>
            <a:endParaRPr sz="110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 panose="020B0604020202090204"/>
              </a:rPr>
              <a:t>SolarLab device-simulation framework</a:t>
            </a:r>
            <a:endParaRPr sz="2200" b="1">
              <a:solidFill>
                <a:srgbClr val="1C2533"/>
              </a:solidFill>
              <a:latin typeface="Arial" panose="020B060402020209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 panose="020B0604020202090204"/>
              </a:rPr>
              <a:t>1D + 2D drift-diffusion · TMM optics · mobile ions · selective Robin contacts</a:t>
            </a:r>
            <a:endParaRPr sz="1500" b="0">
              <a:solidFill>
                <a:srgbClr val="475569"/>
              </a:solidFill>
              <a:latin typeface="Arial" panose="020B0604020202090204"/>
            </a:endParaRPr>
          </a:p>
        </p:txBody>
      </p:sp>
      <p:pic>
        <p:nvPicPr>
          <p:cNvPr id="6" name="Picture 5" descr="s22_framewo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00989"/>
            <a:ext cx="4937760" cy="25988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94960" y="1828800"/>
            <a:ext cx="3291840" cy="2590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Backend: Python solver with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FastAPI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server-sent events streaming intermediate results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Frontend: TypeScript / Vite workstation with publication-quality figure rendering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Numerical scheme: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Radau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implicit Runge–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Kutta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with BDF fallback and bisection-in-time on stiff steps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Optics: coherent transfer-matrix-method using the ASTM G-173 AM1.5G reference spectrum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Selective contacts: Robin formulation in S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n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and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S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p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, validated against the 1D solver to 6 µV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Open-source, scriptable and REST-driven; designed for integration into high-throughput screening pipelines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 panose="020B0604020202090204"/>
              </a:rPr>
              <a:t>SOLARLAB</a:t>
            </a:r>
            <a:endParaRPr sz="1000" b="0">
              <a:solidFill>
                <a:srgbClr val="C0392B"/>
              </a:solidFill>
              <a:latin typeface="Arial" panose="020B0604020202090204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4008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 panose="020B0604020202090204"/>
              </a:rPr>
              <a:t>05 · </a:t>
            </a:r>
            <a:r>
              <a:rPr sz="1100">
                <a:solidFill>
                  <a:srgbClr val="475569"/>
                </a:solidFill>
                <a:latin typeface="Arial" panose="020B0604020202090204"/>
                <a:sym typeface="+mn-ea"/>
              </a:rPr>
              <a:t>DEVICE SIM</a:t>
            </a:r>
            <a:endParaRPr sz="110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 panose="020B0604020202090204"/>
              </a:rPr>
              <a:t>Drift-diffusion governing equations</a:t>
            </a:r>
            <a:endParaRPr sz="2200" b="1">
              <a:solidFill>
                <a:srgbClr val="1C2533"/>
              </a:solidFill>
              <a:latin typeface="Arial" panose="020B060402020209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 panose="020B0604020202090204"/>
              </a:rPr>
              <a:t>Three coupled partial differential equations per absorber layer [Selberherr 1984]</a:t>
            </a:r>
            <a:endParaRPr sz="1500" b="0">
              <a:solidFill>
                <a:srgbClr val="475569"/>
              </a:solidFill>
              <a:latin typeface="Arial" panose="020B0604020202090204"/>
            </a:endParaRPr>
          </a:p>
        </p:txBody>
      </p:sp>
      <p:pic>
        <p:nvPicPr>
          <p:cNvPr id="6" name="Picture 5" descr="s23_band_diagra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0"/>
            <a:ext cx="493776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79" y="1828800"/>
            <a:ext cx="3227585" cy="2251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Electron continuity: ∂n/∂t = (1/q) ∇·J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n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+ G − R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Hole continuity:     ∂p/∂t = −(1/q) ∇·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J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p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+ G − R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Poisson equation: ∇·(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ε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r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ε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0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∇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φ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) = −q (p − n + N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D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− N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A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+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ρ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ion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)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Current densities: J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n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= q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μ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n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n E + q D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n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∇n ·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J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p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= q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μ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p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p E − q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D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p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∇p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Recombination R: Shockley–Read–Hall, Auger and radiative channels; Einstein relation D = (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k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B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T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/q)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μ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Generation G: optical generation profile from the TMM model integrated over the AM1.5G spectrum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 panose="020B0604020202090204"/>
              </a:rPr>
              <a:t>SOLARLAB</a:t>
            </a:r>
            <a:endParaRPr sz="1000" b="0">
              <a:solidFill>
                <a:srgbClr val="C0392B"/>
              </a:solidFill>
              <a:latin typeface="Arial" panose="020B0604020202090204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4008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 panose="020B0604020202090204"/>
              </a:rPr>
              <a:t>05 · </a:t>
            </a:r>
            <a:r>
              <a:rPr sz="1100">
                <a:solidFill>
                  <a:srgbClr val="475569"/>
                </a:solidFill>
                <a:latin typeface="Arial" panose="020B0604020202090204"/>
                <a:sym typeface="+mn-ea"/>
              </a:rPr>
              <a:t>DEVICE SIM</a:t>
            </a:r>
            <a:endParaRPr sz="110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 panose="020B0604020202090204"/>
              </a:rPr>
              <a:t>Transfer-matrix-method optics</a:t>
            </a:r>
            <a:endParaRPr sz="2200" b="1">
              <a:solidFill>
                <a:srgbClr val="1C2533"/>
              </a:solidFill>
              <a:latin typeface="Arial" panose="020B060402020209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 panose="020B0604020202090204"/>
              </a:rPr>
              <a:t>Coherent multi-layer thin-film interference [Pettersson et al. 1999 · Born &amp; Wolf]</a:t>
            </a:r>
            <a:endParaRPr sz="1500" b="0">
              <a:solidFill>
                <a:srgbClr val="475569"/>
              </a:solidFill>
              <a:latin typeface="Arial" panose="020B0604020202090204"/>
            </a:endParaRPr>
          </a:p>
        </p:txBody>
      </p:sp>
      <p:pic>
        <p:nvPicPr>
          <p:cNvPr id="6" name="Picture 5" descr="s24_tmm_interferenc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0"/>
            <a:ext cx="493776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0" y="1828800"/>
            <a:ext cx="3017520" cy="2421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Each layer j is represented by a 2×2 characteristic matrix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L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j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acting on the tangential (E, H) field components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L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j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= [[cos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δ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j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,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i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sin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δ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j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/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η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j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], [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i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η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j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sin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δ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j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, cos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δ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j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]]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Phase thickness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δ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j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= (2π /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λ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)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ñ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j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d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j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cos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θ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j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with complex refractive index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ñ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j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= n +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i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k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System matrix M = L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1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L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2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… L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N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yields wavelength-resolved R, T and A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Generation profile G(x,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λ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) ∝ |E(x,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λ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)|</a:t>
            </a:r>
            <a:r>
              <a:rPr sz="1100" b="0" baseline="30000" dirty="0">
                <a:solidFill>
                  <a:srgbClr val="475569"/>
                </a:solidFill>
                <a:latin typeface="Arial" panose="020B0604020202090204"/>
              </a:rPr>
              <a:t>2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α(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λ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), integrated over the AM1.5G spectrum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Supersedes the Beer–Lambert approximation by capturing interference, back-reflector and interface effects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 panose="020B0604020202090204"/>
              </a:rPr>
              <a:t>SOLARLAB</a:t>
            </a:r>
            <a:endParaRPr sz="1000" b="0">
              <a:solidFill>
                <a:srgbClr val="C0392B"/>
              </a:solidFill>
              <a:latin typeface="Arial" panose="020B0604020202090204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4008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 panose="020B0604020202090204"/>
              </a:rPr>
              <a:t>05 · </a:t>
            </a:r>
            <a:r>
              <a:rPr sz="1100">
                <a:solidFill>
                  <a:srgbClr val="475569"/>
                </a:solidFill>
                <a:latin typeface="Arial" panose="020B0604020202090204"/>
                <a:sym typeface="+mn-ea"/>
              </a:rPr>
              <a:t>DEVICE SIM</a:t>
            </a:r>
            <a:endParaRPr sz="110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 panose="020B0604020202090204"/>
              </a:rPr>
              <a:t>Mobile-ion transport</a:t>
            </a:r>
            <a:endParaRPr sz="2200" b="1">
              <a:solidFill>
                <a:srgbClr val="1C2533"/>
              </a:solidFill>
              <a:latin typeface="Arial" panose="020B060402020209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 panose="020B0604020202090204"/>
              </a:rPr>
              <a:t>Origin of J–V hysteresis in perovskite solar cells [Calado et al. 2016 · van Reenen et al. 2015]</a:t>
            </a:r>
            <a:endParaRPr sz="1500" b="0">
              <a:solidFill>
                <a:srgbClr val="475569"/>
              </a:solidFill>
              <a:latin typeface="Arial" panose="020B0604020202090204"/>
            </a:endParaRPr>
          </a:p>
        </p:txBody>
      </p:sp>
      <p:pic>
        <p:nvPicPr>
          <p:cNvPr id="6" name="Picture 5" descr="s25_mobile_ion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24742"/>
            <a:ext cx="4937760" cy="23513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0" y="1828800"/>
            <a:ext cx="3017520" cy="2590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Continuity for ion-vacancy density P: ∂P/∂t = ∇·(D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ion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∇P +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μ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ion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P (1 − P / P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lim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) ∇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φ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)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The steric factor (1 − P / P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lim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) caps ion density at the available lattice-site limit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Estimated P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lim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is approximately 1 – 5 % of the cation-site density in MAPbI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3</a:t>
            </a:r>
            <a:endParaRPr sz="1100" b="0" baseline="-2500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Ion drift under bias redistributes mobile charge, screens the electric field and modulates the recombination rate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Couples into the Poisson equation via the source term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ρ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ion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= q (P −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P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eq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)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Characteristic time scale of 0.01 – 100 s reproduces the observed scan-rate dependence of perovskite J–V curves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 panose="020B0604020202090204"/>
              </a:rPr>
              <a:t>SOLARLAB</a:t>
            </a:r>
            <a:endParaRPr sz="1000" b="0">
              <a:solidFill>
                <a:srgbClr val="C0392B"/>
              </a:solidFill>
              <a:latin typeface="Arial" panose="020B0604020202090204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4008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 panose="020B0604020202090204"/>
              </a:rPr>
              <a:t>05 · </a:t>
            </a:r>
            <a:r>
              <a:rPr sz="1100">
                <a:solidFill>
                  <a:srgbClr val="475569"/>
                </a:solidFill>
                <a:latin typeface="Arial" panose="020B0604020202090204"/>
                <a:sym typeface="+mn-ea"/>
              </a:rPr>
              <a:t>DEVICE SIM</a:t>
            </a:r>
            <a:endParaRPr sz="110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 panose="020B0604020202090204"/>
              </a:rPr>
              <a:t>Selective Robin contact boundary conditions</a:t>
            </a:r>
            <a:endParaRPr sz="2200" b="1">
              <a:solidFill>
                <a:srgbClr val="1C2533"/>
              </a:solidFill>
              <a:latin typeface="Arial" panose="020B060402020209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 panose="020B0604020202090204"/>
              </a:rPr>
              <a:t>Surface-recombination boundary conditions in place of Dirichlet pinning</a:t>
            </a:r>
            <a:endParaRPr sz="1500" b="0">
              <a:solidFill>
                <a:srgbClr val="475569"/>
              </a:solidFill>
              <a:latin typeface="Arial" panose="020B0604020202090204"/>
            </a:endParaRPr>
          </a:p>
        </p:txBody>
      </p:sp>
      <p:pic>
        <p:nvPicPr>
          <p:cNvPr id="6" name="Picture 5" descr="s26_robin_contact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00989"/>
            <a:ext cx="4937760" cy="25988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94960" y="1828800"/>
            <a:ext cx="3291840" cy="2251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Left contact: J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n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= −q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S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n,L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(n −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n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eq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) ·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J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p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= +q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S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p,L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(p −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p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eq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)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Right contact: J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n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= +q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S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n,R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(n −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n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eq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) ·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J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p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= −q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S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p,R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(p −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p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eq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)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Contact selectivity: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S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n,L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</a:t>
            </a:r>
            <a:r>
              <a:rPr sz="1100" b="0" baseline="30000" dirty="0">
                <a:solidFill>
                  <a:srgbClr val="475569"/>
                </a:solidFill>
                <a:latin typeface="Arial" panose="020B0604020202090204"/>
              </a:rPr>
              <a:t>≪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S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p,L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yields a hole-extracting (HTL-type) left contact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Limit S → ∞ recovers the Dirichlet condition (carrier density pinned to equilibrium)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Limit S → 0 yields a perfectly blocking (zero-flux Neumann) contact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Captures the surface-recombination physics that SCAPS-1D approximates via Dirichlet pinning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 panose="020B0604020202090204"/>
              </a:rPr>
              <a:t>SOLARLAB</a:t>
            </a:r>
            <a:endParaRPr sz="1000" b="0">
              <a:solidFill>
                <a:srgbClr val="C0392B"/>
              </a:solidFill>
              <a:latin typeface="Arial" panose="020B0604020202090204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4008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 panose="020B0604020202090204"/>
              </a:rPr>
              <a:t>05 · </a:t>
            </a:r>
            <a:r>
              <a:rPr sz="1100">
                <a:solidFill>
                  <a:srgbClr val="475569"/>
                </a:solidFill>
                <a:latin typeface="Arial" panose="020B0604020202090204"/>
                <a:sym typeface="+mn-ea"/>
              </a:rPr>
              <a:t>DEVICE SIM</a:t>
            </a:r>
            <a:endParaRPr sz="110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 panose="020B0604020202090204"/>
              </a:rPr>
              <a:t>Capability comparison with SCAPS-1D</a:t>
            </a:r>
            <a:endParaRPr sz="2200" b="1">
              <a:solidFill>
                <a:srgbClr val="1C2533"/>
              </a:solidFill>
              <a:latin typeface="Arial" panose="020B060402020209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 panose="020B0604020202090204"/>
              </a:rPr>
              <a:t>Capabilities absent from the SCAPS-1D reference solver [Burgelman et al. 2000]</a:t>
            </a:r>
            <a:endParaRPr sz="1500" b="0">
              <a:solidFill>
                <a:srgbClr val="475569"/>
              </a:solidFill>
              <a:latin typeface="Arial" panose="020B0604020202090204"/>
            </a:endParaRPr>
          </a:p>
        </p:txBody>
      </p:sp>
      <p:pic>
        <p:nvPicPr>
          <p:cNvPr id="6" name="Picture 5" descr="s17_capabilit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1200" y="1828800"/>
            <a:ext cx="5181599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 panose="020B0604020202090204"/>
              </a:rPr>
              <a:t>SOLARLAB</a:t>
            </a:r>
            <a:endParaRPr sz="1000" b="0">
              <a:solidFill>
                <a:srgbClr val="C0392B"/>
              </a:solidFill>
              <a:latin typeface="Arial" panose="020B0604020202090204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4008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 panose="020B0604020202090204"/>
              </a:rPr>
              <a:t>05 · </a:t>
            </a:r>
            <a:r>
              <a:rPr sz="1100">
                <a:solidFill>
                  <a:srgbClr val="475569"/>
                </a:solidFill>
                <a:latin typeface="Arial" panose="020B0604020202090204"/>
                <a:sym typeface="+mn-ea"/>
              </a:rPr>
              <a:t>DEVICE SIM</a:t>
            </a:r>
            <a:endParaRPr sz="110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 panose="020B0604020202090204"/>
              </a:rPr>
              <a:t>1D and 2D solver fidelity comparison</a:t>
            </a:r>
            <a:endParaRPr sz="2200" b="1">
              <a:solidFill>
                <a:srgbClr val="1C2533"/>
              </a:solidFill>
              <a:latin typeface="Arial" panose="020B060402020209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 panose="020B0604020202090204"/>
              </a:rPr>
              <a:t>Reference MAPbI</a:t>
            </a:r>
            <a:r>
              <a:rPr sz="1500" b="0" baseline="-25000">
                <a:solidFill>
                  <a:srgbClr val="475569"/>
                </a:solidFill>
                <a:latin typeface="Arial" panose="020B0604020202090204"/>
              </a:rPr>
              <a:t>3</a:t>
            </a:r>
            <a:r>
              <a:rPr sz="1500" b="0">
                <a:solidFill>
                  <a:srgbClr val="475569"/>
                </a:solidFill>
                <a:latin typeface="Arial" panose="020B0604020202090204"/>
              </a:rPr>
              <a:t> stack — 50 mV V</a:t>
            </a:r>
            <a:r>
              <a:rPr sz="1500" b="0" baseline="-25000">
                <a:solidFill>
                  <a:srgbClr val="475569"/>
                </a:solidFill>
                <a:latin typeface="Arial" panose="020B0604020202090204"/>
              </a:rPr>
              <a:t>oc</a:t>
            </a:r>
            <a:r>
              <a:rPr sz="1500" b="0">
                <a:solidFill>
                  <a:srgbClr val="475569"/>
                </a:solidFill>
                <a:latin typeface="Arial" panose="020B0604020202090204"/>
              </a:rPr>
              <a:t> reduction in 2D from grain-boundary recombination</a:t>
            </a:r>
            <a:endParaRPr sz="1500" b="0">
              <a:solidFill>
                <a:srgbClr val="475569"/>
              </a:solidFill>
              <a:latin typeface="Arial" panose="020B0604020202090204"/>
            </a:endParaRPr>
          </a:p>
        </p:txBody>
      </p:sp>
      <p:pic>
        <p:nvPicPr>
          <p:cNvPr id="6" name="Picture 5" descr="s18_1d_vs_2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57736"/>
            <a:ext cx="4937760" cy="18853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0" y="1828800"/>
            <a:ext cx="3169920" cy="2590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Stack: spiro HTL 200 nm / MAPbI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3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400 nm / TiO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2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ETL 100 nm with selective Robin contacts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2D variant: a single vertical grain boundary at the lateral midplane of the absorber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1D V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oc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= 0.910 V is reduced to 2D V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oc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= 0.860 V (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ΔV</a:t>
            </a:r>
            <a:r>
              <a:rPr sz="1100" b="0" baseline="-25000" dirty="0" err="1">
                <a:solidFill>
                  <a:srgbClr val="475569"/>
                </a:solidFill>
                <a:latin typeface="Arial" panose="020B0604020202090204"/>
              </a:rPr>
              <a:t>oc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= −50 mV)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The reduction is the grain-boundary recombination channel resolved only by the 2D solver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1D models would misestimate device performance by omitting this loss channel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Solver throughput: a 28-voltage 2D sweep completes in approximately 22 minutes on 4 CPU cores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 panose="020B0604020202090204"/>
              </a:rPr>
              <a:t>SOLARLAB</a:t>
            </a:r>
            <a:endParaRPr sz="1000" b="0">
              <a:solidFill>
                <a:srgbClr val="C0392B"/>
              </a:solidFill>
              <a:latin typeface="Arial" panose="020B0604020202090204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1435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0" b="1">
                <a:solidFill>
                  <a:srgbClr val="C0392B"/>
                </a:solidFill>
                <a:latin typeface="Arial" panose="020B0604020202090204"/>
              </a:rPr>
              <a:t>06</a:t>
            </a:r>
            <a:endParaRPr sz="25000" b="1">
              <a:solidFill>
                <a:srgbClr val="C0392B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4011930"/>
            <a:ext cx="804672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>
                <a:solidFill>
                  <a:srgbClr val="475569"/>
                </a:solidFill>
                <a:latin typeface="Arial" panose="020B0604020202090204"/>
              </a:rPr>
              <a:t>OUTLOOK</a:t>
            </a:r>
            <a:endParaRPr lang="en-US" sz="3600" b="1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4008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 panose="020B0604020202090204"/>
              </a:rPr>
              <a:t>06 · </a:t>
            </a:r>
            <a:r>
              <a:rPr lang="en-US" sz="1100" b="0">
                <a:solidFill>
                  <a:srgbClr val="475569"/>
                </a:solidFill>
                <a:latin typeface="Arial" panose="020B0604020202090204"/>
              </a:rPr>
              <a:t>OUTLOOK</a:t>
            </a:r>
            <a:endParaRPr lang="en-US" sz="110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 panose="020B0604020202090204"/>
              </a:rPr>
              <a:t>Predicted device J–V for a leading candidate</a:t>
            </a:r>
            <a:endParaRPr sz="2200" b="1">
              <a:solidFill>
                <a:srgbClr val="1C2533"/>
              </a:solidFill>
              <a:latin typeface="Arial" panose="020B060402020209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 panose="020B0604020202090204"/>
              </a:rPr>
              <a:t>DFT parameters </a:t>
            </a:r>
            <a:r>
              <a:rPr sz="1500" b="0" baseline="30000">
                <a:solidFill>
                  <a:srgbClr val="475569"/>
                </a:solidFill>
                <a:latin typeface="Arial" panose="020B0604020202090204"/>
              </a:rPr>
              <a:t>→</a:t>
            </a:r>
            <a:r>
              <a:rPr sz="1500" b="0">
                <a:solidFill>
                  <a:srgbClr val="475569"/>
                </a:solidFill>
                <a:latin typeface="Arial" panose="020B0604020202090204"/>
              </a:rPr>
              <a:t> device simulation </a:t>
            </a:r>
            <a:r>
              <a:rPr sz="1500" b="0" baseline="30000">
                <a:solidFill>
                  <a:srgbClr val="475569"/>
                </a:solidFill>
                <a:latin typeface="Arial" panose="020B0604020202090204"/>
              </a:rPr>
              <a:t>→</a:t>
            </a:r>
            <a:r>
              <a:rPr sz="1500" b="0">
                <a:solidFill>
                  <a:srgbClr val="475569"/>
                </a:solidFill>
                <a:latin typeface="Arial" panose="020B0604020202090204"/>
              </a:rPr>
              <a:t> predicted PCE</a:t>
            </a:r>
            <a:endParaRPr sz="1500" b="0">
              <a:solidFill>
                <a:srgbClr val="475569"/>
              </a:solidFill>
              <a:latin typeface="Arial" panose="020B0604020202090204"/>
            </a:endParaRPr>
          </a:p>
        </p:txBody>
      </p:sp>
      <p:pic>
        <p:nvPicPr>
          <p:cNvPr id="6" name="Picture 5" descr="s19_candidate_jv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57736"/>
            <a:ext cx="4937760" cy="18853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0" y="1828800"/>
            <a:ext cx="3017520" cy="2590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Closes the workflow from &gt; 10</a:t>
            </a:r>
            <a:r>
              <a:rPr sz="1100" b="0" baseline="30000" dirty="0">
                <a:solidFill>
                  <a:srgbClr val="475569"/>
                </a:solidFill>
                <a:latin typeface="Arial" panose="020B0604020202090204"/>
              </a:rPr>
              <a:t>5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database scan to predicted device-level J–V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Stack: same spiro HTL / MAPbI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3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/ TiO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2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ETL reference as the 1D-vs-2D run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Placeholder candidate: MAPbI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3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baseline with V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oc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shifted by +30 mV (~candidate-gap surrogate)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Real Se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16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Sn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8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Zr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4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J–V replaces the placeholder once n, k data and DFT parameters are wired into the 2D solver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Predicted device PCE is the figure of merit relevant for synthesis decisions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Establishes explicit, falsifiable performance targets for the experimental collaboration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 panose="020B0604020202090204"/>
              </a:rPr>
              <a:t>SOLARLAB</a:t>
            </a:r>
            <a:endParaRPr sz="1000" b="0">
              <a:solidFill>
                <a:srgbClr val="C0392B"/>
              </a:solidFill>
              <a:latin typeface="Arial" panose="020B0604020202090204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4008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 panose="020B0604020202090204"/>
              </a:rPr>
              <a:t>06 · </a:t>
            </a:r>
            <a:r>
              <a:rPr lang="en-US" sz="1100" b="0">
                <a:solidFill>
                  <a:srgbClr val="475569"/>
                </a:solidFill>
                <a:latin typeface="Arial" panose="020B0604020202090204"/>
              </a:rPr>
              <a:t>OUTLOOK</a:t>
            </a:r>
            <a:endParaRPr lang="en-US" sz="110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 panose="020B0604020202090204"/>
              </a:rPr>
              <a:t>Outlook</a:t>
            </a:r>
            <a:endParaRPr sz="2200" b="1">
              <a:solidFill>
                <a:srgbClr val="1C2533"/>
              </a:solidFill>
              <a:latin typeface="Arial" panose="020B060402020209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 panose="020B0604020202090204"/>
              </a:rPr>
              <a:t>Planned extensions</a:t>
            </a:r>
            <a:endParaRPr sz="150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 panose="020B0604020202090204"/>
              </a:rPr>
              <a:t>•  Multi-task learning on the ~36 000 PBE gaps in Materials Project to close the prototype-grouped CV gap</a:t>
            </a:r>
            <a:endParaRPr sz="1300" b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 panose="020B0604020202090204"/>
              </a:rPr>
              <a:t>•  Spectroscopic Limited Maximum Efficiency (SLME) replacing the SQ upper bound, requiring the absorption coefficient α(E) [Yu &amp; Zunger 2012]</a:t>
            </a:r>
            <a:endParaRPr sz="1300" b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 panose="020B0604020202090204"/>
              </a:rPr>
              <a:t>•  Targeted DFT batch on Se-rich AB</a:t>
            </a:r>
            <a:r>
              <a:rPr sz="1300" b="0" baseline="-25000">
                <a:solidFill>
                  <a:srgbClr val="475569"/>
                </a:solidFill>
                <a:latin typeface="Arial" panose="020B0604020202090204"/>
              </a:rPr>
              <a:t>2</a:t>
            </a:r>
            <a:r>
              <a:rPr sz="1300" b="0">
                <a:solidFill>
                  <a:srgbClr val="475569"/>
                </a:solidFill>
                <a:latin typeface="Arial" panose="020B0604020202090204"/>
              </a:rPr>
              <a:t>C</a:t>
            </a:r>
            <a:r>
              <a:rPr sz="1300" b="0" baseline="-25000">
                <a:solidFill>
                  <a:srgbClr val="475569"/>
                </a:solidFill>
                <a:latin typeface="Arial" panose="020B0604020202090204"/>
              </a:rPr>
              <a:t>4</a:t>
            </a:r>
            <a:r>
              <a:rPr sz="1300" b="0">
                <a:solidFill>
                  <a:srgbClr val="475569"/>
                </a:solidFill>
                <a:latin typeface="Arial" panose="020B0604020202090204"/>
              </a:rPr>
              <a:t> and ABC</a:t>
            </a:r>
            <a:r>
              <a:rPr sz="1300" b="0" baseline="-25000">
                <a:solidFill>
                  <a:srgbClr val="475569"/>
                </a:solidFill>
                <a:latin typeface="Arial" panose="020B0604020202090204"/>
              </a:rPr>
              <a:t>3</a:t>
            </a:r>
            <a:r>
              <a:rPr sz="1300" b="0">
                <a:solidFill>
                  <a:srgbClr val="475569"/>
                </a:solidFill>
                <a:latin typeface="Arial" panose="020B0604020202090204"/>
              </a:rPr>
              <a:t> candidates in SG 62, 12, 72 and 15</a:t>
            </a:r>
            <a:endParaRPr sz="1300" b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 panose="020B0604020202090204"/>
              </a:rPr>
              <a:t>•  Closed-loop automation of DFT batch submission and surrogate re-fitting on label return</a:t>
            </a:r>
            <a:endParaRPr sz="1300" b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 panose="020B0604020202090204"/>
              </a:rPr>
              <a:t>•  Experimental collaboration to synthesise the top three candidates and feed measured J–V data back into the ML pipeline</a:t>
            </a:r>
            <a:endParaRPr sz="130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 panose="020B0604020202090204"/>
              </a:rPr>
              <a:t>SOLARLAB</a:t>
            </a:r>
            <a:endParaRPr sz="1000" b="0">
              <a:solidFill>
                <a:srgbClr val="C0392B"/>
              </a:solidFill>
              <a:latin typeface="Arial" panose="020B0604020202090204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4008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 panose="020B0604020202090204"/>
              </a:rPr>
              <a:t>06 · </a:t>
            </a:r>
            <a:r>
              <a:rPr lang="en-US" sz="1100" b="0">
                <a:solidFill>
                  <a:srgbClr val="475569"/>
                </a:solidFill>
                <a:latin typeface="Arial" panose="020B0604020202090204"/>
              </a:rPr>
              <a:t>OUTLOOK</a:t>
            </a:r>
            <a:endParaRPr lang="en-US" sz="110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 panose="020B0604020202090204"/>
              </a:rPr>
              <a:t>Summary</a:t>
            </a:r>
            <a:endParaRPr sz="2200" b="1">
              <a:solidFill>
                <a:srgbClr val="1C2533"/>
              </a:solidFill>
              <a:latin typeface="Arial" panose="020B060402020209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 panose="020B0604020202090204"/>
              </a:rPr>
              <a:t>Principal findings</a:t>
            </a:r>
            <a:endParaRPr sz="150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199" y="1828800"/>
            <a:ext cx="8431427" cy="139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dirty="0">
                <a:solidFill>
                  <a:srgbClr val="475569"/>
                </a:solidFill>
                <a:latin typeface="Arial" panose="020B0604020202090204"/>
              </a:rPr>
              <a:t>•  Small-sample ML on 473 DFT-labelled materials improves the GPR / GB / </a:t>
            </a:r>
            <a:r>
              <a:rPr sz="1300" b="0" dirty="0" err="1">
                <a:solidFill>
                  <a:srgbClr val="475569"/>
                </a:solidFill>
                <a:latin typeface="Arial" panose="020B0604020202090204"/>
              </a:rPr>
              <a:t>ExtraTrees</a:t>
            </a:r>
            <a:r>
              <a:rPr sz="1300" b="0" dirty="0">
                <a:solidFill>
                  <a:srgbClr val="475569"/>
                </a:solidFill>
                <a:latin typeface="Arial" panose="020B0604020202090204"/>
              </a:rPr>
              <a:t> baseline by +50 % in R</a:t>
            </a:r>
            <a:r>
              <a:rPr sz="1300" b="0" baseline="30000" dirty="0">
                <a:solidFill>
                  <a:srgbClr val="475569"/>
                </a:solidFill>
                <a:latin typeface="Arial" panose="020B0604020202090204"/>
              </a:rPr>
              <a:t>2</a:t>
            </a:r>
            <a:endParaRPr sz="1300" b="0" baseline="3000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300" b="0" dirty="0">
                <a:solidFill>
                  <a:srgbClr val="475569"/>
                </a:solidFill>
                <a:latin typeface="Arial" panose="020B0604020202090204"/>
              </a:rPr>
              <a:t>•  Fourteen-candidate chalcogenide shortlist; Se</a:t>
            </a:r>
            <a:r>
              <a:rPr sz="1300" b="0" baseline="-25000" dirty="0">
                <a:solidFill>
                  <a:srgbClr val="475569"/>
                </a:solidFill>
                <a:latin typeface="Arial" panose="020B0604020202090204"/>
              </a:rPr>
              <a:t>16</a:t>
            </a:r>
            <a:r>
              <a:rPr sz="1300" b="0" dirty="0">
                <a:solidFill>
                  <a:srgbClr val="475569"/>
                </a:solidFill>
                <a:latin typeface="Arial" panose="020B0604020202090204"/>
              </a:rPr>
              <a:t>Sn</a:t>
            </a:r>
            <a:r>
              <a:rPr sz="1300" b="0" baseline="-25000" dirty="0">
                <a:solidFill>
                  <a:srgbClr val="475569"/>
                </a:solidFill>
                <a:latin typeface="Arial" panose="020B0604020202090204"/>
              </a:rPr>
              <a:t>8</a:t>
            </a:r>
            <a:r>
              <a:rPr sz="1300" b="0" dirty="0">
                <a:solidFill>
                  <a:srgbClr val="475569"/>
                </a:solidFill>
                <a:latin typeface="Arial" panose="020B0604020202090204"/>
              </a:rPr>
              <a:t>Zr</a:t>
            </a:r>
            <a:r>
              <a:rPr sz="1300" b="0" baseline="-25000" dirty="0">
                <a:solidFill>
                  <a:srgbClr val="475569"/>
                </a:solidFill>
                <a:latin typeface="Arial" panose="020B0604020202090204"/>
              </a:rPr>
              <a:t>4</a:t>
            </a:r>
            <a:r>
              <a:rPr sz="1300" b="0" dirty="0">
                <a:solidFill>
                  <a:srgbClr val="475569"/>
                </a:solidFill>
                <a:latin typeface="Arial" panose="020B0604020202090204"/>
              </a:rPr>
              <a:t> sits near the Shockley–</a:t>
            </a:r>
            <a:r>
              <a:rPr sz="1300" b="0" dirty="0" err="1">
                <a:solidFill>
                  <a:srgbClr val="475569"/>
                </a:solidFill>
                <a:latin typeface="Arial" panose="020B0604020202090204"/>
              </a:rPr>
              <a:t>Queisser</a:t>
            </a:r>
            <a:r>
              <a:rPr sz="1300" b="0" dirty="0">
                <a:solidFill>
                  <a:srgbClr val="475569"/>
                </a:solidFill>
                <a:latin typeface="Arial" panose="020B0604020202090204"/>
              </a:rPr>
              <a:t> optimum</a:t>
            </a:r>
            <a:endParaRPr sz="13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300" b="0" dirty="0">
                <a:solidFill>
                  <a:srgbClr val="475569"/>
                </a:solidFill>
                <a:latin typeface="Arial" panose="020B0604020202090204"/>
              </a:rPr>
              <a:t>•  </a:t>
            </a:r>
            <a:r>
              <a:rPr sz="1300" b="0" dirty="0" err="1">
                <a:solidFill>
                  <a:srgbClr val="475569"/>
                </a:solidFill>
                <a:latin typeface="Arial" panose="020B0604020202090204"/>
              </a:rPr>
              <a:t>SolarLab</a:t>
            </a:r>
            <a:r>
              <a:rPr sz="1300" b="0" dirty="0">
                <a:solidFill>
                  <a:srgbClr val="475569"/>
                </a:solidFill>
                <a:latin typeface="Arial" panose="020B0604020202090204"/>
              </a:rPr>
              <a:t> 2D drift-diffusion provides the bridge from DFT-derived parameters to predicted device-level J–V</a:t>
            </a:r>
            <a:endParaRPr sz="13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300" b="0" dirty="0">
                <a:solidFill>
                  <a:srgbClr val="475569"/>
                </a:solidFill>
                <a:latin typeface="Arial" panose="020B0604020202090204"/>
              </a:rPr>
              <a:t>•  Compact, physically motivated descriptor and small-sample model identify a tractable subspace under stringent grouped-CV diagnostics</a:t>
            </a:r>
            <a:endParaRPr sz="13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300" b="0" dirty="0">
                <a:solidFill>
                  <a:srgbClr val="475569"/>
                </a:solidFill>
                <a:latin typeface="Arial" panose="020B0604020202090204"/>
              </a:rPr>
              <a:t>•  Experimental collaboration completes the discovery → simulation → experiment loop</a:t>
            </a:r>
            <a:endParaRPr sz="1300" b="0" dirty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 panose="020B0604020202090204"/>
              </a:rPr>
              <a:t>SOLARLAB</a:t>
            </a:r>
            <a:endParaRPr sz="1000" b="0">
              <a:solidFill>
                <a:srgbClr val="C0392B"/>
              </a:solidFill>
              <a:latin typeface="Arial" panose="020B0604020202090204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4008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 panose="020B0604020202090204"/>
              </a:rPr>
              <a:t>06 · </a:t>
            </a:r>
            <a:r>
              <a:rPr lang="en-US" sz="1100" b="0">
                <a:solidFill>
                  <a:srgbClr val="475569"/>
                </a:solidFill>
                <a:latin typeface="Arial" panose="020B0604020202090204"/>
              </a:rPr>
              <a:t>OUTLOOK</a:t>
            </a:r>
            <a:endParaRPr lang="en-US" sz="110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 panose="020B0604020202090204"/>
              </a:rPr>
              <a:t>References</a:t>
            </a:r>
            <a:endParaRPr sz="2200" b="1">
              <a:solidFill>
                <a:srgbClr val="1C2533"/>
              </a:solidFill>
              <a:latin typeface="Arial" panose="020B060402020209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 panose="020B0604020202090204"/>
              </a:rPr>
              <a:t>ML, device-sim and absorber-chemistry foundations</a:t>
            </a:r>
            <a:endParaRPr sz="150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2795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Yan C. et al., Nat. Energy 3, 764 (2018) · ACS Energy Lett. 2, 930 (2017) —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kesterite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Cu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2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ZnSnS</a:t>
            </a:r>
            <a:r>
              <a:rPr sz="1100" b="0" baseline="-25000" dirty="0">
                <a:solidFill>
                  <a:srgbClr val="475569"/>
                </a:solidFill>
                <a:latin typeface="Arial" panose="020B0604020202090204"/>
              </a:rPr>
              <a:t>4</a:t>
            </a:r>
            <a:endParaRPr sz="1100" b="0" baseline="-2500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Hou Y. et al., Nat. Energy 5, 131 (2020) · Science 367, 1135 (2020) · Nat. Energy 7, 229 (2022) — perovskite + tandem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Friedman J.H., Ann. Stat. 29, 1189 (2001) — gradient boosting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Ke G. et al.,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NeurIPS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(2017) —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LightGBM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histogram binning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Rasmussen C.E. &amp; Williams C.K.I., MIT Press (2006) — GP for ML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Snoek J. et al.,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NeurIPS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(2012) — UCB acquisition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Ward L. et al.,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npj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Comput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. Mater. 2, 16028 (2016) · CMS 152, 60 (2018) — Magpie ·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matminer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Heyd J. et al., J. Chem. Phys. 118, 8207 (2003) — HSE06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Yu L. &amp;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Zunger</a:t>
            </a: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 A., PRL 108, 068701 (2012) — SLME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Selberherr S., Springer (1984) — semiconductor device simulation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Pettersson L.A.A. et al., J. Appl. Phys. 86, 487 (1999) — TMM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Burgelman M. et al., Thin Solid Films 361-362, 527 (2000) — SCAPS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Calado P. et al., Nat. Commun. 7, 13831 (2016) · van Reenen S. et al., JPCL 6, 3808 (2015) — perovskite ion migration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75569"/>
                </a:solidFill>
                <a:latin typeface="Arial" panose="020B0604020202090204"/>
              </a:rPr>
              <a:t>•  Chen C. et al., Chem. Mater. 31, 3564 (2019) — </a:t>
            </a:r>
            <a:r>
              <a:rPr sz="1100" b="0" dirty="0" err="1">
                <a:solidFill>
                  <a:srgbClr val="475569"/>
                </a:solidFill>
                <a:latin typeface="Arial" panose="020B0604020202090204"/>
              </a:rPr>
              <a:t>MEGNet</a:t>
            </a:r>
            <a:endParaRPr sz="1100" b="0" dirty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 panose="020B0604020202090204"/>
              </a:rPr>
              <a:t>SOLARLAB</a:t>
            </a:r>
            <a:endParaRPr sz="1000" b="0">
              <a:solidFill>
                <a:srgbClr val="C0392B"/>
              </a:solidFill>
              <a:latin typeface="Arial" panose="020B0604020202090204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22661</Words>
  <Application>WPS 演示</Application>
  <PresentationFormat>全屏显示(16:9)</PresentationFormat>
  <Paragraphs>794</Paragraphs>
  <Slides>52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72" baseType="lpstr">
      <vt:lpstr>Arial</vt:lpstr>
      <vt:lpstr>宋体</vt:lpstr>
      <vt:lpstr>Wingdings</vt:lpstr>
      <vt:lpstr>Arial</vt:lpstr>
      <vt:lpstr>Calibri</vt:lpstr>
      <vt:lpstr>Helvetica Neue</vt:lpstr>
      <vt:lpstr>微软雅黑</vt:lpstr>
      <vt:lpstr>汉仪旗黑</vt:lpstr>
      <vt:lpstr>宋体</vt:lpstr>
      <vt:lpstr>Arial Unicode MS</vt:lpstr>
      <vt:lpstr>汉仪书宋二KW</vt:lpstr>
      <vt:lpstr>Arial</vt:lpstr>
      <vt:lpstr>Arial</vt:lpstr>
      <vt:lpstr>等线</vt:lpstr>
      <vt:lpstr>汉仪中等线KW</vt:lpstr>
      <vt:lpstr>MS PGothic</vt:lpstr>
      <vt:lpstr>苹方-简</vt:lpstr>
      <vt:lpstr>Apple Symbols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shane</cp:lastModifiedBy>
  <cp:revision>18</cp:revision>
  <dcterms:created xsi:type="dcterms:W3CDTF">2026-06-29T02:54:55Z</dcterms:created>
  <dcterms:modified xsi:type="dcterms:W3CDTF">2026-06-29T02:54:55Z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A77907E12DFC56561933006A132836DD_42</vt:lpwstr>
  </property>
  <property fmtid="{D5CDD505-2E9C-101B-9397-08002B2CF9AE}" pid="3" name="KSOProductBuildVer">
    <vt:lpwstr>2052-12.1.26016.26016</vt:lpwstr>
  </property>
</Properties>
</file>