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Perovskite Solar Cell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ADCFC"/>
                </a:solidFill>
              </a:defRPr>
            </a:pPr>
            <a:r>
              <a:t>Technical Deep Dive: Implementation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7E22"/>
                </a:solidFill>
              </a:defRPr>
            </a:pPr>
            <a:r>
              <a:t>perovskite-sim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System Architecture &amp; Module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Spatial Discretization: Tanh-Clustered Grids &amp; Scharfetter-Gummel Scheme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Physics Modules: Poisson, Continuity, Recombination, Ion Migration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Solver Architecture: Method of Lines &amp; Initialization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Operator Splitting Fallback for Stiff Dynamics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Simulation Experiments: J-V, Impedance,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Correctness Issues &amp; Future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Summary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discretization/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grid.py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fe_operators.py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2608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physics/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poisson.py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continuity.py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recombination.py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generation.py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ion_migration.py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solver/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7451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mol.py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newton.py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illuminated_ss.py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92608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experiments/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429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jv_sweep.py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impedance.py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degradation.py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4389120"/>
            <a:ext cx="32918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48055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parameters.py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device.py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config_loader.py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Spatial Discretization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Tanh-Clustered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1E2761"/>
                </a:solidFill>
              </a:defRPr>
            </a:pPr>
            <a:r>
              <a:t>Formula:</a:t>
            </a:r>
            <a:br/>
            <a:r>
              <a:t>ξᵢ = tanh(α·ξ̃ᵢ) / tanh(α)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323232"/>
                </a:solidFill>
              </a:defRPr>
            </a:pPr>
            <a:r>
              <a:t>Parameter:</a:t>
            </a:r>
            <a:br/>
            <a:r>
              <a:t>α = 3.0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323232"/>
                </a:solidFill>
              </a:defRPr>
            </a:pPr>
            <a:r>
              <a:t>Purpose:</a:t>
            </a:r>
            <a:br/>
            <a:r>
              <a:t>Concentrate grid points near device boundaries (junctions)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323232"/>
                </a:solidFill>
              </a:defRPr>
            </a:pPr>
            <a:r>
              <a:t>Key Feature:</a:t>
            </a:r>
            <a:br/>
            <a:r>
              <a:t>Points cluster at interfaces where physics is stiff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100" b="0">
                <a:solidFill>
                  <a:srgbClr val="323232"/>
                </a:solidFill>
              </a:defRPr>
            </a:pPr>
            <a:r>
              <a:t>Implementation:</a:t>
            </a:r>
            <a:br/>
            <a:r>
              <a:t>multilayer_grid concatenates per-layer grids, dropping duplicate interface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1E2761"/>
                </a:solidFill>
              </a:defRPr>
            </a:pPr>
            <a:r>
              <a:t>Grid Clustering Pattern: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Coarse spacing in bulk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↓ ↓ Dense clustering ↓ ↓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Left junction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↓ ↓ Dense clustering ↓ ↓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Coarse spacing in middle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↓ ↓ Dense clustering ↓ ↓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Right junction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Scharfetter-Gummel (SG) Scheme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Bernoulli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B(x) = x / (eˣ - 1)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Electron 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Jₙ = qDₙ/h [B(ξ)·nᵢ₊₁ - B(-ξ)·nᵢ]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8229600" cy="310896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Key Properties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7680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Exact solution for linear potential within each element — no artificial diffusion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Numerically stable: uses Taylor series for |ξ| &lt; 1e-8 to avoid overflow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Vectorized over all N-1 cell faces for efficiency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✓ Maintains charge conservation naturally through continuity equations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Physics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Poisson Equation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Method: Finite-volume discretization on dual grid</a:t>
            </a: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Solver: Sparse tridiagonal system in scipy CSR format</a:t>
            </a: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Boundary Conditions: φ(0) = 0  and  φ(L) = V_bi - V_app</a:t>
            </a: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100"/>
              </a:spcBef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Performance: Tridiagonal structure → O(N) solve time</a:t>
            </a:r>
          </a:p>
          <a:p>
            <a:pPr>
              <a:spcBef>
                <a:spcPts val="10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Carrier Continuity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Continuity Equation:</a:t>
            </a:r>
            <a:br/>
            <a:r>
              <a:t>∂n/∂t = -(∂Jₙ/∂x) + G - R</a:t>
            </a:r>
          </a:p>
          <a:p/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Electron Flux:</a:t>
            </a:r>
            <a:br/>
            <a:r>
              <a:t>Vectorized Scharfetter-Gummel at all N-1 cell faces</a:t>
            </a:r>
          </a:p>
          <a:p/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Generation:</a:t>
            </a:r>
            <a:br/>
            <a:r>
              <a:t>Optical generation from Beer-Lambert law</a:t>
            </a:r>
          </a:p>
          <a:p/>
          <a:p>
            <a:pPr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Recombination:</a:t>
            </a:r>
            <a:br/>
            <a:r>
              <a:t>SRH + radiative, computed per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Interface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Boundary nodes (contacts) held fixed at equilibrium values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Harmonic-mean diffusivity at inter-layer interfaces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Dual-grid finite-volume conserves charge across layers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Automatic handling of heterojunction discontinuities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Recombination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SRH (Shockley-Read-Hall)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67E22"/>
                </a:solidFill>
              </a:defRPr>
            </a:pPr>
            <a:r>
              <a:t>R_SRH = (np - ni²) / [τp(n+n₁) + τn(p+p₁)]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Trap-assisted recombination via mid-gap states. Dominant loss mechanism in perovskite bulk. τn = τp = 1 μs for MAPbI₃.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Radiative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67E22"/>
                </a:solidFill>
              </a:defRPr>
            </a:pPr>
            <a:r>
              <a:t>R_rad = B_rad · (np - ni²)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Bimolecular band-to-band recombination. B_rad ≈ 5×10⁻²² m³/s for MAPbI₃. Important near open-circuit conditions.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Auger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67E22"/>
                </a:solidFill>
              </a:defRPr>
            </a:pPr>
            <a:r>
              <a:t>R_Auger = (Cn·n + Cp·p)·(np - ni²)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Three-particle high-injection process. For perovskites: C ~ 10⁻⁴² m⁶/s — negligible under normal operation.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Ion Migration (Steric Blakemore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Steric-Corrected Flux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F_P = -D_I · (∂P/∂x) / (1 - P/P_lim) + (D_I/V_T) · P · (∂φ/∂x)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Key Parameters: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23232"/>
                </a:solidFill>
              </a:defRPr>
            </a:pPr>
            <a:r>
              <a:t>P_lim: 1.6 × 10²⁷ m⁻³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23232"/>
                </a:solidFill>
              </a:defRPr>
            </a:pPr>
            <a:r>
              <a:t>D_ion: 1 × 10⁻¹⁶ m²/s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23232"/>
                </a:solidFill>
              </a:defRPr>
            </a:pPr>
            <a:r>
              <a:t>V_T: kT/q ≈ 26 mV @ 300 K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Steric Factor:: (1 - P/P_lim)⁻¹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23232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4846320" y="2743200"/>
            <a:ext cx="38404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Boundary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37560"/>
            <a:ext cx="3657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Zero-flux at bulk boundaries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Confines ions to device interior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No injection or extraction at contacts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Prevents spurious ion accumulation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23232"/>
                </a:solidFill>
              </a:defRPr>
            </a:pPr>
            <a:r>
              <a:t>Maintains charge neutrality in bulk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Solver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Method of Lines (MOL)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State Vector: y = [n, p, P]  (3N components, where N = number of grid points)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assemble_rhs(t, y):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1. Unpack</a:t>
            </a:r>
            <a:br/>
            <a:r>
              <a:t>  y → n(x,t), p(x,t), P(x,t)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2. Apply BCs</a:t>
            </a:r>
            <a:br/>
            <a:r>
              <a:t>  Set boundary values (equilibrium at contacts)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3. Poisson Solve</a:t>
            </a:r>
            <a:br/>
            <a:r>
              <a:t>  φ(x,t) from ∇·(ε∇φ) = q(p - n + P + N_D - N_A)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4. Generation</a:t>
            </a:r>
            <a:br/>
            <a:r>
              <a:t>  G = α(λ) · e^(-αx) · Φ_incident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5. Continuity</a:t>
            </a:r>
            <a:br/>
            <a:r>
              <a:t>  ∂n/∂t = -(∂Jₙ/∂x) + G - R,  ∂p/∂t = +(∂Jₚ/∂x) + G - 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6. Ion Migration</a:t>
            </a:r>
            <a:br/>
            <a:r>
              <a:t>  ∂P/∂t = -(∂F_P/∂x)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323232"/>
                </a:solidFill>
              </a:defRPr>
            </a:pPr>
            <a:r>
              <a:t>7. Pack</a:t>
            </a:r>
            <a:br/>
            <a:r>
              <a:t>  dy/dt = f(t, 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52160"/>
            <a:ext cx="8229600" cy="822960"/>
          </a:xfrm>
          <a:prstGeom prst="rect">
            <a:avLst/>
          </a:prstGeom>
          <a:solidFill>
            <a:srgbClr val="2E8B57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Integrator: Radau IIA 5th order (implicit) | rtol=1e-4, atol=1e-6 | Handles stiffness from ion dynamics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Two-Step Initialization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93192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7E22"/>
                </a:solidFill>
              </a:defRPr>
            </a:pPr>
            <a:r>
              <a:t>Step 1: Quasi-Neutral Equilibrium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Module: newton.py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Equations: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n·p = nᵢ²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• n - p = N_D - N_A + 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Closed-form solution (no iteration)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Overflow-free across multiple layers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(nᵢ spans 10 orders of magnitude)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Sets n, p, P at t=0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393192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8B57"/>
                </a:solidFill>
              </a:defRPr>
            </a:pPr>
            <a:r>
              <a:t>Step 2: Illuminated Settling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574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Module: illuminated_ss.py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Duration: 1 ms transient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Under light illumination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(generation turned on)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Ions frozen (P held constant)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Eliminates dark→light artifact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Carriers settle to quasi-equilibrium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with optical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Operator Splitting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solidFill>
            <a:srgbClr val="E67E22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When: Radau fails (ion pile-up at interfaces, stiffness ratio &gt; 10⁸)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931920" cy="3200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Phase 1: Ion Advance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Freeze n, 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(carrier distribution held)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Advance P only (ions)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via Radau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Less stiff ODE system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(simpler eigenvalues)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Module: mol.py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5603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697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Phase 2: Carrier Re-equil.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Freeze P (ions now fixed)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Quick transient: 1 µs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Carriers relax to new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quasi-Fermi levels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With updated ion field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Repeat until 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D3139"/>
                </a:solidFill>
              </a:defRPr>
            </a:pPr>
            <a:r>
              <a:t>Diagnostic: Clipping counter warns on numerical instability (unphysical ion densities or negative carriers)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Simulation Experiments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J-V Sweep with Hysteresis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1E2761"/>
                </a:solidFill>
              </a:defRPr>
            </a:pPr>
            <a:r>
              <a:t>Module: jv_sweep.py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1E2761"/>
                </a:solidFill>
              </a:defRPr>
            </a:pPr>
            <a:r>
              <a:t>Voltage Protocol: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Forward: V = 0 → V_bi (open circuit)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Reverse: V = V_bi → 0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Time per Voltage Step: One carrier lifetime (τ ~ 1 µs)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Illumination: AM1.5G spectrum, constant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1E2761"/>
                </a:solidFill>
              </a:defRPr>
            </a:pPr>
            <a:r>
              <a:t>Output Metrics: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V_oc: Open-circuit voltage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J_sc: Short-circuit current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FF: Fill factor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PCE: Power conversion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Hysteresis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3657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Definition: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HI = (PCE_reverse - PCE_forward) / PCE_reverse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Quantifies difference between forward and reverse scans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In perovskites, caused by ion migration and charge redistribution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Positive HI indicates forward scan yields lower PCE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000">
                <a:solidFill>
                  <a:srgbClr val="323232"/>
                </a:solidFill>
              </a:defRPr>
            </a:pPr>
            <a:r>
              <a:t>Diagnostic tool for ion dynamics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Impedance Spectroscopy (EIS)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22960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Measurement: Small-Signal AC Perturbation Around DC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AC voltage: V(t) = V_DC + ΔV·sin(ωt)   where ΔV = 0.01 V, f = 10⁻³ to 10⁶ Hz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</a:defRPr>
            </a:pPr>
            <a:r>
              <a:t>DC Bias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Establish initial conditions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1 ms transient settling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Ions and carriers reach quasi-equilibrium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Lock-in detection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92608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</a:defRPr>
            </a:pPr>
            <a:r>
              <a:t>AC Perturbation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6616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Frequency sweep: 10 Hz → 1 MHz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Phase-sensitive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Extract real &amp; imaginary impedance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Lock-in reference from midpoint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926080"/>
            <a:ext cx="26517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2761"/>
                </a:solidFill>
              </a:defRPr>
            </a:pPr>
            <a:r>
              <a:t>Output: Nyquist 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6616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Z(f) = Z_real - i·Z_imag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Semicircles reflect R-C layers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Arc radius → interface resistance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23232"/>
                </a:solidFill>
              </a:defRPr>
            </a:pPr>
            <a:r>
              <a:t>Eliminates phase bias artifacts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Long-Term Degradation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Module: degradation.py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Conditions: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Voltage: Constant bias (e.g., V_app = 0.8 V)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Illumination: AM1.5G spectrum (constant)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Duration: Long-term integration (hours to days simulated)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Sampling: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Snapshots: Log-spaced time points for efficiency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  • Metrics per snapshot: V_oc, J_sc, FF, PCE, ion distribution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200" b="1">
                <a:solidFill>
                  <a:srgbClr val="1E2761"/>
                </a:solidFill>
              </a:defRPr>
            </a:pPr>
            <a:r>
              <a:t>V_oc Calculation: Geometric-mean quasi-Fermi separation: V_oc = (E_F^n - E_F^p) / q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Fallback: Operator splitting activated if Radau fails (ion pile-up)</a:t>
            </a: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Output: Degradation curves: PCE vs. time, V_oc vs. time, etc.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Correctness Issues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solidFill>
            <a:srgbClr val="FFC107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⚠ AMBER: Duplicate Q (elementary charge) constant definitions in multiple modules — maintenance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8229600" cy="1097280"/>
          </a:xfrm>
          <a:prstGeom prst="rect">
            <a:avLst/>
          </a:prstGeom>
          <a:solidFill>
            <a:srgbClr val="CD3139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🔴 CRITICAL: Beer-Lambert illumination direction wrong for n-i-p devices — light enters from left but n-i-p absorbs from ETL (right); 1/e depth ~77 nm makes spatial profile impact significant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8229600" cy="914400"/>
          </a:xfrm>
          <a:prstGeom prst="rect">
            <a:avLst/>
          </a:prstGeom>
          <a:solidFill>
            <a:srgbClr val="FFC107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⚠ AMBER: Ion D_ion applied uniformly across entire device — should vary per-node; may allow spurious ion diffusion into transport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822960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ℹ INFO: Degradation PCE is proxy (V_oc only) — overestimates by ~100–150 mV, lacks FF effects; full J-V curves needed for accuracy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Robust Numerics: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Scharfetter-Gummel fluxes (exact for linear potential)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Radau IIA implicit time integration (handles 10+ orders of stiffness)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Sparse tridiagonal Poisson solver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Multi-Layer Architecture: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Per-layer material parameters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Harmonic-mean interface treatment for permittivity and diffusion coefficients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Ion Physics: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Steric Blakemore model with excluded-volume correction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Operator splitting fallback for stiff ion dynamics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Zero-flux confinement boundary conditions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2761"/>
                </a:solidFill>
              </a:defRPr>
            </a:pPr>
            <a:r>
              <a:t>Validation: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~50 unit tests, integration tests (np = ni² at equilibrium)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000" b="0">
                <a:solidFill>
                  <a:srgbClr val="323232"/>
                </a:solidFill>
              </a:defRPr>
            </a:pPr>
            <a:r>
              <a:t>✓ Regression tests for physical plausibility (J_sc, V_oc, FF ranges)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